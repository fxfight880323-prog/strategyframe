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69" r:id="rId4"/>
    <p:sldId id="258" r:id="rId5"/>
    <p:sldId id="270" r:id="rId6"/>
    <p:sldId id="271" r:id="rId7"/>
    <p:sldId id="272" r:id="rId8"/>
    <p:sldId id="273" r:id="rId9"/>
    <p:sldId id="261" r:id="rId10"/>
    <p:sldId id="263" r:id="rId11"/>
    <p:sldId id="264" r:id="rId12"/>
    <p:sldId id="274" r:id="rId13"/>
    <p:sldId id="266" r:id="rId14"/>
  </p:sldIdLst>
  <p:sldSz cx="12192000" cy="6858000"/>
  <p:notesSz cx="6858000" cy="12192000"/>
  <p:embeddedFontLst>
    <p:embeddedFont>
      <p:font typeface="Alimama ShuHeiTi" charset="-122"/>
      <p:regular r:id="rId16"/>
    </p:embeddedFont>
    <p:embeddedFont>
      <p:font typeface="MiSans" panose="02010600030101010101" charset="-122"/>
      <p:regular r:id="rId17"/>
    </p:embeddedFont>
    <p:embeddedFont>
      <p:font typeface="等线" panose="02010600030101010101" pitchFamily="2" charset="-122"/>
      <p:regular r:id="rId18"/>
      <p:bold r:id="rId19"/>
    </p:embeddedFont>
    <p:embeddedFont>
      <p:font typeface="Liter" panose="02010600030101010101" charset="0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26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D4C3E-0531-5E9E-2C3A-06DC3F0E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D0195-7EA8-CD2E-241D-5CC704B79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35742-BFF7-0D53-5642-37B8F4217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C0CB6-52C1-D76E-B6DD-A6F5F95FD0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06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5790-456C-76A3-776F-3FBCE5719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7DC53-0158-36E1-5CAE-D1939165D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67498-73B1-D76C-E1EA-0D2EBB8E8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4422A-EE18-4766-3B56-DFC5EAC304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898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52D6-E67E-50FC-984D-CA3B8727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5F02B-5038-FEDF-047B-4CEA52596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F678A-3DB3-F283-1510-6BBF2B417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64932-0393-3595-EC9B-E71C7F74E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38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4C9D-1AD0-457B-7122-FC553E1A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FEDCC-62A1-7367-766E-B194F210C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5234E-18E4-B058-515D-6A18472B0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E3DCD-14C6-9F7A-2830-1268169B1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774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5D35-7BD7-BD17-A17C-23D656BA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04612-B0DD-789F-9B84-7A0EDE8F2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7477E-9FAD-65A9-52A3-B606C7A8C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6C4F3-2291-1020-40CF-22537A87E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646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627E-DE3E-8702-163F-462E5DBF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0E2C9-D016-E012-3C2B-3EB5DD48E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632F8-BE8E-ED81-5461-C5371DAB6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0B128-DFBB-9647-8FD5-CDBBFE3CA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353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a01edc34f7bd00ef0e6242a05309feff0ab14d3f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4A6C8C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219200"/>
            <a:ext cx="2571750" cy="400050"/>
          </a:xfrm>
          <a:custGeom>
            <a:avLst/>
            <a:gdLst/>
            <a:ahLst/>
            <a:cxnLst/>
            <a:rect l="l" t="t" r="r" b="b"/>
            <a:pathLst>
              <a:path w="2571750" h="400050">
                <a:moveTo>
                  <a:pt x="200025" y="0"/>
                </a:moveTo>
                <a:lnTo>
                  <a:pt x="2371725" y="0"/>
                </a:lnTo>
                <a:cubicBezTo>
                  <a:pt x="2482122" y="0"/>
                  <a:pt x="2571750" y="89628"/>
                  <a:pt x="2571750" y="200025"/>
                </a:cubicBezTo>
                <a:lnTo>
                  <a:pt x="2571750" y="200025"/>
                </a:lnTo>
                <a:cubicBezTo>
                  <a:pt x="2571750" y="310422"/>
                  <a:pt x="2482122" y="400050"/>
                  <a:pt x="2371725" y="400050"/>
                </a:cubicBezTo>
                <a:lnTo>
                  <a:pt x="200025" y="400050"/>
                </a:lnTo>
                <a:cubicBezTo>
                  <a:pt x="89628" y="400050"/>
                  <a:pt x="0" y="310422"/>
                  <a:pt x="0" y="200025"/>
                </a:cubicBezTo>
                <a:lnTo>
                  <a:pt x="0" y="200025"/>
                </a:lnTo>
                <a:cubicBezTo>
                  <a:pt x="0" y="89628"/>
                  <a:pt x="89628" y="0"/>
                  <a:pt x="2000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319213"/>
            <a:ext cx="22548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 POLICY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3361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2026年宏观政策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走向分析报告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6712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386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基于历史经验推断法的政策预测与市场策略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748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16719" y="6134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6096000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分析期间: 2026年3月 - 2027年3月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18458" y="6134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3" name="Text 10"/>
          <p:cNvSpPr/>
          <p:nvPr/>
        </p:nvSpPr>
        <p:spPr>
          <a:xfrm>
            <a:off x="3947071" y="60960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置信度: 60-70%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775156" y="59817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生成日期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56106" y="621030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2026-03-03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CB55D-DA32-A11B-42F6-7167760B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60FBB2-2306-235D-62E3-107D31D4FA5A}"/>
              </a:ext>
            </a:extLst>
          </p:cNvPr>
          <p:cNvSpPr/>
          <p:nvPr/>
        </p:nvSpPr>
        <p:spPr>
          <a:xfrm>
            <a:off x="385763" y="385763"/>
            <a:ext cx="1123950" cy="352425"/>
          </a:xfrm>
          <a:custGeom>
            <a:avLst/>
            <a:gdLst/>
            <a:ahLst/>
            <a:cxnLst/>
            <a:rect l="l" t="t" r="r" b="b"/>
            <a:pathLst>
              <a:path w="1123950" h="352425">
                <a:moveTo>
                  <a:pt x="176213" y="0"/>
                </a:moveTo>
                <a:lnTo>
                  <a:pt x="947737" y="0"/>
                </a:lnTo>
                <a:cubicBezTo>
                  <a:pt x="1044992" y="0"/>
                  <a:pt x="1123950" y="78958"/>
                  <a:pt x="1123950" y="176213"/>
                </a:cubicBezTo>
                <a:lnTo>
                  <a:pt x="1123950" y="176213"/>
                </a:lnTo>
                <a:cubicBezTo>
                  <a:pt x="1123950" y="273467"/>
                  <a:pt x="1044992" y="352425"/>
                  <a:pt x="947737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A18A2F-7799-E4D0-D52F-73FCDB5B3BC3}"/>
              </a:ext>
            </a:extLst>
          </p:cNvPr>
          <p:cNvSpPr/>
          <p:nvPr/>
        </p:nvSpPr>
        <p:spPr>
          <a:xfrm>
            <a:off x="542925" y="485775"/>
            <a:ext cx="8797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5" normalizeH="0" baseline="0" noProof="0" dirty="0">
                <a:ln>
                  <a:noFill/>
                </a:ln>
                <a:solidFill>
                  <a:srgbClr val="C0A062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0A715C-8324-8768-E230-E34C2FEE72F4}"/>
              </a:ext>
            </a:extLst>
          </p:cNvPr>
          <p:cNvSpPr/>
          <p:nvPr/>
        </p:nvSpPr>
        <p:spPr>
          <a:xfrm>
            <a:off x="381000" y="8953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C0C021-BE96-57A5-EF1D-1F7026C2C1D4}"/>
              </a:ext>
            </a:extLst>
          </p:cNvPr>
          <p:cNvSpPr/>
          <p:nvPr/>
        </p:nvSpPr>
        <p:spPr>
          <a:xfrm>
            <a:off x="381000" y="15049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12F8D1F-153A-450B-19C0-F4694201AEDE}"/>
              </a:ext>
            </a:extLst>
          </p:cNvPr>
          <p:cNvSpPr/>
          <p:nvPr/>
        </p:nvSpPr>
        <p:spPr>
          <a:xfrm>
            <a:off x="400050" y="1771650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8D27831-2E7A-E6B2-B470-503BBD6D6D5E}"/>
              </a:ext>
            </a:extLst>
          </p:cNvPr>
          <p:cNvSpPr/>
          <p:nvPr/>
        </p:nvSpPr>
        <p:spPr>
          <a:xfrm>
            <a:off x="400050" y="177165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090930E-0283-9AB9-3995-9347B5059133}"/>
              </a:ext>
            </a:extLst>
          </p:cNvPr>
          <p:cNvSpPr/>
          <p:nvPr/>
        </p:nvSpPr>
        <p:spPr>
          <a:xfrm>
            <a:off x="609600" y="1962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253A4D-FDE9-E309-A8CD-56E977645142}"/>
              </a:ext>
            </a:extLst>
          </p:cNvPr>
          <p:cNvSpPr/>
          <p:nvPr/>
        </p:nvSpPr>
        <p:spPr>
          <a:xfrm>
            <a:off x="741313" y="20764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4EA531-AE9F-9CDF-6219-9A47BA9A0D34}"/>
              </a:ext>
            </a:extLst>
          </p:cNvPr>
          <p:cNvSpPr/>
          <p:nvPr/>
        </p:nvSpPr>
        <p:spPr>
          <a:xfrm>
            <a:off x="1295400" y="19621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复盘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4FD4ACD-9E78-6BE3-C59F-73C27E008E14}"/>
              </a:ext>
            </a:extLst>
          </p:cNvPr>
          <p:cNvSpPr/>
          <p:nvPr/>
        </p:nvSpPr>
        <p:spPr>
          <a:xfrm>
            <a:off x="1295400" y="23050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CD1701A-E236-553F-49CC-CCD6C4AD141D}"/>
              </a:ext>
            </a:extLst>
          </p:cNvPr>
          <p:cNvSpPr/>
          <p:nvPr/>
        </p:nvSpPr>
        <p:spPr>
          <a:xfrm>
            <a:off x="6229350" y="1771650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B1517E3-B1A5-9D4F-64F7-845250264B46}"/>
              </a:ext>
            </a:extLst>
          </p:cNvPr>
          <p:cNvSpPr/>
          <p:nvPr/>
        </p:nvSpPr>
        <p:spPr>
          <a:xfrm>
            <a:off x="6229350" y="177165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B3106F4-9A98-5113-B766-63B868442D6A}"/>
              </a:ext>
            </a:extLst>
          </p:cNvPr>
          <p:cNvSpPr/>
          <p:nvPr/>
        </p:nvSpPr>
        <p:spPr>
          <a:xfrm>
            <a:off x="6438900" y="1962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F28555C-23A5-ED34-FA0A-14E0F565C887}"/>
              </a:ext>
            </a:extLst>
          </p:cNvPr>
          <p:cNvSpPr/>
          <p:nvPr/>
        </p:nvSpPr>
        <p:spPr>
          <a:xfrm>
            <a:off x="6570613" y="20764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84804C2-4606-99A8-FB99-469AC04E79ED}"/>
              </a:ext>
            </a:extLst>
          </p:cNvPr>
          <p:cNvSpPr/>
          <p:nvPr/>
        </p:nvSpPr>
        <p:spPr>
          <a:xfrm>
            <a:off x="7124700" y="19621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宏观跟踪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5D7283E-492B-C825-9CAB-40F0C9350956}"/>
              </a:ext>
            </a:extLst>
          </p:cNvPr>
          <p:cNvSpPr/>
          <p:nvPr/>
        </p:nvSpPr>
        <p:spPr>
          <a:xfrm>
            <a:off x="7124700" y="2305050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B15BFD8-31E3-B826-8DC0-201BCF2972C4}"/>
              </a:ext>
            </a:extLst>
          </p:cNvPr>
          <p:cNvSpPr/>
          <p:nvPr/>
        </p:nvSpPr>
        <p:spPr>
          <a:xfrm>
            <a:off x="400050" y="2986088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8540BBA-A578-3BAB-1E1E-A52918640F55}"/>
              </a:ext>
            </a:extLst>
          </p:cNvPr>
          <p:cNvSpPr/>
          <p:nvPr/>
        </p:nvSpPr>
        <p:spPr>
          <a:xfrm>
            <a:off x="400050" y="2986088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F87ADF4-EEE3-1293-285F-CE5960A92749}"/>
              </a:ext>
            </a:extLst>
          </p:cNvPr>
          <p:cNvSpPr/>
          <p:nvPr/>
        </p:nvSpPr>
        <p:spPr>
          <a:xfrm>
            <a:off x="609600" y="31765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6B957B2-B997-60C6-EFAD-4E3A81AC9B4E}"/>
              </a:ext>
            </a:extLst>
          </p:cNvPr>
          <p:cNvSpPr/>
          <p:nvPr/>
        </p:nvSpPr>
        <p:spPr>
          <a:xfrm>
            <a:off x="741313" y="329088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5849739-28A5-1B7A-6BCF-E9A01C73ABBC}"/>
              </a:ext>
            </a:extLst>
          </p:cNvPr>
          <p:cNvSpPr/>
          <p:nvPr/>
        </p:nvSpPr>
        <p:spPr>
          <a:xfrm>
            <a:off x="1295400" y="3176588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企业基本面跟踪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D2DB672-1F19-2F8C-AEF2-2D2A565004FF}"/>
              </a:ext>
            </a:extLst>
          </p:cNvPr>
          <p:cNvSpPr/>
          <p:nvPr/>
        </p:nvSpPr>
        <p:spPr>
          <a:xfrm>
            <a:off x="1295400" y="3519488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当前状况与三情景分析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140A34C-9A36-2F53-9F5D-4D15261F29AC}"/>
              </a:ext>
            </a:extLst>
          </p:cNvPr>
          <p:cNvSpPr/>
          <p:nvPr/>
        </p:nvSpPr>
        <p:spPr>
          <a:xfrm>
            <a:off x="6229350" y="2986088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6644F1B-CD03-E016-BF35-A15B8FD7C84A}"/>
              </a:ext>
            </a:extLst>
          </p:cNvPr>
          <p:cNvSpPr/>
          <p:nvPr/>
        </p:nvSpPr>
        <p:spPr>
          <a:xfrm>
            <a:off x="6229350" y="2986088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4E4EFD7-2C40-7258-BD8C-55C343B9A22D}"/>
              </a:ext>
            </a:extLst>
          </p:cNvPr>
          <p:cNvSpPr/>
          <p:nvPr/>
        </p:nvSpPr>
        <p:spPr>
          <a:xfrm>
            <a:off x="6438900" y="31765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8CD32C2-455D-A34F-958B-88940BB841D8}"/>
              </a:ext>
            </a:extLst>
          </p:cNvPr>
          <p:cNvSpPr/>
          <p:nvPr/>
        </p:nvSpPr>
        <p:spPr>
          <a:xfrm>
            <a:off x="6570613" y="329088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238667F-99FA-4766-5306-533B18DF0B74}"/>
              </a:ext>
            </a:extLst>
          </p:cNvPr>
          <p:cNvSpPr/>
          <p:nvPr/>
        </p:nvSpPr>
        <p:spPr>
          <a:xfrm>
            <a:off x="7124700" y="3176588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市场情绪与资金流动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CC0C6CB-A631-C67A-0B3A-DC4E62AFC77D}"/>
              </a:ext>
            </a:extLst>
          </p:cNvPr>
          <p:cNvSpPr/>
          <p:nvPr/>
        </p:nvSpPr>
        <p:spPr>
          <a:xfrm>
            <a:off x="7124700" y="3519488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支出方向与约束因素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EC5A1DD-C76E-AA40-94C8-4CC5F3AE9941}"/>
              </a:ext>
            </a:extLst>
          </p:cNvPr>
          <p:cNvSpPr/>
          <p:nvPr/>
        </p:nvSpPr>
        <p:spPr>
          <a:xfrm>
            <a:off x="400050" y="4200525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D9F1CFF-8587-FDA8-09A5-3BC0D74B7AC7}"/>
              </a:ext>
            </a:extLst>
          </p:cNvPr>
          <p:cNvSpPr/>
          <p:nvPr/>
        </p:nvSpPr>
        <p:spPr>
          <a:xfrm>
            <a:off x="400050" y="420052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DD47DE7-B629-202D-C6E8-5E80241DC2B0}"/>
              </a:ext>
            </a:extLst>
          </p:cNvPr>
          <p:cNvSpPr/>
          <p:nvPr/>
        </p:nvSpPr>
        <p:spPr>
          <a:xfrm>
            <a:off x="609600" y="4391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A9E61DB-3BD8-03CC-310B-511BA6DAE90F}"/>
              </a:ext>
            </a:extLst>
          </p:cNvPr>
          <p:cNvSpPr/>
          <p:nvPr/>
        </p:nvSpPr>
        <p:spPr>
          <a:xfrm>
            <a:off x="741313" y="45053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F08C4BE-9CF4-AF94-AE4E-7A70D243BC23}"/>
              </a:ext>
            </a:extLst>
          </p:cNvPr>
          <p:cNvSpPr/>
          <p:nvPr/>
        </p:nvSpPr>
        <p:spPr>
          <a:xfrm>
            <a:off x="1295400" y="4391025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估值水平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A94DA0B-B4EB-8276-273A-DC116A932CBE}"/>
              </a:ext>
            </a:extLst>
          </p:cNvPr>
          <p:cNvSpPr/>
          <p:nvPr/>
        </p:nvSpPr>
        <p:spPr>
          <a:xfrm>
            <a:off x="1295400" y="4733925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相似度评估与关键差异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588533E-AE82-B294-5FD4-6CE135080267}"/>
              </a:ext>
            </a:extLst>
          </p:cNvPr>
          <p:cNvSpPr/>
          <p:nvPr/>
        </p:nvSpPr>
        <p:spPr>
          <a:xfrm>
            <a:off x="6229350" y="4200525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D3BAE42-209C-3A0D-3BC7-6D517CE14B46}"/>
              </a:ext>
            </a:extLst>
          </p:cNvPr>
          <p:cNvSpPr/>
          <p:nvPr/>
        </p:nvSpPr>
        <p:spPr>
          <a:xfrm>
            <a:off x="6229350" y="420052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9DD50C9-145D-AC36-68A5-091C2FAA579E}"/>
              </a:ext>
            </a:extLst>
          </p:cNvPr>
          <p:cNvSpPr/>
          <p:nvPr/>
        </p:nvSpPr>
        <p:spPr>
          <a:xfrm>
            <a:off x="6438900" y="43910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39FB853-2487-A359-5EB4-08713FF38FCC}"/>
              </a:ext>
            </a:extLst>
          </p:cNvPr>
          <p:cNvSpPr/>
          <p:nvPr/>
        </p:nvSpPr>
        <p:spPr>
          <a:xfrm>
            <a:off x="6570613" y="45053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E427E64-0364-1125-153E-17448FEF3A70}"/>
              </a:ext>
            </a:extLst>
          </p:cNvPr>
          <p:cNvSpPr/>
          <p:nvPr/>
        </p:nvSpPr>
        <p:spPr>
          <a:xfrm>
            <a:off x="7124700" y="4391025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政策与流动性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ED3E475-E942-8A37-0D16-1C2DB747D010}"/>
              </a:ext>
            </a:extLst>
          </p:cNvPr>
          <p:cNvSpPr/>
          <p:nvPr/>
        </p:nvSpPr>
        <p:spPr>
          <a:xfrm>
            <a:off x="7124700" y="4733925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股票与债券市场展望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6E4F6DB-19EB-2F17-8AB6-58241798898D}"/>
              </a:ext>
            </a:extLst>
          </p:cNvPr>
          <p:cNvSpPr/>
          <p:nvPr/>
        </p:nvSpPr>
        <p:spPr>
          <a:xfrm>
            <a:off x="400050" y="5414963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F217082-0D6B-1FF3-728A-6A0BE8636CA1}"/>
              </a:ext>
            </a:extLst>
          </p:cNvPr>
          <p:cNvSpPr/>
          <p:nvPr/>
        </p:nvSpPr>
        <p:spPr>
          <a:xfrm>
            <a:off x="400050" y="541496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B46659C-9B17-AC08-9CDD-8A6F625E1A32}"/>
              </a:ext>
            </a:extLst>
          </p:cNvPr>
          <p:cNvSpPr/>
          <p:nvPr/>
        </p:nvSpPr>
        <p:spPr>
          <a:xfrm>
            <a:off x="609600" y="56054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A648597-F4DF-1289-D08A-FEEBA73F7D4D}"/>
              </a:ext>
            </a:extLst>
          </p:cNvPr>
          <p:cNvSpPr/>
          <p:nvPr/>
        </p:nvSpPr>
        <p:spPr>
          <a:xfrm>
            <a:off x="741313" y="571976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B26C6AA-186F-3EA1-9A29-FBF330013C87}"/>
              </a:ext>
            </a:extLst>
          </p:cNvPr>
          <p:cNvSpPr/>
          <p:nvPr/>
        </p:nvSpPr>
        <p:spPr>
          <a:xfrm>
            <a:off x="1295400" y="5605463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5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</a:rPr>
              <a:t>历史情景推演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D458017A-9653-C995-4A00-09C5C3F6582D}"/>
              </a:ext>
            </a:extLst>
          </p:cNvPr>
          <p:cNvSpPr/>
          <p:nvPr/>
        </p:nvSpPr>
        <p:spPr>
          <a:xfrm>
            <a:off x="1295400" y="5948363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资产配置与行业配置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CF5602A-DD3A-2C5F-6DFA-CE3FB7253863}"/>
              </a:ext>
            </a:extLst>
          </p:cNvPr>
          <p:cNvSpPr/>
          <p:nvPr/>
        </p:nvSpPr>
        <p:spPr>
          <a:xfrm>
            <a:off x="6229350" y="5414963"/>
            <a:ext cx="5581650" cy="1066800"/>
          </a:xfrm>
          <a:custGeom>
            <a:avLst/>
            <a:gdLst/>
            <a:ahLst/>
            <a:cxnLst/>
            <a:rect l="l" t="t" r="r" b="b"/>
            <a:pathLst>
              <a:path w="5581650" h="10668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990598"/>
                </a:lnTo>
                <a:cubicBezTo>
                  <a:pt x="5581650" y="1032683"/>
                  <a:pt x="5547533" y="1066800"/>
                  <a:pt x="55054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8F266D0-6A41-6310-829D-D7286360963E}"/>
              </a:ext>
            </a:extLst>
          </p:cNvPr>
          <p:cNvSpPr/>
          <p:nvPr/>
        </p:nvSpPr>
        <p:spPr>
          <a:xfrm>
            <a:off x="6229350" y="541496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176CAA8C-9F8D-4EF5-14DF-EA40C8AD0123}"/>
              </a:ext>
            </a:extLst>
          </p:cNvPr>
          <p:cNvSpPr/>
          <p:nvPr/>
        </p:nvSpPr>
        <p:spPr>
          <a:xfrm>
            <a:off x="6438900" y="56054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C84D3E0-540E-C462-9342-F9AAF022CFFD}"/>
              </a:ext>
            </a:extLst>
          </p:cNvPr>
          <p:cNvSpPr/>
          <p:nvPr/>
        </p:nvSpPr>
        <p:spPr>
          <a:xfrm>
            <a:off x="6570613" y="571976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D21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08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707D9F43-8ACB-F3F7-C6E1-9B3F918A7F57}"/>
              </a:ext>
            </a:extLst>
          </p:cNvPr>
          <p:cNvSpPr/>
          <p:nvPr/>
        </p:nvSpPr>
        <p:spPr>
          <a:xfrm>
            <a:off x="7124700" y="5605463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框架决策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A12B667-14F2-EEE3-A3E8-9271F1D9296E}"/>
              </a:ext>
            </a:extLst>
          </p:cNvPr>
          <p:cNvSpPr/>
          <p:nvPr/>
        </p:nvSpPr>
        <p:spPr>
          <a:xfrm>
            <a:off x="7124700" y="5948363"/>
            <a:ext cx="4572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关键指标与预警体系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581741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02F7C-C845-D1C5-F0C7-DDAD40E2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5A8100-2247-12E6-2D5A-A0F514EE3B63}"/>
              </a:ext>
            </a:extLst>
          </p:cNvPr>
          <p:cNvSpPr/>
          <p:nvPr/>
        </p:nvSpPr>
        <p:spPr>
          <a:xfrm>
            <a:off x="385763" y="385763"/>
            <a:ext cx="1952625" cy="352425"/>
          </a:xfrm>
          <a:custGeom>
            <a:avLst/>
            <a:gdLst/>
            <a:ahLst/>
            <a:cxnLst/>
            <a:rect l="l" t="t" r="r" b="b"/>
            <a:pathLst>
              <a:path w="1952625" h="352425">
                <a:moveTo>
                  <a:pt x="176213" y="0"/>
                </a:moveTo>
                <a:lnTo>
                  <a:pt x="1776413" y="0"/>
                </a:lnTo>
                <a:cubicBezTo>
                  <a:pt x="1873667" y="0"/>
                  <a:pt x="1952625" y="78958"/>
                  <a:pt x="1952625" y="176213"/>
                </a:cubicBezTo>
                <a:lnTo>
                  <a:pt x="1952625" y="176213"/>
                </a:lnTo>
                <a:cubicBezTo>
                  <a:pt x="1952625" y="273467"/>
                  <a:pt x="1873667" y="352425"/>
                  <a:pt x="17764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B1BC4E-F06C-FA67-FBF0-9E2708578C01}"/>
              </a:ext>
            </a:extLst>
          </p:cNvPr>
          <p:cNvSpPr/>
          <p:nvPr/>
        </p:nvSpPr>
        <p:spPr>
          <a:xfrm>
            <a:off x="542925" y="485775"/>
            <a:ext cx="1701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5" normalizeH="0" baseline="0" noProof="0" dirty="0">
                <a:ln>
                  <a:noFill/>
                </a:ln>
                <a:solidFill>
                  <a:srgbClr val="C0A062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948161-6DE7-86B5-0485-BBE336843E04}"/>
              </a:ext>
            </a:extLst>
          </p:cNvPr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复盘情况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2A9356-1B12-54F8-8C22-F3FA94DF3A46}"/>
              </a:ext>
            </a:extLst>
          </p:cNvPr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48F8A3C-00B4-8AE5-5382-5EA7A9B8E220}"/>
              </a:ext>
            </a:extLst>
          </p:cNvPr>
          <p:cNvSpPr/>
          <p:nvPr/>
        </p:nvSpPr>
        <p:spPr>
          <a:xfrm>
            <a:off x="385763" y="1585913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E4D55E6-A551-0153-849F-B52632F16D26}"/>
              </a:ext>
            </a:extLst>
          </p:cNvPr>
          <p:cNvSpPr/>
          <p:nvPr/>
        </p:nvSpPr>
        <p:spPr>
          <a:xfrm>
            <a:off x="581025" y="178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B77DB65-1408-D3F0-64EA-E11832EA4683}"/>
              </a:ext>
            </a:extLst>
          </p:cNvPr>
          <p:cNvSpPr/>
          <p:nvPr/>
        </p:nvSpPr>
        <p:spPr>
          <a:xfrm>
            <a:off x="714375" y="1914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2CD31B-471C-A89C-5DE0-51F464491E8C}"/>
              </a:ext>
            </a:extLst>
          </p:cNvPr>
          <p:cNvSpPr/>
          <p:nvPr/>
        </p:nvSpPr>
        <p:spPr>
          <a:xfrm>
            <a:off x="1152525" y="185737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市场走势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82E2EE2-E9A6-BF4E-A40E-94AFB443CC36}"/>
              </a:ext>
            </a:extLst>
          </p:cNvPr>
          <p:cNvSpPr/>
          <p:nvPr/>
        </p:nvSpPr>
        <p:spPr>
          <a:xfrm>
            <a:off x="581025" y="235267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2683A8D-E55C-07F5-4C11-EB8A74EAEE44}"/>
              </a:ext>
            </a:extLst>
          </p:cNvPr>
          <p:cNvSpPr/>
          <p:nvPr/>
        </p:nvSpPr>
        <p:spPr>
          <a:xfrm>
            <a:off x="581025" y="2909888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4C3E04-75B5-991C-956C-D466388F362C}"/>
              </a:ext>
            </a:extLst>
          </p:cNvPr>
          <p:cNvSpPr/>
          <p:nvPr/>
        </p:nvSpPr>
        <p:spPr>
          <a:xfrm>
            <a:off x="581025" y="3086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844FFB-A21C-A6B5-0EFC-05DC94316E4F}"/>
              </a:ext>
            </a:extLst>
          </p:cNvPr>
          <p:cNvSpPr/>
          <p:nvPr/>
        </p:nvSpPr>
        <p:spPr>
          <a:xfrm>
            <a:off x="5225653" y="302895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3411935-8AFA-0A9C-07FD-C71B6C1E3FBA}"/>
              </a:ext>
            </a:extLst>
          </p:cNvPr>
          <p:cNvSpPr/>
          <p:nvPr/>
        </p:nvSpPr>
        <p:spPr>
          <a:xfrm>
            <a:off x="6196013" y="1585913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9D990C4-AF18-1916-4B5B-24086F56D061}"/>
              </a:ext>
            </a:extLst>
          </p:cNvPr>
          <p:cNvSpPr/>
          <p:nvPr/>
        </p:nvSpPr>
        <p:spPr>
          <a:xfrm>
            <a:off x="6391275" y="178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7CB0554-4E7B-3035-8495-72D7FB426D8E}"/>
              </a:ext>
            </a:extLst>
          </p:cNvPr>
          <p:cNvSpPr/>
          <p:nvPr/>
        </p:nvSpPr>
        <p:spPr>
          <a:xfrm>
            <a:off x="6524625" y="1914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294DB1-9956-3080-D9F7-C4E5FC2AB2AC}"/>
              </a:ext>
            </a:extLst>
          </p:cNvPr>
          <p:cNvSpPr/>
          <p:nvPr/>
        </p:nvSpPr>
        <p:spPr>
          <a:xfrm>
            <a:off x="6962775" y="185737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前期判断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3975A06-F7A6-BF79-B312-E953BCF0411F}"/>
              </a:ext>
            </a:extLst>
          </p:cNvPr>
          <p:cNvSpPr/>
          <p:nvPr/>
        </p:nvSpPr>
        <p:spPr>
          <a:xfrm>
            <a:off x="6391275" y="235267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结构性扩张政策持续，重点支持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highlight>
                  <a:srgbClr val="C0A062">
                    <a:alpha val="30000"/>
                  </a:srgbClr>
                </a:highlight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AI和基础设施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，但债务约束增加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E363306-1D3A-3E7F-848C-B47BBD7918D6}"/>
              </a:ext>
            </a:extLst>
          </p:cNvPr>
          <p:cNvSpPr/>
          <p:nvPr/>
        </p:nvSpPr>
        <p:spPr>
          <a:xfrm>
            <a:off x="6391275" y="2909888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A4BC24-1AE3-6C1B-AA03-0AC2C8C41FC8}"/>
              </a:ext>
            </a:extLst>
          </p:cNvPr>
          <p:cNvSpPr/>
          <p:nvPr/>
        </p:nvSpPr>
        <p:spPr>
          <a:xfrm>
            <a:off x="6391275" y="3086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D436AB3-1D22-4DB9-075A-D52196168B9E}"/>
              </a:ext>
            </a:extLst>
          </p:cNvPr>
          <p:cNvSpPr/>
          <p:nvPr/>
        </p:nvSpPr>
        <p:spPr>
          <a:xfrm>
            <a:off x="11035903" y="302895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25CDE6D-A2A3-BB51-5900-9AD4B2EFBB57}"/>
              </a:ext>
            </a:extLst>
          </p:cNvPr>
          <p:cNvSpPr/>
          <p:nvPr/>
        </p:nvSpPr>
        <p:spPr>
          <a:xfrm>
            <a:off x="385763" y="3767138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DC5B987-2860-253C-B933-C05503B89D30}"/>
              </a:ext>
            </a:extLst>
          </p:cNvPr>
          <p:cNvSpPr/>
          <p:nvPr/>
        </p:nvSpPr>
        <p:spPr>
          <a:xfrm>
            <a:off x="581025" y="396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D5FD9E7-EBA3-A2F1-0C51-6D8AE11C0D25}"/>
              </a:ext>
            </a:extLst>
          </p:cNvPr>
          <p:cNvSpPr/>
          <p:nvPr/>
        </p:nvSpPr>
        <p:spPr>
          <a:xfrm>
            <a:off x="690563" y="4095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99DF37-C08B-3F00-4BC2-CF0AF9BDF19D}"/>
              </a:ext>
            </a:extLst>
          </p:cNvPr>
          <p:cNvSpPr/>
          <p:nvPr/>
        </p:nvSpPr>
        <p:spPr>
          <a:xfrm>
            <a:off x="1152525" y="4038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对比结果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5256994-D0EB-7758-1081-3CD4372125CE}"/>
              </a:ext>
            </a:extLst>
          </p:cNvPr>
          <p:cNvSpPr/>
          <p:nvPr/>
        </p:nvSpPr>
        <p:spPr>
          <a:xfrm>
            <a:off x="581025" y="453390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23AA12F-0E8A-4EC9-5F70-B3E2A121CBAA}"/>
              </a:ext>
            </a:extLst>
          </p:cNvPr>
          <p:cNvSpPr/>
          <p:nvPr/>
        </p:nvSpPr>
        <p:spPr>
          <a:xfrm>
            <a:off x="581025" y="5091113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637EA8F-9DE3-CAAA-AB85-2BCE99ACDACB}"/>
              </a:ext>
            </a:extLst>
          </p:cNvPr>
          <p:cNvSpPr/>
          <p:nvPr/>
        </p:nvSpPr>
        <p:spPr>
          <a:xfrm>
            <a:off x="581025" y="5267325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置信度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4D0D1D5-F0A3-18A8-2FDD-B8CAC1627671}"/>
              </a:ext>
            </a:extLst>
          </p:cNvPr>
          <p:cNvSpPr/>
          <p:nvPr/>
        </p:nvSpPr>
        <p:spPr>
          <a:xfrm>
            <a:off x="5225653" y="5210175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3AE3052-2618-5E3C-1295-863D1FCA9602}"/>
              </a:ext>
            </a:extLst>
          </p:cNvPr>
          <p:cNvSpPr/>
          <p:nvPr/>
        </p:nvSpPr>
        <p:spPr>
          <a:xfrm>
            <a:off x="6196013" y="3767138"/>
            <a:ext cx="5610225" cy="1981200"/>
          </a:xfrm>
          <a:custGeom>
            <a:avLst/>
            <a:gdLst/>
            <a:ahLst/>
            <a:cxnLst/>
            <a:rect l="l" t="t" r="r" b="b"/>
            <a:pathLst>
              <a:path w="5610225" h="1981200">
                <a:moveTo>
                  <a:pt x="114295" y="0"/>
                </a:moveTo>
                <a:lnTo>
                  <a:pt x="5495930" y="0"/>
                </a:lnTo>
                <a:cubicBezTo>
                  <a:pt x="5559011" y="0"/>
                  <a:pt x="5610225" y="51214"/>
                  <a:pt x="5610225" y="114295"/>
                </a:cubicBezTo>
                <a:lnTo>
                  <a:pt x="5610225" y="1866905"/>
                </a:lnTo>
                <a:cubicBezTo>
                  <a:pt x="5610225" y="1929986"/>
                  <a:pt x="5559011" y="1981200"/>
                  <a:pt x="5495930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2700000" scaled="1"/>
          </a:gra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5EE5B6B-3852-DFF6-65CD-EEF4E7FF6435}"/>
              </a:ext>
            </a:extLst>
          </p:cNvPr>
          <p:cNvSpPr/>
          <p:nvPr/>
        </p:nvSpPr>
        <p:spPr>
          <a:xfrm>
            <a:off x="6391275" y="396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5144CE5-AC90-605D-048C-062AF33066D0}"/>
              </a:ext>
            </a:extLst>
          </p:cNvPr>
          <p:cNvSpPr/>
          <p:nvPr/>
        </p:nvSpPr>
        <p:spPr>
          <a:xfrm>
            <a:off x="6512719" y="4095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EEBA73A-BAD0-9E0D-DCC0-41519B4C7173}"/>
              </a:ext>
            </a:extLst>
          </p:cNvPr>
          <p:cNvSpPr/>
          <p:nvPr/>
        </p:nvSpPr>
        <p:spPr>
          <a:xfrm>
            <a:off x="6962775" y="4038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市场建议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2CBE2E3-0EE4-693B-06FB-473D8B5DBBB3}"/>
              </a:ext>
            </a:extLst>
          </p:cNvPr>
          <p:cNvSpPr/>
          <p:nvPr/>
        </p:nvSpPr>
        <p:spPr>
          <a:xfrm>
            <a:off x="6391275" y="4533900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看好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highlight>
                  <a:srgbClr val="C0A062">
                    <a:alpha val="30000"/>
                  </a:srgbClr>
                </a:highlight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科技股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和受益于基建的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highlight>
                  <a:srgbClr val="C0A062">
                    <a:alpha val="30000"/>
                  </a:srgbClr>
                </a:highlight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周期股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，债券市场短久期策略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E68130F-DDFE-C4DB-F5D5-3850A5C5B177}"/>
              </a:ext>
            </a:extLst>
          </p:cNvPr>
          <p:cNvSpPr/>
          <p:nvPr/>
        </p:nvSpPr>
        <p:spPr>
          <a:xfrm>
            <a:off x="6391275" y="5167313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0A062">
              <a:alpha val="30196"/>
            </a:srgbClr>
          </a:solidFill>
          <a:ln/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A171B38-EE2B-7426-68BF-4001A6FEA321}"/>
              </a:ext>
            </a:extLst>
          </p:cNvPr>
          <p:cNvSpPr/>
          <p:nvPr/>
        </p:nvSpPr>
        <p:spPr>
          <a:xfrm>
            <a:off x="6391275" y="53054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策略方向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58A9373-72E0-00D3-1791-2B0227C71C90}"/>
              </a:ext>
            </a:extLst>
          </p:cNvPr>
          <p:cNvSpPr/>
          <p:nvPr/>
        </p:nvSpPr>
        <p:spPr>
          <a:xfrm>
            <a:off x="11229975" y="5286375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3A89AE0F-1C67-6568-AB1F-E240C2B4CBFD}"/>
              </a:ext>
            </a:extLst>
          </p:cNvPr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9CBD916-11BD-CA11-521D-EDB5ACBD6EA7}"/>
              </a:ext>
            </a:extLst>
          </p:cNvPr>
          <p:cNvSpPr/>
          <p:nvPr/>
        </p:nvSpPr>
        <p:spPr>
          <a:xfrm>
            <a:off x="5619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9005B78-3CC2-CF25-1F59-7F1F4B69673D}"/>
              </a:ext>
            </a:extLst>
          </p:cNvPr>
          <p:cNvSpPr/>
          <p:nvPr/>
        </p:nvSpPr>
        <p:spPr>
          <a:xfrm>
            <a:off x="7905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 本报告基于历史路径经验推断，非实时数据驱动。历史表现不代表未来结果，经济环境可能发生结构性变化导致历史规律失效。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69771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952625" cy="352425"/>
          </a:xfrm>
          <a:custGeom>
            <a:avLst/>
            <a:gdLst/>
            <a:ahLst/>
            <a:cxnLst/>
            <a:rect l="l" t="t" r="r" b="b"/>
            <a:pathLst>
              <a:path w="1952625" h="352425">
                <a:moveTo>
                  <a:pt x="176213" y="0"/>
                </a:moveTo>
                <a:lnTo>
                  <a:pt x="1776413" y="0"/>
                </a:lnTo>
                <a:cubicBezTo>
                  <a:pt x="1873667" y="0"/>
                  <a:pt x="1952625" y="78958"/>
                  <a:pt x="1952625" y="176213"/>
                </a:cubicBezTo>
                <a:lnTo>
                  <a:pt x="1952625" y="176213"/>
                </a:lnTo>
                <a:cubicBezTo>
                  <a:pt x="1952625" y="273467"/>
                  <a:pt x="1873667" y="352425"/>
                  <a:pt x="17764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85775"/>
            <a:ext cx="1701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 </a:t>
            </a:r>
            <a:r>
              <a:rPr lang="zh-CN" alt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宏观跟踪</a:t>
            </a:r>
            <a:r>
              <a:rPr 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：</a:t>
            </a:r>
            <a:r>
              <a:rPr lang="zh-CN" alt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温和增长，通胀韧性，就业警惕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19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/>
          <p:cNvSpPr/>
          <p:nvPr/>
        </p:nvSpPr>
        <p:spPr>
          <a:xfrm>
            <a:off x="7905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本报告基于历史路径经验推断，非实时数据驱动。历史表现不代表未来结果，经济环境可能发生结构性变化导致历史规律失效。</a:t>
            </a:r>
            <a:endParaRPr lang="en-US" sz="1600" dirty="0"/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0165CCAE-72F6-5C56-262E-A4BEA4FA6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61948"/>
              </p:ext>
            </p:extLst>
          </p:nvPr>
        </p:nvGraphicFramePr>
        <p:xfrm>
          <a:off x="1350405" y="1390650"/>
          <a:ext cx="8786720" cy="4350802"/>
        </p:xfrm>
        <a:graphic>
          <a:graphicData uri="http://schemas.openxmlformats.org/drawingml/2006/table">
            <a:tbl>
              <a:tblPr/>
              <a:tblGrid>
                <a:gridCol w="2196680">
                  <a:extLst>
                    <a:ext uri="{9D8B030D-6E8A-4147-A177-3AD203B41FA5}">
                      <a16:colId xmlns:a16="http://schemas.microsoft.com/office/drawing/2014/main" val="2492584400"/>
                    </a:ext>
                  </a:extLst>
                </a:gridCol>
                <a:gridCol w="2196680">
                  <a:extLst>
                    <a:ext uri="{9D8B030D-6E8A-4147-A177-3AD203B41FA5}">
                      <a16:colId xmlns:a16="http://schemas.microsoft.com/office/drawing/2014/main" val="185535563"/>
                    </a:ext>
                  </a:extLst>
                </a:gridCol>
                <a:gridCol w="2196680">
                  <a:extLst>
                    <a:ext uri="{9D8B030D-6E8A-4147-A177-3AD203B41FA5}">
                      <a16:colId xmlns:a16="http://schemas.microsoft.com/office/drawing/2014/main" val="1937690254"/>
                    </a:ext>
                  </a:extLst>
                </a:gridCol>
                <a:gridCol w="2196680">
                  <a:extLst>
                    <a:ext uri="{9D8B030D-6E8A-4147-A177-3AD203B41FA5}">
                      <a16:colId xmlns:a16="http://schemas.microsoft.com/office/drawing/2014/main" val="349067855"/>
                    </a:ext>
                  </a:extLst>
                </a:gridCol>
              </a:tblGrid>
              <a:tr h="2100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分类</a:t>
                      </a:r>
                      <a:endParaRPr lang="zh-CN" altLang="en-US" sz="1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关键指标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最新数据</a:t>
                      </a:r>
                      <a:r>
                        <a:rPr lang="en-US" altLang="zh-CN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状态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边际变化和信号含义</a:t>
                      </a:r>
                      <a:endParaRPr lang="zh-CN" altLang="en-US" sz="1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529924"/>
                  </a:ext>
                </a:extLst>
              </a:tr>
              <a:tr h="5035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GDP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增长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GDP Now 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预测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2026 Q1：3.0%（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截至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2026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年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3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月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日）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强于潜在增长率（约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1.8%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），预示经济仍具韧性，无衰退风险。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906654"/>
                  </a:ext>
                </a:extLst>
              </a:tr>
              <a:tr h="503547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ADS 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商业景气指数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0.45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（处于历史扩张区间）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虽从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月高点回落，但仍高于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，显示实体经济活动维持正增长。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471229"/>
                  </a:ext>
                </a:extLst>
              </a:tr>
              <a:tr h="35678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STLENI 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指数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持续处于“非经济衰退”区间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表明由于金融条件改善，经济硬着陆概率极低。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90888"/>
                  </a:ext>
                </a:extLst>
              </a:tr>
              <a:tr h="5035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通胀指标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RedBook 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零售指数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YoY: 6.7%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消费增长稳健，反映消费者在利率环境下仍具购买力。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46213"/>
                  </a:ext>
                </a:extLst>
              </a:tr>
              <a:tr h="503547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美国中位数房价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42.8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万美元（环比上涨）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房价坚挺可能导致 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PCE/CPI 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中的租金分项回落缓慢。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923416"/>
                  </a:ext>
                </a:extLst>
              </a:tr>
              <a:tr h="5035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就业市场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ADP 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新增就业人数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月：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2.2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万人；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月预测：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4.3-5.0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万人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处于“低速增长但薪资稳固”僵局，制造业岗位流失。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258309"/>
                  </a:ext>
                </a:extLst>
              </a:tr>
              <a:tr h="35678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WARN Notice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裁员数据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1-2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月申报人数增加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15%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预警制造业和零售业存在局部收缩压力。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590533"/>
                  </a:ext>
                </a:extLst>
              </a:tr>
              <a:tr h="356782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Lightcast 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招聘数据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招聘量同比下降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8.2%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企业招聘变得更为谨慎，市场转向“雇主市场”。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74796"/>
                  </a:ext>
                </a:extLst>
              </a:tr>
              <a:tr h="5035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核心参考</a:t>
                      </a:r>
                      <a:endParaRPr lang="zh-CN" alt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10</a:t>
                      </a:r>
                      <a:r>
                        <a:rPr lang="zh-CN" alt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年期美债</a:t>
                      </a:r>
                      <a:r>
                        <a:rPr lang="en-US" altLang="zh-CN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ISM/PMI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10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年期美债 </a:t>
                      </a:r>
                      <a:r>
                        <a:rPr lang="en-US" altLang="zh-CN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4.21% (3/3)</a:t>
                      </a:r>
                      <a:r>
                        <a:rPr lang="zh-CN" alt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；</a:t>
                      </a:r>
                      <a:r>
                        <a:rPr lang="en-US" sz="10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ISM PMI 48.7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0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制造业处于荣枯线下，美债收益率反映了对长期增长和通胀的定价。</a:t>
                      </a:r>
                    </a:p>
                  </a:txBody>
                  <a:tcPr marL="49260" marR="49260" marT="32840" marB="3284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71086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7B1F9-DA06-0D8B-04A7-4EF10BEA6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8E98EB-2FFA-F9AF-7E6E-64307203BF62}"/>
              </a:ext>
            </a:extLst>
          </p:cNvPr>
          <p:cNvSpPr/>
          <p:nvPr/>
        </p:nvSpPr>
        <p:spPr>
          <a:xfrm>
            <a:off x="385763" y="385763"/>
            <a:ext cx="1952625" cy="352425"/>
          </a:xfrm>
          <a:custGeom>
            <a:avLst/>
            <a:gdLst/>
            <a:ahLst/>
            <a:cxnLst/>
            <a:rect l="l" t="t" r="r" b="b"/>
            <a:pathLst>
              <a:path w="1952625" h="352425">
                <a:moveTo>
                  <a:pt x="176213" y="0"/>
                </a:moveTo>
                <a:lnTo>
                  <a:pt x="1776413" y="0"/>
                </a:lnTo>
                <a:cubicBezTo>
                  <a:pt x="1873667" y="0"/>
                  <a:pt x="1952625" y="78958"/>
                  <a:pt x="1952625" y="176213"/>
                </a:cubicBezTo>
                <a:lnTo>
                  <a:pt x="1952625" y="176213"/>
                </a:lnTo>
                <a:cubicBezTo>
                  <a:pt x="1952625" y="273467"/>
                  <a:pt x="1873667" y="352425"/>
                  <a:pt x="17764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5A686D-6683-21F0-F1C2-5D1DF6A3DD3D}"/>
              </a:ext>
            </a:extLst>
          </p:cNvPr>
          <p:cNvSpPr/>
          <p:nvPr/>
        </p:nvSpPr>
        <p:spPr>
          <a:xfrm>
            <a:off x="542925" y="485775"/>
            <a:ext cx="1701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5" normalizeH="0" baseline="0" noProof="0" dirty="0">
                <a:ln>
                  <a:noFill/>
                </a:ln>
                <a:solidFill>
                  <a:srgbClr val="C0A062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84A16D-6824-1196-B887-D19501AEB7A0}"/>
              </a:ext>
            </a:extLst>
          </p:cNvPr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企业基本面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：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科技盈利扩张，毛利率受折旧影响，行业景气度科技占优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96AFB9-AB76-A2F3-540A-477C13575BEF}"/>
              </a:ext>
            </a:extLst>
          </p:cNvPr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71EBD2C-6E90-3192-ABC4-F0522061A4F4}"/>
              </a:ext>
            </a:extLst>
          </p:cNvPr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BF10600-F19B-2747-8B4A-5F6A9D7610AF}"/>
              </a:ext>
            </a:extLst>
          </p:cNvPr>
          <p:cNvSpPr/>
          <p:nvPr/>
        </p:nvSpPr>
        <p:spPr>
          <a:xfrm>
            <a:off x="5619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AC7E0A9-E52F-AB1E-4956-E550DBBAA12E}"/>
              </a:ext>
            </a:extLst>
          </p:cNvPr>
          <p:cNvSpPr/>
          <p:nvPr/>
        </p:nvSpPr>
        <p:spPr>
          <a:xfrm>
            <a:off x="7905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 本报告基于历史路径经验推断，非实时数据驱动。历史表现不代表未来结果，经济环境可能发生结构性变化导致历史规律失效。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C5CD114-BA3B-B07C-B1D7-75DDE7F88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169365"/>
              </p:ext>
            </p:extLst>
          </p:nvPr>
        </p:nvGraphicFramePr>
        <p:xfrm>
          <a:off x="1295400" y="1491031"/>
          <a:ext cx="9271612" cy="4266604"/>
        </p:xfrm>
        <a:graphic>
          <a:graphicData uri="http://schemas.openxmlformats.org/drawingml/2006/table">
            <a:tbl>
              <a:tblPr/>
              <a:tblGrid>
                <a:gridCol w="2317903">
                  <a:extLst>
                    <a:ext uri="{9D8B030D-6E8A-4147-A177-3AD203B41FA5}">
                      <a16:colId xmlns:a16="http://schemas.microsoft.com/office/drawing/2014/main" val="1931812723"/>
                    </a:ext>
                  </a:extLst>
                </a:gridCol>
                <a:gridCol w="2317903">
                  <a:extLst>
                    <a:ext uri="{9D8B030D-6E8A-4147-A177-3AD203B41FA5}">
                      <a16:colId xmlns:a16="http://schemas.microsoft.com/office/drawing/2014/main" val="3040248849"/>
                    </a:ext>
                  </a:extLst>
                </a:gridCol>
                <a:gridCol w="2317903">
                  <a:extLst>
                    <a:ext uri="{9D8B030D-6E8A-4147-A177-3AD203B41FA5}">
                      <a16:colId xmlns:a16="http://schemas.microsoft.com/office/drawing/2014/main" val="2497517980"/>
                    </a:ext>
                  </a:extLst>
                </a:gridCol>
                <a:gridCol w="2317903">
                  <a:extLst>
                    <a:ext uri="{9D8B030D-6E8A-4147-A177-3AD203B41FA5}">
                      <a16:colId xmlns:a16="http://schemas.microsoft.com/office/drawing/2014/main" val="1591884300"/>
                    </a:ext>
                  </a:extLst>
                </a:gridCol>
              </a:tblGrid>
              <a:tr h="2446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分类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关键指标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最新数据</a:t>
                      </a:r>
                      <a:r>
                        <a:rPr lang="en-US" altLang="zh-CN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趋势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AI</a:t>
                      </a: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分析与展望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667668"/>
                  </a:ext>
                </a:extLst>
              </a:tr>
              <a:tr h="5866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标普</a:t>
                      </a:r>
                      <a:r>
                        <a:rPr lang="en-US" altLang="zh-CN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500</a:t>
                      </a: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盈利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盈利上修动能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2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2026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年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EPS</a:t>
                      </a:r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预期调高约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2.5%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上修表现出明显的广度改善，不仅局限于 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Mag 7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科技股。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991800"/>
                  </a:ext>
                </a:extLst>
              </a:tr>
              <a:tr h="415619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盈余惊喜比例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76% (2025Q4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财报季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工业、通信技术表现强劲，超过市场预期。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552729"/>
                  </a:ext>
                </a:extLst>
              </a:tr>
              <a:tr h="5866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营收增长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纳斯达克营收增长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2026Q1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预期：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11.8%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增速受高基数影响小幅放缓，但 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AI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硬件需求依然井喷。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1415"/>
                  </a:ext>
                </a:extLst>
              </a:tr>
              <a:tr h="5866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利润率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纳斯达克</a:t>
                      </a:r>
                      <a:r>
                        <a:rPr lang="en-US" altLang="zh-CN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100</a:t>
                      </a: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毛利率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26Q1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预计：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65.5%-66.2%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AI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产品订阅开始贡献毛利，但 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CapEx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带来的折旧压力限制了净利。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573412"/>
                  </a:ext>
                </a:extLst>
              </a:tr>
              <a:tr h="58661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ROIC - WACC </a:t>
                      </a: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利差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2026Q1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预测：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9.7%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利差保持韧性，主要得益于资本效率改善和 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WACC 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小幅下降。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440784"/>
                  </a:ext>
                </a:extLst>
              </a:tr>
              <a:tr h="5866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现金流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美股现金流 </a:t>
                      </a: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PEG</a:t>
                      </a:r>
                      <a:endParaRPr 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1.1 - 1.2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（历史均值附近）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相较于单纯 </a:t>
                      </a:r>
                      <a:r>
                        <a:rPr lang="en-US" altLang="zh-CN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PE</a:t>
                      </a: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，考虑自由现金流后的估值处于合理防御区间。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539880"/>
                  </a:ext>
                </a:extLst>
              </a:tr>
              <a:tr h="5866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板块分化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行业景气度</a:t>
                      </a:r>
                      <a:endParaRPr lang="zh-CN" alt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科技、金融、工业占优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能源、地产、传统零售表现承压，出现明显的结构性切换。</a:t>
                      </a:r>
                    </a:p>
                  </a:txBody>
                  <a:tcPr marL="59068" marR="59068" marT="39379" marB="39379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571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34302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7AF52-B8AB-34BF-2EC4-7D66A6DD6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0512DF-A6E9-2395-3F24-58A68AA7087B}"/>
              </a:ext>
            </a:extLst>
          </p:cNvPr>
          <p:cNvSpPr/>
          <p:nvPr/>
        </p:nvSpPr>
        <p:spPr>
          <a:xfrm>
            <a:off x="385763" y="385763"/>
            <a:ext cx="1952625" cy="352425"/>
          </a:xfrm>
          <a:custGeom>
            <a:avLst/>
            <a:gdLst/>
            <a:ahLst/>
            <a:cxnLst/>
            <a:rect l="l" t="t" r="r" b="b"/>
            <a:pathLst>
              <a:path w="1952625" h="352425">
                <a:moveTo>
                  <a:pt x="176213" y="0"/>
                </a:moveTo>
                <a:lnTo>
                  <a:pt x="1776413" y="0"/>
                </a:lnTo>
                <a:cubicBezTo>
                  <a:pt x="1873667" y="0"/>
                  <a:pt x="1952625" y="78958"/>
                  <a:pt x="1952625" y="176213"/>
                </a:cubicBezTo>
                <a:lnTo>
                  <a:pt x="1952625" y="176213"/>
                </a:lnTo>
                <a:cubicBezTo>
                  <a:pt x="1952625" y="273467"/>
                  <a:pt x="1873667" y="352425"/>
                  <a:pt x="17764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634E6F-7CAE-8025-D606-D7CFB718481A}"/>
              </a:ext>
            </a:extLst>
          </p:cNvPr>
          <p:cNvSpPr/>
          <p:nvPr/>
        </p:nvSpPr>
        <p:spPr>
          <a:xfrm>
            <a:off x="542925" y="485775"/>
            <a:ext cx="1701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5" normalizeH="0" baseline="0" noProof="0" dirty="0">
                <a:ln>
                  <a:noFill/>
                </a:ln>
                <a:solidFill>
                  <a:srgbClr val="C0A062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6CC620-0914-01A7-FC96-5230AC4178A4}"/>
              </a:ext>
            </a:extLst>
          </p:cNvPr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市场情绪与资金流动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：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情绪过高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FA8F23-2265-F4E3-2BAE-9F0F9F3FBD3C}"/>
              </a:ext>
            </a:extLst>
          </p:cNvPr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337A96C4-D68F-B310-9950-874233EA6B0B}"/>
              </a:ext>
            </a:extLst>
          </p:cNvPr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53073B0-A858-5C2F-1092-BBE44D9D5D99}"/>
              </a:ext>
            </a:extLst>
          </p:cNvPr>
          <p:cNvSpPr/>
          <p:nvPr/>
        </p:nvSpPr>
        <p:spPr>
          <a:xfrm>
            <a:off x="5619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5DEF123-B660-4DB4-6A33-E831A7FCAA16}"/>
              </a:ext>
            </a:extLst>
          </p:cNvPr>
          <p:cNvSpPr/>
          <p:nvPr/>
        </p:nvSpPr>
        <p:spPr>
          <a:xfrm>
            <a:off x="7905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 本报告基于历史路径经验推断，非实时数据驱动。历史表现不代表未来结果，经济环境可能发生结构性变化导致历史规律失效。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C83BA24-EF06-7C91-9B79-C942D8E5B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096626"/>
              </p:ext>
            </p:extLst>
          </p:nvPr>
        </p:nvGraphicFramePr>
        <p:xfrm>
          <a:off x="838200" y="2462054"/>
          <a:ext cx="10515600" cy="3078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52592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698298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74163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关键指标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最新数据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信号含义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615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主权基金流向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累计净流入同比增加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22%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长期资本持续增配美股科技基建，作为“价值锚”配置。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59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AAII </a:t>
                      </a: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个人看多比例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48.5% (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高于历史均值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37.5%)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个人投资者情绪偏向“贪婪”，需警惕短期超买回调风险。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663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Market Vane </a:t>
                      </a: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看涨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68%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处于极度乐观边缘，历史上此读数常预示市场进入震荡期。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150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保证金债务</a:t>
                      </a:r>
                      <a:r>
                        <a:rPr lang="en-US" altLang="zh-CN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市值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1.85% (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处于低位徘徊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杠杆率尚未出清，但并未出现类似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2021 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年的非理性杠杆扩张。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59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577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B3022-D33B-6BFD-5FE8-F4698E9E9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344DD8-8294-12F9-2B46-E39C0033BA97}"/>
              </a:ext>
            </a:extLst>
          </p:cNvPr>
          <p:cNvSpPr/>
          <p:nvPr/>
        </p:nvSpPr>
        <p:spPr>
          <a:xfrm>
            <a:off x="385763" y="385763"/>
            <a:ext cx="1952625" cy="352425"/>
          </a:xfrm>
          <a:custGeom>
            <a:avLst/>
            <a:gdLst/>
            <a:ahLst/>
            <a:cxnLst/>
            <a:rect l="l" t="t" r="r" b="b"/>
            <a:pathLst>
              <a:path w="1952625" h="352425">
                <a:moveTo>
                  <a:pt x="176213" y="0"/>
                </a:moveTo>
                <a:lnTo>
                  <a:pt x="1776413" y="0"/>
                </a:lnTo>
                <a:cubicBezTo>
                  <a:pt x="1873667" y="0"/>
                  <a:pt x="1952625" y="78958"/>
                  <a:pt x="1952625" y="176213"/>
                </a:cubicBezTo>
                <a:lnTo>
                  <a:pt x="1952625" y="176213"/>
                </a:lnTo>
                <a:cubicBezTo>
                  <a:pt x="1952625" y="273467"/>
                  <a:pt x="1873667" y="352425"/>
                  <a:pt x="17764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CDA8D6-2EF8-9496-58A5-41AA539803F1}"/>
              </a:ext>
            </a:extLst>
          </p:cNvPr>
          <p:cNvSpPr/>
          <p:nvPr/>
        </p:nvSpPr>
        <p:spPr>
          <a:xfrm>
            <a:off x="542925" y="485775"/>
            <a:ext cx="1701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5" normalizeH="0" baseline="0" noProof="0" dirty="0">
                <a:ln>
                  <a:noFill/>
                </a:ln>
                <a:solidFill>
                  <a:srgbClr val="C0A062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DB74AE-5903-7BDA-9EC4-7F87919A097C}"/>
              </a:ext>
            </a:extLst>
          </p:cNvPr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90000"/>
              </a:lnSpc>
            </a:pPr>
            <a:r>
              <a:rPr lang="en-US" altLang="zh-CN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 </a:t>
            </a:r>
            <a:r>
              <a:rPr lang="zh-CN" altLang="en-US" sz="2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估值水平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：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估值昂贵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F0785C-3B6C-463C-5323-AFA4261FB00E}"/>
              </a:ext>
            </a:extLst>
          </p:cNvPr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79D6688-889F-BF1A-93B3-F831ACC45BA6}"/>
              </a:ext>
            </a:extLst>
          </p:cNvPr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90E222-6A41-7EA0-7F43-25AA5F79446D}"/>
              </a:ext>
            </a:extLst>
          </p:cNvPr>
          <p:cNvSpPr/>
          <p:nvPr/>
        </p:nvSpPr>
        <p:spPr>
          <a:xfrm>
            <a:off x="5619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D747CB6-97B9-7E3D-744F-45793C6C8DBB}"/>
              </a:ext>
            </a:extLst>
          </p:cNvPr>
          <p:cNvSpPr/>
          <p:nvPr/>
        </p:nvSpPr>
        <p:spPr>
          <a:xfrm>
            <a:off x="7905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 本报告基于历史路径经验推断，非实时数据驱动。历史表现不代表未来结果，经济环境可能发生结构性变化导致历史规律失效。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1B8293F-1216-60B9-D81F-90EEDA490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52414"/>
              </p:ext>
            </p:extLst>
          </p:nvPr>
        </p:nvGraphicFramePr>
        <p:xfrm>
          <a:off x="638175" y="1973768"/>
          <a:ext cx="10515600" cy="2407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835001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26755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51974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关键指标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当前数值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估值分位与评价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061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标普</a:t>
                      </a:r>
                      <a:r>
                        <a:rPr lang="en-US" altLang="zh-CN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500 </a:t>
                      </a: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ERP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0.45% (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过去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10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年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5% 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分位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极度昂贵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。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ERP 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跌破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1% 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警戒线，显示相对于债市，股市溢价极低。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35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真实股东收益率利差</a:t>
                      </a:r>
                      <a:endParaRPr lang="zh-CN" alt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1.2% (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相对历史均值贴近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考虑分红与回购后的综合收益尚可，缓冲了高 </a:t>
                      </a: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PE </a:t>
                      </a:r>
                      <a:r>
                        <a:rPr lang="zh-CN" altLang="en-US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的估值压力。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665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前瞻 </a:t>
                      </a: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P/E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21.5 - 22.2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远高于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10 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年平均水平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(18.8)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，需依靠更强的盈利上修来支撑。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379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77854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398DB-D774-2932-FAC3-2442398A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ECAB16-397B-04AB-002C-D9C1D0491A13}"/>
              </a:ext>
            </a:extLst>
          </p:cNvPr>
          <p:cNvSpPr/>
          <p:nvPr/>
        </p:nvSpPr>
        <p:spPr>
          <a:xfrm>
            <a:off x="385763" y="385763"/>
            <a:ext cx="1952625" cy="352425"/>
          </a:xfrm>
          <a:custGeom>
            <a:avLst/>
            <a:gdLst/>
            <a:ahLst/>
            <a:cxnLst/>
            <a:rect l="l" t="t" r="r" b="b"/>
            <a:pathLst>
              <a:path w="1952625" h="352425">
                <a:moveTo>
                  <a:pt x="176213" y="0"/>
                </a:moveTo>
                <a:lnTo>
                  <a:pt x="1776413" y="0"/>
                </a:lnTo>
                <a:cubicBezTo>
                  <a:pt x="1873667" y="0"/>
                  <a:pt x="1952625" y="78958"/>
                  <a:pt x="1952625" y="176213"/>
                </a:cubicBezTo>
                <a:lnTo>
                  <a:pt x="1952625" y="176213"/>
                </a:lnTo>
                <a:cubicBezTo>
                  <a:pt x="1952625" y="273467"/>
                  <a:pt x="1873667" y="352425"/>
                  <a:pt x="1776413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111399-FD22-BF94-3BFE-B8E41732EEEE}"/>
              </a:ext>
            </a:extLst>
          </p:cNvPr>
          <p:cNvSpPr/>
          <p:nvPr/>
        </p:nvSpPr>
        <p:spPr>
          <a:xfrm>
            <a:off x="542925" y="485775"/>
            <a:ext cx="1701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5" normalizeH="0" baseline="0" noProof="0" dirty="0">
                <a:ln>
                  <a:noFill/>
                </a:ln>
                <a:solidFill>
                  <a:srgbClr val="C0A062"/>
                </a:solidFill>
                <a:effectLst/>
                <a:uLnTx/>
                <a:uFillTx/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FD231F-D3D9-1EBC-C42D-95327430AAD5}"/>
              </a:ext>
            </a:extLst>
          </p:cNvPr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当下政策与流动性情况</a:t>
            </a: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：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紧缩，流动性短缺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961006-4900-52B0-58B5-D179711A5BF3}"/>
              </a:ext>
            </a:extLst>
          </p:cNvPr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BDD12EC-D042-348B-4DD3-4DD5FDF2D8A4}"/>
              </a:ext>
            </a:extLst>
          </p:cNvPr>
          <p:cNvSpPr/>
          <p:nvPr/>
        </p:nvSpPr>
        <p:spPr>
          <a:xfrm>
            <a:off x="385763" y="59102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1E8268F-BE16-1E2D-EA5A-EB856DB7B86D}"/>
              </a:ext>
            </a:extLst>
          </p:cNvPr>
          <p:cNvSpPr/>
          <p:nvPr/>
        </p:nvSpPr>
        <p:spPr>
          <a:xfrm>
            <a:off x="561975" y="610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4CE7A77-E231-CEF1-FA22-02033E54929C}"/>
              </a:ext>
            </a:extLst>
          </p:cNvPr>
          <p:cNvSpPr/>
          <p:nvPr/>
        </p:nvSpPr>
        <p:spPr>
          <a:xfrm>
            <a:off x="790575" y="6067425"/>
            <a:ext cx="10934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重要声明：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D99AE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 本报告基于历史路径经验推断，非实时数据驱动。历史表现不代表未来结果，经济环境可能发生结构性变化导致历史规律失效。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E492F81-08EC-90D6-9BEB-27A2BD05C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486968"/>
              </p:ext>
            </p:extLst>
          </p:nvPr>
        </p:nvGraphicFramePr>
        <p:xfrm>
          <a:off x="838200" y="1547812"/>
          <a:ext cx="10008078" cy="4351336"/>
        </p:xfrm>
        <a:graphic>
          <a:graphicData uri="http://schemas.openxmlformats.org/drawingml/2006/table">
            <a:tbl>
              <a:tblPr/>
              <a:tblGrid>
                <a:gridCol w="3336026">
                  <a:extLst>
                    <a:ext uri="{9D8B030D-6E8A-4147-A177-3AD203B41FA5}">
                      <a16:colId xmlns:a16="http://schemas.microsoft.com/office/drawing/2014/main" val="4284848195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118005623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2610800216"/>
                    </a:ext>
                  </a:extLst>
                </a:gridCol>
              </a:tblGrid>
              <a:tr h="3771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关键指标</a:t>
                      </a:r>
                      <a:endParaRPr lang="zh-CN" alt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最新数据</a:t>
                      </a:r>
                      <a:endParaRPr lang="zh-CN" alt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信号含义</a:t>
                      </a:r>
                      <a:endParaRPr lang="zh-CN" alt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21695"/>
                  </a:ext>
                </a:extLst>
              </a:tr>
              <a:tr h="8992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TGA </a:t>
                      </a:r>
                      <a:r>
                        <a:rPr lang="zh-CN" alt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账户余额</a:t>
                      </a:r>
                      <a:endParaRPr lang="zh-CN" alt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zh-CN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7,850 </a:t>
                      </a: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亿美元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余额处于高位，财政部若在季度末“放水”将对市场流动性形成支撑。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681596"/>
                  </a:ext>
                </a:extLst>
              </a:tr>
              <a:tr h="6381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SOFR-OIS </a:t>
                      </a:r>
                      <a:r>
                        <a:rPr lang="zh-CN" alt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基差</a:t>
                      </a:r>
                      <a:endParaRPr lang="zh-CN" alt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12 - 15 bps (</a:t>
                      </a: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基本稳定</a:t>
                      </a:r>
                      <a:r>
                        <a:rPr lang="en-US" altLang="zh-CN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回购市场流动性充裕，未出现系统性美元短缺或信贷紧缩。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22541"/>
                  </a:ext>
                </a:extLst>
              </a:tr>
              <a:tr h="8992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金融条件指数</a:t>
                      </a:r>
                      <a:endParaRPr lang="zh-CN" alt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彭博</a:t>
                      </a:r>
                      <a:r>
                        <a:rPr lang="en-US" altLang="zh-CN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芝加哥联储读数均显示“宽松”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尽管利率维持高位，但金融市场环境依然对经济增长起到支撑作用。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48073"/>
                  </a:ext>
                </a:extLst>
              </a:tr>
              <a:tr h="8992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CARRY TO RISK</a:t>
                      </a:r>
                      <a:endParaRPr 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处于中枢水平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全球套利交易活跃度平稳，未见由于波动率飙升导致的资金大规模撤离。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370449"/>
                  </a:ext>
                </a:extLst>
              </a:tr>
              <a:tr h="6381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财政赤字</a:t>
                      </a:r>
                      <a:endParaRPr lang="zh-CN" altLang="en-US" sz="17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持续扩张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sz="17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虽未提供具体百分比，但财政支出仍是支撑 </a:t>
                      </a:r>
                      <a:r>
                        <a:rPr lang="en-US" altLang="zh-CN" sz="17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GDP </a:t>
                      </a:r>
                      <a:r>
                        <a:rPr lang="zh-CN" altLang="en-US" sz="17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增长的重要动力。</a:t>
                      </a:r>
                    </a:p>
                  </a:txBody>
                  <a:tcPr marL="87027" marR="87027" marT="58018" marB="5801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41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40526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410" y="364410"/>
            <a:ext cx="2411407" cy="332918"/>
          </a:xfrm>
          <a:custGeom>
            <a:avLst/>
            <a:gdLst/>
            <a:ahLst/>
            <a:cxnLst/>
            <a:rect l="l" t="t" r="r" b="b"/>
            <a:pathLst>
              <a:path w="2411407" h="332918">
                <a:moveTo>
                  <a:pt x="166459" y="0"/>
                </a:moveTo>
                <a:lnTo>
                  <a:pt x="2244948" y="0"/>
                </a:lnTo>
                <a:cubicBezTo>
                  <a:pt x="2336880" y="0"/>
                  <a:pt x="2411407" y="74526"/>
                  <a:pt x="2411407" y="166459"/>
                </a:cubicBezTo>
                <a:lnTo>
                  <a:pt x="2411407" y="166459"/>
                </a:lnTo>
                <a:cubicBezTo>
                  <a:pt x="2411407" y="258392"/>
                  <a:pt x="2336880" y="332918"/>
                  <a:pt x="2244948" y="332918"/>
                </a:cubicBezTo>
                <a:lnTo>
                  <a:pt x="166459" y="332918"/>
                </a:lnTo>
                <a:cubicBezTo>
                  <a:pt x="74526" y="332918"/>
                  <a:pt x="0" y="258392"/>
                  <a:pt x="0" y="166459"/>
                </a:cubicBezTo>
                <a:lnTo>
                  <a:pt x="0" y="166459"/>
                </a:lnTo>
                <a:cubicBezTo>
                  <a:pt x="0" y="74526"/>
                  <a:pt x="74526" y="0"/>
                  <a:pt x="166459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874" y="458887"/>
            <a:ext cx="217943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kern="0" spc="99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MONETARY POLICY FORECAST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809801"/>
            <a:ext cx="1163413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 </a:t>
            </a:r>
            <a:r>
              <a:rPr lang="en-US" sz="2551" b="1" dirty="0" err="1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货币政策预测：三情景分析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911" y="1277686"/>
            <a:ext cx="863787" cy="35991"/>
          </a:xfrm>
          <a:custGeom>
            <a:avLst/>
            <a:gdLst/>
            <a:ahLst/>
            <a:cxnLst/>
            <a:rect l="l" t="t" r="r" b="b"/>
            <a:pathLst>
              <a:path w="863787" h="35991">
                <a:moveTo>
                  <a:pt x="0" y="0"/>
                </a:moveTo>
                <a:lnTo>
                  <a:pt x="863787" y="0"/>
                </a:lnTo>
                <a:lnTo>
                  <a:pt x="863787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68909" y="1430648"/>
            <a:ext cx="5641612" cy="3563123"/>
          </a:xfrm>
          <a:custGeom>
            <a:avLst/>
            <a:gdLst/>
            <a:ahLst/>
            <a:cxnLst/>
            <a:rect l="l" t="t" r="r" b="b"/>
            <a:pathLst>
              <a:path w="5641612" h="3563123">
                <a:moveTo>
                  <a:pt x="107963" y="0"/>
                </a:moveTo>
                <a:lnTo>
                  <a:pt x="5533649" y="0"/>
                </a:lnTo>
                <a:cubicBezTo>
                  <a:pt x="5593275" y="0"/>
                  <a:pt x="5641612" y="48337"/>
                  <a:pt x="5641612" y="107963"/>
                </a:cubicBezTo>
                <a:lnTo>
                  <a:pt x="5641612" y="3455161"/>
                </a:lnTo>
                <a:cubicBezTo>
                  <a:pt x="5641612" y="3514747"/>
                  <a:pt x="5593235" y="3563123"/>
                  <a:pt x="5533649" y="3563123"/>
                </a:cubicBezTo>
                <a:lnTo>
                  <a:pt x="107963" y="3563123"/>
                </a:lnTo>
                <a:cubicBezTo>
                  <a:pt x="48337" y="3563123"/>
                  <a:pt x="0" y="3514787"/>
                  <a:pt x="0" y="3455161"/>
                </a:cubicBezTo>
                <a:lnTo>
                  <a:pt x="0" y="107963"/>
                </a:lnTo>
                <a:cubicBezTo>
                  <a:pt x="0" y="48376"/>
                  <a:pt x="48376" y="0"/>
                  <a:pt x="107963" y="0"/>
                </a:cubicBezTo>
                <a:close/>
              </a:path>
            </a:pathLst>
          </a:custGeom>
          <a:gradFill flip="none" rotWithShape="1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2700000" scaled="1"/>
          </a:gradFill>
          <a:ln w="25400">
            <a:solidFill>
              <a:srgbClr val="C0A0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872" y="1637597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215947" y="0"/>
                </a:moveTo>
                <a:lnTo>
                  <a:pt x="215947" y="0"/>
                </a:lnTo>
                <a:cubicBezTo>
                  <a:pt x="335131" y="0"/>
                  <a:pt x="431894" y="96763"/>
                  <a:pt x="431894" y="215947"/>
                </a:cubicBezTo>
                <a:lnTo>
                  <a:pt x="431894" y="215947"/>
                </a:lnTo>
                <a:cubicBezTo>
                  <a:pt x="431894" y="335131"/>
                  <a:pt x="335131" y="431894"/>
                  <a:pt x="215947" y="431894"/>
                </a:cubicBezTo>
                <a:lnTo>
                  <a:pt x="215947" y="431894"/>
                </a:lnTo>
                <a:cubicBezTo>
                  <a:pt x="96763" y="431894"/>
                  <a:pt x="0" y="335131"/>
                  <a:pt x="0" y="215947"/>
                </a:cubicBezTo>
                <a:lnTo>
                  <a:pt x="0" y="215947"/>
                </a:lnTo>
                <a:cubicBezTo>
                  <a:pt x="0" y="96763"/>
                  <a:pt x="96763" y="0"/>
                  <a:pt x="215947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Shape 6"/>
          <p:cNvSpPr/>
          <p:nvPr/>
        </p:nvSpPr>
        <p:spPr>
          <a:xfrm>
            <a:off x="647841" y="176356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22494" y="22494"/>
                </a:moveTo>
                <a:cubicBezTo>
                  <a:pt x="22494" y="16273"/>
                  <a:pt x="17468" y="11247"/>
                  <a:pt x="11247" y="11247"/>
                </a:cubicBezTo>
                <a:cubicBezTo>
                  <a:pt x="5026" y="11247"/>
                  <a:pt x="0" y="16273"/>
                  <a:pt x="0" y="22494"/>
                </a:cubicBezTo>
                <a:lnTo>
                  <a:pt x="0" y="140590"/>
                </a:lnTo>
                <a:cubicBezTo>
                  <a:pt x="0" y="156126"/>
                  <a:pt x="12583" y="168708"/>
                  <a:pt x="28118" y="168708"/>
                </a:cubicBezTo>
                <a:lnTo>
                  <a:pt x="168708" y="168708"/>
                </a:lnTo>
                <a:cubicBezTo>
                  <a:pt x="174930" y="168708"/>
                  <a:pt x="179956" y="163682"/>
                  <a:pt x="179956" y="157461"/>
                </a:cubicBezTo>
                <a:cubicBezTo>
                  <a:pt x="179956" y="151240"/>
                  <a:pt x="174930" y="146214"/>
                  <a:pt x="168708" y="146214"/>
                </a:cubicBezTo>
                <a:lnTo>
                  <a:pt x="28118" y="146214"/>
                </a:lnTo>
                <a:cubicBezTo>
                  <a:pt x="25025" y="146214"/>
                  <a:pt x="22494" y="143683"/>
                  <a:pt x="22494" y="140590"/>
                </a:cubicBezTo>
                <a:lnTo>
                  <a:pt x="22494" y="22494"/>
                </a:lnTo>
                <a:close/>
                <a:moveTo>
                  <a:pt x="165405" y="52932"/>
                </a:moveTo>
                <a:cubicBezTo>
                  <a:pt x="169798" y="48539"/>
                  <a:pt x="169798" y="41404"/>
                  <a:pt x="165405" y="37010"/>
                </a:cubicBezTo>
                <a:cubicBezTo>
                  <a:pt x="161011" y="32617"/>
                  <a:pt x="153876" y="32617"/>
                  <a:pt x="149483" y="37010"/>
                </a:cubicBezTo>
                <a:lnTo>
                  <a:pt x="112472" y="74056"/>
                </a:lnTo>
                <a:lnTo>
                  <a:pt x="92298" y="53916"/>
                </a:lnTo>
                <a:cubicBezTo>
                  <a:pt x="87904" y="49523"/>
                  <a:pt x="80769" y="49523"/>
                  <a:pt x="76376" y="53916"/>
                </a:cubicBezTo>
                <a:lnTo>
                  <a:pt x="42634" y="87658"/>
                </a:lnTo>
                <a:cubicBezTo>
                  <a:pt x="38241" y="92052"/>
                  <a:pt x="38241" y="99187"/>
                  <a:pt x="42634" y="103580"/>
                </a:cubicBezTo>
                <a:cubicBezTo>
                  <a:pt x="47027" y="107973"/>
                  <a:pt x="54162" y="107973"/>
                  <a:pt x="58556" y="103580"/>
                </a:cubicBezTo>
                <a:lnTo>
                  <a:pt x="84354" y="77782"/>
                </a:lnTo>
                <a:lnTo>
                  <a:pt x="104529" y="97956"/>
                </a:lnTo>
                <a:cubicBezTo>
                  <a:pt x="108922" y="102350"/>
                  <a:pt x="116057" y="102350"/>
                  <a:pt x="120451" y="97956"/>
                </a:cubicBezTo>
                <a:lnTo>
                  <a:pt x="165440" y="52967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061739" y="1601606"/>
            <a:ext cx="1052741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基线情景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1739" y="1889535"/>
            <a:ext cx="101675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Gradual Easing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6774" y="1583610"/>
            <a:ext cx="809801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551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5749" y="1943522"/>
            <a:ext cx="71082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872" y="2231451"/>
            <a:ext cx="5335687" cy="719823"/>
          </a:xfrm>
          <a:custGeom>
            <a:avLst/>
            <a:gdLst/>
            <a:ahLst/>
            <a:cxnLst/>
            <a:rect l="l" t="t" r="r" b="b"/>
            <a:pathLst>
              <a:path w="5335687" h="719823">
                <a:moveTo>
                  <a:pt x="71982" y="0"/>
                </a:moveTo>
                <a:lnTo>
                  <a:pt x="5263705" y="0"/>
                </a:lnTo>
                <a:cubicBezTo>
                  <a:pt x="5303460" y="0"/>
                  <a:pt x="5335687" y="32228"/>
                  <a:pt x="5335687" y="71982"/>
                </a:cubicBezTo>
                <a:lnTo>
                  <a:pt x="5335687" y="647841"/>
                </a:lnTo>
                <a:cubicBezTo>
                  <a:pt x="5335687" y="687595"/>
                  <a:pt x="5303460" y="719823"/>
                  <a:pt x="5263705" y="719823"/>
                </a:cubicBezTo>
                <a:lnTo>
                  <a:pt x="71982" y="719823"/>
                </a:lnTo>
                <a:cubicBezTo>
                  <a:pt x="32228" y="719823"/>
                  <a:pt x="0" y="687595"/>
                  <a:pt x="0" y="647841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9845" y="2339424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845" y="2591362"/>
            <a:ext cx="520072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1995年、2019年软着陆模式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872" y="3023256"/>
            <a:ext cx="5335687" cy="719823"/>
          </a:xfrm>
          <a:custGeom>
            <a:avLst/>
            <a:gdLst/>
            <a:ahLst/>
            <a:cxnLst/>
            <a:rect l="l" t="t" r="r" b="b"/>
            <a:pathLst>
              <a:path w="5335687" h="719823">
                <a:moveTo>
                  <a:pt x="71982" y="0"/>
                </a:moveTo>
                <a:lnTo>
                  <a:pt x="5263705" y="0"/>
                </a:lnTo>
                <a:cubicBezTo>
                  <a:pt x="5303460" y="0"/>
                  <a:pt x="5335687" y="32228"/>
                  <a:pt x="5335687" y="71982"/>
                </a:cubicBezTo>
                <a:lnTo>
                  <a:pt x="5335687" y="647841"/>
                </a:lnTo>
                <a:cubicBezTo>
                  <a:pt x="5335687" y="687595"/>
                  <a:pt x="5303460" y="719823"/>
                  <a:pt x="5263705" y="719823"/>
                </a:cubicBezTo>
                <a:lnTo>
                  <a:pt x="71982" y="719823"/>
                </a:lnTo>
                <a:cubicBezTo>
                  <a:pt x="32228" y="719823"/>
                  <a:pt x="0" y="687595"/>
                  <a:pt x="0" y="647841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9845" y="3131230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关键假设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845" y="3383168"/>
            <a:ext cx="520072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经济软着陆，通胀温和回落至2-2.5%，就业保持稳定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872" y="3815061"/>
            <a:ext cx="5335687" cy="719823"/>
          </a:xfrm>
          <a:custGeom>
            <a:avLst/>
            <a:gdLst/>
            <a:ahLst/>
            <a:cxnLst/>
            <a:rect l="l" t="t" r="r" b="b"/>
            <a:pathLst>
              <a:path w="5335687" h="719823">
                <a:moveTo>
                  <a:pt x="71982" y="0"/>
                </a:moveTo>
                <a:lnTo>
                  <a:pt x="5263705" y="0"/>
                </a:lnTo>
                <a:cubicBezTo>
                  <a:pt x="5303460" y="0"/>
                  <a:pt x="5335687" y="32228"/>
                  <a:pt x="5335687" y="71982"/>
                </a:cubicBezTo>
                <a:lnTo>
                  <a:pt x="5335687" y="647841"/>
                </a:lnTo>
                <a:cubicBezTo>
                  <a:pt x="5335687" y="687595"/>
                  <a:pt x="5303460" y="719823"/>
                  <a:pt x="5263705" y="719823"/>
                </a:cubicBezTo>
                <a:lnTo>
                  <a:pt x="71982" y="719823"/>
                </a:lnTo>
                <a:cubicBezTo>
                  <a:pt x="32228" y="719823"/>
                  <a:pt x="0" y="687595"/>
                  <a:pt x="0" y="647841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9845" y="3923035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利率路径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9845" y="4174973"/>
            <a:ext cx="520072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降息2-3次，年底利率</a:t>
            </a:r>
            <a:r>
              <a:rPr lang="en-US" sz="12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3.5-3.75%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4410" y="5115241"/>
            <a:ext cx="2771318" cy="1160714"/>
          </a:xfrm>
          <a:custGeom>
            <a:avLst/>
            <a:gdLst/>
            <a:ahLst/>
            <a:cxnLst/>
            <a:rect l="l" t="t" r="r" b="b"/>
            <a:pathLst>
              <a:path w="2771318" h="1160714">
                <a:moveTo>
                  <a:pt x="107970" y="0"/>
                </a:moveTo>
                <a:lnTo>
                  <a:pt x="2663348" y="0"/>
                </a:lnTo>
                <a:cubicBezTo>
                  <a:pt x="2722978" y="0"/>
                  <a:pt x="2771318" y="48340"/>
                  <a:pt x="2771318" y="107970"/>
                </a:cubicBezTo>
                <a:lnTo>
                  <a:pt x="2771318" y="1052745"/>
                </a:lnTo>
                <a:cubicBezTo>
                  <a:pt x="2771318" y="1112375"/>
                  <a:pt x="2722978" y="1160714"/>
                  <a:pt x="2663348" y="1160714"/>
                </a:cubicBezTo>
                <a:lnTo>
                  <a:pt x="107970" y="1160714"/>
                </a:lnTo>
                <a:cubicBezTo>
                  <a:pt x="48340" y="1160714"/>
                  <a:pt x="0" y="1112375"/>
                  <a:pt x="0" y="1052745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883" y="5245709"/>
            <a:ext cx="72882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鹰派情景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85598" y="5227714"/>
            <a:ext cx="53986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6883" y="5587625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维持高利率更久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3631" y="5857559"/>
            <a:ext cx="121470" cy="107973"/>
          </a:xfrm>
          <a:custGeom>
            <a:avLst/>
            <a:gdLst/>
            <a:ahLst/>
            <a:cxnLst/>
            <a:rect l="l" t="t" r="r" b="b"/>
            <a:pathLst>
              <a:path w="121470" h="107973">
                <a:moveTo>
                  <a:pt x="60735" y="13497"/>
                </a:moveTo>
                <a:cubicBezTo>
                  <a:pt x="83089" y="13497"/>
                  <a:pt x="101225" y="31633"/>
                  <a:pt x="101225" y="53987"/>
                </a:cubicBezTo>
                <a:cubicBezTo>
                  <a:pt x="101225" y="76341"/>
                  <a:pt x="83089" y="94477"/>
                  <a:pt x="60735" y="94477"/>
                </a:cubicBezTo>
                <a:cubicBezTo>
                  <a:pt x="46985" y="94477"/>
                  <a:pt x="34817" y="87623"/>
                  <a:pt x="27499" y="77121"/>
                </a:cubicBezTo>
                <a:cubicBezTo>
                  <a:pt x="25370" y="74063"/>
                  <a:pt x="21152" y="73325"/>
                  <a:pt x="18094" y="75455"/>
                </a:cubicBezTo>
                <a:cubicBezTo>
                  <a:pt x="15036" y="77585"/>
                  <a:pt x="14298" y="81803"/>
                  <a:pt x="16428" y="84860"/>
                </a:cubicBezTo>
                <a:cubicBezTo>
                  <a:pt x="26171" y="98821"/>
                  <a:pt x="42388" y="107973"/>
                  <a:pt x="60735" y="107973"/>
                </a:cubicBezTo>
                <a:cubicBezTo>
                  <a:pt x="90554" y="107973"/>
                  <a:pt x="114722" y="83806"/>
                  <a:pt x="114722" y="53987"/>
                </a:cubicBezTo>
                <a:cubicBezTo>
                  <a:pt x="114722" y="24167"/>
                  <a:pt x="90554" y="0"/>
                  <a:pt x="60735" y="0"/>
                </a:cubicBezTo>
                <a:cubicBezTo>
                  <a:pt x="42662" y="0"/>
                  <a:pt x="26677" y="8878"/>
                  <a:pt x="16871" y="22501"/>
                </a:cubicBezTo>
                <a:lnTo>
                  <a:pt x="16871" y="16871"/>
                </a:lnTo>
                <a:cubicBezTo>
                  <a:pt x="16871" y="13138"/>
                  <a:pt x="13855" y="10123"/>
                  <a:pt x="10123" y="10123"/>
                </a:cubicBezTo>
                <a:cubicBezTo>
                  <a:pt x="6390" y="10123"/>
                  <a:pt x="3374" y="13138"/>
                  <a:pt x="3374" y="16871"/>
                </a:cubicBezTo>
                <a:lnTo>
                  <a:pt x="3374" y="40490"/>
                </a:lnTo>
                <a:cubicBezTo>
                  <a:pt x="3374" y="44223"/>
                  <a:pt x="6390" y="47238"/>
                  <a:pt x="10123" y="47238"/>
                </a:cubicBezTo>
                <a:lnTo>
                  <a:pt x="15310" y="47238"/>
                </a:lnTo>
                <a:cubicBezTo>
                  <a:pt x="15416" y="47238"/>
                  <a:pt x="15521" y="47238"/>
                  <a:pt x="15627" y="47238"/>
                </a:cubicBezTo>
                <a:lnTo>
                  <a:pt x="33763" y="47238"/>
                </a:lnTo>
                <a:cubicBezTo>
                  <a:pt x="37495" y="47238"/>
                  <a:pt x="40511" y="44223"/>
                  <a:pt x="40511" y="40490"/>
                </a:cubicBezTo>
                <a:cubicBezTo>
                  <a:pt x="40511" y="36757"/>
                  <a:pt x="37495" y="33742"/>
                  <a:pt x="33763" y="33742"/>
                </a:cubicBezTo>
                <a:lnTo>
                  <a:pt x="25686" y="33742"/>
                </a:lnTo>
                <a:cubicBezTo>
                  <a:pt x="32666" y="21637"/>
                  <a:pt x="45762" y="13497"/>
                  <a:pt x="60735" y="13497"/>
                </a:cubicBezTo>
                <a:close/>
                <a:moveTo>
                  <a:pt x="65796" y="32055"/>
                </a:moveTo>
                <a:cubicBezTo>
                  <a:pt x="65796" y="29250"/>
                  <a:pt x="63540" y="26993"/>
                  <a:pt x="60735" y="26993"/>
                </a:cubicBezTo>
                <a:cubicBezTo>
                  <a:pt x="57930" y="26993"/>
                  <a:pt x="55674" y="29250"/>
                  <a:pt x="55674" y="32055"/>
                </a:cubicBezTo>
                <a:lnTo>
                  <a:pt x="55674" y="53987"/>
                </a:lnTo>
                <a:cubicBezTo>
                  <a:pt x="55674" y="55336"/>
                  <a:pt x="56201" y="56623"/>
                  <a:pt x="57150" y="57572"/>
                </a:cubicBezTo>
                <a:lnTo>
                  <a:pt x="72334" y="72756"/>
                </a:lnTo>
                <a:cubicBezTo>
                  <a:pt x="74316" y="74738"/>
                  <a:pt x="77522" y="74738"/>
                  <a:pt x="79483" y="72756"/>
                </a:cubicBezTo>
                <a:cubicBezTo>
                  <a:pt x="81444" y="70773"/>
                  <a:pt x="81465" y="67568"/>
                  <a:pt x="79483" y="65607"/>
                </a:cubicBezTo>
                <a:lnTo>
                  <a:pt x="65775" y="51899"/>
                </a:lnTo>
                <a:lnTo>
                  <a:pt x="65775" y="3205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49" y="5839563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历史类比: 2006-2007年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0379" y="6037514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53987" y="0"/>
                </a:moveTo>
                <a:cubicBezTo>
                  <a:pt x="57087" y="0"/>
                  <a:pt x="59934" y="1708"/>
                  <a:pt x="61410" y="4429"/>
                </a:cubicBezTo>
                <a:lnTo>
                  <a:pt x="106961" y="88783"/>
                </a:lnTo>
                <a:cubicBezTo>
                  <a:pt x="108374" y="91398"/>
                  <a:pt x="108311" y="94561"/>
                  <a:pt x="106792" y="97113"/>
                </a:cubicBezTo>
                <a:cubicBezTo>
                  <a:pt x="105274" y="99665"/>
                  <a:pt x="102511" y="101225"/>
                  <a:pt x="99538" y="101225"/>
                </a:cubicBezTo>
                <a:lnTo>
                  <a:pt x="8435" y="101225"/>
                </a:lnTo>
                <a:cubicBezTo>
                  <a:pt x="5462" y="101225"/>
                  <a:pt x="2720" y="99665"/>
                  <a:pt x="1181" y="97113"/>
                </a:cubicBezTo>
                <a:cubicBezTo>
                  <a:pt x="-359" y="94561"/>
                  <a:pt x="-401" y="91398"/>
                  <a:pt x="1012" y="88783"/>
                </a:cubicBezTo>
                <a:lnTo>
                  <a:pt x="46564" y="4429"/>
                </a:lnTo>
                <a:cubicBezTo>
                  <a:pt x="48040" y="1708"/>
                  <a:pt x="50887" y="0"/>
                  <a:pt x="53987" y="0"/>
                </a:cubicBezTo>
                <a:close/>
                <a:moveTo>
                  <a:pt x="53987" y="35429"/>
                </a:moveTo>
                <a:cubicBezTo>
                  <a:pt x="51182" y="35429"/>
                  <a:pt x="48925" y="37685"/>
                  <a:pt x="48925" y="40490"/>
                </a:cubicBezTo>
                <a:lnTo>
                  <a:pt x="48925" y="64109"/>
                </a:lnTo>
                <a:cubicBezTo>
                  <a:pt x="48925" y="66914"/>
                  <a:pt x="51182" y="69170"/>
                  <a:pt x="53987" y="69170"/>
                </a:cubicBezTo>
                <a:cubicBezTo>
                  <a:pt x="56791" y="69170"/>
                  <a:pt x="59048" y="66914"/>
                  <a:pt x="59048" y="64109"/>
                </a:cubicBezTo>
                <a:lnTo>
                  <a:pt x="59048" y="40490"/>
                </a:lnTo>
                <a:cubicBezTo>
                  <a:pt x="59048" y="37685"/>
                  <a:pt x="56791" y="35429"/>
                  <a:pt x="53987" y="35429"/>
                </a:cubicBezTo>
                <a:close/>
                <a:moveTo>
                  <a:pt x="59617" y="80980"/>
                </a:moveTo>
                <a:cubicBezTo>
                  <a:pt x="59745" y="78890"/>
                  <a:pt x="58703" y="76902"/>
                  <a:pt x="56911" y="75818"/>
                </a:cubicBezTo>
                <a:cubicBezTo>
                  <a:pt x="55120" y="74734"/>
                  <a:pt x="52875" y="74734"/>
                  <a:pt x="51083" y="75818"/>
                </a:cubicBezTo>
                <a:cubicBezTo>
                  <a:pt x="49291" y="76902"/>
                  <a:pt x="48249" y="78890"/>
                  <a:pt x="48377" y="80980"/>
                </a:cubicBezTo>
                <a:cubicBezTo>
                  <a:pt x="48249" y="83070"/>
                  <a:pt x="49291" y="85059"/>
                  <a:pt x="51083" y="86142"/>
                </a:cubicBezTo>
                <a:cubicBezTo>
                  <a:pt x="52875" y="87226"/>
                  <a:pt x="55120" y="87226"/>
                  <a:pt x="56911" y="86142"/>
                </a:cubicBezTo>
                <a:cubicBezTo>
                  <a:pt x="58703" y="85059"/>
                  <a:pt x="59745" y="83070"/>
                  <a:pt x="59617" y="809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49" y="6019519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 通胀反弹至3%以上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49607" y="5115241"/>
            <a:ext cx="2771318" cy="1160714"/>
          </a:xfrm>
          <a:custGeom>
            <a:avLst/>
            <a:gdLst/>
            <a:ahLst/>
            <a:cxnLst/>
            <a:rect l="l" t="t" r="r" b="b"/>
            <a:pathLst>
              <a:path w="2771318" h="1160714">
                <a:moveTo>
                  <a:pt x="107970" y="0"/>
                </a:moveTo>
                <a:lnTo>
                  <a:pt x="2663348" y="0"/>
                </a:lnTo>
                <a:cubicBezTo>
                  <a:pt x="2722978" y="0"/>
                  <a:pt x="2771318" y="48340"/>
                  <a:pt x="2771318" y="107970"/>
                </a:cubicBezTo>
                <a:lnTo>
                  <a:pt x="2771318" y="1052745"/>
                </a:lnTo>
                <a:cubicBezTo>
                  <a:pt x="2771318" y="1112375"/>
                  <a:pt x="2722978" y="1160714"/>
                  <a:pt x="2663348" y="1160714"/>
                </a:cubicBezTo>
                <a:lnTo>
                  <a:pt x="107970" y="1160714"/>
                </a:lnTo>
                <a:cubicBezTo>
                  <a:pt x="48340" y="1160714"/>
                  <a:pt x="0" y="1112375"/>
                  <a:pt x="0" y="1052745"/>
                </a:cubicBezTo>
                <a:lnTo>
                  <a:pt x="0" y="107970"/>
                </a:lnTo>
                <a:cubicBezTo>
                  <a:pt x="0" y="48340"/>
                  <a:pt x="48340" y="0"/>
                  <a:pt x="10797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2079" y="5245709"/>
            <a:ext cx="72882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鸽派情景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70935" y="5227714"/>
            <a:ext cx="53986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62079" y="5587625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加速降息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68827" y="5857559"/>
            <a:ext cx="121470" cy="107973"/>
          </a:xfrm>
          <a:custGeom>
            <a:avLst/>
            <a:gdLst/>
            <a:ahLst/>
            <a:cxnLst/>
            <a:rect l="l" t="t" r="r" b="b"/>
            <a:pathLst>
              <a:path w="121470" h="107973">
                <a:moveTo>
                  <a:pt x="60735" y="13497"/>
                </a:moveTo>
                <a:cubicBezTo>
                  <a:pt x="83089" y="13497"/>
                  <a:pt x="101225" y="31633"/>
                  <a:pt x="101225" y="53987"/>
                </a:cubicBezTo>
                <a:cubicBezTo>
                  <a:pt x="101225" y="76341"/>
                  <a:pt x="83089" y="94477"/>
                  <a:pt x="60735" y="94477"/>
                </a:cubicBezTo>
                <a:cubicBezTo>
                  <a:pt x="46985" y="94477"/>
                  <a:pt x="34817" y="87623"/>
                  <a:pt x="27499" y="77121"/>
                </a:cubicBezTo>
                <a:cubicBezTo>
                  <a:pt x="25370" y="74063"/>
                  <a:pt x="21152" y="73325"/>
                  <a:pt x="18094" y="75455"/>
                </a:cubicBezTo>
                <a:cubicBezTo>
                  <a:pt x="15036" y="77585"/>
                  <a:pt x="14298" y="81803"/>
                  <a:pt x="16428" y="84860"/>
                </a:cubicBezTo>
                <a:cubicBezTo>
                  <a:pt x="26171" y="98821"/>
                  <a:pt x="42388" y="107973"/>
                  <a:pt x="60735" y="107973"/>
                </a:cubicBezTo>
                <a:cubicBezTo>
                  <a:pt x="90554" y="107973"/>
                  <a:pt x="114722" y="83806"/>
                  <a:pt x="114722" y="53987"/>
                </a:cubicBezTo>
                <a:cubicBezTo>
                  <a:pt x="114722" y="24167"/>
                  <a:pt x="90554" y="0"/>
                  <a:pt x="60735" y="0"/>
                </a:cubicBezTo>
                <a:cubicBezTo>
                  <a:pt x="42662" y="0"/>
                  <a:pt x="26677" y="8878"/>
                  <a:pt x="16871" y="22501"/>
                </a:cubicBezTo>
                <a:lnTo>
                  <a:pt x="16871" y="16871"/>
                </a:lnTo>
                <a:cubicBezTo>
                  <a:pt x="16871" y="13138"/>
                  <a:pt x="13855" y="10123"/>
                  <a:pt x="10123" y="10123"/>
                </a:cubicBezTo>
                <a:cubicBezTo>
                  <a:pt x="6390" y="10123"/>
                  <a:pt x="3374" y="13138"/>
                  <a:pt x="3374" y="16871"/>
                </a:cubicBezTo>
                <a:lnTo>
                  <a:pt x="3374" y="40490"/>
                </a:lnTo>
                <a:cubicBezTo>
                  <a:pt x="3374" y="44223"/>
                  <a:pt x="6390" y="47238"/>
                  <a:pt x="10123" y="47238"/>
                </a:cubicBezTo>
                <a:lnTo>
                  <a:pt x="15310" y="47238"/>
                </a:lnTo>
                <a:cubicBezTo>
                  <a:pt x="15416" y="47238"/>
                  <a:pt x="15521" y="47238"/>
                  <a:pt x="15627" y="47238"/>
                </a:cubicBezTo>
                <a:lnTo>
                  <a:pt x="33763" y="47238"/>
                </a:lnTo>
                <a:cubicBezTo>
                  <a:pt x="37495" y="47238"/>
                  <a:pt x="40511" y="44223"/>
                  <a:pt x="40511" y="40490"/>
                </a:cubicBezTo>
                <a:cubicBezTo>
                  <a:pt x="40511" y="36757"/>
                  <a:pt x="37495" y="33742"/>
                  <a:pt x="33763" y="33742"/>
                </a:cubicBezTo>
                <a:lnTo>
                  <a:pt x="25686" y="33742"/>
                </a:lnTo>
                <a:cubicBezTo>
                  <a:pt x="32666" y="21637"/>
                  <a:pt x="45762" y="13497"/>
                  <a:pt x="60735" y="13497"/>
                </a:cubicBezTo>
                <a:close/>
                <a:moveTo>
                  <a:pt x="65796" y="32055"/>
                </a:moveTo>
                <a:cubicBezTo>
                  <a:pt x="65796" y="29250"/>
                  <a:pt x="63540" y="26993"/>
                  <a:pt x="60735" y="26993"/>
                </a:cubicBezTo>
                <a:cubicBezTo>
                  <a:pt x="57930" y="26993"/>
                  <a:pt x="55674" y="29250"/>
                  <a:pt x="55674" y="32055"/>
                </a:cubicBezTo>
                <a:lnTo>
                  <a:pt x="55674" y="53987"/>
                </a:lnTo>
                <a:cubicBezTo>
                  <a:pt x="55674" y="55336"/>
                  <a:pt x="56201" y="56623"/>
                  <a:pt x="57150" y="57572"/>
                </a:cubicBezTo>
                <a:lnTo>
                  <a:pt x="72334" y="72756"/>
                </a:lnTo>
                <a:cubicBezTo>
                  <a:pt x="74316" y="74738"/>
                  <a:pt x="77522" y="74738"/>
                  <a:pt x="79483" y="72756"/>
                </a:cubicBezTo>
                <a:cubicBezTo>
                  <a:pt x="81444" y="70773"/>
                  <a:pt x="81465" y="67568"/>
                  <a:pt x="79483" y="65607"/>
                </a:cubicBezTo>
                <a:lnTo>
                  <a:pt x="65775" y="51899"/>
                </a:lnTo>
                <a:lnTo>
                  <a:pt x="65775" y="32055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3522545" y="5839563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历史类比: 2001年、2019年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75576" y="6037514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53987" y="0"/>
                </a:moveTo>
                <a:cubicBezTo>
                  <a:pt x="57087" y="0"/>
                  <a:pt x="59934" y="1708"/>
                  <a:pt x="61410" y="4429"/>
                </a:cubicBezTo>
                <a:lnTo>
                  <a:pt x="106961" y="88783"/>
                </a:lnTo>
                <a:cubicBezTo>
                  <a:pt x="108374" y="91398"/>
                  <a:pt x="108311" y="94561"/>
                  <a:pt x="106792" y="97113"/>
                </a:cubicBezTo>
                <a:cubicBezTo>
                  <a:pt x="105274" y="99665"/>
                  <a:pt x="102511" y="101225"/>
                  <a:pt x="99538" y="101225"/>
                </a:cubicBezTo>
                <a:lnTo>
                  <a:pt x="8435" y="101225"/>
                </a:lnTo>
                <a:cubicBezTo>
                  <a:pt x="5462" y="101225"/>
                  <a:pt x="2720" y="99665"/>
                  <a:pt x="1181" y="97113"/>
                </a:cubicBezTo>
                <a:cubicBezTo>
                  <a:pt x="-359" y="94561"/>
                  <a:pt x="-401" y="91398"/>
                  <a:pt x="1012" y="88783"/>
                </a:cubicBezTo>
                <a:lnTo>
                  <a:pt x="46564" y="4429"/>
                </a:lnTo>
                <a:cubicBezTo>
                  <a:pt x="48040" y="1708"/>
                  <a:pt x="50887" y="0"/>
                  <a:pt x="53987" y="0"/>
                </a:cubicBezTo>
                <a:close/>
                <a:moveTo>
                  <a:pt x="53987" y="35429"/>
                </a:moveTo>
                <a:cubicBezTo>
                  <a:pt x="51182" y="35429"/>
                  <a:pt x="48925" y="37685"/>
                  <a:pt x="48925" y="40490"/>
                </a:cubicBezTo>
                <a:lnTo>
                  <a:pt x="48925" y="64109"/>
                </a:lnTo>
                <a:cubicBezTo>
                  <a:pt x="48925" y="66914"/>
                  <a:pt x="51182" y="69170"/>
                  <a:pt x="53987" y="69170"/>
                </a:cubicBezTo>
                <a:cubicBezTo>
                  <a:pt x="56791" y="69170"/>
                  <a:pt x="59048" y="66914"/>
                  <a:pt x="59048" y="64109"/>
                </a:cubicBezTo>
                <a:lnTo>
                  <a:pt x="59048" y="40490"/>
                </a:lnTo>
                <a:cubicBezTo>
                  <a:pt x="59048" y="37685"/>
                  <a:pt x="56791" y="35429"/>
                  <a:pt x="53987" y="35429"/>
                </a:cubicBezTo>
                <a:close/>
                <a:moveTo>
                  <a:pt x="59617" y="80980"/>
                </a:moveTo>
                <a:cubicBezTo>
                  <a:pt x="59745" y="78890"/>
                  <a:pt x="58703" y="76902"/>
                  <a:pt x="56911" y="75818"/>
                </a:cubicBezTo>
                <a:cubicBezTo>
                  <a:pt x="55120" y="74734"/>
                  <a:pt x="52875" y="74734"/>
                  <a:pt x="51083" y="75818"/>
                </a:cubicBezTo>
                <a:cubicBezTo>
                  <a:pt x="49291" y="76902"/>
                  <a:pt x="48249" y="78890"/>
                  <a:pt x="48377" y="80980"/>
                </a:cubicBezTo>
                <a:cubicBezTo>
                  <a:pt x="48249" y="83070"/>
                  <a:pt x="49291" y="85059"/>
                  <a:pt x="51083" y="86142"/>
                </a:cubicBezTo>
                <a:cubicBezTo>
                  <a:pt x="52875" y="87226"/>
                  <a:pt x="55120" y="87226"/>
                  <a:pt x="56911" y="86142"/>
                </a:cubicBezTo>
                <a:cubicBezTo>
                  <a:pt x="58703" y="85059"/>
                  <a:pt x="59745" y="83070"/>
                  <a:pt x="59617" y="8098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" name="Text 35"/>
          <p:cNvSpPr/>
          <p:nvPr/>
        </p:nvSpPr>
        <p:spPr>
          <a:xfrm>
            <a:off x="3522545" y="6019519"/>
            <a:ext cx="2439894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 失业率快速上升至4.5%以上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0935" y="1426149"/>
            <a:ext cx="5650610" cy="4849807"/>
          </a:xfrm>
          <a:custGeom>
            <a:avLst/>
            <a:gdLst/>
            <a:ahLst/>
            <a:cxnLst/>
            <a:rect l="l" t="t" r="r" b="b"/>
            <a:pathLst>
              <a:path w="5650610" h="4849807">
                <a:moveTo>
                  <a:pt x="107957" y="0"/>
                </a:moveTo>
                <a:lnTo>
                  <a:pt x="5542653" y="0"/>
                </a:lnTo>
                <a:cubicBezTo>
                  <a:pt x="5602276" y="0"/>
                  <a:pt x="5650610" y="48334"/>
                  <a:pt x="5650610" y="107957"/>
                </a:cubicBezTo>
                <a:lnTo>
                  <a:pt x="5650610" y="4741850"/>
                </a:lnTo>
                <a:cubicBezTo>
                  <a:pt x="5650610" y="4801473"/>
                  <a:pt x="5602276" y="4849807"/>
                  <a:pt x="5542653" y="4849807"/>
                </a:cubicBezTo>
                <a:lnTo>
                  <a:pt x="107957" y="4849807"/>
                </a:lnTo>
                <a:cubicBezTo>
                  <a:pt x="48334" y="4849807"/>
                  <a:pt x="0" y="4801473"/>
                  <a:pt x="0" y="4741850"/>
                </a:cubicBezTo>
                <a:lnTo>
                  <a:pt x="0" y="107957"/>
                </a:lnTo>
                <a:cubicBezTo>
                  <a:pt x="0" y="48374"/>
                  <a:pt x="48374" y="0"/>
                  <a:pt x="10795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1893" y="1610604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79956" y="33742"/>
                </a:moveTo>
                <a:cubicBezTo>
                  <a:pt x="179956" y="51386"/>
                  <a:pt x="159183" y="77711"/>
                  <a:pt x="150221" y="88220"/>
                </a:cubicBezTo>
                <a:cubicBezTo>
                  <a:pt x="148885" y="89767"/>
                  <a:pt x="146917" y="90364"/>
                  <a:pt x="145124" y="89978"/>
                </a:cubicBezTo>
                <a:lnTo>
                  <a:pt x="112472" y="89978"/>
                </a:lnTo>
                <a:cubicBezTo>
                  <a:pt x="106251" y="89978"/>
                  <a:pt x="101225" y="95004"/>
                  <a:pt x="101225" y="101225"/>
                </a:cubicBezTo>
                <a:cubicBezTo>
                  <a:pt x="101225" y="107446"/>
                  <a:pt x="106251" y="112472"/>
                  <a:pt x="112472" y="112472"/>
                </a:cubicBezTo>
                <a:lnTo>
                  <a:pt x="146214" y="112472"/>
                </a:lnTo>
                <a:cubicBezTo>
                  <a:pt x="164842" y="112472"/>
                  <a:pt x="179956" y="127586"/>
                  <a:pt x="179956" y="146214"/>
                </a:cubicBezTo>
                <a:cubicBezTo>
                  <a:pt x="179956" y="164842"/>
                  <a:pt x="164842" y="179956"/>
                  <a:pt x="146214" y="179956"/>
                </a:cubicBezTo>
                <a:lnTo>
                  <a:pt x="49066" y="179956"/>
                </a:lnTo>
                <a:cubicBezTo>
                  <a:pt x="52124" y="176476"/>
                  <a:pt x="55850" y="172012"/>
                  <a:pt x="59610" y="167021"/>
                </a:cubicBezTo>
                <a:cubicBezTo>
                  <a:pt x="61825" y="164069"/>
                  <a:pt x="64109" y="160835"/>
                  <a:pt x="66288" y="157461"/>
                </a:cubicBezTo>
                <a:lnTo>
                  <a:pt x="146214" y="157461"/>
                </a:lnTo>
                <a:cubicBezTo>
                  <a:pt x="152435" y="157461"/>
                  <a:pt x="157461" y="152435"/>
                  <a:pt x="157461" y="146214"/>
                </a:cubicBezTo>
                <a:cubicBezTo>
                  <a:pt x="157461" y="139993"/>
                  <a:pt x="152435" y="134967"/>
                  <a:pt x="146214" y="134967"/>
                </a:cubicBezTo>
                <a:lnTo>
                  <a:pt x="112472" y="134967"/>
                </a:lnTo>
                <a:cubicBezTo>
                  <a:pt x="93844" y="134967"/>
                  <a:pt x="78731" y="119853"/>
                  <a:pt x="78731" y="101225"/>
                </a:cubicBezTo>
                <a:cubicBezTo>
                  <a:pt x="78731" y="82597"/>
                  <a:pt x="93844" y="67483"/>
                  <a:pt x="112472" y="67483"/>
                </a:cubicBezTo>
                <a:lnTo>
                  <a:pt x="126461" y="67483"/>
                </a:lnTo>
                <a:cubicBezTo>
                  <a:pt x="119080" y="56412"/>
                  <a:pt x="112472" y="43688"/>
                  <a:pt x="112472" y="33742"/>
                </a:cubicBezTo>
                <a:cubicBezTo>
                  <a:pt x="112472" y="15113"/>
                  <a:pt x="127586" y="0"/>
                  <a:pt x="146214" y="0"/>
                </a:cubicBezTo>
                <a:cubicBezTo>
                  <a:pt x="164842" y="0"/>
                  <a:pt x="179956" y="15113"/>
                  <a:pt x="179956" y="33742"/>
                </a:cubicBezTo>
                <a:close/>
                <a:moveTo>
                  <a:pt x="41158" y="171907"/>
                </a:moveTo>
                <a:cubicBezTo>
                  <a:pt x="39822" y="173418"/>
                  <a:pt x="38627" y="174754"/>
                  <a:pt x="37608" y="175879"/>
                </a:cubicBezTo>
                <a:lnTo>
                  <a:pt x="36975" y="176582"/>
                </a:lnTo>
                <a:lnTo>
                  <a:pt x="36905" y="176511"/>
                </a:lnTo>
                <a:cubicBezTo>
                  <a:pt x="34796" y="178128"/>
                  <a:pt x="31773" y="177917"/>
                  <a:pt x="29875" y="175879"/>
                </a:cubicBezTo>
                <a:cubicBezTo>
                  <a:pt x="21018" y="166248"/>
                  <a:pt x="0" y="141469"/>
                  <a:pt x="0" y="123720"/>
                </a:cubicBezTo>
                <a:cubicBezTo>
                  <a:pt x="0" y="105091"/>
                  <a:pt x="15113" y="89978"/>
                  <a:pt x="33742" y="89978"/>
                </a:cubicBezTo>
                <a:cubicBezTo>
                  <a:pt x="52370" y="89978"/>
                  <a:pt x="67483" y="105091"/>
                  <a:pt x="67483" y="123720"/>
                </a:cubicBezTo>
                <a:cubicBezTo>
                  <a:pt x="67483" y="134264"/>
                  <a:pt x="60067" y="147268"/>
                  <a:pt x="52194" y="158129"/>
                </a:cubicBezTo>
                <a:cubicBezTo>
                  <a:pt x="48433" y="163296"/>
                  <a:pt x="44567" y="167970"/>
                  <a:pt x="41369" y="171661"/>
                </a:cubicBezTo>
                <a:lnTo>
                  <a:pt x="41158" y="171907"/>
                </a:lnTo>
                <a:close/>
                <a:moveTo>
                  <a:pt x="44989" y="123720"/>
                </a:moveTo>
                <a:cubicBezTo>
                  <a:pt x="44989" y="117512"/>
                  <a:pt x="39949" y="112472"/>
                  <a:pt x="33742" y="112472"/>
                </a:cubicBezTo>
                <a:cubicBezTo>
                  <a:pt x="27534" y="112472"/>
                  <a:pt x="22494" y="117512"/>
                  <a:pt x="22494" y="123720"/>
                </a:cubicBezTo>
                <a:cubicBezTo>
                  <a:pt x="22494" y="129927"/>
                  <a:pt x="27534" y="134967"/>
                  <a:pt x="33742" y="134967"/>
                </a:cubicBezTo>
                <a:cubicBezTo>
                  <a:pt x="39949" y="134967"/>
                  <a:pt x="44989" y="129927"/>
                  <a:pt x="44989" y="123720"/>
                </a:cubicBezTo>
                <a:close/>
                <a:moveTo>
                  <a:pt x="146214" y="44989"/>
                </a:moveTo>
                <a:cubicBezTo>
                  <a:pt x="152422" y="44989"/>
                  <a:pt x="157461" y="39949"/>
                  <a:pt x="157461" y="33742"/>
                </a:cubicBezTo>
                <a:cubicBezTo>
                  <a:pt x="157461" y="27534"/>
                  <a:pt x="152422" y="22494"/>
                  <a:pt x="146214" y="22494"/>
                </a:cubicBezTo>
                <a:cubicBezTo>
                  <a:pt x="140007" y="22494"/>
                  <a:pt x="134967" y="27534"/>
                  <a:pt x="134967" y="33742"/>
                </a:cubicBezTo>
                <a:cubicBezTo>
                  <a:pt x="134967" y="39949"/>
                  <a:pt x="140007" y="44989"/>
                  <a:pt x="146214" y="44989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Text 38"/>
          <p:cNvSpPr/>
          <p:nvPr/>
        </p:nvSpPr>
        <p:spPr>
          <a:xfrm>
            <a:off x="6544343" y="1574613"/>
            <a:ext cx="521871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基线情景降息路径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87906" y="1934524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78908" y="2114480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4.25-4.50%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291159" y="2240449"/>
            <a:ext cx="3266196" cy="71982"/>
          </a:xfrm>
          <a:custGeom>
            <a:avLst/>
            <a:gdLst/>
            <a:ahLst/>
            <a:cxnLst/>
            <a:rect l="l" t="t" r="r" b="b"/>
            <a:pathLst>
              <a:path w="3266196" h="71982">
                <a:moveTo>
                  <a:pt x="35991" y="0"/>
                </a:moveTo>
                <a:lnTo>
                  <a:pt x="3230205" y="0"/>
                </a:lnTo>
                <a:cubicBezTo>
                  <a:pt x="3250083" y="0"/>
                  <a:pt x="3266196" y="16114"/>
                  <a:pt x="3266196" y="35991"/>
                </a:cubicBezTo>
                <a:lnTo>
                  <a:pt x="3266196" y="35991"/>
                </a:lnTo>
                <a:cubicBezTo>
                  <a:pt x="3266196" y="55869"/>
                  <a:pt x="3250083" y="71982"/>
                  <a:pt x="3230205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91159" y="2240449"/>
            <a:ext cx="3266196" cy="71982"/>
          </a:xfrm>
          <a:custGeom>
            <a:avLst/>
            <a:gdLst/>
            <a:ahLst/>
            <a:cxnLst/>
            <a:rect l="l" t="t" r="r" b="b"/>
            <a:pathLst>
              <a:path w="3266196" h="71982">
                <a:moveTo>
                  <a:pt x="35991" y="0"/>
                </a:moveTo>
                <a:lnTo>
                  <a:pt x="3230205" y="0"/>
                </a:lnTo>
                <a:cubicBezTo>
                  <a:pt x="3250083" y="0"/>
                  <a:pt x="3266196" y="16114"/>
                  <a:pt x="3266196" y="35991"/>
                </a:cubicBezTo>
                <a:lnTo>
                  <a:pt x="3266196" y="35991"/>
                </a:lnTo>
                <a:cubicBezTo>
                  <a:pt x="3266196" y="55869"/>
                  <a:pt x="3250083" y="71982"/>
                  <a:pt x="3230205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5" name="Text 43"/>
          <p:cNvSpPr/>
          <p:nvPr/>
        </p:nvSpPr>
        <p:spPr>
          <a:xfrm>
            <a:off x="10605297" y="2114480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维持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14294" y="2294435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87906" y="2690338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2026年5-6月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78908" y="2870294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4.00-4.25%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91159" y="2996263"/>
            <a:ext cx="3014258" cy="71982"/>
          </a:xfrm>
          <a:custGeom>
            <a:avLst/>
            <a:gdLst/>
            <a:ahLst/>
            <a:cxnLst/>
            <a:rect l="l" t="t" r="r" b="b"/>
            <a:pathLst>
              <a:path w="3014258" h="71982">
                <a:moveTo>
                  <a:pt x="35991" y="0"/>
                </a:moveTo>
                <a:lnTo>
                  <a:pt x="2978267" y="0"/>
                </a:lnTo>
                <a:cubicBezTo>
                  <a:pt x="2998145" y="0"/>
                  <a:pt x="3014258" y="16114"/>
                  <a:pt x="3014258" y="35991"/>
                </a:cubicBezTo>
                <a:lnTo>
                  <a:pt x="3014258" y="35991"/>
                </a:lnTo>
                <a:cubicBezTo>
                  <a:pt x="3014258" y="55869"/>
                  <a:pt x="2998145" y="71982"/>
                  <a:pt x="2978267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291159" y="2996263"/>
            <a:ext cx="2654347" cy="71982"/>
          </a:xfrm>
          <a:custGeom>
            <a:avLst/>
            <a:gdLst/>
            <a:ahLst/>
            <a:cxnLst/>
            <a:rect l="l" t="t" r="r" b="b"/>
            <a:pathLst>
              <a:path w="2654347" h="71982">
                <a:moveTo>
                  <a:pt x="35991" y="0"/>
                </a:moveTo>
                <a:lnTo>
                  <a:pt x="2618356" y="0"/>
                </a:lnTo>
                <a:cubicBezTo>
                  <a:pt x="2638233" y="0"/>
                  <a:pt x="2654347" y="16114"/>
                  <a:pt x="2654347" y="35991"/>
                </a:cubicBezTo>
                <a:lnTo>
                  <a:pt x="2654347" y="35991"/>
                </a:lnTo>
                <a:cubicBezTo>
                  <a:pt x="2654347" y="55869"/>
                  <a:pt x="2638233" y="71982"/>
                  <a:pt x="2618356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1" name="Shape 49"/>
          <p:cNvSpPr/>
          <p:nvPr/>
        </p:nvSpPr>
        <p:spPr>
          <a:xfrm>
            <a:off x="10416343" y="2960272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47632" y="141321"/>
                </a:moveTo>
                <a:cubicBezTo>
                  <a:pt x="51147" y="144836"/>
                  <a:pt x="56855" y="144836"/>
                  <a:pt x="60370" y="141321"/>
                </a:cubicBezTo>
                <a:lnTo>
                  <a:pt x="105358" y="96333"/>
                </a:lnTo>
                <a:cubicBezTo>
                  <a:pt x="108873" y="92818"/>
                  <a:pt x="108873" y="87110"/>
                  <a:pt x="105358" y="83595"/>
                </a:cubicBezTo>
                <a:cubicBezTo>
                  <a:pt x="101844" y="80080"/>
                  <a:pt x="96136" y="80080"/>
                  <a:pt x="92621" y="83595"/>
                </a:cubicBezTo>
                <a:lnTo>
                  <a:pt x="62985" y="113232"/>
                </a:lnTo>
                <a:lnTo>
                  <a:pt x="62985" y="8998"/>
                </a:lnTo>
                <a:cubicBezTo>
                  <a:pt x="62985" y="4021"/>
                  <a:pt x="58964" y="0"/>
                  <a:pt x="53987" y="0"/>
                </a:cubicBezTo>
                <a:cubicBezTo>
                  <a:pt x="49010" y="0"/>
                  <a:pt x="44989" y="4021"/>
                  <a:pt x="44989" y="8998"/>
                </a:cubicBezTo>
                <a:lnTo>
                  <a:pt x="44989" y="113232"/>
                </a:lnTo>
                <a:lnTo>
                  <a:pt x="15352" y="83595"/>
                </a:lnTo>
                <a:cubicBezTo>
                  <a:pt x="11838" y="80080"/>
                  <a:pt x="6130" y="80080"/>
                  <a:pt x="2615" y="83595"/>
                </a:cubicBezTo>
                <a:cubicBezTo>
                  <a:pt x="-900" y="87110"/>
                  <a:pt x="-900" y="92818"/>
                  <a:pt x="2615" y="96333"/>
                </a:cubicBezTo>
                <a:lnTo>
                  <a:pt x="47604" y="14132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2" name="Text 50"/>
          <p:cNvSpPr/>
          <p:nvPr/>
        </p:nvSpPr>
        <p:spPr>
          <a:xfrm>
            <a:off x="10605297" y="2870294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降息25bp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614294" y="3050249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首次降息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87906" y="3446152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2026年9月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78908" y="3626108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3.75-4.00%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291159" y="3752077"/>
            <a:ext cx="3014258" cy="71982"/>
          </a:xfrm>
          <a:custGeom>
            <a:avLst/>
            <a:gdLst/>
            <a:ahLst/>
            <a:cxnLst/>
            <a:rect l="l" t="t" r="r" b="b"/>
            <a:pathLst>
              <a:path w="3014258" h="71982">
                <a:moveTo>
                  <a:pt x="35991" y="0"/>
                </a:moveTo>
                <a:lnTo>
                  <a:pt x="2978267" y="0"/>
                </a:lnTo>
                <a:cubicBezTo>
                  <a:pt x="2998145" y="0"/>
                  <a:pt x="3014258" y="16114"/>
                  <a:pt x="3014258" y="35991"/>
                </a:cubicBezTo>
                <a:lnTo>
                  <a:pt x="3014258" y="35991"/>
                </a:lnTo>
                <a:cubicBezTo>
                  <a:pt x="3014258" y="55869"/>
                  <a:pt x="2998145" y="71982"/>
                  <a:pt x="2978267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91159" y="3752077"/>
            <a:ext cx="2357420" cy="71982"/>
          </a:xfrm>
          <a:custGeom>
            <a:avLst/>
            <a:gdLst/>
            <a:ahLst/>
            <a:cxnLst/>
            <a:rect l="l" t="t" r="r" b="b"/>
            <a:pathLst>
              <a:path w="2357420" h="71982">
                <a:moveTo>
                  <a:pt x="35991" y="0"/>
                </a:moveTo>
                <a:lnTo>
                  <a:pt x="2321429" y="0"/>
                </a:lnTo>
                <a:cubicBezTo>
                  <a:pt x="2341306" y="0"/>
                  <a:pt x="2357420" y="16114"/>
                  <a:pt x="2357420" y="35991"/>
                </a:cubicBezTo>
                <a:lnTo>
                  <a:pt x="2357420" y="35991"/>
                </a:lnTo>
                <a:cubicBezTo>
                  <a:pt x="2357420" y="55869"/>
                  <a:pt x="2341306" y="71982"/>
                  <a:pt x="2321429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416343" y="3716086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47632" y="141321"/>
                </a:moveTo>
                <a:cubicBezTo>
                  <a:pt x="51147" y="144836"/>
                  <a:pt x="56855" y="144836"/>
                  <a:pt x="60370" y="141321"/>
                </a:cubicBezTo>
                <a:lnTo>
                  <a:pt x="105358" y="96333"/>
                </a:lnTo>
                <a:cubicBezTo>
                  <a:pt x="108873" y="92818"/>
                  <a:pt x="108873" y="87110"/>
                  <a:pt x="105358" y="83595"/>
                </a:cubicBezTo>
                <a:cubicBezTo>
                  <a:pt x="101844" y="80080"/>
                  <a:pt x="96136" y="80080"/>
                  <a:pt x="92621" y="83595"/>
                </a:cubicBezTo>
                <a:lnTo>
                  <a:pt x="62985" y="113232"/>
                </a:lnTo>
                <a:lnTo>
                  <a:pt x="62985" y="8998"/>
                </a:lnTo>
                <a:cubicBezTo>
                  <a:pt x="62985" y="4021"/>
                  <a:pt x="58964" y="0"/>
                  <a:pt x="53987" y="0"/>
                </a:cubicBezTo>
                <a:cubicBezTo>
                  <a:pt x="49010" y="0"/>
                  <a:pt x="44989" y="4021"/>
                  <a:pt x="44989" y="8998"/>
                </a:cubicBezTo>
                <a:lnTo>
                  <a:pt x="44989" y="113232"/>
                </a:lnTo>
                <a:lnTo>
                  <a:pt x="15352" y="83595"/>
                </a:lnTo>
                <a:cubicBezTo>
                  <a:pt x="11838" y="80080"/>
                  <a:pt x="6130" y="80080"/>
                  <a:pt x="2615" y="83595"/>
                </a:cubicBezTo>
                <a:cubicBezTo>
                  <a:pt x="-900" y="87110"/>
                  <a:pt x="-900" y="92818"/>
                  <a:pt x="2615" y="96333"/>
                </a:cubicBezTo>
                <a:lnTo>
                  <a:pt x="47604" y="14132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59" name="Text 57"/>
          <p:cNvSpPr/>
          <p:nvPr/>
        </p:nvSpPr>
        <p:spPr>
          <a:xfrm>
            <a:off x="10605297" y="3626108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降息25bp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614294" y="3806063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间隔3个月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87906" y="4201966"/>
            <a:ext cx="92677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2026年12月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78908" y="4381922"/>
            <a:ext cx="944768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3.50-3.75%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291159" y="4507891"/>
            <a:ext cx="3014258" cy="71982"/>
          </a:xfrm>
          <a:custGeom>
            <a:avLst/>
            <a:gdLst/>
            <a:ahLst/>
            <a:cxnLst/>
            <a:rect l="l" t="t" r="r" b="b"/>
            <a:pathLst>
              <a:path w="3014258" h="71982">
                <a:moveTo>
                  <a:pt x="35991" y="0"/>
                </a:moveTo>
                <a:lnTo>
                  <a:pt x="2978267" y="0"/>
                </a:lnTo>
                <a:cubicBezTo>
                  <a:pt x="2998145" y="0"/>
                  <a:pt x="3014258" y="16114"/>
                  <a:pt x="3014258" y="35991"/>
                </a:cubicBezTo>
                <a:lnTo>
                  <a:pt x="3014258" y="35991"/>
                </a:lnTo>
                <a:cubicBezTo>
                  <a:pt x="3014258" y="55869"/>
                  <a:pt x="2998145" y="71982"/>
                  <a:pt x="2978267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291159" y="4507891"/>
            <a:ext cx="2024502" cy="71982"/>
          </a:xfrm>
          <a:custGeom>
            <a:avLst/>
            <a:gdLst/>
            <a:ahLst/>
            <a:cxnLst/>
            <a:rect l="l" t="t" r="r" b="b"/>
            <a:pathLst>
              <a:path w="2024502" h="71982">
                <a:moveTo>
                  <a:pt x="35991" y="0"/>
                </a:moveTo>
                <a:lnTo>
                  <a:pt x="1988511" y="0"/>
                </a:lnTo>
                <a:cubicBezTo>
                  <a:pt x="2008388" y="0"/>
                  <a:pt x="2024502" y="16114"/>
                  <a:pt x="2024502" y="35991"/>
                </a:cubicBezTo>
                <a:lnTo>
                  <a:pt x="2024502" y="35991"/>
                </a:lnTo>
                <a:cubicBezTo>
                  <a:pt x="2024502" y="55869"/>
                  <a:pt x="2008388" y="71982"/>
                  <a:pt x="1988511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5" name="Shape 63"/>
          <p:cNvSpPr/>
          <p:nvPr/>
        </p:nvSpPr>
        <p:spPr>
          <a:xfrm>
            <a:off x="10416343" y="4471900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47632" y="141321"/>
                </a:moveTo>
                <a:cubicBezTo>
                  <a:pt x="51147" y="144836"/>
                  <a:pt x="56855" y="144836"/>
                  <a:pt x="60370" y="141321"/>
                </a:cubicBezTo>
                <a:lnTo>
                  <a:pt x="105358" y="96333"/>
                </a:lnTo>
                <a:cubicBezTo>
                  <a:pt x="108873" y="92818"/>
                  <a:pt x="108873" y="87110"/>
                  <a:pt x="105358" y="83595"/>
                </a:cubicBezTo>
                <a:cubicBezTo>
                  <a:pt x="101844" y="80080"/>
                  <a:pt x="96136" y="80080"/>
                  <a:pt x="92621" y="83595"/>
                </a:cubicBezTo>
                <a:lnTo>
                  <a:pt x="62985" y="113232"/>
                </a:lnTo>
                <a:lnTo>
                  <a:pt x="62985" y="8998"/>
                </a:lnTo>
                <a:cubicBezTo>
                  <a:pt x="62985" y="4021"/>
                  <a:pt x="58964" y="0"/>
                  <a:pt x="53987" y="0"/>
                </a:cubicBezTo>
                <a:cubicBezTo>
                  <a:pt x="49010" y="0"/>
                  <a:pt x="44989" y="4021"/>
                  <a:pt x="44989" y="8998"/>
                </a:cubicBezTo>
                <a:lnTo>
                  <a:pt x="44989" y="113232"/>
                </a:lnTo>
                <a:lnTo>
                  <a:pt x="15352" y="83595"/>
                </a:lnTo>
                <a:cubicBezTo>
                  <a:pt x="11838" y="80080"/>
                  <a:pt x="6130" y="80080"/>
                  <a:pt x="2615" y="83595"/>
                </a:cubicBezTo>
                <a:cubicBezTo>
                  <a:pt x="-900" y="87110"/>
                  <a:pt x="-900" y="92818"/>
                  <a:pt x="2615" y="96333"/>
                </a:cubicBezTo>
                <a:lnTo>
                  <a:pt x="47604" y="14132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6" name="Text 64"/>
          <p:cNvSpPr/>
          <p:nvPr/>
        </p:nvSpPr>
        <p:spPr>
          <a:xfrm>
            <a:off x="10605297" y="4381922"/>
            <a:ext cx="107073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降息25bp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614294" y="4561877"/>
            <a:ext cx="1061739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累计75-100bp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23897" y="4998270"/>
            <a:ext cx="5344685" cy="1124723"/>
          </a:xfrm>
          <a:custGeom>
            <a:avLst/>
            <a:gdLst/>
            <a:ahLst/>
            <a:cxnLst/>
            <a:rect l="l" t="t" r="r" b="b"/>
            <a:pathLst>
              <a:path w="5344685" h="1124723">
                <a:moveTo>
                  <a:pt x="71982" y="0"/>
                </a:moveTo>
                <a:lnTo>
                  <a:pt x="5272703" y="0"/>
                </a:lnTo>
                <a:cubicBezTo>
                  <a:pt x="5312457" y="0"/>
                  <a:pt x="5344685" y="32228"/>
                  <a:pt x="5344685" y="71982"/>
                </a:cubicBezTo>
                <a:lnTo>
                  <a:pt x="5344685" y="1052741"/>
                </a:lnTo>
                <a:cubicBezTo>
                  <a:pt x="5344685" y="1092496"/>
                  <a:pt x="5312457" y="1124723"/>
                  <a:pt x="5272703" y="1124723"/>
                </a:cubicBezTo>
                <a:lnTo>
                  <a:pt x="71982" y="1124723"/>
                </a:lnTo>
                <a:cubicBezTo>
                  <a:pt x="32228" y="1124723"/>
                  <a:pt x="0" y="1092496"/>
                  <a:pt x="0" y="1052741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36369" y="5110742"/>
            <a:ext cx="519172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触发条件（基于历史）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54365" y="5425665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62985" y="125969"/>
                </a:moveTo>
                <a:cubicBezTo>
                  <a:pt x="97747" y="125969"/>
                  <a:pt x="125969" y="97747"/>
                  <a:pt x="125969" y="62985"/>
                </a:cubicBezTo>
                <a:cubicBezTo>
                  <a:pt x="125969" y="28222"/>
                  <a:pt x="97747" y="0"/>
                  <a:pt x="62985" y="0"/>
                </a:cubicBezTo>
                <a:cubicBezTo>
                  <a:pt x="28222" y="0"/>
                  <a:pt x="0" y="28222"/>
                  <a:pt x="0" y="62985"/>
                </a:cubicBezTo>
                <a:cubicBezTo>
                  <a:pt x="0" y="97747"/>
                  <a:pt x="28222" y="125969"/>
                  <a:pt x="62985" y="125969"/>
                </a:cubicBezTo>
                <a:close/>
                <a:moveTo>
                  <a:pt x="83750" y="52331"/>
                </a:moveTo>
                <a:lnTo>
                  <a:pt x="64067" y="83824"/>
                </a:lnTo>
                <a:cubicBezTo>
                  <a:pt x="63034" y="85472"/>
                  <a:pt x="61262" y="86505"/>
                  <a:pt x="59319" y="86604"/>
                </a:cubicBezTo>
                <a:cubicBezTo>
                  <a:pt x="57375" y="86702"/>
                  <a:pt x="55505" y="85816"/>
                  <a:pt x="54349" y="84242"/>
                </a:cubicBezTo>
                <a:lnTo>
                  <a:pt x="42539" y="68496"/>
                </a:lnTo>
                <a:cubicBezTo>
                  <a:pt x="40571" y="65888"/>
                  <a:pt x="41112" y="62197"/>
                  <a:pt x="43720" y="60229"/>
                </a:cubicBezTo>
                <a:cubicBezTo>
                  <a:pt x="46328" y="58261"/>
                  <a:pt x="50019" y="58802"/>
                  <a:pt x="51987" y="61410"/>
                </a:cubicBezTo>
                <a:lnTo>
                  <a:pt x="58630" y="70267"/>
                </a:lnTo>
                <a:lnTo>
                  <a:pt x="73736" y="46082"/>
                </a:lnTo>
                <a:cubicBezTo>
                  <a:pt x="75458" y="43326"/>
                  <a:pt x="79100" y="42465"/>
                  <a:pt x="81880" y="44212"/>
                </a:cubicBezTo>
                <a:cubicBezTo>
                  <a:pt x="84660" y="45959"/>
                  <a:pt x="85497" y="49576"/>
                  <a:pt x="83750" y="5235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1" name="Text 69"/>
          <p:cNvSpPr/>
          <p:nvPr/>
        </p:nvSpPr>
        <p:spPr>
          <a:xfrm>
            <a:off x="6665813" y="5398672"/>
            <a:ext cx="134067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核心PCE持续低于2.5%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454365" y="5641612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62985" y="125969"/>
                </a:moveTo>
                <a:cubicBezTo>
                  <a:pt x="97747" y="125969"/>
                  <a:pt x="125969" y="97747"/>
                  <a:pt x="125969" y="62985"/>
                </a:cubicBezTo>
                <a:cubicBezTo>
                  <a:pt x="125969" y="28222"/>
                  <a:pt x="97747" y="0"/>
                  <a:pt x="62985" y="0"/>
                </a:cubicBezTo>
                <a:cubicBezTo>
                  <a:pt x="28222" y="0"/>
                  <a:pt x="0" y="28222"/>
                  <a:pt x="0" y="62985"/>
                </a:cubicBezTo>
                <a:cubicBezTo>
                  <a:pt x="0" y="97747"/>
                  <a:pt x="28222" y="125969"/>
                  <a:pt x="62985" y="125969"/>
                </a:cubicBezTo>
                <a:close/>
                <a:moveTo>
                  <a:pt x="83750" y="52331"/>
                </a:moveTo>
                <a:lnTo>
                  <a:pt x="64067" y="83824"/>
                </a:lnTo>
                <a:cubicBezTo>
                  <a:pt x="63034" y="85472"/>
                  <a:pt x="61262" y="86505"/>
                  <a:pt x="59319" y="86604"/>
                </a:cubicBezTo>
                <a:cubicBezTo>
                  <a:pt x="57375" y="86702"/>
                  <a:pt x="55505" y="85816"/>
                  <a:pt x="54349" y="84242"/>
                </a:cubicBezTo>
                <a:lnTo>
                  <a:pt x="42539" y="68496"/>
                </a:lnTo>
                <a:cubicBezTo>
                  <a:pt x="40571" y="65888"/>
                  <a:pt x="41112" y="62197"/>
                  <a:pt x="43720" y="60229"/>
                </a:cubicBezTo>
                <a:cubicBezTo>
                  <a:pt x="46328" y="58261"/>
                  <a:pt x="50019" y="58802"/>
                  <a:pt x="51987" y="61410"/>
                </a:cubicBezTo>
                <a:lnTo>
                  <a:pt x="58630" y="70267"/>
                </a:lnTo>
                <a:lnTo>
                  <a:pt x="73736" y="46082"/>
                </a:lnTo>
                <a:cubicBezTo>
                  <a:pt x="75458" y="43326"/>
                  <a:pt x="79100" y="42465"/>
                  <a:pt x="81880" y="44212"/>
                </a:cubicBezTo>
                <a:cubicBezTo>
                  <a:pt x="84660" y="45959"/>
                  <a:pt x="85497" y="49576"/>
                  <a:pt x="83750" y="5235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3" name="Text 71"/>
          <p:cNvSpPr/>
          <p:nvPr/>
        </p:nvSpPr>
        <p:spPr>
          <a:xfrm>
            <a:off x="6665813" y="5614618"/>
            <a:ext cx="134966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失业率维持在4.0-4.5%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454365" y="5857559"/>
            <a:ext cx="125969" cy="125969"/>
          </a:xfrm>
          <a:custGeom>
            <a:avLst/>
            <a:gdLst/>
            <a:ahLst/>
            <a:cxnLst/>
            <a:rect l="l" t="t" r="r" b="b"/>
            <a:pathLst>
              <a:path w="125969" h="125969">
                <a:moveTo>
                  <a:pt x="62985" y="125969"/>
                </a:moveTo>
                <a:cubicBezTo>
                  <a:pt x="97747" y="125969"/>
                  <a:pt x="125969" y="97747"/>
                  <a:pt x="125969" y="62985"/>
                </a:cubicBezTo>
                <a:cubicBezTo>
                  <a:pt x="125969" y="28222"/>
                  <a:pt x="97747" y="0"/>
                  <a:pt x="62985" y="0"/>
                </a:cubicBezTo>
                <a:cubicBezTo>
                  <a:pt x="28222" y="0"/>
                  <a:pt x="0" y="28222"/>
                  <a:pt x="0" y="62985"/>
                </a:cubicBezTo>
                <a:cubicBezTo>
                  <a:pt x="0" y="97747"/>
                  <a:pt x="28222" y="125969"/>
                  <a:pt x="62985" y="125969"/>
                </a:cubicBezTo>
                <a:close/>
                <a:moveTo>
                  <a:pt x="83750" y="52331"/>
                </a:moveTo>
                <a:lnTo>
                  <a:pt x="64067" y="83824"/>
                </a:lnTo>
                <a:cubicBezTo>
                  <a:pt x="63034" y="85472"/>
                  <a:pt x="61262" y="86505"/>
                  <a:pt x="59319" y="86604"/>
                </a:cubicBezTo>
                <a:cubicBezTo>
                  <a:pt x="57375" y="86702"/>
                  <a:pt x="55505" y="85816"/>
                  <a:pt x="54349" y="84242"/>
                </a:cubicBezTo>
                <a:lnTo>
                  <a:pt x="42539" y="68496"/>
                </a:lnTo>
                <a:cubicBezTo>
                  <a:pt x="40571" y="65888"/>
                  <a:pt x="41112" y="62197"/>
                  <a:pt x="43720" y="60229"/>
                </a:cubicBezTo>
                <a:cubicBezTo>
                  <a:pt x="46328" y="58261"/>
                  <a:pt x="50019" y="58802"/>
                  <a:pt x="51987" y="61410"/>
                </a:cubicBezTo>
                <a:lnTo>
                  <a:pt x="58630" y="70267"/>
                </a:lnTo>
                <a:lnTo>
                  <a:pt x="73736" y="46082"/>
                </a:lnTo>
                <a:cubicBezTo>
                  <a:pt x="75458" y="43326"/>
                  <a:pt x="79100" y="42465"/>
                  <a:pt x="81880" y="44212"/>
                </a:cubicBezTo>
                <a:cubicBezTo>
                  <a:pt x="84660" y="45959"/>
                  <a:pt x="85497" y="49576"/>
                  <a:pt x="83750" y="5235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5" name="Text 73"/>
          <p:cNvSpPr/>
          <p:nvPr/>
        </p:nvSpPr>
        <p:spPr>
          <a:xfrm>
            <a:off x="6665813" y="5830565"/>
            <a:ext cx="1385659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GDP增速保持在2%以上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64410" y="6392927"/>
            <a:ext cx="11463179" cy="458887"/>
          </a:xfrm>
          <a:custGeom>
            <a:avLst/>
            <a:gdLst/>
            <a:ahLst/>
            <a:cxnLst/>
            <a:rect l="l" t="t" r="r" b="b"/>
            <a:pathLst>
              <a:path w="11463179" h="458887">
                <a:moveTo>
                  <a:pt x="71981" y="0"/>
                </a:moveTo>
                <a:lnTo>
                  <a:pt x="11391198" y="0"/>
                </a:lnTo>
                <a:cubicBezTo>
                  <a:pt x="11430952" y="0"/>
                  <a:pt x="11463179" y="32227"/>
                  <a:pt x="11463179" y="71981"/>
                </a:cubicBezTo>
                <a:lnTo>
                  <a:pt x="11463179" y="386906"/>
                </a:lnTo>
                <a:cubicBezTo>
                  <a:pt x="11463179" y="426660"/>
                  <a:pt x="11430952" y="458887"/>
                  <a:pt x="11391198" y="458887"/>
                </a:cubicBezTo>
                <a:lnTo>
                  <a:pt x="71981" y="458887"/>
                </a:lnTo>
                <a:cubicBezTo>
                  <a:pt x="32254" y="458887"/>
                  <a:pt x="0" y="426633"/>
                  <a:pt x="0" y="386906"/>
                </a:cubicBezTo>
                <a:lnTo>
                  <a:pt x="0" y="71981"/>
                </a:lnTo>
                <a:cubicBezTo>
                  <a:pt x="0" y="32254"/>
                  <a:pt x="32254" y="0"/>
                  <a:pt x="7198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874" y="6541390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82358" y="107973"/>
                </a:moveTo>
                <a:cubicBezTo>
                  <a:pt x="84410" y="101703"/>
                  <a:pt x="88516" y="96023"/>
                  <a:pt x="93155" y="91131"/>
                </a:cubicBezTo>
                <a:cubicBezTo>
                  <a:pt x="102350" y="81458"/>
                  <a:pt x="107973" y="68383"/>
                  <a:pt x="107973" y="53987"/>
                </a:cubicBezTo>
                <a:cubicBezTo>
                  <a:pt x="107973" y="24182"/>
                  <a:pt x="83792" y="0"/>
                  <a:pt x="53987" y="0"/>
                </a:cubicBezTo>
                <a:cubicBezTo>
                  <a:pt x="24182" y="0"/>
                  <a:pt x="0" y="24182"/>
                  <a:pt x="0" y="53987"/>
                </a:cubicBezTo>
                <a:cubicBezTo>
                  <a:pt x="0" y="68383"/>
                  <a:pt x="5624" y="81458"/>
                  <a:pt x="14818" y="91131"/>
                </a:cubicBezTo>
                <a:cubicBezTo>
                  <a:pt x="19458" y="96023"/>
                  <a:pt x="23591" y="101703"/>
                  <a:pt x="25616" y="107973"/>
                </a:cubicBezTo>
                <a:lnTo>
                  <a:pt x="82330" y="107973"/>
                </a:lnTo>
                <a:close/>
                <a:moveTo>
                  <a:pt x="80980" y="121470"/>
                </a:moveTo>
                <a:lnTo>
                  <a:pt x="26993" y="121470"/>
                </a:lnTo>
                <a:lnTo>
                  <a:pt x="26993" y="125969"/>
                </a:lnTo>
                <a:cubicBezTo>
                  <a:pt x="26993" y="138397"/>
                  <a:pt x="37060" y="148463"/>
                  <a:pt x="49488" y="148463"/>
                </a:cubicBezTo>
                <a:lnTo>
                  <a:pt x="58486" y="148463"/>
                </a:lnTo>
                <a:cubicBezTo>
                  <a:pt x="70914" y="148463"/>
                  <a:pt x="80980" y="138397"/>
                  <a:pt x="80980" y="125969"/>
                </a:cubicBezTo>
                <a:lnTo>
                  <a:pt x="80980" y="121470"/>
                </a:lnTo>
                <a:close/>
                <a:moveTo>
                  <a:pt x="51737" y="31492"/>
                </a:moveTo>
                <a:cubicBezTo>
                  <a:pt x="40546" y="31492"/>
                  <a:pt x="31492" y="40546"/>
                  <a:pt x="31492" y="51737"/>
                </a:cubicBezTo>
                <a:cubicBezTo>
                  <a:pt x="31492" y="55477"/>
                  <a:pt x="28484" y="58486"/>
                  <a:pt x="24744" y="58486"/>
                </a:cubicBezTo>
                <a:cubicBezTo>
                  <a:pt x="21004" y="58486"/>
                  <a:pt x="17996" y="55477"/>
                  <a:pt x="17996" y="51737"/>
                </a:cubicBezTo>
                <a:cubicBezTo>
                  <a:pt x="17996" y="33095"/>
                  <a:pt x="33095" y="17996"/>
                  <a:pt x="51737" y="17996"/>
                </a:cubicBezTo>
                <a:cubicBezTo>
                  <a:pt x="55477" y="17996"/>
                  <a:pt x="58486" y="21004"/>
                  <a:pt x="58486" y="24744"/>
                </a:cubicBezTo>
                <a:cubicBezTo>
                  <a:pt x="58486" y="28484"/>
                  <a:pt x="55477" y="31492"/>
                  <a:pt x="51737" y="3149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8" name="Text 76"/>
          <p:cNvSpPr/>
          <p:nvPr/>
        </p:nvSpPr>
        <p:spPr>
          <a:xfrm>
            <a:off x="707837" y="6505399"/>
            <a:ext cx="11079263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核心洞察：</a:t>
            </a:r>
            <a:r>
              <a:rPr lang="en-US" sz="1134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历史经验显示，当前最可能的情景是1995年式软着陆，美联储将在2026年实施渐进式降息，全年累计降息75-100个基点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033" y="357033"/>
            <a:ext cx="2089302" cy="326178"/>
          </a:xfrm>
          <a:custGeom>
            <a:avLst/>
            <a:gdLst/>
            <a:ahLst/>
            <a:cxnLst/>
            <a:rect l="l" t="t" r="r" b="b"/>
            <a:pathLst>
              <a:path w="2089302" h="326178">
                <a:moveTo>
                  <a:pt x="163089" y="0"/>
                </a:moveTo>
                <a:lnTo>
                  <a:pt x="1926213" y="0"/>
                </a:lnTo>
                <a:cubicBezTo>
                  <a:pt x="2016224" y="0"/>
                  <a:pt x="2089302" y="73078"/>
                  <a:pt x="2089302" y="163089"/>
                </a:cubicBezTo>
                <a:lnTo>
                  <a:pt x="2089302" y="163089"/>
                </a:lnTo>
                <a:cubicBezTo>
                  <a:pt x="2089302" y="253100"/>
                  <a:pt x="2016224" y="326178"/>
                  <a:pt x="1926213" y="326178"/>
                </a:cubicBezTo>
                <a:lnTo>
                  <a:pt x="163089" y="326178"/>
                </a:lnTo>
                <a:cubicBezTo>
                  <a:pt x="73078" y="326178"/>
                  <a:pt x="0" y="253100"/>
                  <a:pt x="0" y="163089"/>
                </a:cubicBezTo>
                <a:lnTo>
                  <a:pt x="0" y="163089"/>
                </a:lnTo>
                <a:cubicBezTo>
                  <a:pt x="0" y="73078"/>
                  <a:pt x="73078" y="0"/>
                  <a:pt x="163089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490" y="449597"/>
            <a:ext cx="186106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kern="0" spc="97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625" y="793406"/>
            <a:ext cx="1164543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 </a:t>
            </a:r>
            <a:r>
              <a:rPr lang="en-US" sz="2499" b="1" dirty="0" err="1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历史情景对比：相似度评估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625" y="1251818"/>
            <a:ext cx="846299" cy="35262"/>
          </a:xfrm>
          <a:custGeom>
            <a:avLst/>
            <a:gdLst/>
            <a:ahLst/>
            <a:cxnLst/>
            <a:rect l="l" t="t" r="r" b="b"/>
            <a:pathLst>
              <a:path w="846299" h="35262">
                <a:moveTo>
                  <a:pt x="0" y="0"/>
                </a:moveTo>
                <a:lnTo>
                  <a:pt x="846299" y="0"/>
                </a:lnTo>
                <a:lnTo>
                  <a:pt x="846299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57033" y="1397275"/>
            <a:ext cx="5668443" cy="4663462"/>
          </a:xfrm>
          <a:custGeom>
            <a:avLst/>
            <a:gdLst/>
            <a:ahLst/>
            <a:cxnLst/>
            <a:rect l="l" t="t" r="r" b="b"/>
            <a:pathLst>
              <a:path w="5668443" h="4663462">
                <a:moveTo>
                  <a:pt x="105767" y="0"/>
                </a:moveTo>
                <a:lnTo>
                  <a:pt x="5562675" y="0"/>
                </a:lnTo>
                <a:cubicBezTo>
                  <a:pt x="5621089" y="0"/>
                  <a:pt x="5668443" y="47354"/>
                  <a:pt x="5668443" y="105767"/>
                </a:cubicBezTo>
                <a:lnTo>
                  <a:pt x="5668443" y="4557695"/>
                </a:lnTo>
                <a:cubicBezTo>
                  <a:pt x="5668443" y="4616108"/>
                  <a:pt x="5621089" y="4663462"/>
                  <a:pt x="5562675" y="4663462"/>
                </a:cubicBezTo>
                <a:lnTo>
                  <a:pt x="105767" y="4663462"/>
                </a:lnTo>
                <a:cubicBezTo>
                  <a:pt x="47354" y="4663462"/>
                  <a:pt x="0" y="4616108"/>
                  <a:pt x="0" y="4557695"/>
                </a:cubicBezTo>
                <a:lnTo>
                  <a:pt x="0" y="105767"/>
                </a:lnTo>
                <a:cubicBezTo>
                  <a:pt x="0" y="47393"/>
                  <a:pt x="47393" y="0"/>
                  <a:pt x="10576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490" y="1577996"/>
            <a:ext cx="220390" cy="176312"/>
          </a:xfrm>
          <a:custGeom>
            <a:avLst/>
            <a:gdLst/>
            <a:ahLst/>
            <a:cxnLst/>
            <a:rect l="l" t="t" r="r" b="b"/>
            <a:pathLst>
              <a:path w="220390" h="176312">
                <a:moveTo>
                  <a:pt x="132234" y="11020"/>
                </a:moveTo>
                <a:lnTo>
                  <a:pt x="176312" y="11020"/>
                </a:lnTo>
                <a:cubicBezTo>
                  <a:pt x="182408" y="11020"/>
                  <a:pt x="187332" y="15944"/>
                  <a:pt x="187332" y="22039"/>
                </a:cubicBezTo>
                <a:cubicBezTo>
                  <a:pt x="187332" y="28134"/>
                  <a:pt x="182408" y="33059"/>
                  <a:pt x="176312" y="33059"/>
                </a:cubicBezTo>
                <a:lnTo>
                  <a:pt x="137193" y="33059"/>
                </a:lnTo>
                <a:cubicBezTo>
                  <a:pt x="135402" y="41943"/>
                  <a:pt x="129307" y="49278"/>
                  <a:pt x="121215" y="52790"/>
                </a:cubicBezTo>
                <a:lnTo>
                  <a:pt x="121215" y="154273"/>
                </a:lnTo>
                <a:lnTo>
                  <a:pt x="176312" y="154273"/>
                </a:lnTo>
                <a:cubicBezTo>
                  <a:pt x="182408" y="154273"/>
                  <a:pt x="187332" y="159198"/>
                  <a:pt x="187332" y="165293"/>
                </a:cubicBezTo>
                <a:cubicBezTo>
                  <a:pt x="187332" y="171388"/>
                  <a:pt x="182408" y="176312"/>
                  <a:pt x="176312" y="176312"/>
                </a:cubicBezTo>
                <a:lnTo>
                  <a:pt x="44078" y="176312"/>
                </a:lnTo>
                <a:cubicBezTo>
                  <a:pt x="37983" y="176312"/>
                  <a:pt x="33059" y="171388"/>
                  <a:pt x="33059" y="165293"/>
                </a:cubicBezTo>
                <a:cubicBezTo>
                  <a:pt x="33059" y="159198"/>
                  <a:pt x="37983" y="154273"/>
                  <a:pt x="44078" y="154273"/>
                </a:cubicBezTo>
                <a:lnTo>
                  <a:pt x="99176" y="154273"/>
                </a:lnTo>
                <a:lnTo>
                  <a:pt x="99176" y="52790"/>
                </a:lnTo>
                <a:cubicBezTo>
                  <a:pt x="91083" y="49243"/>
                  <a:pt x="84988" y="41909"/>
                  <a:pt x="83197" y="33059"/>
                </a:cubicBezTo>
                <a:lnTo>
                  <a:pt x="44078" y="33059"/>
                </a:lnTo>
                <a:cubicBezTo>
                  <a:pt x="37983" y="33059"/>
                  <a:pt x="33059" y="28134"/>
                  <a:pt x="33059" y="22039"/>
                </a:cubicBezTo>
                <a:cubicBezTo>
                  <a:pt x="33059" y="15944"/>
                  <a:pt x="37983" y="11020"/>
                  <a:pt x="44078" y="11020"/>
                </a:cubicBezTo>
                <a:lnTo>
                  <a:pt x="88156" y="11020"/>
                </a:lnTo>
                <a:cubicBezTo>
                  <a:pt x="93184" y="4339"/>
                  <a:pt x="101173" y="0"/>
                  <a:pt x="110195" y="0"/>
                </a:cubicBezTo>
                <a:cubicBezTo>
                  <a:pt x="119217" y="0"/>
                  <a:pt x="127207" y="4339"/>
                  <a:pt x="132234" y="11020"/>
                </a:cubicBezTo>
                <a:close/>
                <a:moveTo>
                  <a:pt x="151381" y="110195"/>
                </a:moveTo>
                <a:lnTo>
                  <a:pt x="201244" y="110195"/>
                </a:lnTo>
                <a:lnTo>
                  <a:pt x="176312" y="67426"/>
                </a:lnTo>
                <a:lnTo>
                  <a:pt x="151381" y="110195"/>
                </a:lnTo>
                <a:close/>
                <a:moveTo>
                  <a:pt x="176312" y="143254"/>
                </a:moveTo>
                <a:cubicBezTo>
                  <a:pt x="154652" y="143254"/>
                  <a:pt x="136642" y="131546"/>
                  <a:pt x="132923" y="116084"/>
                </a:cubicBezTo>
                <a:cubicBezTo>
                  <a:pt x="132028" y="112296"/>
                  <a:pt x="133267" y="108405"/>
                  <a:pt x="135230" y="105030"/>
                </a:cubicBezTo>
                <a:lnTo>
                  <a:pt x="168013" y="48830"/>
                </a:lnTo>
                <a:cubicBezTo>
                  <a:pt x="169735" y="45869"/>
                  <a:pt x="172903" y="44078"/>
                  <a:pt x="176312" y="44078"/>
                </a:cubicBezTo>
                <a:cubicBezTo>
                  <a:pt x="179722" y="44078"/>
                  <a:pt x="182890" y="45903"/>
                  <a:pt x="184611" y="48830"/>
                </a:cubicBezTo>
                <a:lnTo>
                  <a:pt x="217395" y="105030"/>
                </a:lnTo>
                <a:cubicBezTo>
                  <a:pt x="219357" y="108405"/>
                  <a:pt x="220597" y="112296"/>
                  <a:pt x="219702" y="116084"/>
                </a:cubicBezTo>
                <a:cubicBezTo>
                  <a:pt x="215983" y="131511"/>
                  <a:pt x="197973" y="143254"/>
                  <a:pt x="176312" y="143254"/>
                </a:cubicBezTo>
                <a:close/>
                <a:moveTo>
                  <a:pt x="43665" y="67426"/>
                </a:moveTo>
                <a:lnTo>
                  <a:pt x="18733" y="110195"/>
                </a:lnTo>
                <a:lnTo>
                  <a:pt x="68631" y="110195"/>
                </a:lnTo>
                <a:lnTo>
                  <a:pt x="43665" y="67426"/>
                </a:lnTo>
                <a:close/>
                <a:moveTo>
                  <a:pt x="310" y="116084"/>
                </a:moveTo>
                <a:cubicBezTo>
                  <a:pt x="-585" y="112296"/>
                  <a:pt x="654" y="108405"/>
                  <a:pt x="2617" y="105030"/>
                </a:cubicBezTo>
                <a:lnTo>
                  <a:pt x="35400" y="48830"/>
                </a:lnTo>
                <a:cubicBezTo>
                  <a:pt x="37122" y="45869"/>
                  <a:pt x="40290" y="44078"/>
                  <a:pt x="43699" y="44078"/>
                </a:cubicBezTo>
                <a:cubicBezTo>
                  <a:pt x="47108" y="44078"/>
                  <a:pt x="50277" y="45903"/>
                  <a:pt x="51998" y="48830"/>
                </a:cubicBezTo>
                <a:lnTo>
                  <a:pt x="84781" y="105030"/>
                </a:lnTo>
                <a:cubicBezTo>
                  <a:pt x="86744" y="108405"/>
                  <a:pt x="87984" y="112296"/>
                  <a:pt x="87089" y="116084"/>
                </a:cubicBezTo>
                <a:cubicBezTo>
                  <a:pt x="83370" y="131511"/>
                  <a:pt x="65360" y="143254"/>
                  <a:pt x="43699" y="143254"/>
                </a:cubicBezTo>
                <a:cubicBezTo>
                  <a:pt x="22039" y="143254"/>
                  <a:pt x="4029" y="131546"/>
                  <a:pt x="310" y="116084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722881" y="1542733"/>
            <a:ext cx="524529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与历史周期的相似度评估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121" y="1895358"/>
            <a:ext cx="5359896" cy="1040243"/>
          </a:xfrm>
          <a:custGeom>
            <a:avLst/>
            <a:gdLst/>
            <a:ahLst/>
            <a:cxnLst/>
            <a:rect l="l" t="t" r="r" b="b"/>
            <a:pathLst>
              <a:path w="5359896" h="1040243">
                <a:moveTo>
                  <a:pt x="35262" y="0"/>
                </a:moveTo>
                <a:lnTo>
                  <a:pt x="5289367" y="0"/>
                </a:lnTo>
                <a:cubicBezTo>
                  <a:pt x="5328319" y="0"/>
                  <a:pt x="5359896" y="31577"/>
                  <a:pt x="5359896" y="70528"/>
                </a:cubicBezTo>
                <a:lnTo>
                  <a:pt x="5359896" y="969714"/>
                </a:lnTo>
                <a:cubicBezTo>
                  <a:pt x="5359896" y="1008666"/>
                  <a:pt x="5328319" y="1040243"/>
                  <a:pt x="5289367" y="1040243"/>
                </a:cubicBezTo>
                <a:lnTo>
                  <a:pt x="35262" y="1040243"/>
                </a:lnTo>
                <a:cubicBezTo>
                  <a:pt x="15788" y="1040243"/>
                  <a:pt x="0" y="1024455"/>
                  <a:pt x="0" y="1004980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520121" y="1895358"/>
            <a:ext cx="35262" cy="1040243"/>
          </a:xfrm>
          <a:custGeom>
            <a:avLst/>
            <a:gdLst/>
            <a:ahLst/>
            <a:cxnLst/>
            <a:rect l="l" t="t" r="r" b="b"/>
            <a:pathLst>
              <a:path w="35262" h="1040243">
                <a:moveTo>
                  <a:pt x="35262" y="0"/>
                </a:moveTo>
                <a:lnTo>
                  <a:pt x="35262" y="0"/>
                </a:lnTo>
                <a:lnTo>
                  <a:pt x="35262" y="1040243"/>
                </a:lnTo>
                <a:lnTo>
                  <a:pt x="35262" y="1040243"/>
                </a:lnTo>
                <a:cubicBezTo>
                  <a:pt x="15788" y="1040243"/>
                  <a:pt x="0" y="1024455"/>
                  <a:pt x="0" y="1004980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Shape 9"/>
          <p:cNvSpPr/>
          <p:nvPr/>
        </p:nvSpPr>
        <p:spPr>
          <a:xfrm>
            <a:off x="654560" y="2177458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106579" y="-6508"/>
                </a:moveTo>
                <a:cubicBezTo>
                  <a:pt x="105168" y="-9263"/>
                  <a:pt x="102309" y="-11020"/>
                  <a:pt x="99210" y="-11020"/>
                </a:cubicBezTo>
                <a:cubicBezTo>
                  <a:pt x="96111" y="-11020"/>
                  <a:pt x="93253" y="-9263"/>
                  <a:pt x="91841" y="-6508"/>
                </a:cubicBezTo>
                <a:lnTo>
                  <a:pt x="66496" y="43148"/>
                </a:lnTo>
                <a:lnTo>
                  <a:pt x="11433" y="51895"/>
                </a:lnTo>
                <a:cubicBezTo>
                  <a:pt x="8368" y="52377"/>
                  <a:pt x="5820" y="54547"/>
                  <a:pt x="4855" y="57508"/>
                </a:cubicBezTo>
                <a:cubicBezTo>
                  <a:pt x="3891" y="60470"/>
                  <a:pt x="4683" y="63707"/>
                  <a:pt x="6853" y="65911"/>
                </a:cubicBezTo>
                <a:lnTo>
                  <a:pt x="46248" y="105340"/>
                </a:lnTo>
                <a:lnTo>
                  <a:pt x="37570" y="160403"/>
                </a:lnTo>
                <a:cubicBezTo>
                  <a:pt x="37088" y="163468"/>
                  <a:pt x="38362" y="166567"/>
                  <a:pt x="40876" y="168392"/>
                </a:cubicBezTo>
                <a:cubicBezTo>
                  <a:pt x="43389" y="170217"/>
                  <a:pt x="46695" y="170493"/>
                  <a:pt x="49485" y="169081"/>
                </a:cubicBezTo>
                <a:lnTo>
                  <a:pt x="99210" y="143805"/>
                </a:lnTo>
                <a:lnTo>
                  <a:pt x="148901" y="169081"/>
                </a:lnTo>
                <a:cubicBezTo>
                  <a:pt x="151656" y="170493"/>
                  <a:pt x="154996" y="170217"/>
                  <a:pt x="157510" y="168392"/>
                </a:cubicBezTo>
                <a:cubicBezTo>
                  <a:pt x="160024" y="166567"/>
                  <a:pt x="161298" y="163502"/>
                  <a:pt x="160816" y="160403"/>
                </a:cubicBezTo>
                <a:lnTo>
                  <a:pt x="152104" y="105340"/>
                </a:lnTo>
                <a:lnTo>
                  <a:pt x="191499" y="65911"/>
                </a:lnTo>
                <a:cubicBezTo>
                  <a:pt x="193703" y="63707"/>
                  <a:pt x="194460" y="60470"/>
                  <a:pt x="193496" y="57508"/>
                </a:cubicBezTo>
                <a:cubicBezTo>
                  <a:pt x="192532" y="54547"/>
                  <a:pt x="190018" y="52377"/>
                  <a:pt x="186919" y="51895"/>
                </a:cubicBezTo>
                <a:lnTo>
                  <a:pt x="131890" y="43148"/>
                </a:lnTo>
                <a:lnTo>
                  <a:pt x="106579" y="-6508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Text 10"/>
          <p:cNvSpPr/>
          <p:nvPr/>
        </p:nvSpPr>
        <p:spPr>
          <a:xfrm>
            <a:off x="969718" y="2054039"/>
            <a:ext cx="120774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1995年软着陆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718" y="2300876"/>
            <a:ext cx="1181293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最佳匹配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72973" y="2001145"/>
            <a:ext cx="793406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499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69945" y="2353770"/>
            <a:ext cx="696434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相似度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540" y="2600607"/>
            <a:ext cx="5201215" cy="229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通胀回落、温和降息、经济持续增长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0121" y="3006126"/>
            <a:ext cx="5359896" cy="775774"/>
          </a:xfrm>
          <a:custGeom>
            <a:avLst/>
            <a:gdLst/>
            <a:ahLst/>
            <a:cxnLst/>
            <a:rect l="l" t="t" r="r" b="b"/>
            <a:pathLst>
              <a:path w="5359896" h="775774">
                <a:moveTo>
                  <a:pt x="35262" y="0"/>
                </a:moveTo>
                <a:lnTo>
                  <a:pt x="5289370" y="0"/>
                </a:lnTo>
                <a:cubicBezTo>
                  <a:pt x="5328320" y="0"/>
                  <a:pt x="5359896" y="31575"/>
                  <a:pt x="5359896" y="70526"/>
                </a:cubicBezTo>
                <a:lnTo>
                  <a:pt x="5359896" y="705249"/>
                </a:lnTo>
                <a:cubicBezTo>
                  <a:pt x="5359896" y="744199"/>
                  <a:pt x="5328320" y="775774"/>
                  <a:pt x="5289370" y="775774"/>
                </a:cubicBez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20121" y="3006126"/>
            <a:ext cx="35262" cy="775774"/>
          </a:xfrm>
          <a:custGeom>
            <a:avLst/>
            <a:gdLst/>
            <a:ahLst/>
            <a:cxnLst/>
            <a:rect l="l" t="t" r="r" b="b"/>
            <a:pathLst>
              <a:path w="35262" h="775774">
                <a:moveTo>
                  <a:pt x="35262" y="0"/>
                </a:moveTo>
                <a:lnTo>
                  <a:pt x="35262" y="0"/>
                </a:lnTo>
                <a:lnTo>
                  <a:pt x="35262" y="775774"/>
                </a:ln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655662" y="3191254"/>
            <a:ext cx="178516" cy="158681"/>
          </a:xfrm>
          <a:custGeom>
            <a:avLst/>
            <a:gdLst/>
            <a:ahLst/>
            <a:cxnLst/>
            <a:rect l="l" t="t" r="r" b="b"/>
            <a:pathLst>
              <a:path w="178516" h="158681">
                <a:moveTo>
                  <a:pt x="89289" y="109589"/>
                </a:moveTo>
                <a:cubicBezTo>
                  <a:pt x="92388" y="109589"/>
                  <a:pt x="95457" y="110302"/>
                  <a:pt x="98277" y="111759"/>
                </a:cubicBezTo>
                <a:lnTo>
                  <a:pt x="121335" y="123505"/>
                </a:lnTo>
                <a:lnTo>
                  <a:pt x="117306" y="97936"/>
                </a:lnTo>
                <a:cubicBezTo>
                  <a:pt x="116315" y="91676"/>
                  <a:pt x="118391" y="85322"/>
                  <a:pt x="122854" y="80828"/>
                </a:cubicBezTo>
                <a:lnTo>
                  <a:pt x="141139" y="62512"/>
                </a:lnTo>
                <a:lnTo>
                  <a:pt x="115571" y="58452"/>
                </a:lnTo>
                <a:cubicBezTo>
                  <a:pt x="109310" y="57460"/>
                  <a:pt x="103887" y="53524"/>
                  <a:pt x="101004" y="47883"/>
                </a:cubicBezTo>
                <a:lnTo>
                  <a:pt x="89227" y="24825"/>
                </a:lnTo>
                <a:lnTo>
                  <a:pt x="89227" y="109620"/>
                </a:lnTo>
                <a:close/>
                <a:moveTo>
                  <a:pt x="141759" y="151553"/>
                </a:moveTo>
                <a:cubicBezTo>
                  <a:pt x="139497" y="153195"/>
                  <a:pt x="136491" y="153443"/>
                  <a:pt x="134011" y="152173"/>
                </a:cubicBezTo>
                <a:lnTo>
                  <a:pt x="89289" y="129424"/>
                </a:lnTo>
                <a:lnTo>
                  <a:pt x="44567" y="152173"/>
                </a:lnTo>
                <a:cubicBezTo>
                  <a:pt x="42088" y="153443"/>
                  <a:pt x="39081" y="153195"/>
                  <a:pt x="36819" y="151553"/>
                </a:cubicBezTo>
                <a:cubicBezTo>
                  <a:pt x="34557" y="149910"/>
                  <a:pt x="33410" y="147152"/>
                  <a:pt x="33844" y="144363"/>
                </a:cubicBezTo>
                <a:lnTo>
                  <a:pt x="41654" y="94806"/>
                </a:lnTo>
                <a:lnTo>
                  <a:pt x="6198" y="59319"/>
                </a:lnTo>
                <a:cubicBezTo>
                  <a:pt x="4215" y="57336"/>
                  <a:pt x="3533" y="54423"/>
                  <a:pt x="4401" y="51757"/>
                </a:cubicBezTo>
                <a:cubicBezTo>
                  <a:pt x="5269" y="49092"/>
                  <a:pt x="7531" y="47139"/>
                  <a:pt x="10320" y="46706"/>
                </a:cubicBezTo>
                <a:lnTo>
                  <a:pt x="59877" y="38833"/>
                </a:lnTo>
                <a:lnTo>
                  <a:pt x="82688" y="-5858"/>
                </a:lnTo>
                <a:cubicBezTo>
                  <a:pt x="83958" y="-8337"/>
                  <a:pt x="86531" y="-9918"/>
                  <a:pt x="89320" y="-9918"/>
                </a:cubicBezTo>
                <a:cubicBezTo>
                  <a:pt x="92109" y="-9918"/>
                  <a:pt x="94682" y="-8337"/>
                  <a:pt x="95952" y="-5858"/>
                </a:cubicBezTo>
                <a:lnTo>
                  <a:pt x="118701" y="38833"/>
                </a:lnTo>
                <a:lnTo>
                  <a:pt x="168258" y="46706"/>
                </a:lnTo>
                <a:cubicBezTo>
                  <a:pt x="171016" y="47139"/>
                  <a:pt x="173310" y="49092"/>
                  <a:pt x="174177" y="51757"/>
                </a:cubicBezTo>
                <a:cubicBezTo>
                  <a:pt x="175045" y="54423"/>
                  <a:pt x="174332" y="57336"/>
                  <a:pt x="172380" y="59319"/>
                </a:cubicBezTo>
                <a:lnTo>
                  <a:pt x="136893" y="94806"/>
                </a:lnTo>
                <a:lnTo>
                  <a:pt x="144735" y="144363"/>
                </a:lnTo>
                <a:cubicBezTo>
                  <a:pt x="145168" y="147121"/>
                  <a:pt x="144022" y="149910"/>
                  <a:pt x="141759" y="15155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947679" y="3147176"/>
            <a:ext cx="140168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2019年预防性降息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05758" y="3111913"/>
            <a:ext cx="661171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82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540" y="3499800"/>
            <a:ext cx="519239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贸易紧张、预防性宽松、财政刺激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0121" y="3852425"/>
            <a:ext cx="5359896" cy="775774"/>
          </a:xfrm>
          <a:custGeom>
            <a:avLst/>
            <a:gdLst/>
            <a:ahLst/>
            <a:cxnLst/>
            <a:rect l="l" t="t" r="r" b="b"/>
            <a:pathLst>
              <a:path w="5359896" h="775774">
                <a:moveTo>
                  <a:pt x="35262" y="0"/>
                </a:moveTo>
                <a:lnTo>
                  <a:pt x="5289370" y="0"/>
                </a:lnTo>
                <a:cubicBezTo>
                  <a:pt x="5328320" y="0"/>
                  <a:pt x="5359896" y="31575"/>
                  <a:pt x="5359896" y="70526"/>
                </a:cubicBezTo>
                <a:lnTo>
                  <a:pt x="5359896" y="705249"/>
                </a:lnTo>
                <a:cubicBezTo>
                  <a:pt x="5359896" y="744199"/>
                  <a:pt x="5328320" y="775774"/>
                  <a:pt x="5289370" y="775774"/>
                </a:cubicBez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20121" y="3852425"/>
            <a:ext cx="35262" cy="775774"/>
          </a:xfrm>
          <a:custGeom>
            <a:avLst/>
            <a:gdLst/>
            <a:ahLst/>
            <a:cxnLst/>
            <a:rect l="l" t="t" r="r" b="b"/>
            <a:pathLst>
              <a:path w="35262" h="775774">
                <a:moveTo>
                  <a:pt x="35262" y="0"/>
                </a:moveTo>
                <a:lnTo>
                  <a:pt x="35262" y="0"/>
                </a:lnTo>
                <a:lnTo>
                  <a:pt x="35262" y="775774"/>
                </a:ln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579" y="4037553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158681"/>
                </a:moveTo>
                <a:cubicBezTo>
                  <a:pt x="123130" y="158681"/>
                  <a:pt x="158681" y="123130"/>
                  <a:pt x="158681" y="79341"/>
                </a:cubicBezTo>
                <a:cubicBezTo>
                  <a:pt x="158681" y="35551"/>
                  <a:pt x="123130" y="0"/>
                  <a:pt x="79341" y="0"/>
                </a:cubicBezTo>
                <a:cubicBezTo>
                  <a:pt x="35551" y="0"/>
                  <a:pt x="0" y="35551"/>
                  <a:pt x="0" y="79341"/>
                </a:cubicBezTo>
                <a:cubicBezTo>
                  <a:pt x="0" y="123130"/>
                  <a:pt x="35551" y="158681"/>
                  <a:pt x="79341" y="158681"/>
                </a:cubicBezTo>
                <a:close/>
                <a:moveTo>
                  <a:pt x="52067" y="71902"/>
                </a:moveTo>
                <a:lnTo>
                  <a:pt x="106614" y="71902"/>
                </a:lnTo>
                <a:cubicBezTo>
                  <a:pt x="110736" y="71902"/>
                  <a:pt x="114052" y="75219"/>
                  <a:pt x="114052" y="79341"/>
                </a:cubicBezTo>
                <a:cubicBezTo>
                  <a:pt x="114052" y="83463"/>
                  <a:pt x="110736" y="86779"/>
                  <a:pt x="106614" y="86779"/>
                </a:cubicBezTo>
                <a:lnTo>
                  <a:pt x="52067" y="86779"/>
                </a:lnTo>
                <a:cubicBezTo>
                  <a:pt x="47945" y="86779"/>
                  <a:pt x="44629" y="83463"/>
                  <a:pt x="44629" y="79341"/>
                </a:cubicBezTo>
                <a:cubicBezTo>
                  <a:pt x="44629" y="75219"/>
                  <a:pt x="47945" y="71902"/>
                  <a:pt x="52067" y="7190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947679" y="3993475"/>
            <a:ext cx="105787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2006-2007年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5758" y="3958213"/>
            <a:ext cx="661171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82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540" y="4346100"/>
            <a:ext cx="519239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通胀反复、地产泡沫（当前不同）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0121" y="4698725"/>
            <a:ext cx="5359896" cy="775774"/>
          </a:xfrm>
          <a:custGeom>
            <a:avLst/>
            <a:gdLst/>
            <a:ahLst/>
            <a:cxnLst/>
            <a:rect l="l" t="t" r="r" b="b"/>
            <a:pathLst>
              <a:path w="5359896" h="775774">
                <a:moveTo>
                  <a:pt x="35262" y="0"/>
                </a:moveTo>
                <a:lnTo>
                  <a:pt x="5289370" y="0"/>
                </a:lnTo>
                <a:cubicBezTo>
                  <a:pt x="5328320" y="0"/>
                  <a:pt x="5359896" y="31575"/>
                  <a:pt x="5359896" y="70526"/>
                </a:cubicBezTo>
                <a:lnTo>
                  <a:pt x="5359896" y="705249"/>
                </a:lnTo>
                <a:cubicBezTo>
                  <a:pt x="5359896" y="744199"/>
                  <a:pt x="5328320" y="775774"/>
                  <a:pt x="5289370" y="775774"/>
                </a:cubicBez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20121" y="4698725"/>
            <a:ext cx="35262" cy="775774"/>
          </a:xfrm>
          <a:custGeom>
            <a:avLst/>
            <a:gdLst/>
            <a:ahLst/>
            <a:cxnLst/>
            <a:rect l="l" t="t" r="r" b="b"/>
            <a:pathLst>
              <a:path w="35262" h="775774">
                <a:moveTo>
                  <a:pt x="35262" y="0"/>
                </a:moveTo>
                <a:lnTo>
                  <a:pt x="35262" y="0"/>
                </a:lnTo>
                <a:lnTo>
                  <a:pt x="35262" y="775774"/>
                </a:lnTo>
                <a:lnTo>
                  <a:pt x="35262" y="775774"/>
                </a:lnTo>
                <a:cubicBezTo>
                  <a:pt x="15788" y="775774"/>
                  <a:pt x="0" y="759987"/>
                  <a:pt x="0" y="7405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665579" y="4883852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158681"/>
                </a:moveTo>
                <a:cubicBezTo>
                  <a:pt x="123130" y="158681"/>
                  <a:pt x="158681" y="123130"/>
                  <a:pt x="158681" y="79341"/>
                </a:cubicBezTo>
                <a:cubicBezTo>
                  <a:pt x="158681" y="35551"/>
                  <a:pt x="123130" y="0"/>
                  <a:pt x="79341" y="0"/>
                </a:cubicBezTo>
                <a:cubicBezTo>
                  <a:pt x="35551" y="0"/>
                  <a:pt x="0" y="35551"/>
                  <a:pt x="0" y="79341"/>
                </a:cubicBezTo>
                <a:cubicBezTo>
                  <a:pt x="0" y="123130"/>
                  <a:pt x="35551" y="158681"/>
                  <a:pt x="79341" y="158681"/>
                </a:cubicBezTo>
                <a:close/>
                <a:moveTo>
                  <a:pt x="52067" y="71902"/>
                </a:moveTo>
                <a:lnTo>
                  <a:pt x="106614" y="71902"/>
                </a:lnTo>
                <a:cubicBezTo>
                  <a:pt x="110736" y="71902"/>
                  <a:pt x="114052" y="75219"/>
                  <a:pt x="114052" y="79341"/>
                </a:cubicBezTo>
                <a:cubicBezTo>
                  <a:pt x="114052" y="83463"/>
                  <a:pt x="110736" y="86779"/>
                  <a:pt x="106614" y="86779"/>
                </a:cubicBezTo>
                <a:lnTo>
                  <a:pt x="52067" y="86779"/>
                </a:lnTo>
                <a:cubicBezTo>
                  <a:pt x="47945" y="86779"/>
                  <a:pt x="44629" y="83463"/>
                  <a:pt x="44629" y="79341"/>
                </a:cubicBezTo>
                <a:cubicBezTo>
                  <a:pt x="44629" y="75219"/>
                  <a:pt x="47945" y="71902"/>
                  <a:pt x="52067" y="7190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947679" y="4839774"/>
            <a:ext cx="108432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2001年衰退前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05758" y="4804512"/>
            <a:ext cx="661171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082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3540" y="5192399"/>
            <a:ext cx="5192399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科技泡沫破裂（当前不同）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1346" y="1397275"/>
            <a:ext cx="5668443" cy="4663462"/>
          </a:xfrm>
          <a:custGeom>
            <a:avLst/>
            <a:gdLst/>
            <a:ahLst/>
            <a:cxnLst/>
            <a:rect l="l" t="t" r="r" b="b"/>
            <a:pathLst>
              <a:path w="5668443" h="4663462">
                <a:moveTo>
                  <a:pt x="105767" y="0"/>
                </a:moveTo>
                <a:lnTo>
                  <a:pt x="5562675" y="0"/>
                </a:lnTo>
                <a:cubicBezTo>
                  <a:pt x="5621089" y="0"/>
                  <a:pt x="5668443" y="47354"/>
                  <a:pt x="5668443" y="105767"/>
                </a:cubicBezTo>
                <a:lnTo>
                  <a:pt x="5668443" y="4557695"/>
                </a:lnTo>
                <a:cubicBezTo>
                  <a:pt x="5668443" y="4616108"/>
                  <a:pt x="5621089" y="4663462"/>
                  <a:pt x="5562675" y="4663462"/>
                </a:cubicBezTo>
                <a:lnTo>
                  <a:pt x="105767" y="4663462"/>
                </a:lnTo>
                <a:cubicBezTo>
                  <a:pt x="47354" y="4663462"/>
                  <a:pt x="0" y="4616108"/>
                  <a:pt x="0" y="4557695"/>
                </a:cubicBezTo>
                <a:lnTo>
                  <a:pt x="0" y="105767"/>
                </a:lnTo>
                <a:cubicBezTo>
                  <a:pt x="0" y="47393"/>
                  <a:pt x="47393" y="0"/>
                  <a:pt x="10576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9862" y="1577996"/>
            <a:ext cx="154273" cy="176312"/>
          </a:xfrm>
          <a:custGeom>
            <a:avLst/>
            <a:gdLst/>
            <a:ahLst/>
            <a:cxnLst/>
            <a:rect l="l" t="t" r="r" b="b"/>
            <a:pathLst>
              <a:path w="154273" h="176312">
                <a:moveTo>
                  <a:pt x="130375" y="28169"/>
                </a:moveTo>
                <a:cubicBezTo>
                  <a:pt x="133749" y="23107"/>
                  <a:pt x="132372" y="16254"/>
                  <a:pt x="127310" y="12879"/>
                </a:cubicBezTo>
                <a:cubicBezTo>
                  <a:pt x="122248" y="9504"/>
                  <a:pt x="115395" y="10882"/>
                  <a:pt x="112020" y="15944"/>
                </a:cubicBezTo>
                <a:lnTo>
                  <a:pt x="93287" y="44078"/>
                </a:lnTo>
                <a:lnTo>
                  <a:pt x="11020" y="44078"/>
                </a:lnTo>
                <a:cubicBezTo>
                  <a:pt x="4924" y="44078"/>
                  <a:pt x="0" y="49002"/>
                  <a:pt x="0" y="55098"/>
                </a:cubicBezTo>
                <a:cubicBezTo>
                  <a:pt x="0" y="61193"/>
                  <a:pt x="4924" y="66117"/>
                  <a:pt x="11020" y="66117"/>
                </a:cubicBezTo>
                <a:lnTo>
                  <a:pt x="78583" y="66117"/>
                </a:lnTo>
                <a:lnTo>
                  <a:pt x="49209" y="110195"/>
                </a:lnTo>
                <a:lnTo>
                  <a:pt x="11020" y="110195"/>
                </a:lnTo>
                <a:cubicBezTo>
                  <a:pt x="4924" y="110195"/>
                  <a:pt x="0" y="115120"/>
                  <a:pt x="0" y="121215"/>
                </a:cubicBezTo>
                <a:cubicBezTo>
                  <a:pt x="0" y="127310"/>
                  <a:pt x="4924" y="132234"/>
                  <a:pt x="11020" y="132234"/>
                </a:cubicBezTo>
                <a:lnTo>
                  <a:pt x="34505" y="132234"/>
                </a:lnTo>
                <a:lnTo>
                  <a:pt x="23899" y="148144"/>
                </a:lnTo>
                <a:cubicBezTo>
                  <a:pt x="20524" y="153206"/>
                  <a:pt x="21901" y="160059"/>
                  <a:pt x="26963" y="163433"/>
                </a:cubicBezTo>
                <a:cubicBezTo>
                  <a:pt x="32025" y="166808"/>
                  <a:pt x="38878" y="165431"/>
                  <a:pt x="42253" y="160368"/>
                </a:cubicBezTo>
                <a:lnTo>
                  <a:pt x="60986" y="132234"/>
                </a:lnTo>
                <a:lnTo>
                  <a:pt x="143254" y="132234"/>
                </a:lnTo>
                <a:cubicBezTo>
                  <a:pt x="149349" y="132234"/>
                  <a:pt x="154273" y="127310"/>
                  <a:pt x="154273" y="121215"/>
                </a:cubicBezTo>
                <a:cubicBezTo>
                  <a:pt x="154273" y="115120"/>
                  <a:pt x="149349" y="110195"/>
                  <a:pt x="143254" y="110195"/>
                </a:cubicBezTo>
                <a:lnTo>
                  <a:pt x="75690" y="110195"/>
                </a:lnTo>
                <a:lnTo>
                  <a:pt x="105064" y="66117"/>
                </a:lnTo>
                <a:lnTo>
                  <a:pt x="143254" y="66117"/>
                </a:lnTo>
                <a:cubicBezTo>
                  <a:pt x="149349" y="66117"/>
                  <a:pt x="154273" y="61193"/>
                  <a:pt x="154273" y="55098"/>
                </a:cubicBezTo>
                <a:cubicBezTo>
                  <a:pt x="154273" y="49002"/>
                  <a:pt x="149349" y="44078"/>
                  <a:pt x="143254" y="44078"/>
                </a:cubicBezTo>
                <a:lnTo>
                  <a:pt x="119768" y="44078"/>
                </a:lnTo>
                <a:lnTo>
                  <a:pt x="130375" y="28169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194" y="1542733"/>
            <a:ext cx="5245293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与历史周期的关键差异点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4435" y="1895358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34435" y="1895358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0" name="Shape 38"/>
          <p:cNvSpPr/>
          <p:nvPr/>
        </p:nvSpPr>
        <p:spPr>
          <a:xfrm>
            <a:off x="6457854" y="2001145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1" name="Shape 39"/>
          <p:cNvSpPr/>
          <p:nvPr/>
        </p:nvSpPr>
        <p:spPr>
          <a:xfrm>
            <a:off x="6537194" y="2098117"/>
            <a:ext cx="198351" cy="158681"/>
          </a:xfrm>
          <a:custGeom>
            <a:avLst/>
            <a:gdLst/>
            <a:ahLst/>
            <a:cxnLst/>
            <a:rect l="l" t="t" r="r" b="b"/>
            <a:pathLst>
              <a:path w="198351" h="158681">
                <a:moveTo>
                  <a:pt x="109093" y="0"/>
                </a:moveTo>
                <a:cubicBezTo>
                  <a:pt x="109093" y="-5486"/>
                  <a:pt x="104661" y="-9918"/>
                  <a:pt x="99176" y="-9918"/>
                </a:cubicBezTo>
                <a:cubicBezTo>
                  <a:pt x="93690" y="-9918"/>
                  <a:pt x="89258" y="-5486"/>
                  <a:pt x="89258" y="0"/>
                </a:cubicBezTo>
                <a:lnTo>
                  <a:pt x="89258" y="19835"/>
                </a:lnTo>
                <a:lnTo>
                  <a:pt x="59505" y="19835"/>
                </a:lnTo>
                <a:cubicBezTo>
                  <a:pt x="43079" y="19835"/>
                  <a:pt x="29753" y="33162"/>
                  <a:pt x="29753" y="49588"/>
                </a:cubicBezTo>
                <a:lnTo>
                  <a:pt x="29753" y="119011"/>
                </a:lnTo>
                <a:cubicBezTo>
                  <a:pt x="29753" y="135437"/>
                  <a:pt x="43079" y="148764"/>
                  <a:pt x="59505" y="148764"/>
                </a:cubicBezTo>
                <a:lnTo>
                  <a:pt x="138846" y="148764"/>
                </a:lnTo>
                <a:cubicBezTo>
                  <a:pt x="155272" y="148764"/>
                  <a:pt x="168599" y="135437"/>
                  <a:pt x="168599" y="119011"/>
                </a:cubicBezTo>
                <a:lnTo>
                  <a:pt x="168599" y="49588"/>
                </a:lnTo>
                <a:cubicBezTo>
                  <a:pt x="168599" y="33162"/>
                  <a:pt x="155272" y="19835"/>
                  <a:pt x="138846" y="19835"/>
                </a:cubicBezTo>
                <a:lnTo>
                  <a:pt x="109093" y="19835"/>
                </a:lnTo>
                <a:lnTo>
                  <a:pt x="109093" y="0"/>
                </a:lnTo>
                <a:close/>
                <a:moveTo>
                  <a:pt x="49588" y="114052"/>
                </a:moveTo>
                <a:cubicBezTo>
                  <a:pt x="49588" y="109930"/>
                  <a:pt x="52904" y="106614"/>
                  <a:pt x="57026" y="106614"/>
                </a:cubicBezTo>
                <a:lnTo>
                  <a:pt x="66944" y="106614"/>
                </a:lnTo>
                <a:cubicBezTo>
                  <a:pt x="71066" y="106614"/>
                  <a:pt x="74382" y="109930"/>
                  <a:pt x="74382" y="114052"/>
                </a:cubicBezTo>
                <a:cubicBezTo>
                  <a:pt x="74382" y="118174"/>
                  <a:pt x="71066" y="121490"/>
                  <a:pt x="66944" y="121490"/>
                </a:cubicBezTo>
                <a:lnTo>
                  <a:pt x="57026" y="121490"/>
                </a:lnTo>
                <a:cubicBezTo>
                  <a:pt x="52904" y="121490"/>
                  <a:pt x="49588" y="118174"/>
                  <a:pt x="49588" y="114052"/>
                </a:cubicBezTo>
                <a:close/>
                <a:moveTo>
                  <a:pt x="86779" y="114052"/>
                </a:moveTo>
                <a:cubicBezTo>
                  <a:pt x="86779" y="109930"/>
                  <a:pt x="90095" y="106614"/>
                  <a:pt x="94217" y="106614"/>
                </a:cubicBezTo>
                <a:lnTo>
                  <a:pt x="104134" y="106614"/>
                </a:lnTo>
                <a:cubicBezTo>
                  <a:pt x="108256" y="106614"/>
                  <a:pt x="111573" y="109930"/>
                  <a:pt x="111573" y="114052"/>
                </a:cubicBezTo>
                <a:cubicBezTo>
                  <a:pt x="111573" y="118174"/>
                  <a:pt x="108256" y="121490"/>
                  <a:pt x="104134" y="121490"/>
                </a:cubicBezTo>
                <a:lnTo>
                  <a:pt x="94217" y="121490"/>
                </a:lnTo>
                <a:cubicBezTo>
                  <a:pt x="90095" y="121490"/>
                  <a:pt x="86779" y="118174"/>
                  <a:pt x="86779" y="114052"/>
                </a:cubicBezTo>
                <a:close/>
                <a:moveTo>
                  <a:pt x="123970" y="114052"/>
                </a:moveTo>
                <a:cubicBezTo>
                  <a:pt x="123970" y="109930"/>
                  <a:pt x="127286" y="106614"/>
                  <a:pt x="131408" y="106614"/>
                </a:cubicBezTo>
                <a:lnTo>
                  <a:pt x="141325" y="106614"/>
                </a:lnTo>
                <a:cubicBezTo>
                  <a:pt x="145447" y="106614"/>
                  <a:pt x="148764" y="109930"/>
                  <a:pt x="148764" y="114052"/>
                </a:cubicBezTo>
                <a:cubicBezTo>
                  <a:pt x="148764" y="118174"/>
                  <a:pt x="145447" y="121490"/>
                  <a:pt x="141325" y="121490"/>
                </a:cubicBezTo>
                <a:lnTo>
                  <a:pt x="131408" y="121490"/>
                </a:lnTo>
                <a:cubicBezTo>
                  <a:pt x="127286" y="121490"/>
                  <a:pt x="123970" y="118174"/>
                  <a:pt x="123970" y="114052"/>
                </a:cubicBezTo>
                <a:close/>
                <a:moveTo>
                  <a:pt x="69423" y="54547"/>
                </a:moveTo>
                <a:cubicBezTo>
                  <a:pt x="77633" y="54547"/>
                  <a:pt x="84299" y="61213"/>
                  <a:pt x="84299" y="69423"/>
                </a:cubicBezTo>
                <a:cubicBezTo>
                  <a:pt x="84299" y="77633"/>
                  <a:pt x="77633" y="84299"/>
                  <a:pt x="69423" y="84299"/>
                </a:cubicBezTo>
                <a:cubicBezTo>
                  <a:pt x="61213" y="84299"/>
                  <a:pt x="54547" y="77633"/>
                  <a:pt x="54547" y="69423"/>
                </a:cubicBezTo>
                <a:cubicBezTo>
                  <a:pt x="54547" y="61213"/>
                  <a:pt x="61213" y="54547"/>
                  <a:pt x="69423" y="54547"/>
                </a:cubicBezTo>
                <a:close/>
                <a:moveTo>
                  <a:pt x="114052" y="69423"/>
                </a:moveTo>
                <a:cubicBezTo>
                  <a:pt x="114052" y="61213"/>
                  <a:pt x="120718" y="54547"/>
                  <a:pt x="128928" y="54547"/>
                </a:cubicBezTo>
                <a:cubicBezTo>
                  <a:pt x="137139" y="54547"/>
                  <a:pt x="143805" y="61213"/>
                  <a:pt x="143805" y="69423"/>
                </a:cubicBezTo>
                <a:cubicBezTo>
                  <a:pt x="143805" y="77633"/>
                  <a:pt x="137139" y="84299"/>
                  <a:pt x="128928" y="84299"/>
                </a:cubicBezTo>
                <a:cubicBezTo>
                  <a:pt x="120718" y="84299"/>
                  <a:pt x="114052" y="77633"/>
                  <a:pt x="114052" y="69423"/>
                </a:cubicBezTo>
                <a:close/>
                <a:moveTo>
                  <a:pt x="19835" y="69423"/>
                </a:moveTo>
                <a:cubicBezTo>
                  <a:pt x="19835" y="63937"/>
                  <a:pt x="15403" y="59505"/>
                  <a:pt x="9918" y="59505"/>
                </a:cubicBezTo>
                <a:cubicBezTo>
                  <a:pt x="4432" y="59505"/>
                  <a:pt x="0" y="63937"/>
                  <a:pt x="0" y="69423"/>
                </a:cubicBezTo>
                <a:lnTo>
                  <a:pt x="0" y="99176"/>
                </a:lnTo>
                <a:cubicBezTo>
                  <a:pt x="0" y="104661"/>
                  <a:pt x="4432" y="109093"/>
                  <a:pt x="9918" y="109093"/>
                </a:cubicBezTo>
                <a:cubicBezTo>
                  <a:pt x="15403" y="109093"/>
                  <a:pt x="19835" y="104661"/>
                  <a:pt x="19835" y="99176"/>
                </a:cubicBezTo>
                <a:lnTo>
                  <a:pt x="19835" y="69423"/>
                </a:lnTo>
                <a:close/>
                <a:moveTo>
                  <a:pt x="188434" y="59505"/>
                </a:moveTo>
                <a:cubicBezTo>
                  <a:pt x="182948" y="59505"/>
                  <a:pt x="178516" y="63937"/>
                  <a:pt x="178516" y="69423"/>
                </a:cubicBezTo>
                <a:lnTo>
                  <a:pt x="178516" y="99176"/>
                </a:lnTo>
                <a:cubicBezTo>
                  <a:pt x="178516" y="104661"/>
                  <a:pt x="182948" y="109093"/>
                  <a:pt x="188434" y="109093"/>
                </a:cubicBezTo>
                <a:cubicBezTo>
                  <a:pt x="193919" y="109093"/>
                  <a:pt x="198351" y="104661"/>
                  <a:pt x="198351" y="99176"/>
                </a:cubicBezTo>
                <a:lnTo>
                  <a:pt x="198351" y="69423"/>
                </a:lnTo>
                <a:cubicBezTo>
                  <a:pt x="198351" y="63937"/>
                  <a:pt x="193919" y="59505"/>
                  <a:pt x="188434" y="5950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6916266" y="2001145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AI技术革命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16266" y="2283245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无历史先例，可能改变生产率增长轨迹。AI革命速度更快、影响更广，难以用历史经验量化评估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4435" y="2917970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34435" y="2917970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6457854" y="3023757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7" name="Shape 45"/>
          <p:cNvSpPr/>
          <p:nvPr/>
        </p:nvSpPr>
        <p:spPr>
          <a:xfrm>
            <a:off x="6557029" y="3120729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17263" y="61892"/>
                </a:moveTo>
                <a:lnTo>
                  <a:pt x="26839" y="71468"/>
                </a:lnTo>
                <a:cubicBezTo>
                  <a:pt x="28699" y="73328"/>
                  <a:pt x="31209" y="74382"/>
                  <a:pt x="33844" y="74382"/>
                </a:cubicBezTo>
                <a:lnTo>
                  <a:pt x="40507" y="74382"/>
                </a:lnTo>
                <a:cubicBezTo>
                  <a:pt x="43141" y="74382"/>
                  <a:pt x="45652" y="75436"/>
                  <a:pt x="47511" y="77295"/>
                </a:cubicBezTo>
                <a:lnTo>
                  <a:pt x="56592" y="86376"/>
                </a:lnTo>
                <a:cubicBezTo>
                  <a:pt x="58452" y="88235"/>
                  <a:pt x="59505" y="90746"/>
                  <a:pt x="59505" y="93380"/>
                </a:cubicBezTo>
                <a:lnTo>
                  <a:pt x="59505" y="105002"/>
                </a:lnTo>
                <a:cubicBezTo>
                  <a:pt x="59505" y="107637"/>
                  <a:pt x="60559" y="110147"/>
                  <a:pt x="62419" y="112007"/>
                </a:cubicBezTo>
                <a:lnTo>
                  <a:pt x="66541" y="116129"/>
                </a:lnTo>
                <a:cubicBezTo>
                  <a:pt x="68400" y="117988"/>
                  <a:pt x="69454" y="120498"/>
                  <a:pt x="69454" y="123133"/>
                </a:cubicBezTo>
                <a:lnTo>
                  <a:pt x="69454" y="128928"/>
                </a:lnTo>
                <a:cubicBezTo>
                  <a:pt x="69454" y="134414"/>
                  <a:pt x="73886" y="138846"/>
                  <a:pt x="79372" y="138846"/>
                </a:cubicBezTo>
                <a:cubicBezTo>
                  <a:pt x="84857" y="138846"/>
                  <a:pt x="89289" y="134414"/>
                  <a:pt x="89289" y="128928"/>
                </a:cubicBezTo>
                <a:lnTo>
                  <a:pt x="89289" y="128092"/>
                </a:lnTo>
                <a:cubicBezTo>
                  <a:pt x="89289" y="125457"/>
                  <a:pt x="90343" y="122947"/>
                  <a:pt x="92202" y="121087"/>
                </a:cubicBezTo>
                <a:lnTo>
                  <a:pt x="106242" y="107048"/>
                </a:lnTo>
                <a:cubicBezTo>
                  <a:pt x="108102" y="105188"/>
                  <a:pt x="109155" y="102678"/>
                  <a:pt x="109155" y="100043"/>
                </a:cubicBezTo>
                <a:lnTo>
                  <a:pt x="109155" y="89289"/>
                </a:lnTo>
                <a:cubicBezTo>
                  <a:pt x="109155" y="83803"/>
                  <a:pt x="104723" y="79372"/>
                  <a:pt x="99238" y="79372"/>
                </a:cubicBezTo>
                <a:lnTo>
                  <a:pt x="73607" y="79372"/>
                </a:lnTo>
                <a:cubicBezTo>
                  <a:pt x="70973" y="79372"/>
                  <a:pt x="68462" y="78318"/>
                  <a:pt x="66603" y="76458"/>
                </a:cubicBezTo>
                <a:lnTo>
                  <a:pt x="61644" y="71499"/>
                </a:lnTo>
                <a:cubicBezTo>
                  <a:pt x="60342" y="70198"/>
                  <a:pt x="59598" y="68400"/>
                  <a:pt x="59598" y="66541"/>
                </a:cubicBezTo>
                <a:cubicBezTo>
                  <a:pt x="59598" y="62667"/>
                  <a:pt x="62729" y="59536"/>
                  <a:pt x="66603" y="59536"/>
                </a:cubicBezTo>
                <a:lnTo>
                  <a:pt x="77357" y="59536"/>
                </a:lnTo>
                <a:cubicBezTo>
                  <a:pt x="81231" y="59536"/>
                  <a:pt x="84361" y="56406"/>
                  <a:pt x="84361" y="52532"/>
                </a:cubicBezTo>
                <a:cubicBezTo>
                  <a:pt x="84361" y="50673"/>
                  <a:pt x="83618" y="48875"/>
                  <a:pt x="82316" y="47573"/>
                </a:cubicBezTo>
                <a:lnTo>
                  <a:pt x="76210" y="41468"/>
                </a:lnTo>
                <a:cubicBezTo>
                  <a:pt x="75002" y="40290"/>
                  <a:pt x="74382" y="38772"/>
                  <a:pt x="74382" y="37191"/>
                </a:cubicBezTo>
                <a:cubicBezTo>
                  <a:pt x="74382" y="35610"/>
                  <a:pt x="75002" y="34092"/>
                  <a:pt x="76148" y="32945"/>
                </a:cubicBezTo>
                <a:lnTo>
                  <a:pt x="81510" y="27583"/>
                </a:lnTo>
                <a:cubicBezTo>
                  <a:pt x="83308" y="25786"/>
                  <a:pt x="84330" y="23337"/>
                  <a:pt x="84330" y="20796"/>
                </a:cubicBezTo>
                <a:cubicBezTo>
                  <a:pt x="84330" y="18564"/>
                  <a:pt x="83587" y="16550"/>
                  <a:pt x="82347" y="14938"/>
                </a:cubicBezTo>
                <a:cubicBezTo>
                  <a:pt x="81355" y="14907"/>
                  <a:pt x="80363" y="14876"/>
                  <a:pt x="79372" y="14876"/>
                </a:cubicBezTo>
                <a:cubicBezTo>
                  <a:pt x="49805" y="14876"/>
                  <a:pt x="24918" y="34773"/>
                  <a:pt x="17294" y="61892"/>
                </a:cubicBezTo>
                <a:close/>
                <a:moveTo>
                  <a:pt x="143805" y="79341"/>
                </a:moveTo>
                <a:cubicBezTo>
                  <a:pt x="143805" y="68617"/>
                  <a:pt x="141201" y="58514"/>
                  <a:pt x="136553" y="49650"/>
                </a:cubicBezTo>
                <a:cubicBezTo>
                  <a:pt x="134569" y="49929"/>
                  <a:pt x="132617" y="50859"/>
                  <a:pt x="131005" y="52470"/>
                </a:cubicBezTo>
                <a:lnTo>
                  <a:pt x="126852" y="56623"/>
                </a:lnTo>
                <a:cubicBezTo>
                  <a:pt x="124992" y="58483"/>
                  <a:pt x="123939" y="60993"/>
                  <a:pt x="123939" y="63627"/>
                </a:cubicBezTo>
                <a:lnTo>
                  <a:pt x="123939" y="74382"/>
                </a:lnTo>
                <a:cubicBezTo>
                  <a:pt x="123939" y="79867"/>
                  <a:pt x="128371" y="84299"/>
                  <a:pt x="133856" y="84299"/>
                </a:cubicBezTo>
                <a:lnTo>
                  <a:pt x="141325" y="84299"/>
                </a:lnTo>
                <a:cubicBezTo>
                  <a:pt x="142100" y="84299"/>
                  <a:pt x="142875" y="84206"/>
                  <a:pt x="143588" y="84051"/>
                </a:cubicBezTo>
                <a:cubicBezTo>
                  <a:pt x="143712" y="82502"/>
                  <a:pt x="143743" y="80921"/>
                  <a:pt x="143743" y="79341"/>
                </a:cubicBezTo>
                <a:close/>
                <a:moveTo>
                  <a:pt x="0" y="79341"/>
                </a:moveTo>
                <a:cubicBezTo>
                  <a:pt x="0" y="35551"/>
                  <a:pt x="35551" y="0"/>
                  <a:pt x="79341" y="0"/>
                </a:cubicBezTo>
                <a:cubicBezTo>
                  <a:pt x="123130" y="0"/>
                  <a:pt x="158681" y="35551"/>
                  <a:pt x="158681" y="79341"/>
                </a:cubicBezTo>
                <a:cubicBezTo>
                  <a:pt x="158681" y="123130"/>
                  <a:pt x="123130" y="158681"/>
                  <a:pt x="79341" y="158681"/>
                </a:cubicBezTo>
                <a:cubicBezTo>
                  <a:pt x="35551" y="158681"/>
                  <a:pt x="0" y="123130"/>
                  <a:pt x="0" y="7934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6916266" y="3023757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供应链重构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16266" y="3305857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全球化逆转，通胀粘性可能更强。逆全球化趋势下，供应链重构带来持续的供给约束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4435" y="3940581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34435" y="3940581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2" name="Shape 50"/>
          <p:cNvSpPr/>
          <p:nvPr/>
        </p:nvSpPr>
        <p:spPr>
          <a:xfrm>
            <a:off x="6457854" y="4046369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3" name="Shape 51"/>
          <p:cNvSpPr/>
          <p:nvPr/>
        </p:nvSpPr>
        <p:spPr>
          <a:xfrm>
            <a:off x="6557029" y="4143341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19835" y="19835"/>
                </a:moveTo>
                <a:cubicBezTo>
                  <a:pt x="19835" y="14349"/>
                  <a:pt x="15403" y="9918"/>
                  <a:pt x="9918" y="9918"/>
                </a:cubicBezTo>
                <a:cubicBezTo>
                  <a:pt x="4432" y="9918"/>
                  <a:pt x="0" y="14349"/>
                  <a:pt x="0" y="19835"/>
                </a:cubicBezTo>
                <a:lnTo>
                  <a:pt x="0" y="123970"/>
                </a:lnTo>
                <a:cubicBezTo>
                  <a:pt x="0" y="137668"/>
                  <a:pt x="11095" y="148764"/>
                  <a:pt x="24794" y="148764"/>
                </a:cubicBezTo>
                <a:lnTo>
                  <a:pt x="148764" y="148764"/>
                </a:lnTo>
                <a:cubicBezTo>
                  <a:pt x="154249" y="148764"/>
                  <a:pt x="158681" y="144332"/>
                  <a:pt x="158681" y="138846"/>
                </a:cubicBezTo>
                <a:cubicBezTo>
                  <a:pt x="158681" y="133360"/>
                  <a:pt x="154249" y="128928"/>
                  <a:pt x="148764" y="128928"/>
                </a:cubicBezTo>
                <a:lnTo>
                  <a:pt x="24794" y="128928"/>
                </a:lnTo>
                <a:cubicBezTo>
                  <a:pt x="22067" y="128928"/>
                  <a:pt x="19835" y="126697"/>
                  <a:pt x="19835" y="123970"/>
                </a:cubicBezTo>
                <a:lnTo>
                  <a:pt x="19835" y="19835"/>
                </a:lnTo>
                <a:close/>
                <a:moveTo>
                  <a:pt x="145850" y="46675"/>
                </a:moveTo>
                <a:cubicBezTo>
                  <a:pt x="149724" y="42801"/>
                  <a:pt x="149724" y="36509"/>
                  <a:pt x="145850" y="32635"/>
                </a:cubicBezTo>
                <a:cubicBezTo>
                  <a:pt x="141976" y="28761"/>
                  <a:pt x="135685" y="28761"/>
                  <a:pt x="131811" y="32635"/>
                </a:cubicBezTo>
                <a:lnTo>
                  <a:pt x="99176" y="65301"/>
                </a:lnTo>
                <a:lnTo>
                  <a:pt x="81386" y="47542"/>
                </a:lnTo>
                <a:cubicBezTo>
                  <a:pt x="77512" y="43668"/>
                  <a:pt x="71221" y="43668"/>
                  <a:pt x="67347" y="47542"/>
                </a:cubicBezTo>
                <a:lnTo>
                  <a:pt x="37594" y="77295"/>
                </a:lnTo>
                <a:cubicBezTo>
                  <a:pt x="33720" y="81169"/>
                  <a:pt x="33720" y="87461"/>
                  <a:pt x="37594" y="91335"/>
                </a:cubicBezTo>
                <a:cubicBezTo>
                  <a:pt x="41468" y="95209"/>
                  <a:pt x="47759" y="95209"/>
                  <a:pt x="51633" y="91335"/>
                </a:cubicBezTo>
                <a:lnTo>
                  <a:pt x="74382" y="68586"/>
                </a:lnTo>
                <a:lnTo>
                  <a:pt x="92171" y="86376"/>
                </a:lnTo>
                <a:cubicBezTo>
                  <a:pt x="96045" y="90250"/>
                  <a:pt x="102337" y="90250"/>
                  <a:pt x="106211" y="86376"/>
                </a:cubicBezTo>
                <a:lnTo>
                  <a:pt x="145881" y="46706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54" name="Text 52"/>
          <p:cNvSpPr/>
          <p:nvPr/>
        </p:nvSpPr>
        <p:spPr>
          <a:xfrm>
            <a:off x="6916266" y="4046369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债务水平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16266" y="4328469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政府债务/GDP处于历史高位（120-125%），政策空间受限。高债务约束是前所未有的挑战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4435" y="4963193"/>
            <a:ext cx="5359896" cy="952087"/>
          </a:xfrm>
          <a:custGeom>
            <a:avLst/>
            <a:gdLst/>
            <a:ahLst/>
            <a:cxnLst/>
            <a:rect l="l" t="t" r="r" b="b"/>
            <a:pathLst>
              <a:path w="5359896" h="952087">
                <a:moveTo>
                  <a:pt x="35262" y="0"/>
                </a:moveTo>
                <a:lnTo>
                  <a:pt x="5289375" y="0"/>
                </a:lnTo>
                <a:cubicBezTo>
                  <a:pt x="5328323" y="0"/>
                  <a:pt x="5359896" y="31573"/>
                  <a:pt x="5359896" y="70521"/>
                </a:cubicBezTo>
                <a:lnTo>
                  <a:pt x="5359896" y="881566"/>
                </a:lnTo>
                <a:cubicBezTo>
                  <a:pt x="5359896" y="920513"/>
                  <a:pt x="5328323" y="952087"/>
                  <a:pt x="5289375" y="952087"/>
                </a:cubicBez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334435" y="4963193"/>
            <a:ext cx="35262" cy="952087"/>
          </a:xfrm>
          <a:custGeom>
            <a:avLst/>
            <a:gdLst/>
            <a:ahLst/>
            <a:cxnLst/>
            <a:rect l="l" t="t" r="r" b="b"/>
            <a:pathLst>
              <a:path w="35262" h="952087">
                <a:moveTo>
                  <a:pt x="35262" y="0"/>
                </a:moveTo>
                <a:lnTo>
                  <a:pt x="35262" y="0"/>
                </a:lnTo>
                <a:lnTo>
                  <a:pt x="35262" y="952087"/>
                </a:lnTo>
                <a:lnTo>
                  <a:pt x="35262" y="952087"/>
                </a:lnTo>
                <a:cubicBezTo>
                  <a:pt x="15788" y="952087"/>
                  <a:pt x="0" y="936299"/>
                  <a:pt x="0" y="91682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8" name="Shape 56"/>
          <p:cNvSpPr/>
          <p:nvPr/>
        </p:nvSpPr>
        <p:spPr>
          <a:xfrm>
            <a:off x="6457854" y="5068980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176312" y="0"/>
                </a:moveTo>
                <a:lnTo>
                  <a:pt x="176312" y="0"/>
                </a:lnTo>
                <a:cubicBezTo>
                  <a:pt x="273687" y="0"/>
                  <a:pt x="352625" y="78938"/>
                  <a:pt x="352625" y="176312"/>
                </a:cubicBezTo>
                <a:lnTo>
                  <a:pt x="352625" y="176312"/>
                </a:lnTo>
                <a:cubicBezTo>
                  <a:pt x="352625" y="273687"/>
                  <a:pt x="273687" y="352625"/>
                  <a:pt x="176312" y="352625"/>
                </a:cubicBezTo>
                <a:lnTo>
                  <a:pt x="176312" y="352625"/>
                </a:lnTo>
                <a:cubicBezTo>
                  <a:pt x="78938" y="352625"/>
                  <a:pt x="0" y="273687"/>
                  <a:pt x="0" y="176312"/>
                </a:cubicBezTo>
                <a:lnTo>
                  <a:pt x="0" y="176312"/>
                </a:lnTo>
                <a:cubicBezTo>
                  <a:pt x="0" y="78938"/>
                  <a:pt x="78938" y="0"/>
                  <a:pt x="17631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9" name="Shape 57"/>
          <p:cNvSpPr/>
          <p:nvPr/>
        </p:nvSpPr>
        <p:spPr>
          <a:xfrm>
            <a:off x="6537194" y="5165952"/>
            <a:ext cx="198351" cy="158681"/>
          </a:xfrm>
          <a:custGeom>
            <a:avLst/>
            <a:gdLst/>
            <a:ahLst/>
            <a:cxnLst/>
            <a:rect l="l" t="t" r="r" b="b"/>
            <a:pathLst>
              <a:path w="198351" h="158681">
                <a:moveTo>
                  <a:pt x="99176" y="4959"/>
                </a:moveTo>
                <a:cubicBezTo>
                  <a:pt x="116965" y="4959"/>
                  <a:pt x="131408" y="19402"/>
                  <a:pt x="131408" y="37191"/>
                </a:cubicBezTo>
                <a:cubicBezTo>
                  <a:pt x="131408" y="54980"/>
                  <a:pt x="116965" y="69423"/>
                  <a:pt x="99176" y="69423"/>
                </a:cubicBezTo>
                <a:cubicBezTo>
                  <a:pt x="81386" y="69423"/>
                  <a:pt x="66944" y="54980"/>
                  <a:pt x="66944" y="37191"/>
                </a:cubicBezTo>
                <a:cubicBezTo>
                  <a:pt x="66944" y="19402"/>
                  <a:pt x="81386" y="4959"/>
                  <a:pt x="99176" y="4959"/>
                </a:cubicBezTo>
                <a:close/>
                <a:moveTo>
                  <a:pt x="29753" y="27273"/>
                </a:moveTo>
                <a:cubicBezTo>
                  <a:pt x="42068" y="27273"/>
                  <a:pt x="52067" y="37272"/>
                  <a:pt x="52067" y="49588"/>
                </a:cubicBezTo>
                <a:cubicBezTo>
                  <a:pt x="52067" y="61904"/>
                  <a:pt x="42068" y="71902"/>
                  <a:pt x="29753" y="71902"/>
                </a:cubicBezTo>
                <a:cubicBezTo>
                  <a:pt x="17437" y="71902"/>
                  <a:pt x="7438" y="61904"/>
                  <a:pt x="7438" y="49588"/>
                </a:cubicBezTo>
                <a:cubicBezTo>
                  <a:pt x="7438" y="37272"/>
                  <a:pt x="17437" y="27273"/>
                  <a:pt x="29753" y="27273"/>
                </a:cubicBezTo>
                <a:close/>
                <a:moveTo>
                  <a:pt x="0" y="128928"/>
                </a:moveTo>
                <a:cubicBezTo>
                  <a:pt x="0" y="107017"/>
                  <a:pt x="17759" y="89258"/>
                  <a:pt x="39670" y="89258"/>
                </a:cubicBezTo>
                <a:cubicBezTo>
                  <a:pt x="43637" y="89258"/>
                  <a:pt x="47480" y="89847"/>
                  <a:pt x="51106" y="90932"/>
                </a:cubicBezTo>
                <a:cubicBezTo>
                  <a:pt x="40910" y="102337"/>
                  <a:pt x="34711" y="117399"/>
                  <a:pt x="34711" y="133887"/>
                </a:cubicBezTo>
                <a:lnTo>
                  <a:pt x="34711" y="138846"/>
                </a:lnTo>
                <a:cubicBezTo>
                  <a:pt x="34711" y="142379"/>
                  <a:pt x="35455" y="145726"/>
                  <a:pt x="36788" y="148764"/>
                </a:cubicBezTo>
                <a:lnTo>
                  <a:pt x="9918" y="148764"/>
                </a:lnTo>
                <a:cubicBezTo>
                  <a:pt x="4432" y="148764"/>
                  <a:pt x="0" y="144332"/>
                  <a:pt x="0" y="138846"/>
                </a:cubicBezTo>
                <a:lnTo>
                  <a:pt x="0" y="128928"/>
                </a:lnTo>
                <a:close/>
                <a:moveTo>
                  <a:pt x="161563" y="148764"/>
                </a:moveTo>
                <a:cubicBezTo>
                  <a:pt x="162896" y="145726"/>
                  <a:pt x="163640" y="142379"/>
                  <a:pt x="163640" y="138846"/>
                </a:cubicBezTo>
                <a:lnTo>
                  <a:pt x="163640" y="133887"/>
                </a:lnTo>
                <a:cubicBezTo>
                  <a:pt x="163640" y="117399"/>
                  <a:pt x="157441" y="102337"/>
                  <a:pt x="147245" y="90932"/>
                </a:cubicBezTo>
                <a:cubicBezTo>
                  <a:pt x="150871" y="89847"/>
                  <a:pt x="154714" y="89258"/>
                  <a:pt x="158681" y="89258"/>
                </a:cubicBezTo>
                <a:cubicBezTo>
                  <a:pt x="180593" y="89258"/>
                  <a:pt x="198351" y="107017"/>
                  <a:pt x="198351" y="128928"/>
                </a:cubicBezTo>
                <a:lnTo>
                  <a:pt x="198351" y="138846"/>
                </a:lnTo>
                <a:cubicBezTo>
                  <a:pt x="198351" y="144332"/>
                  <a:pt x="193919" y="148764"/>
                  <a:pt x="188434" y="148764"/>
                </a:cubicBezTo>
                <a:lnTo>
                  <a:pt x="161563" y="148764"/>
                </a:lnTo>
                <a:close/>
                <a:moveTo>
                  <a:pt x="146284" y="49588"/>
                </a:moveTo>
                <a:cubicBezTo>
                  <a:pt x="146284" y="37272"/>
                  <a:pt x="156283" y="27273"/>
                  <a:pt x="168599" y="27273"/>
                </a:cubicBezTo>
                <a:cubicBezTo>
                  <a:pt x="180914" y="27273"/>
                  <a:pt x="190913" y="37272"/>
                  <a:pt x="190913" y="49588"/>
                </a:cubicBezTo>
                <a:cubicBezTo>
                  <a:pt x="190913" y="61904"/>
                  <a:pt x="180914" y="71902"/>
                  <a:pt x="168599" y="71902"/>
                </a:cubicBezTo>
                <a:cubicBezTo>
                  <a:pt x="156283" y="71902"/>
                  <a:pt x="146284" y="61904"/>
                  <a:pt x="146284" y="49588"/>
                </a:cubicBezTo>
                <a:close/>
                <a:moveTo>
                  <a:pt x="49588" y="133887"/>
                </a:moveTo>
                <a:cubicBezTo>
                  <a:pt x="49588" y="106490"/>
                  <a:pt x="71778" y="84299"/>
                  <a:pt x="99176" y="84299"/>
                </a:cubicBezTo>
                <a:cubicBezTo>
                  <a:pt x="126573" y="84299"/>
                  <a:pt x="148764" y="106490"/>
                  <a:pt x="148764" y="133887"/>
                </a:cubicBezTo>
                <a:lnTo>
                  <a:pt x="148764" y="138846"/>
                </a:lnTo>
                <a:cubicBezTo>
                  <a:pt x="148764" y="144332"/>
                  <a:pt x="144332" y="148764"/>
                  <a:pt x="138846" y="148764"/>
                </a:cubicBezTo>
                <a:lnTo>
                  <a:pt x="59505" y="148764"/>
                </a:lnTo>
                <a:cubicBezTo>
                  <a:pt x="54020" y="148764"/>
                  <a:pt x="49588" y="144332"/>
                  <a:pt x="49588" y="138846"/>
                </a:cubicBezTo>
                <a:lnTo>
                  <a:pt x="49588" y="133887"/>
                </a:ln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60" name="Text 58"/>
          <p:cNvSpPr/>
          <p:nvPr/>
        </p:nvSpPr>
        <p:spPr>
          <a:xfrm>
            <a:off x="6916266" y="5068980"/>
            <a:ext cx="475161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人口结构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916266" y="5351080"/>
            <a:ext cx="4742803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老龄化加剧，财政压力持续增大。人口老龄化对财政可持续性的长期影响尚未充分显现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57033" y="6175341"/>
            <a:ext cx="11477935" cy="678803"/>
          </a:xfrm>
          <a:custGeom>
            <a:avLst/>
            <a:gdLst/>
            <a:ahLst/>
            <a:cxnLst/>
            <a:rect l="l" t="t" r="r" b="b"/>
            <a:pathLst>
              <a:path w="11477935" h="678803">
                <a:moveTo>
                  <a:pt x="70528" y="0"/>
                </a:moveTo>
                <a:lnTo>
                  <a:pt x="11407407" y="0"/>
                </a:lnTo>
                <a:cubicBezTo>
                  <a:pt x="11446359" y="0"/>
                  <a:pt x="11477935" y="31576"/>
                  <a:pt x="11477935" y="70528"/>
                </a:cubicBezTo>
                <a:lnTo>
                  <a:pt x="11477935" y="608275"/>
                </a:lnTo>
                <a:cubicBezTo>
                  <a:pt x="11477935" y="647226"/>
                  <a:pt x="11446359" y="678803"/>
                  <a:pt x="11407407" y="678803"/>
                </a:cubicBezTo>
                <a:lnTo>
                  <a:pt x="70528" y="678803"/>
                </a:lnTo>
                <a:cubicBezTo>
                  <a:pt x="31576" y="678803"/>
                  <a:pt x="0" y="647226"/>
                  <a:pt x="0" y="608275"/>
                </a:cubicBezTo>
                <a:lnTo>
                  <a:pt x="0" y="70528"/>
                </a:lnTo>
                <a:cubicBezTo>
                  <a:pt x="0" y="31602"/>
                  <a:pt x="31602" y="0"/>
                  <a:pt x="70528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0121" y="6408954"/>
            <a:ext cx="158681" cy="211575"/>
          </a:xfrm>
          <a:custGeom>
            <a:avLst/>
            <a:gdLst/>
            <a:ahLst/>
            <a:cxnLst/>
            <a:rect l="l" t="t" r="r" b="b"/>
            <a:pathLst>
              <a:path w="158681" h="211575">
                <a:moveTo>
                  <a:pt x="121036" y="158681"/>
                </a:moveTo>
                <a:cubicBezTo>
                  <a:pt x="124052" y="149466"/>
                  <a:pt x="130085" y="141119"/>
                  <a:pt x="136904" y="133929"/>
                </a:cubicBezTo>
                <a:cubicBezTo>
                  <a:pt x="150416" y="119713"/>
                  <a:pt x="158681" y="100498"/>
                  <a:pt x="158681" y="79341"/>
                </a:cubicBezTo>
                <a:cubicBezTo>
                  <a:pt x="158681" y="35538"/>
                  <a:pt x="123143" y="0"/>
                  <a:pt x="79341" y="0"/>
                </a:cubicBezTo>
                <a:cubicBezTo>
                  <a:pt x="35538" y="0"/>
                  <a:pt x="0" y="35538"/>
                  <a:pt x="0" y="79341"/>
                </a:cubicBezTo>
                <a:cubicBezTo>
                  <a:pt x="0" y="100498"/>
                  <a:pt x="8265" y="119713"/>
                  <a:pt x="21777" y="133929"/>
                </a:cubicBezTo>
                <a:cubicBezTo>
                  <a:pt x="28596" y="141119"/>
                  <a:pt x="34670" y="149466"/>
                  <a:pt x="37645" y="158681"/>
                </a:cubicBezTo>
                <a:lnTo>
                  <a:pt x="120994" y="158681"/>
                </a:lnTo>
                <a:close/>
                <a:moveTo>
                  <a:pt x="119011" y="178516"/>
                </a:moveTo>
                <a:lnTo>
                  <a:pt x="39670" y="178516"/>
                </a:lnTo>
                <a:lnTo>
                  <a:pt x="39670" y="185128"/>
                </a:lnTo>
                <a:cubicBezTo>
                  <a:pt x="39670" y="203393"/>
                  <a:pt x="54464" y="218187"/>
                  <a:pt x="72729" y="218187"/>
                </a:cubicBezTo>
                <a:lnTo>
                  <a:pt x="85952" y="218187"/>
                </a:lnTo>
                <a:cubicBezTo>
                  <a:pt x="104217" y="218187"/>
                  <a:pt x="119011" y="203393"/>
                  <a:pt x="119011" y="185128"/>
                </a:cubicBezTo>
                <a:lnTo>
                  <a:pt x="119011" y="178516"/>
                </a:lnTo>
                <a:close/>
                <a:moveTo>
                  <a:pt x="76035" y="46282"/>
                </a:moveTo>
                <a:cubicBezTo>
                  <a:pt x="59588" y="46282"/>
                  <a:pt x="46282" y="59588"/>
                  <a:pt x="46282" y="76035"/>
                </a:cubicBezTo>
                <a:cubicBezTo>
                  <a:pt x="46282" y="81531"/>
                  <a:pt x="41860" y="85952"/>
                  <a:pt x="36364" y="85952"/>
                </a:cubicBezTo>
                <a:cubicBezTo>
                  <a:pt x="30868" y="85952"/>
                  <a:pt x="26447" y="81531"/>
                  <a:pt x="26447" y="76035"/>
                </a:cubicBezTo>
                <a:cubicBezTo>
                  <a:pt x="26447" y="48637"/>
                  <a:pt x="48637" y="26447"/>
                  <a:pt x="76035" y="26447"/>
                </a:cubicBezTo>
                <a:cubicBezTo>
                  <a:pt x="81531" y="26447"/>
                  <a:pt x="85952" y="30868"/>
                  <a:pt x="85952" y="36364"/>
                </a:cubicBezTo>
                <a:cubicBezTo>
                  <a:pt x="85952" y="41860"/>
                  <a:pt x="81531" y="46282"/>
                  <a:pt x="76035" y="4628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4" name="Text 62"/>
          <p:cNvSpPr/>
          <p:nvPr/>
        </p:nvSpPr>
        <p:spPr>
          <a:xfrm>
            <a:off x="872746" y="6408954"/>
            <a:ext cx="6990785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核心判断：</a:t>
            </a:r>
            <a:r>
              <a:rPr lang="en-US" sz="111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当前最可能的情景是1995年式软着陆（70%相似度），但AI革命、高债务等结构性差异需要谨慎对待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895553" y="6285536"/>
            <a:ext cx="82866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整体置信度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851475" y="6461848"/>
            <a:ext cx="872746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666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60-70%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285875" cy="293688"/>
          </a:xfrm>
          <a:custGeom>
            <a:avLst/>
            <a:gdLst/>
            <a:ahLst/>
            <a:cxnLst/>
            <a:rect l="l" t="t" r="r" b="b"/>
            <a:pathLst>
              <a:path w="1285875" h="293688">
                <a:moveTo>
                  <a:pt x="146844" y="0"/>
                </a:moveTo>
                <a:lnTo>
                  <a:pt x="1139031" y="0"/>
                </a:lnTo>
                <a:cubicBezTo>
                  <a:pt x="1220077" y="0"/>
                  <a:pt x="1285875" y="65798"/>
                  <a:pt x="1285875" y="146844"/>
                </a:cubicBezTo>
                <a:lnTo>
                  <a:pt x="1285875" y="146844"/>
                </a:lnTo>
                <a:cubicBezTo>
                  <a:pt x="1285875" y="227889"/>
                  <a:pt x="1220077" y="293688"/>
                  <a:pt x="1139031" y="293688"/>
                </a:cubicBezTo>
                <a:lnTo>
                  <a:pt x="146844" y="293688"/>
                </a:lnTo>
                <a:cubicBezTo>
                  <a:pt x="65798" y="293688"/>
                  <a:pt x="0" y="227889"/>
                  <a:pt x="0" y="146844"/>
                </a:cubicBezTo>
                <a:lnTo>
                  <a:pt x="0" y="146844"/>
                </a:lnTo>
                <a:cubicBezTo>
                  <a:pt x="0" y="65798"/>
                  <a:pt x="65798" y="0"/>
                  <a:pt x="146844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2438" y="404813"/>
            <a:ext cx="107888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143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07 </a:t>
            </a:r>
            <a:r>
              <a:rPr lang="en-US" sz="2250" b="1" dirty="0" err="1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市场影响分析：股票与债券市场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12712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707063" cy="3182938"/>
          </a:xfrm>
          <a:custGeom>
            <a:avLst/>
            <a:gdLst/>
            <a:ahLst/>
            <a:cxnLst/>
            <a:rect l="l" t="t" r="r" b="b"/>
            <a:pathLst>
              <a:path w="5707063" h="3182938">
                <a:moveTo>
                  <a:pt x="95265" y="0"/>
                </a:moveTo>
                <a:lnTo>
                  <a:pt x="5611797" y="0"/>
                </a:lnTo>
                <a:cubicBezTo>
                  <a:pt x="5664411" y="0"/>
                  <a:pt x="5707063" y="42652"/>
                  <a:pt x="5707063" y="95265"/>
                </a:cubicBezTo>
                <a:lnTo>
                  <a:pt x="5707063" y="3087672"/>
                </a:lnTo>
                <a:cubicBezTo>
                  <a:pt x="5707062" y="3140286"/>
                  <a:pt x="5664411" y="3182938"/>
                  <a:pt x="5611797" y="3182938"/>
                </a:cubicBezTo>
                <a:lnTo>
                  <a:pt x="95265" y="3182938"/>
                </a:lnTo>
                <a:cubicBezTo>
                  <a:pt x="42652" y="3182938"/>
                  <a:pt x="0" y="3140286"/>
                  <a:pt x="0" y="3087672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1" y="1420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650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股票市场：情景分析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8313" y="17065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C0A062">
                  <a:alpha val="20000"/>
                </a:srgbClr>
              </a:gs>
              <a:gs pos="100000">
                <a:srgbClr val="C0A06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468313" y="17065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Text 9"/>
          <p:cNvSpPr/>
          <p:nvPr/>
        </p:nvSpPr>
        <p:spPr>
          <a:xfrm>
            <a:off x="579438" y="1897063"/>
            <a:ext cx="123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软着陆 + 温和降息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2606" y="1801813"/>
            <a:ext cx="1262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+8% 至 +15%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2294" y="2055813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8367" y="2293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2278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历史置信区间：1995年、2019年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8313" y="25955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8313" y="25955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579438" y="27860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经济衰退 + 快速降息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9147" y="2690813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-10% 至 +5%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08835" y="2944813"/>
            <a:ext cx="119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8367" y="3182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167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历史置信区间：2001年、2007年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8313" y="34845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8313" y="34845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579438" y="3675063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通胀反弹 + 暂停降息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81513" y="3579813"/>
            <a:ext cx="1119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-5% 至 +5%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21200" y="3833812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12个月表现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8367" y="4071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4056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历史置信区间：2006-2007年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1469" y="4544219"/>
            <a:ext cx="5707063" cy="2674938"/>
          </a:xfrm>
          <a:custGeom>
            <a:avLst/>
            <a:gdLst/>
            <a:ahLst/>
            <a:cxnLst/>
            <a:rect l="l" t="t" r="r" b="b"/>
            <a:pathLst>
              <a:path w="5707063" h="2674938">
                <a:moveTo>
                  <a:pt x="95255" y="0"/>
                </a:moveTo>
                <a:lnTo>
                  <a:pt x="5611808" y="0"/>
                </a:lnTo>
                <a:cubicBezTo>
                  <a:pt x="5664416" y="0"/>
                  <a:pt x="5707063" y="42647"/>
                  <a:pt x="5707063" y="95255"/>
                </a:cubicBezTo>
                <a:lnTo>
                  <a:pt x="5707063" y="2579683"/>
                </a:lnTo>
                <a:cubicBezTo>
                  <a:pt x="5707063" y="2632291"/>
                  <a:pt x="5664416" y="2674938"/>
                  <a:pt x="5611808" y="2674938"/>
                </a:cubicBezTo>
                <a:lnTo>
                  <a:pt x="95255" y="2674938"/>
                </a:lnTo>
                <a:cubicBezTo>
                  <a:pt x="42647" y="2674938"/>
                  <a:pt x="0" y="2632291"/>
                  <a:pt x="0" y="2579683"/>
                </a:cubicBezTo>
                <a:lnTo>
                  <a:pt x="0" y="95255"/>
                </a:lnTo>
                <a:cubicBezTo>
                  <a:pt x="0" y="42647"/>
                  <a:pt x="42647" y="0"/>
                  <a:pt x="9525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281" y="4706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4434" y="9922"/>
                  <a:pt x="0" y="14356"/>
                  <a:pt x="0" y="19844"/>
                </a:cubicBezTo>
                <a:lnTo>
                  <a:pt x="0" y="133945"/>
                </a:lnTo>
                <a:cubicBezTo>
                  <a:pt x="0" y="142162"/>
                  <a:pt x="6666" y="148828"/>
                  <a:pt x="14883" y="148828"/>
                </a:cubicBezTo>
                <a:lnTo>
                  <a:pt x="143867" y="148828"/>
                </a:lnTo>
                <a:cubicBezTo>
                  <a:pt x="152084" y="148828"/>
                  <a:pt x="158750" y="142162"/>
                  <a:pt x="158750" y="133945"/>
                </a:cubicBezTo>
                <a:lnTo>
                  <a:pt x="158750" y="47191"/>
                </a:lnTo>
                <a:cubicBezTo>
                  <a:pt x="158750" y="41548"/>
                  <a:pt x="152735" y="37982"/>
                  <a:pt x="147774" y="40649"/>
                </a:cubicBezTo>
                <a:lnTo>
                  <a:pt x="99219" y="66787"/>
                </a:lnTo>
                <a:lnTo>
                  <a:pt x="99219" y="47191"/>
                </a:lnTo>
                <a:cubicBezTo>
                  <a:pt x="99219" y="41548"/>
                  <a:pt x="93204" y="37982"/>
                  <a:pt x="88243" y="40649"/>
                </a:cubicBezTo>
                <a:lnTo>
                  <a:pt x="39688" y="66787"/>
                </a:lnTo>
                <a:lnTo>
                  <a:pt x="39688" y="19844"/>
                </a:lnTo>
                <a:cubicBezTo>
                  <a:pt x="39688" y="14356"/>
                  <a:pt x="35254" y="9922"/>
                  <a:pt x="29766" y="9922"/>
                </a:cubicBezTo>
                <a:lnTo>
                  <a:pt x="9922" y="9922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2" name="Text 30"/>
          <p:cNvSpPr/>
          <p:nvPr/>
        </p:nvSpPr>
        <p:spPr>
          <a:xfrm>
            <a:off x="650875" y="4675188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分行业历史表现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2438" y="499268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7922" y="51593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7859" y="26789"/>
                </a:moveTo>
                <a:cubicBezTo>
                  <a:pt x="17859" y="16939"/>
                  <a:pt x="25868" y="8930"/>
                  <a:pt x="35719" y="8930"/>
                </a:cubicBezTo>
                <a:lnTo>
                  <a:pt x="142875" y="8930"/>
                </a:lnTo>
                <a:cubicBezTo>
                  <a:pt x="152726" y="8930"/>
                  <a:pt x="160734" y="16939"/>
                  <a:pt x="160734" y="26789"/>
                </a:cubicBezTo>
                <a:lnTo>
                  <a:pt x="160734" y="93762"/>
                </a:lnTo>
                <a:lnTo>
                  <a:pt x="142875" y="93762"/>
                </a:lnTo>
                <a:lnTo>
                  <a:pt x="142875" y="26789"/>
                </a:lnTo>
                <a:lnTo>
                  <a:pt x="35719" y="26789"/>
                </a:lnTo>
                <a:lnTo>
                  <a:pt x="35719" y="93762"/>
                </a:lnTo>
                <a:lnTo>
                  <a:pt x="17859" y="93762"/>
                </a:lnTo>
                <a:lnTo>
                  <a:pt x="17859" y="26789"/>
                </a:lnTo>
                <a:close/>
                <a:moveTo>
                  <a:pt x="0" y="112514"/>
                </a:moveTo>
                <a:cubicBezTo>
                  <a:pt x="0" y="109556"/>
                  <a:pt x="2400" y="107156"/>
                  <a:pt x="5358" y="107156"/>
                </a:cubicBezTo>
                <a:lnTo>
                  <a:pt x="173236" y="107156"/>
                </a:lnTo>
                <a:cubicBezTo>
                  <a:pt x="176194" y="107156"/>
                  <a:pt x="178594" y="109556"/>
                  <a:pt x="178594" y="112514"/>
                </a:cubicBezTo>
                <a:cubicBezTo>
                  <a:pt x="178594" y="124346"/>
                  <a:pt x="168994" y="133945"/>
                  <a:pt x="157163" y="133945"/>
                </a:cubicBezTo>
                <a:lnTo>
                  <a:pt x="21431" y="133945"/>
                </a:lnTo>
                <a:cubicBezTo>
                  <a:pt x="9599" y="133945"/>
                  <a:pt x="0" y="124346"/>
                  <a:pt x="0" y="112514"/>
                </a:cubicBezTo>
                <a:close/>
                <a:moveTo>
                  <a:pt x="78414" y="58322"/>
                </a:moveTo>
                <a:lnTo>
                  <a:pt x="69763" y="66973"/>
                </a:lnTo>
                <a:lnTo>
                  <a:pt x="78414" y="75623"/>
                </a:lnTo>
                <a:cubicBezTo>
                  <a:pt x="81037" y="78246"/>
                  <a:pt x="81037" y="82488"/>
                  <a:pt x="78414" y="85083"/>
                </a:cubicBezTo>
                <a:cubicBezTo>
                  <a:pt x="75791" y="87678"/>
                  <a:pt x="71549" y="87706"/>
                  <a:pt x="68954" y="85083"/>
                </a:cubicBezTo>
                <a:lnTo>
                  <a:pt x="55559" y="71689"/>
                </a:lnTo>
                <a:cubicBezTo>
                  <a:pt x="52936" y="69066"/>
                  <a:pt x="52936" y="64824"/>
                  <a:pt x="55559" y="62229"/>
                </a:cubicBezTo>
                <a:lnTo>
                  <a:pt x="68954" y="48834"/>
                </a:lnTo>
                <a:cubicBezTo>
                  <a:pt x="71577" y="46211"/>
                  <a:pt x="75819" y="46211"/>
                  <a:pt x="78414" y="48834"/>
                </a:cubicBezTo>
                <a:cubicBezTo>
                  <a:pt x="81009" y="51457"/>
                  <a:pt x="81037" y="55699"/>
                  <a:pt x="78414" y="58294"/>
                </a:cubicBezTo>
                <a:close/>
                <a:moveTo>
                  <a:pt x="109668" y="48834"/>
                </a:moveTo>
                <a:lnTo>
                  <a:pt x="123062" y="62229"/>
                </a:lnTo>
                <a:cubicBezTo>
                  <a:pt x="125685" y="64852"/>
                  <a:pt x="125685" y="69093"/>
                  <a:pt x="123062" y="71689"/>
                </a:cubicBezTo>
                <a:lnTo>
                  <a:pt x="109668" y="85083"/>
                </a:lnTo>
                <a:cubicBezTo>
                  <a:pt x="107045" y="87706"/>
                  <a:pt x="102803" y="87706"/>
                  <a:pt x="100208" y="85083"/>
                </a:cubicBezTo>
                <a:cubicBezTo>
                  <a:pt x="97613" y="82460"/>
                  <a:pt x="97585" y="78218"/>
                  <a:pt x="100208" y="75623"/>
                </a:cubicBezTo>
                <a:lnTo>
                  <a:pt x="108858" y="66973"/>
                </a:lnTo>
                <a:lnTo>
                  <a:pt x="100208" y="58322"/>
                </a:lnTo>
                <a:cubicBezTo>
                  <a:pt x="97585" y="55699"/>
                  <a:pt x="97585" y="51457"/>
                  <a:pt x="100208" y="48862"/>
                </a:cubicBezTo>
                <a:cubicBezTo>
                  <a:pt x="102831" y="46267"/>
                  <a:pt x="107073" y="46239"/>
                  <a:pt x="109668" y="4886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5" name="Text 33"/>
          <p:cNvSpPr/>
          <p:nvPr/>
        </p:nvSpPr>
        <p:spPr>
          <a:xfrm>
            <a:off x="789781" y="5135563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22750" y="50561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14813" y="52149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r=0.65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94250" y="50561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86313" y="52149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r=0.45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21313" y="511968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21313" y="511968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2438" y="553243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44711" y="569912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94543" y="-2763"/>
                </a:moveTo>
                <a:cubicBezTo>
                  <a:pt x="97864" y="-363"/>
                  <a:pt x="99092" y="3990"/>
                  <a:pt x="97585" y="7786"/>
                </a:cubicBezTo>
                <a:lnTo>
                  <a:pt x="75707" y="62508"/>
                </a:lnTo>
                <a:lnTo>
                  <a:pt x="116086" y="62508"/>
                </a:lnTo>
                <a:cubicBezTo>
                  <a:pt x="119853" y="62508"/>
                  <a:pt x="123202" y="64852"/>
                  <a:pt x="124485" y="68396"/>
                </a:cubicBezTo>
                <a:cubicBezTo>
                  <a:pt x="125769" y="71940"/>
                  <a:pt x="124681" y="75902"/>
                  <a:pt x="121807" y="78302"/>
                </a:cubicBezTo>
                <a:lnTo>
                  <a:pt x="41439" y="145275"/>
                </a:lnTo>
                <a:cubicBezTo>
                  <a:pt x="38286" y="147898"/>
                  <a:pt x="33793" y="148037"/>
                  <a:pt x="30473" y="145638"/>
                </a:cubicBezTo>
                <a:cubicBezTo>
                  <a:pt x="27152" y="143238"/>
                  <a:pt x="25924" y="138885"/>
                  <a:pt x="27431" y="135089"/>
                </a:cubicBezTo>
                <a:lnTo>
                  <a:pt x="49309" y="80367"/>
                </a:lnTo>
                <a:lnTo>
                  <a:pt x="8930" y="80367"/>
                </a:lnTo>
                <a:cubicBezTo>
                  <a:pt x="5162" y="80367"/>
                  <a:pt x="1814" y="78023"/>
                  <a:pt x="530" y="74479"/>
                </a:cubicBezTo>
                <a:cubicBezTo>
                  <a:pt x="-753" y="70935"/>
                  <a:pt x="335" y="66973"/>
                  <a:pt x="3209" y="64573"/>
                </a:cubicBezTo>
                <a:lnTo>
                  <a:pt x="83576" y="-2400"/>
                </a:lnTo>
                <a:cubicBezTo>
                  <a:pt x="86730" y="-5023"/>
                  <a:pt x="91222" y="-5162"/>
                  <a:pt x="94543" y="-2763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4" name="Text 42"/>
          <p:cNvSpPr/>
          <p:nvPr/>
        </p:nvSpPr>
        <p:spPr>
          <a:xfrm>
            <a:off x="789781" y="567531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公用事业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222750" y="55959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214813" y="57546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r=0.70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94250" y="55959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786313" y="57546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r=0.40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21313" y="565943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21313" y="565943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2438" y="607218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17922" y="62388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68898" y="5107"/>
                </a:moveTo>
                <a:lnTo>
                  <a:pt x="75623" y="1060"/>
                </a:lnTo>
                <a:cubicBezTo>
                  <a:pt x="81651" y="-2567"/>
                  <a:pt x="88543" y="-4465"/>
                  <a:pt x="95576" y="-4465"/>
                </a:cubicBezTo>
                <a:cubicBezTo>
                  <a:pt x="105845" y="-4465"/>
                  <a:pt x="115723" y="-391"/>
                  <a:pt x="122979" y="6893"/>
                </a:cubicBezTo>
                <a:lnTo>
                  <a:pt x="140810" y="24724"/>
                </a:lnTo>
                <a:cubicBezTo>
                  <a:pt x="144996" y="28910"/>
                  <a:pt x="147340" y="34603"/>
                  <a:pt x="147340" y="40518"/>
                </a:cubicBezTo>
                <a:lnTo>
                  <a:pt x="147340" y="49141"/>
                </a:lnTo>
                <a:lnTo>
                  <a:pt x="152837" y="54639"/>
                </a:lnTo>
                <a:lnTo>
                  <a:pt x="152837" y="54639"/>
                </a:lnTo>
                <a:cubicBezTo>
                  <a:pt x="157190" y="50285"/>
                  <a:pt x="164250" y="50285"/>
                  <a:pt x="168632" y="54639"/>
                </a:cubicBezTo>
                <a:cubicBezTo>
                  <a:pt x="173013" y="58992"/>
                  <a:pt x="172985" y="66052"/>
                  <a:pt x="168632" y="70433"/>
                </a:cubicBezTo>
                <a:lnTo>
                  <a:pt x="150772" y="88292"/>
                </a:lnTo>
                <a:cubicBezTo>
                  <a:pt x="146419" y="92646"/>
                  <a:pt x="139359" y="92646"/>
                  <a:pt x="134978" y="88292"/>
                </a:cubicBezTo>
                <a:cubicBezTo>
                  <a:pt x="130597" y="83939"/>
                  <a:pt x="130625" y="76879"/>
                  <a:pt x="134978" y="72498"/>
                </a:cubicBezTo>
                <a:lnTo>
                  <a:pt x="129480" y="66973"/>
                </a:lnTo>
                <a:lnTo>
                  <a:pt x="120858" y="66973"/>
                </a:lnTo>
                <a:cubicBezTo>
                  <a:pt x="114942" y="66973"/>
                  <a:pt x="109249" y="64629"/>
                  <a:pt x="105063" y="60443"/>
                </a:cubicBezTo>
                <a:lnTo>
                  <a:pt x="91362" y="46741"/>
                </a:lnTo>
                <a:cubicBezTo>
                  <a:pt x="87176" y="42556"/>
                  <a:pt x="84832" y="36863"/>
                  <a:pt x="84832" y="30947"/>
                </a:cubicBezTo>
                <a:lnTo>
                  <a:pt x="84832" y="27403"/>
                </a:lnTo>
                <a:cubicBezTo>
                  <a:pt x="84832" y="24278"/>
                  <a:pt x="83186" y="21348"/>
                  <a:pt x="80507" y="19757"/>
                </a:cubicBezTo>
                <a:lnTo>
                  <a:pt x="68898" y="12781"/>
                </a:lnTo>
                <a:cubicBezTo>
                  <a:pt x="65996" y="11050"/>
                  <a:pt x="65996" y="6865"/>
                  <a:pt x="68898" y="5135"/>
                </a:cubicBezTo>
                <a:close/>
                <a:moveTo>
                  <a:pt x="14148" y="112375"/>
                </a:moveTo>
                <a:lnTo>
                  <a:pt x="76126" y="50397"/>
                </a:lnTo>
                <a:lnTo>
                  <a:pt x="101380" y="75651"/>
                </a:lnTo>
                <a:lnTo>
                  <a:pt x="39402" y="137629"/>
                </a:lnTo>
                <a:cubicBezTo>
                  <a:pt x="32426" y="144605"/>
                  <a:pt x="21124" y="144605"/>
                  <a:pt x="14148" y="137629"/>
                </a:cubicBezTo>
                <a:cubicBezTo>
                  <a:pt x="7172" y="130652"/>
                  <a:pt x="7172" y="119351"/>
                  <a:pt x="14148" y="112375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53" name="Text 51"/>
          <p:cNvSpPr/>
          <p:nvPr/>
        </p:nvSpPr>
        <p:spPr>
          <a:xfrm>
            <a:off x="789781" y="6215063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222750" y="61356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14813" y="62944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794250" y="613568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786313" y="62944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r=0.60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421313" y="619918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421313" y="619918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超配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2438" y="6611938"/>
            <a:ext cx="5445125" cy="476250"/>
          </a:xfrm>
          <a:custGeom>
            <a:avLst/>
            <a:gdLst/>
            <a:ahLst/>
            <a:cxnLst/>
            <a:rect l="l" t="t" r="r" b="b"/>
            <a:pathLst>
              <a:path w="5445125" h="476250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412752"/>
                </a:lnTo>
                <a:cubicBezTo>
                  <a:pt x="5445125" y="447821"/>
                  <a:pt x="5416696" y="476250"/>
                  <a:pt x="5381627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35781" y="67786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5874" y="5637"/>
                </a:moveTo>
                <a:cubicBezTo>
                  <a:pt x="73140" y="4074"/>
                  <a:pt x="69763" y="4074"/>
                  <a:pt x="67001" y="5637"/>
                </a:cubicBezTo>
                <a:lnTo>
                  <a:pt x="4493" y="41356"/>
                </a:lnTo>
                <a:cubicBezTo>
                  <a:pt x="977" y="43365"/>
                  <a:pt x="-753" y="47495"/>
                  <a:pt x="279" y="51402"/>
                </a:cubicBezTo>
                <a:cubicBezTo>
                  <a:pt x="1312" y="55308"/>
                  <a:pt x="4883" y="58043"/>
                  <a:pt x="8930" y="58043"/>
                </a:cubicBezTo>
                <a:lnTo>
                  <a:pt x="17859" y="58043"/>
                </a:lnTo>
                <a:lnTo>
                  <a:pt x="17859" y="116086"/>
                </a:lnTo>
                <a:lnTo>
                  <a:pt x="17859" y="116086"/>
                </a:lnTo>
                <a:lnTo>
                  <a:pt x="3572" y="126802"/>
                </a:lnTo>
                <a:cubicBezTo>
                  <a:pt x="1312" y="128476"/>
                  <a:pt x="0" y="131127"/>
                  <a:pt x="0" y="133945"/>
                </a:cubicBezTo>
                <a:cubicBezTo>
                  <a:pt x="0" y="138885"/>
                  <a:pt x="3990" y="142875"/>
                  <a:pt x="8930" y="142875"/>
                </a:cubicBezTo>
                <a:lnTo>
                  <a:pt x="133945" y="142875"/>
                </a:lnTo>
                <a:cubicBezTo>
                  <a:pt x="138885" y="142875"/>
                  <a:pt x="142875" y="138885"/>
                  <a:pt x="142875" y="133945"/>
                </a:cubicBezTo>
                <a:cubicBezTo>
                  <a:pt x="142875" y="131127"/>
                  <a:pt x="141563" y="128476"/>
                  <a:pt x="139303" y="126802"/>
                </a:cubicBezTo>
                <a:lnTo>
                  <a:pt x="125016" y="116086"/>
                </a:lnTo>
                <a:lnTo>
                  <a:pt x="125016" y="58043"/>
                </a:lnTo>
                <a:lnTo>
                  <a:pt x="133945" y="58043"/>
                </a:lnTo>
                <a:cubicBezTo>
                  <a:pt x="137992" y="58043"/>
                  <a:pt x="141536" y="55308"/>
                  <a:pt x="142568" y="51402"/>
                </a:cubicBezTo>
                <a:cubicBezTo>
                  <a:pt x="143601" y="47495"/>
                  <a:pt x="141870" y="43365"/>
                  <a:pt x="138354" y="41356"/>
                </a:cubicBezTo>
                <a:lnTo>
                  <a:pt x="75847" y="5637"/>
                </a:lnTo>
                <a:close/>
                <a:moveTo>
                  <a:pt x="111621" y="58043"/>
                </a:moveTo>
                <a:lnTo>
                  <a:pt x="111621" y="116086"/>
                </a:lnTo>
                <a:lnTo>
                  <a:pt x="93762" y="116086"/>
                </a:lnTo>
                <a:lnTo>
                  <a:pt x="93762" y="58043"/>
                </a:lnTo>
                <a:lnTo>
                  <a:pt x="111621" y="58043"/>
                </a:lnTo>
                <a:close/>
                <a:moveTo>
                  <a:pt x="80367" y="58043"/>
                </a:moveTo>
                <a:lnTo>
                  <a:pt x="80367" y="116086"/>
                </a:lnTo>
                <a:lnTo>
                  <a:pt x="62508" y="116086"/>
                </a:lnTo>
                <a:lnTo>
                  <a:pt x="62508" y="58043"/>
                </a:lnTo>
                <a:lnTo>
                  <a:pt x="80367" y="58043"/>
                </a:lnTo>
                <a:close/>
                <a:moveTo>
                  <a:pt x="49113" y="58043"/>
                </a:moveTo>
                <a:lnTo>
                  <a:pt x="49113" y="116086"/>
                </a:lnTo>
                <a:lnTo>
                  <a:pt x="31254" y="116086"/>
                </a:lnTo>
                <a:lnTo>
                  <a:pt x="31254" y="58043"/>
                </a:lnTo>
                <a:lnTo>
                  <a:pt x="49113" y="58043"/>
                </a:lnTo>
                <a:close/>
                <a:moveTo>
                  <a:pt x="71438" y="26789"/>
                </a:moveTo>
                <a:cubicBezTo>
                  <a:pt x="76366" y="26789"/>
                  <a:pt x="80367" y="30790"/>
                  <a:pt x="80367" y="35719"/>
                </a:cubicBezTo>
                <a:cubicBezTo>
                  <a:pt x="80367" y="40647"/>
                  <a:pt x="76366" y="44648"/>
                  <a:pt x="71438" y="44648"/>
                </a:cubicBezTo>
                <a:cubicBezTo>
                  <a:pt x="66509" y="44648"/>
                  <a:pt x="62508" y="40647"/>
                  <a:pt x="62508" y="35719"/>
                </a:cubicBezTo>
                <a:cubicBezTo>
                  <a:pt x="62508" y="30790"/>
                  <a:pt x="66509" y="26789"/>
                  <a:pt x="71438" y="2678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2" name="Text 60"/>
          <p:cNvSpPr/>
          <p:nvPr/>
        </p:nvSpPr>
        <p:spPr>
          <a:xfrm>
            <a:off x="789781" y="6754813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219029" y="66754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降息周期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211092" y="68341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r=-0.30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794250" y="6675438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财政扩张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786313" y="683418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421313" y="6738938"/>
            <a:ext cx="412750" cy="222250"/>
          </a:xfrm>
          <a:custGeom>
            <a:avLst/>
            <a:gdLst/>
            <a:ahLst/>
            <a:cxnLst/>
            <a:rect l="l" t="t" r="r" b="b"/>
            <a:pathLst>
              <a:path w="412750" h="222250">
                <a:moveTo>
                  <a:pt x="111125" y="0"/>
                </a:moveTo>
                <a:lnTo>
                  <a:pt x="301625" y="0"/>
                </a:lnTo>
                <a:cubicBezTo>
                  <a:pt x="362957" y="0"/>
                  <a:pt x="412750" y="49793"/>
                  <a:pt x="412750" y="111125"/>
                </a:cubicBezTo>
                <a:lnTo>
                  <a:pt x="412750" y="111125"/>
                </a:lnTo>
                <a:cubicBezTo>
                  <a:pt x="412750" y="172457"/>
                  <a:pt x="362957" y="222250"/>
                  <a:pt x="301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21313" y="6738938"/>
            <a:ext cx="468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低配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63469" y="1258094"/>
            <a:ext cx="5707063" cy="2198688"/>
          </a:xfrm>
          <a:custGeom>
            <a:avLst/>
            <a:gdLst/>
            <a:ahLst/>
            <a:cxnLst/>
            <a:rect l="l" t="t" r="r" b="b"/>
            <a:pathLst>
              <a:path w="5707063" h="2198688">
                <a:moveTo>
                  <a:pt x="95247" y="0"/>
                </a:moveTo>
                <a:lnTo>
                  <a:pt x="5611815" y="0"/>
                </a:lnTo>
                <a:cubicBezTo>
                  <a:pt x="5664419" y="0"/>
                  <a:pt x="5707063" y="42644"/>
                  <a:pt x="5707063" y="95247"/>
                </a:cubicBezTo>
                <a:lnTo>
                  <a:pt x="5707063" y="2103440"/>
                </a:lnTo>
                <a:cubicBezTo>
                  <a:pt x="5707063" y="2156044"/>
                  <a:pt x="5664419" y="2198688"/>
                  <a:pt x="5611815" y="2198688"/>
                </a:cubicBezTo>
                <a:lnTo>
                  <a:pt x="95247" y="2198688"/>
                </a:lnTo>
                <a:cubicBezTo>
                  <a:pt x="42644" y="2198688"/>
                  <a:pt x="0" y="2156044"/>
                  <a:pt x="0" y="210344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24203" y="14208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9531" y="39688"/>
                </a:moveTo>
                <a:cubicBezTo>
                  <a:pt x="59531" y="23259"/>
                  <a:pt x="46194" y="9922"/>
                  <a:pt x="29766" y="9922"/>
                </a:cubicBezTo>
                <a:cubicBezTo>
                  <a:pt x="13338" y="9922"/>
                  <a:pt x="0" y="23259"/>
                  <a:pt x="0" y="39688"/>
                </a:cubicBezTo>
                <a:cubicBezTo>
                  <a:pt x="0" y="56116"/>
                  <a:pt x="13338" y="69453"/>
                  <a:pt x="29766" y="69453"/>
                </a:cubicBezTo>
                <a:cubicBezTo>
                  <a:pt x="46194" y="69453"/>
                  <a:pt x="59531" y="56116"/>
                  <a:pt x="59531" y="39688"/>
                </a:cubicBezTo>
                <a:close/>
                <a:moveTo>
                  <a:pt x="138906" y="119062"/>
                </a:moveTo>
                <a:cubicBezTo>
                  <a:pt x="138906" y="102634"/>
                  <a:pt x="125569" y="89297"/>
                  <a:pt x="109141" y="89297"/>
                </a:cubicBezTo>
                <a:cubicBezTo>
                  <a:pt x="92713" y="89297"/>
                  <a:pt x="79375" y="102634"/>
                  <a:pt x="79375" y="119062"/>
                </a:cubicBezTo>
                <a:cubicBezTo>
                  <a:pt x="79375" y="135491"/>
                  <a:pt x="92713" y="148828"/>
                  <a:pt x="109141" y="148828"/>
                </a:cubicBezTo>
                <a:cubicBezTo>
                  <a:pt x="125569" y="148828"/>
                  <a:pt x="138906" y="135491"/>
                  <a:pt x="138906" y="119062"/>
                </a:cubicBezTo>
                <a:close/>
                <a:moveTo>
                  <a:pt x="135992" y="26851"/>
                </a:moveTo>
                <a:cubicBezTo>
                  <a:pt x="139867" y="22975"/>
                  <a:pt x="139867" y="16681"/>
                  <a:pt x="135992" y="12805"/>
                </a:cubicBezTo>
                <a:cubicBezTo>
                  <a:pt x="132116" y="8930"/>
                  <a:pt x="125822" y="8930"/>
                  <a:pt x="121946" y="12805"/>
                </a:cubicBezTo>
                <a:lnTo>
                  <a:pt x="2884" y="131868"/>
                </a:lnTo>
                <a:cubicBezTo>
                  <a:pt x="-992" y="135744"/>
                  <a:pt x="-992" y="142038"/>
                  <a:pt x="2884" y="145914"/>
                </a:cubicBezTo>
                <a:cubicBezTo>
                  <a:pt x="6759" y="149789"/>
                  <a:pt x="13053" y="149789"/>
                  <a:pt x="16929" y="145914"/>
                </a:cubicBezTo>
                <a:lnTo>
                  <a:pt x="135992" y="26851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1" name="Text 69"/>
          <p:cNvSpPr/>
          <p:nvPr/>
        </p:nvSpPr>
        <p:spPr>
          <a:xfrm>
            <a:off x="6492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债券市场：收益率历史模式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94438" y="1706563"/>
            <a:ext cx="5445125" cy="777875"/>
          </a:xfrm>
          <a:custGeom>
            <a:avLst/>
            <a:gdLst/>
            <a:ahLst/>
            <a:cxnLst/>
            <a:rect l="l" t="t" r="r" b="b"/>
            <a:pathLst>
              <a:path w="5445125" h="777875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714377"/>
                </a:lnTo>
                <a:cubicBezTo>
                  <a:pt x="5445125" y="749446"/>
                  <a:pt x="5416696" y="777875"/>
                  <a:pt x="5381627" y="777875"/>
                </a:cubicBezTo>
                <a:lnTo>
                  <a:pt x="63498" y="777875"/>
                </a:lnTo>
                <a:cubicBezTo>
                  <a:pt x="28429" y="777875"/>
                  <a:pt x="0" y="749446"/>
                  <a:pt x="0" y="71437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389688" y="1801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4" name="Shape 72"/>
          <p:cNvSpPr/>
          <p:nvPr/>
        </p:nvSpPr>
        <p:spPr>
          <a:xfrm>
            <a:off x="6484938" y="1897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5" name="Text 73"/>
          <p:cNvSpPr/>
          <p:nvPr/>
        </p:nvSpPr>
        <p:spPr>
          <a:xfrm>
            <a:off x="6802438" y="1849438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首次降息前3个月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389688" y="2182813"/>
            <a:ext cx="5318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10年期国债收益率通常</a:t>
            </a: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下降50-100bp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94438" y="2547938"/>
            <a:ext cx="5445125" cy="777875"/>
          </a:xfrm>
          <a:custGeom>
            <a:avLst/>
            <a:gdLst/>
            <a:ahLst/>
            <a:cxnLst/>
            <a:rect l="l" t="t" r="r" b="b"/>
            <a:pathLst>
              <a:path w="5445125" h="777875">
                <a:moveTo>
                  <a:pt x="63498" y="0"/>
                </a:moveTo>
                <a:lnTo>
                  <a:pt x="5381627" y="0"/>
                </a:lnTo>
                <a:cubicBezTo>
                  <a:pt x="5416696" y="0"/>
                  <a:pt x="5445125" y="28429"/>
                  <a:pt x="5445125" y="63498"/>
                </a:cubicBezTo>
                <a:lnTo>
                  <a:pt x="5445125" y="714377"/>
                </a:lnTo>
                <a:cubicBezTo>
                  <a:pt x="5445125" y="749446"/>
                  <a:pt x="5416696" y="777875"/>
                  <a:pt x="5381627" y="777875"/>
                </a:cubicBezTo>
                <a:lnTo>
                  <a:pt x="63498" y="777875"/>
                </a:lnTo>
                <a:cubicBezTo>
                  <a:pt x="28429" y="777875"/>
                  <a:pt x="0" y="749446"/>
                  <a:pt x="0" y="71437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6389688" y="2643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79" name="Shape 77"/>
          <p:cNvSpPr/>
          <p:nvPr/>
        </p:nvSpPr>
        <p:spPr>
          <a:xfrm>
            <a:off x="6492875" y="27384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27360" y="0"/>
                  <a:pt x="23812" y="3547"/>
                  <a:pt x="23812" y="7938"/>
                </a:cubicBezTo>
                <a:lnTo>
                  <a:pt x="23812" y="15875"/>
                </a:lnTo>
                <a:lnTo>
                  <a:pt x="15875" y="15875"/>
                </a:lnTo>
                <a:cubicBezTo>
                  <a:pt x="7119" y="15875"/>
                  <a:pt x="0" y="22994"/>
                  <a:pt x="0" y="31750"/>
                </a:cubicBezTo>
                <a:lnTo>
                  <a:pt x="0" y="43656"/>
                </a:lnTo>
                <a:lnTo>
                  <a:pt x="111125" y="43656"/>
                </a:lnTo>
                <a:lnTo>
                  <a:pt x="111125" y="31750"/>
                </a:lnTo>
                <a:cubicBezTo>
                  <a:pt x="111125" y="22994"/>
                  <a:pt x="104006" y="15875"/>
                  <a:pt x="95250" y="15875"/>
                </a:cubicBezTo>
                <a:lnTo>
                  <a:pt x="87313" y="15875"/>
                </a:lnTo>
                <a:lnTo>
                  <a:pt x="87313" y="7938"/>
                </a:lnTo>
                <a:cubicBezTo>
                  <a:pt x="87313" y="3547"/>
                  <a:pt x="83765" y="0"/>
                  <a:pt x="79375" y="0"/>
                </a:cubicBezTo>
                <a:cubicBezTo>
                  <a:pt x="74985" y="0"/>
                  <a:pt x="71438" y="3547"/>
                  <a:pt x="71438" y="7938"/>
                </a:cubicBezTo>
                <a:lnTo>
                  <a:pt x="71438" y="15875"/>
                </a:lnTo>
                <a:lnTo>
                  <a:pt x="39688" y="15875"/>
                </a:lnTo>
                <a:lnTo>
                  <a:pt x="39688" y="7938"/>
                </a:lnTo>
                <a:cubicBezTo>
                  <a:pt x="39688" y="3547"/>
                  <a:pt x="36140" y="0"/>
                  <a:pt x="31750" y="0"/>
                </a:cubicBezTo>
                <a:close/>
                <a:moveTo>
                  <a:pt x="0" y="55563"/>
                </a:move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55563"/>
                </a:lnTo>
                <a:lnTo>
                  <a:pt x="0" y="5556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0" name="Text 78"/>
          <p:cNvSpPr/>
          <p:nvPr/>
        </p:nvSpPr>
        <p:spPr>
          <a:xfrm>
            <a:off x="6802438" y="2690813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首次降息后6个月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89688" y="3024188"/>
            <a:ext cx="5318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可能再降</a:t>
            </a:r>
            <a:r>
              <a:rPr lang="en-US" sz="1000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30-50bp</a:t>
            </a: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，之后进入区间波动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163469" y="3559969"/>
            <a:ext cx="5707063" cy="3659187"/>
          </a:xfrm>
          <a:custGeom>
            <a:avLst/>
            <a:gdLst/>
            <a:ahLst/>
            <a:cxnLst/>
            <a:rect l="l" t="t" r="r" b="b"/>
            <a:pathLst>
              <a:path w="5707063" h="3659187">
                <a:moveTo>
                  <a:pt x="95249" y="0"/>
                </a:moveTo>
                <a:lnTo>
                  <a:pt x="5611814" y="0"/>
                </a:lnTo>
                <a:cubicBezTo>
                  <a:pt x="5664418" y="0"/>
                  <a:pt x="5707063" y="42644"/>
                  <a:pt x="5707063" y="95249"/>
                </a:cubicBezTo>
                <a:lnTo>
                  <a:pt x="5707063" y="3563939"/>
                </a:lnTo>
                <a:cubicBezTo>
                  <a:pt x="5707063" y="3616543"/>
                  <a:pt x="5664418" y="3659188"/>
                  <a:pt x="5611814" y="3659188"/>
                </a:cubicBezTo>
                <a:lnTo>
                  <a:pt x="95249" y="3659187"/>
                </a:lnTo>
                <a:cubicBezTo>
                  <a:pt x="42644" y="3659188"/>
                  <a:pt x="0" y="3616543"/>
                  <a:pt x="0" y="3563939"/>
                </a:cubicBezTo>
                <a:lnTo>
                  <a:pt x="0" y="95249"/>
                </a:lnTo>
                <a:cubicBezTo>
                  <a:pt x="0" y="42679"/>
                  <a:pt x="42679" y="0"/>
                  <a:pt x="95249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14281" y="3722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95095" y="100800"/>
                </a:moveTo>
                <a:lnTo>
                  <a:pt x="50354" y="118008"/>
                </a:lnTo>
                <a:cubicBezTo>
                  <a:pt x="44338" y="120334"/>
                  <a:pt x="38416" y="114412"/>
                  <a:pt x="40742" y="108396"/>
                </a:cubicBezTo>
                <a:lnTo>
                  <a:pt x="57950" y="63655"/>
                </a:lnTo>
                <a:cubicBezTo>
                  <a:pt x="58973" y="61020"/>
                  <a:pt x="61020" y="58973"/>
                  <a:pt x="63655" y="57950"/>
                </a:cubicBezTo>
                <a:lnTo>
                  <a:pt x="108396" y="40742"/>
                </a:lnTo>
                <a:cubicBezTo>
                  <a:pt x="114412" y="38416"/>
                  <a:pt x="120334" y="44338"/>
                  <a:pt x="118008" y="50354"/>
                </a:cubicBezTo>
                <a:lnTo>
                  <a:pt x="100800" y="95095"/>
                </a:lnTo>
                <a:cubicBezTo>
                  <a:pt x="99808" y="97730"/>
                  <a:pt x="97730" y="99777"/>
                  <a:pt x="95095" y="100800"/>
                </a:cubicBezTo>
                <a:close/>
                <a:moveTo>
                  <a:pt x="89297" y="79375"/>
                </a:moveTo>
                <a:cubicBezTo>
                  <a:pt x="89297" y="73899"/>
                  <a:pt x="84851" y="69453"/>
                  <a:pt x="79375" y="69453"/>
                </a:cubicBezTo>
                <a:cubicBezTo>
                  <a:pt x="73899" y="69453"/>
                  <a:pt x="69453" y="73899"/>
                  <a:pt x="69453" y="79375"/>
                </a:cubicBezTo>
                <a:cubicBezTo>
                  <a:pt x="69453" y="84851"/>
                  <a:pt x="73899" y="89297"/>
                  <a:pt x="79375" y="89297"/>
                </a:cubicBezTo>
                <a:cubicBezTo>
                  <a:pt x="84851" y="89297"/>
                  <a:pt x="89297" y="84851"/>
                  <a:pt x="89297" y="79375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4" name="Text 82"/>
          <p:cNvSpPr/>
          <p:nvPr/>
        </p:nvSpPr>
        <p:spPr>
          <a:xfrm>
            <a:off x="6492875" y="3690937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久期建议（基于历史最优策略）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10313" y="4008438"/>
            <a:ext cx="5429250" cy="920750"/>
          </a:xfrm>
          <a:custGeom>
            <a:avLst/>
            <a:gdLst/>
            <a:ahLst/>
            <a:cxnLst/>
            <a:rect l="l" t="t" r="r" b="b"/>
            <a:pathLst>
              <a:path w="5429250" h="920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857246"/>
                </a:lnTo>
                <a:cubicBezTo>
                  <a:pt x="5429250" y="892318"/>
                  <a:pt x="5400818" y="920750"/>
                  <a:pt x="536574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310313" y="40084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7" name="Text 85"/>
          <p:cNvSpPr/>
          <p:nvPr/>
        </p:nvSpPr>
        <p:spPr>
          <a:xfrm>
            <a:off x="6421438" y="4103688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降息周期前6个月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1120438" y="4103688"/>
            <a:ext cx="523875" cy="22225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111125" y="0"/>
                </a:moveTo>
                <a:lnTo>
                  <a:pt x="412750" y="0"/>
                </a:lnTo>
                <a:cubicBezTo>
                  <a:pt x="474082" y="0"/>
                  <a:pt x="523875" y="49793"/>
                  <a:pt x="523875" y="111125"/>
                </a:cubicBezTo>
                <a:lnTo>
                  <a:pt x="523875" y="111125"/>
                </a:lnTo>
                <a:cubicBezTo>
                  <a:pt x="523875" y="172457"/>
                  <a:pt x="474082" y="222250"/>
                  <a:pt x="412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1120438" y="4103688"/>
            <a:ext cx="579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长久期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421438" y="4389438"/>
            <a:ext cx="5318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+1.5年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421438" y="467518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延长久期以锁定较高收益率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6310313" y="4992688"/>
            <a:ext cx="5429250" cy="920750"/>
          </a:xfrm>
          <a:custGeom>
            <a:avLst/>
            <a:gdLst/>
            <a:ahLst/>
            <a:cxnLst/>
            <a:rect l="l" t="t" r="r" b="b"/>
            <a:pathLst>
              <a:path w="5429250" h="920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857246"/>
                </a:lnTo>
                <a:cubicBezTo>
                  <a:pt x="5429250" y="892318"/>
                  <a:pt x="5400818" y="920750"/>
                  <a:pt x="536574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6310313" y="499268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4" name="Text 92"/>
          <p:cNvSpPr/>
          <p:nvPr/>
        </p:nvSpPr>
        <p:spPr>
          <a:xfrm>
            <a:off x="6421438" y="5087938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降息周期中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11120438" y="5087938"/>
            <a:ext cx="523875" cy="22225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111125" y="0"/>
                </a:moveTo>
                <a:lnTo>
                  <a:pt x="412750" y="0"/>
                </a:lnTo>
                <a:cubicBezTo>
                  <a:pt x="474082" y="0"/>
                  <a:pt x="523875" y="49793"/>
                  <a:pt x="523875" y="111125"/>
                </a:cubicBezTo>
                <a:lnTo>
                  <a:pt x="523875" y="111125"/>
                </a:lnTo>
                <a:cubicBezTo>
                  <a:pt x="523875" y="172457"/>
                  <a:pt x="474082" y="222250"/>
                  <a:pt x="412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11120438" y="5087938"/>
            <a:ext cx="579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中久期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6421438" y="5373688"/>
            <a:ext cx="5318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基准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6421438" y="565943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保持中性久期，灵活调整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310313" y="5976938"/>
            <a:ext cx="5429250" cy="920750"/>
          </a:xfrm>
          <a:custGeom>
            <a:avLst/>
            <a:gdLst/>
            <a:ahLst/>
            <a:cxnLst/>
            <a:rect l="l" t="t" r="r" b="b"/>
            <a:pathLst>
              <a:path w="5429250" h="920750">
                <a:moveTo>
                  <a:pt x="31750" y="0"/>
                </a:moveTo>
                <a:lnTo>
                  <a:pt x="5365746" y="0"/>
                </a:lnTo>
                <a:cubicBezTo>
                  <a:pt x="5400818" y="0"/>
                  <a:pt x="5429250" y="28432"/>
                  <a:pt x="5429250" y="63504"/>
                </a:cubicBezTo>
                <a:lnTo>
                  <a:pt x="5429250" y="857246"/>
                </a:lnTo>
                <a:cubicBezTo>
                  <a:pt x="5429250" y="892318"/>
                  <a:pt x="5400818" y="920750"/>
                  <a:pt x="5365746" y="920750"/>
                </a:cubicBez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6310313" y="5976938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1" name="Text 99"/>
          <p:cNvSpPr/>
          <p:nvPr/>
        </p:nvSpPr>
        <p:spPr>
          <a:xfrm>
            <a:off x="6421438" y="6072188"/>
            <a:ext cx="92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降息周期后期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11120438" y="6072188"/>
            <a:ext cx="523875" cy="22225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111125" y="0"/>
                </a:moveTo>
                <a:lnTo>
                  <a:pt x="412750" y="0"/>
                </a:lnTo>
                <a:cubicBezTo>
                  <a:pt x="474082" y="0"/>
                  <a:pt x="523875" y="49793"/>
                  <a:pt x="523875" y="111125"/>
                </a:cubicBezTo>
                <a:lnTo>
                  <a:pt x="523875" y="111125"/>
                </a:lnTo>
                <a:cubicBezTo>
                  <a:pt x="523875" y="172457"/>
                  <a:pt x="474082" y="222250"/>
                  <a:pt x="412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11120438" y="6072188"/>
            <a:ext cx="579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短久期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6421438" y="6357938"/>
            <a:ext cx="5318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-1年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6421438" y="664368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缩短久期，防范利率反弹风险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3825" y="323825"/>
            <a:ext cx="11609116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kern="0" spc="5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RESONANCE &amp; DIVERGENCE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3825" y="582884"/>
            <a:ext cx="11690072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95" b="1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</a:rPr>
              <a:t>08 </a:t>
            </a:r>
            <a:r>
              <a:rPr lang="zh-CN" altLang="en-US" sz="2295" b="1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</a:rPr>
              <a:t>决策</a:t>
            </a:r>
            <a:r>
              <a:rPr lang="zh-CN" altLang="en-US" sz="229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</a:rPr>
              <a:t>框架结论 目前收紧和</a:t>
            </a:r>
            <a:r>
              <a:rPr lang="en-US" altLang="zh-CN" sz="229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</a:rPr>
              <a:t>miss </a:t>
            </a:r>
            <a:r>
              <a:rPr lang="zh-CN" altLang="en-US" sz="229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</a:rPr>
              <a:t>走向 宽松和超预期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3825" y="1003857"/>
            <a:ext cx="777179" cy="32382"/>
          </a:xfrm>
          <a:custGeom>
            <a:avLst/>
            <a:gdLst/>
            <a:ahLst/>
            <a:cxnLst/>
            <a:rect l="l" t="t" r="r" b="b"/>
            <a:pathLst>
              <a:path w="777179" h="32382">
                <a:moveTo>
                  <a:pt x="0" y="0"/>
                </a:moveTo>
                <a:lnTo>
                  <a:pt x="777179" y="0"/>
                </a:lnTo>
                <a:lnTo>
                  <a:pt x="777179" y="32382"/>
                </a:lnTo>
                <a:lnTo>
                  <a:pt x="0" y="3238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23825" y="1165769"/>
            <a:ext cx="11609116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综合分析宏观流动性与微观基本面的交互作用，识别不同组合情景下的市场走势特征。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3825" y="1505785"/>
            <a:ext cx="5691219" cy="2185817"/>
          </a:xfrm>
          <a:custGeom>
            <a:avLst/>
            <a:gdLst/>
            <a:ahLst/>
            <a:cxnLst/>
            <a:rect l="l" t="t" r="r" b="b"/>
            <a:pathLst>
              <a:path w="5691219" h="2185817">
                <a:moveTo>
                  <a:pt x="97138" y="0"/>
                </a:moveTo>
                <a:lnTo>
                  <a:pt x="5594081" y="0"/>
                </a:lnTo>
                <a:cubicBezTo>
                  <a:pt x="5647729" y="0"/>
                  <a:pt x="5691219" y="43490"/>
                  <a:pt x="5691219" y="97138"/>
                </a:cubicBezTo>
                <a:lnTo>
                  <a:pt x="5691219" y="2088679"/>
                </a:lnTo>
                <a:cubicBezTo>
                  <a:pt x="5691219" y="2142327"/>
                  <a:pt x="5647729" y="2185817"/>
                  <a:pt x="5594081" y="2185817"/>
                </a:cubicBezTo>
                <a:lnTo>
                  <a:pt x="97138" y="2185817"/>
                </a:lnTo>
                <a:cubicBezTo>
                  <a:pt x="43490" y="2185817"/>
                  <a:pt x="0" y="2142327"/>
                  <a:pt x="0" y="2088679"/>
                </a:cubicBezTo>
                <a:lnTo>
                  <a:pt x="0" y="97138"/>
                </a:lnTo>
                <a:cubicBezTo>
                  <a:pt x="0" y="43490"/>
                  <a:pt x="43490" y="0"/>
                  <a:pt x="971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574" dist="323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6215" y="1700080"/>
            <a:ext cx="121434" cy="161912"/>
          </a:xfrm>
          <a:custGeom>
            <a:avLst/>
            <a:gdLst/>
            <a:ahLst/>
            <a:cxnLst/>
            <a:rect l="l" t="t" r="r" b="b"/>
            <a:pathLst>
              <a:path w="121434" h="161912">
                <a:moveTo>
                  <a:pt x="79027" y="21125"/>
                </a:moveTo>
                <a:cubicBezTo>
                  <a:pt x="82316" y="16602"/>
                  <a:pt x="81304" y="10278"/>
                  <a:pt x="76782" y="6989"/>
                </a:cubicBezTo>
                <a:cubicBezTo>
                  <a:pt x="72260" y="3700"/>
                  <a:pt x="65935" y="4712"/>
                  <a:pt x="62646" y="9234"/>
                </a:cubicBezTo>
                <a:lnTo>
                  <a:pt x="29125" y="55310"/>
                </a:lnTo>
                <a:lnTo>
                  <a:pt x="17266" y="43451"/>
                </a:lnTo>
                <a:cubicBezTo>
                  <a:pt x="13313" y="39498"/>
                  <a:pt x="6894" y="39498"/>
                  <a:pt x="2941" y="43451"/>
                </a:cubicBezTo>
                <a:cubicBezTo>
                  <a:pt x="-1012" y="47404"/>
                  <a:pt x="-1012" y="53823"/>
                  <a:pt x="2941" y="57776"/>
                </a:cubicBezTo>
                <a:lnTo>
                  <a:pt x="23180" y="78015"/>
                </a:lnTo>
                <a:cubicBezTo>
                  <a:pt x="25267" y="80102"/>
                  <a:pt x="28177" y="81178"/>
                  <a:pt x="31118" y="80956"/>
                </a:cubicBezTo>
                <a:cubicBezTo>
                  <a:pt x="34059" y="80735"/>
                  <a:pt x="36778" y="79217"/>
                  <a:pt x="38517" y="76813"/>
                </a:cubicBezTo>
                <a:lnTo>
                  <a:pt x="78996" y="21156"/>
                </a:lnTo>
                <a:close/>
                <a:moveTo>
                  <a:pt x="119505" y="64132"/>
                </a:moveTo>
                <a:cubicBezTo>
                  <a:pt x="122794" y="59610"/>
                  <a:pt x="121782" y="53286"/>
                  <a:pt x="117260" y="49997"/>
                </a:cubicBezTo>
                <a:cubicBezTo>
                  <a:pt x="112738" y="46708"/>
                  <a:pt x="106413" y="47720"/>
                  <a:pt x="103124" y="52242"/>
                </a:cubicBezTo>
                <a:lnTo>
                  <a:pt x="49364" y="126146"/>
                </a:lnTo>
                <a:lnTo>
                  <a:pt x="27386" y="104168"/>
                </a:lnTo>
                <a:cubicBezTo>
                  <a:pt x="23433" y="100215"/>
                  <a:pt x="17013" y="100215"/>
                  <a:pt x="13061" y="104168"/>
                </a:cubicBezTo>
                <a:cubicBezTo>
                  <a:pt x="9108" y="108121"/>
                  <a:pt x="9108" y="114540"/>
                  <a:pt x="13061" y="118493"/>
                </a:cubicBezTo>
                <a:lnTo>
                  <a:pt x="43419" y="148852"/>
                </a:lnTo>
                <a:cubicBezTo>
                  <a:pt x="45506" y="150939"/>
                  <a:pt x="48416" y="152014"/>
                  <a:pt x="51357" y="151793"/>
                </a:cubicBezTo>
                <a:cubicBezTo>
                  <a:pt x="54298" y="151571"/>
                  <a:pt x="57017" y="150054"/>
                  <a:pt x="58756" y="147650"/>
                </a:cubicBezTo>
                <a:lnTo>
                  <a:pt x="119474" y="64164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0" name="Text 7"/>
          <p:cNvSpPr/>
          <p:nvPr/>
        </p:nvSpPr>
        <p:spPr>
          <a:xfrm>
            <a:off x="688127" y="1667697"/>
            <a:ext cx="5245960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共振情景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1928" y="2023904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10000"/>
                </a:srgbClr>
              </a:gs>
              <a:gs pos="100000">
                <a:srgbClr val="A95EA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2" name="Shape 9"/>
          <p:cNvSpPr/>
          <p:nvPr/>
        </p:nvSpPr>
        <p:spPr>
          <a:xfrm>
            <a:off x="501928" y="2023904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3" name="Shape 10"/>
          <p:cNvSpPr/>
          <p:nvPr/>
        </p:nvSpPr>
        <p:spPr>
          <a:xfrm>
            <a:off x="680032" y="2179342"/>
            <a:ext cx="97147" cy="129530"/>
          </a:xfrm>
          <a:custGeom>
            <a:avLst/>
            <a:gdLst/>
            <a:ahLst/>
            <a:cxnLst/>
            <a:rect l="l" t="t" r="r" b="b"/>
            <a:pathLst>
              <a:path w="97147" h="129530">
                <a:moveTo>
                  <a:pt x="54291" y="4402"/>
                </a:moveTo>
                <a:cubicBezTo>
                  <a:pt x="51129" y="1240"/>
                  <a:pt x="45993" y="1240"/>
                  <a:pt x="42831" y="4402"/>
                </a:cubicBezTo>
                <a:lnTo>
                  <a:pt x="2353" y="44880"/>
                </a:lnTo>
                <a:cubicBezTo>
                  <a:pt x="-810" y="48042"/>
                  <a:pt x="-810" y="53178"/>
                  <a:pt x="2353" y="56340"/>
                </a:cubicBezTo>
                <a:cubicBezTo>
                  <a:pt x="5515" y="59503"/>
                  <a:pt x="10651" y="59503"/>
                  <a:pt x="13813" y="56340"/>
                </a:cubicBezTo>
                <a:lnTo>
                  <a:pt x="40478" y="29675"/>
                </a:lnTo>
                <a:lnTo>
                  <a:pt x="40478" y="123458"/>
                </a:lnTo>
                <a:cubicBezTo>
                  <a:pt x="40478" y="127936"/>
                  <a:pt x="44096" y="131554"/>
                  <a:pt x="48574" y="131554"/>
                </a:cubicBezTo>
                <a:cubicBezTo>
                  <a:pt x="53052" y="131554"/>
                  <a:pt x="56669" y="127936"/>
                  <a:pt x="56669" y="123458"/>
                </a:cubicBezTo>
                <a:lnTo>
                  <a:pt x="56669" y="29675"/>
                </a:lnTo>
                <a:lnTo>
                  <a:pt x="83334" y="56340"/>
                </a:lnTo>
                <a:cubicBezTo>
                  <a:pt x="86497" y="59503"/>
                  <a:pt x="91632" y="59503"/>
                  <a:pt x="94795" y="56340"/>
                </a:cubicBezTo>
                <a:cubicBezTo>
                  <a:pt x="97957" y="53178"/>
                  <a:pt x="97957" y="48042"/>
                  <a:pt x="94795" y="44880"/>
                </a:cubicBezTo>
                <a:lnTo>
                  <a:pt x="54317" y="4402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4" name="Text 11"/>
          <p:cNvSpPr/>
          <p:nvPr/>
        </p:nvSpPr>
        <p:spPr>
          <a:xfrm>
            <a:off x="850846" y="2153434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流动性宽松 + 业绩超预期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649" y="2412494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 err="1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TGA下降、降息预期叠加</a:t>
            </a:r>
            <a:r>
              <a:rPr lang="zh-CN" alt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主线（例如</a:t>
            </a:r>
            <a:r>
              <a:rPr lang="en-US" altLang="zh-CN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7 ) </a:t>
            </a:r>
            <a:r>
              <a:rPr lang="en-US" sz="892" dirty="0" err="1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业绩亮眼，市场进入</a:t>
            </a:r>
            <a:r>
              <a:rPr lang="en-US" sz="892" b="1" dirty="0" err="1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主升浪</a:t>
            </a:r>
            <a:r>
              <a:rPr lang="en-US" sz="892" dirty="0" err="1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，估值与盈利双击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1928" y="2823347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>
                  <a:alpha val="10000"/>
                </a:srgbClr>
              </a:gs>
              <a:gs pos="100000">
                <a:srgbClr val="A95EA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7" name="Shape 14"/>
          <p:cNvSpPr/>
          <p:nvPr/>
        </p:nvSpPr>
        <p:spPr>
          <a:xfrm>
            <a:off x="501928" y="2823347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80032" y="2978784"/>
            <a:ext cx="97147" cy="129530"/>
          </a:xfrm>
          <a:custGeom>
            <a:avLst/>
            <a:gdLst/>
            <a:ahLst/>
            <a:cxnLst/>
            <a:rect l="l" t="t" r="r" b="b"/>
            <a:pathLst>
              <a:path w="97147" h="129530">
                <a:moveTo>
                  <a:pt x="42856" y="127152"/>
                </a:moveTo>
                <a:cubicBezTo>
                  <a:pt x="46019" y="130314"/>
                  <a:pt x="51154" y="130314"/>
                  <a:pt x="54317" y="127152"/>
                </a:cubicBezTo>
                <a:lnTo>
                  <a:pt x="94795" y="86674"/>
                </a:lnTo>
                <a:cubicBezTo>
                  <a:pt x="97957" y="83511"/>
                  <a:pt x="97957" y="78376"/>
                  <a:pt x="94795" y="75213"/>
                </a:cubicBezTo>
                <a:cubicBezTo>
                  <a:pt x="91632" y="72051"/>
                  <a:pt x="86497" y="72051"/>
                  <a:pt x="83334" y="75213"/>
                </a:cubicBezTo>
                <a:lnTo>
                  <a:pt x="56669" y="101878"/>
                </a:lnTo>
                <a:lnTo>
                  <a:pt x="56669" y="8096"/>
                </a:lnTo>
                <a:cubicBezTo>
                  <a:pt x="56669" y="3618"/>
                  <a:pt x="53052" y="0"/>
                  <a:pt x="48574" y="0"/>
                </a:cubicBezTo>
                <a:cubicBezTo>
                  <a:pt x="44096" y="0"/>
                  <a:pt x="40478" y="3618"/>
                  <a:pt x="40478" y="8096"/>
                </a:cubicBezTo>
                <a:lnTo>
                  <a:pt x="40478" y="101878"/>
                </a:lnTo>
                <a:lnTo>
                  <a:pt x="13813" y="75213"/>
                </a:lnTo>
                <a:cubicBezTo>
                  <a:pt x="10651" y="72051"/>
                  <a:pt x="5515" y="72051"/>
                  <a:pt x="2353" y="75213"/>
                </a:cubicBezTo>
                <a:cubicBezTo>
                  <a:pt x="-810" y="78376"/>
                  <a:pt x="-810" y="83511"/>
                  <a:pt x="2353" y="86674"/>
                </a:cubicBezTo>
                <a:lnTo>
                  <a:pt x="42831" y="127152"/>
                </a:ln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9" name="Text 16"/>
          <p:cNvSpPr/>
          <p:nvPr/>
        </p:nvSpPr>
        <p:spPr>
          <a:xfrm>
            <a:off x="850846" y="2952876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流动性收紧 + 业绩miss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7649" y="3211936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TGA上升、加息预期叠加业绩不及预期，市场面临</a:t>
            </a:r>
            <a:r>
              <a:rPr lang="en-US" sz="892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双杀风险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，估值与盈利双杀。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6046" y="1505785"/>
            <a:ext cx="5691219" cy="2185817"/>
          </a:xfrm>
          <a:custGeom>
            <a:avLst/>
            <a:gdLst/>
            <a:ahLst/>
            <a:cxnLst/>
            <a:rect l="l" t="t" r="r" b="b"/>
            <a:pathLst>
              <a:path w="5691219" h="2185817">
                <a:moveTo>
                  <a:pt x="97138" y="0"/>
                </a:moveTo>
                <a:lnTo>
                  <a:pt x="5594081" y="0"/>
                </a:lnTo>
                <a:cubicBezTo>
                  <a:pt x="5647729" y="0"/>
                  <a:pt x="5691219" y="43490"/>
                  <a:pt x="5691219" y="97138"/>
                </a:cubicBezTo>
                <a:lnTo>
                  <a:pt x="5691219" y="2088679"/>
                </a:lnTo>
                <a:cubicBezTo>
                  <a:pt x="5691219" y="2142327"/>
                  <a:pt x="5647729" y="2185817"/>
                  <a:pt x="5594081" y="2185817"/>
                </a:cubicBezTo>
                <a:lnTo>
                  <a:pt x="97138" y="2185817"/>
                </a:lnTo>
                <a:cubicBezTo>
                  <a:pt x="43490" y="2185817"/>
                  <a:pt x="0" y="2142327"/>
                  <a:pt x="0" y="2088679"/>
                </a:cubicBezTo>
                <a:lnTo>
                  <a:pt x="0" y="97138"/>
                </a:lnTo>
                <a:cubicBezTo>
                  <a:pt x="0" y="43490"/>
                  <a:pt x="43490" y="0"/>
                  <a:pt x="971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574" dist="323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68316" y="1700080"/>
            <a:ext cx="141673" cy="161912"/>
          </a:xfrm>
          <a:custGeom>
            <a:avLst/>
            <a:gdLst/>
            <a:ahLst/>
            <a:cxnLst/>
            <a:rect l="l" t="t" r="r" b="b"/>
            <a:pathLst>
              <a:path w="141673" h="161912">
                <a:moveTo>
                  <a:pt x="119727" y="25868"/>
                </a:moveTo>
                <a:cubicBezTo>
                  <a:pt x="122826" y="21219"/>
                  <a:pt x="121561" y="14926"/>
                  <a:pt x="116912" y="11827"/>
                </a:cubicBezTo>
                <a:cubicBezTo>
                  <a:pt x="112263" y="8728"/>
                  <a:pt x="105970" y="9993"/>
                  <a:pt x="102871" y="14642"/>
                </a:cubicBezTo>
                <a:lnTo>
                  <a:pt x="85668" y="40478"/>
                </a:lnTo>
                <a:lnTo>
                  <a:pt x="10120" y="40478"/>
                </a:lnTo>
                <a:cubicBezTo>
                  <a:pt x="4522" y="40478"/>
                  <a:pt x="0" y="45000"/>
                  <a:pt x="0" y="50598"/>
                </a:cubicBezTo>
                <a:cubicBezTo>
                  <a:pt x="0" y="56195"/>
                  <a:pt x="4522" y="60717"/>
                  <a:pt x="10120" y="60717"/>
                </a:cubicBezTo>
                <a:lnTo>
                  <a:pt x="72165" y="60717"/>
                </a:lnTo>
                <a:lnTo>
                  <a:pt x="45190" y="101195"/>
                </a:lnTo>
                <a:lnTo>
                  <a:pt x="10120" y="101195"/>
                </a:lnTo>
                <a:cubicBezTo>
                  <a:pt x="4522" y="101195"/>
                  <a:pt x="0" y="105717"/>
                  <a:pt x="0" y="111315"/>
                </a:cubicBezTo>
                <a:cubicBezTo>
                  <a:pt x="0" y="116912"/>
                  <a:pt x="4522" y="121434"/>
                  <a:pt x="10120" y="121434"/>
                </a:cubicBezTo>
                <a:lnTo>
                  <a:pt x="31687" y="121434"/>
                </a:lnTo>
                <a:lnTo>
                  <a:pt x="21947" y="136044"/>
                </a:lnTo>
                <a:cubicBezTo>
                  <a:pt x="18848" y="140693"/>
                  <a:pt x="20113" y="146986"/>
                  <a:pt x="24761" y="150085"/>
                </a:cubicBezTo>
                <a:cubicBezTo>
                  <a:pt x="29410" y="153184"/>
                  <a:pt x="35703" y="151919"/>
                  <a:pt x="38802" y="147271"/>
                </a:cubicBezTo>
                <a:lnTo>
                  <a:pt x="56005" y="121434"/>
                </a:lnTo>
                <a:lnTo>
                  <a:pt x="131554" y="121434"/>
                </a:lnTo>
                <a:cubicBezTo>
                  <a:pt x="137151" y="121434"/>
                  <a:pt x="141673" y="116912"/>
                  <a:pt x="141673" y="111315"/>
                </a:cubicBezTo>
                <a:cubicBezTo>
                  <a:pt x="141673" y="105717"/>
                  <a:pt x="137151" y="101195"/>
                  <a:pt x="131554" y="101195"/>
                </a:cubicBezTo>
                <a:lnTo>
                  <a:pt x="69508" y="101195"/>
                </a:lnTo>
                <a:lnTo>
                  <a:pt x="96483" y="60717"/>
                </a:lnTo>
                <a:lnTo>
                  <a:pt x="131554" y="60717"/>
                </a:lnTo>
                <a:cubicBezTo>
                  <a:pt x="137151" y="60717"/>
                  <a:pt x="141673" y="56195"/>
                  <a:pt x="141673" y="50598"/>
                </a:cubicBezTo>
                <a:cubicBezTo>
                  <a:pt x="141673" y="45000"/>
                  <a:pt x="137151" y="40478"/>
                  <a:pt x="131554" y="40478"/>
                </a:cubicBezTo>
                <a:lnTo>
                  <a:pt x="109987" y="40478"/>
                </a:lnTo>
                <a:lnTo>
                  <a:pt x="119727" y="25868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3" name="Text 20"/>
          <p:cNvSpPr/>
          <p:nvPr/>
        </p:nvSpPr>
        <p:spPr>
          <a:xfrm>
            <a:off x="6540348" y="1667697"/>
            <a:ext cx="5245960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背离情景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54149" y="2023904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A95EAF">
                  <a:alpha val="10000"/>
                </a:srgbClr>
              </a:gs>
              <a:gs pos="100000">
                <a:srgbClr val="8F5C9A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5" name="Shape 22"/>
          <p:cNvSpPr/>
          <p:nvPr/>
        </p:nvSpPr>
        <p:spPr>
          <a:xfrm>
            <a:off x="6354149" y="2023904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6" name="Shape 23"/>
          <p:cNvSpPr/>
          <p:nvPr/>
        </p:nvSpPr>
        <p:spPr>
          <a:xfrm>
            <a:off x="6516061" y="2179342"/>
            <a:ext cx="129530" cy="129530"/>
          </a:xfrm>
          <a:custGeom>
            <a:avLst/>
            <a:gdLst/>
            <a:ahLst/>
            <a:cxnLst/>
            <a:rect l="l" t="t" r="r" b="b"/>
            <a:pathLst>
              <a:path w="129530" h="129530">
                <a:moveTo>
                  <a:pt x="115363" y="56669"/>
                </a:moveTo>
                <a:lnTo>
                  <a:pt x="78932" y="56669"/>
                </a:lnTo>
                <a:cubicBezTo>
                  <a:pt x="75568" y="56669"/>
                  <a:pt x="72861" y="53962"/>
                  <a:pt x="72861" y="50598"/>
                </a:cubicBezTo>
                <a:lnTo>
                  <a:pt x="72861" y="14167"/>
                </a:lnTo>
                <a:cubicBezTo>
                  <a:pt x="72861" y="11713"/>
                  <a:pt x="74328" y="9487"/>
                  <a:pt x="76605" y="8551"/>
                </a:cubicBezTo>
                <a:cubicBezTo>
                  <a:pt x="78882" y="7615"/>
                  <a:pt x="81487" y="8146"/>
                  <a:pt x="83233" y="9867"/>
                </a:cubicBezTo>
                <a:lnTo>
                  <a:pt x="93353" y="19986"/>
                </a:lnTo>
                <a:lnTo>
                  <a:pt x="111922" y="1417"/>
                </a:lnTo>
                <a:cubicBezTo>
                  <a:pt x="112833" y="506"/>
                  <a:pt x="114072" y="0"/>
                  <a:pt x="115363" y="0"/>
                </a:cubicBezTo>
                <a:cubicBezTo>
                  <a:pt x="116653" y="0"/>
                  <a:pt x="117892" y="506"/>
                  <a:pt x="118828" y="1442"/>
                </a:cubicBezTo>
                <a:lnTo>
                  <a:pt x="128113" y="10727"/>
                </a:lnTo>
                <a:cubicBezTo>
                  <a:pt x="129024" y="11637"/>
                  <a:pt x="129530" y="12877"/>
                  <a:pt x="129530" y="14167"/>
                </a:cubicBezTo>
                <a:cubicBezTo>
                  <a:pt x="129530" y="15458"/>
                  <a:pt x="129024" y="16697"/>
                  <a:pt x="128088" y="17633"/>
                </a:cubicBezTo>
                <a:lnTo>
                  <a:pt x="109544" y="36177"/>
                </a:lnTo>
                <a:lnTo>
                  <a:pt x="119663" y="46297"/>
                </a:lnTo>
                <a:cubicBezTo>
                  <a:pt x="121409" y="48042"/>
                  <a:pt x="121915" y="50648"/>
                  <a:pt x="120979" y="52925"/>
                </a:cubicBezTo>
                <a:cubicBezTo>
                  <a:pt x="120043" y="55202"/>
                  <a:pt x="117817" y="56669"/>
                  <a:pt x="115363" y="56669"/>
                </a:cubicBezTo>
                <a:close/>
                <a:moveTo>
                  <a:pt x="115363" y="72861"/>
                </a:moveTo>
                <a:cubicBezTo>
                  <a:pt x="117817" y="72861"/>
                  <a:pt x="120043" y="74328"/>
                  <a:pt x="120979" y="76605"/>
                </a:cubicBezTo>
                <a:cubicBezTo>
                  <a:pt x="121915" y="78882"/>
                  <a:pt x="121409" y="81487"/>
                  <a:pt x="119663" y="83233"/>
                </a:cubicBezTo>
                <a:lnTo>
                  <a:pt x="109544" y="93353"/>
                </a:lnTo>
                <a:lnTo>
                  <a:pt x="128113" y="111922"/>
                </a:lnTo>
                <a:cubicBezTo>
                  <a:pt x="129024" y="112833"/>
                  <a:pt x="129555" y="114072"/>
                  <a:pt x="129555" y="115388"/>
                </a:cubicBezTo>
                <a:cubicBezTo>
                  <a:pt x="129555" y="116703"/>
                  <a:pt x="129049" y="117918"/>
                  <a:pt x="128113" y="118854"/>
                </a:cubicBezTo>
                <a:lnTo>
                  <a:pt x="118828" y="128138"/>
                </a:lnTo>
                <a:cubicBezTo>
                  <a:pt x="117892" y="129024"/>
                  <a:pt x="116653" y="129530"/>
                  <a:pt x="115363" y="129530"/>
                </a:cubicBezTo>
                <a:cubicBezTo>
                  <a:pt x="114072" y="129530"/>
                  <a:pt x="112833" y="129024"/>
                  <a:pt x="111897" y="128088"/>
                </a:cubicBezTo>
                <a:lnTo>
                  <a:pt x="93353" y="109544"/>
                </a:lnTo>
                <a:lnTo>
                  <a:pt x="83233" y="119663"/>
                </a:lnTo>
                <a:cubicBezTo>
                  <a:pt x="81487" y="121409"/>
                  <a:pt x="78882" y="121915"/>
                  <a:pt x="76605" y="120979"/>
                </a:cubicBezTo>
                <a:cubicBezTo>
                  <a:pt x="74328" y="120043"/>
                  <a:pt x="72861" y="117817"/>
                  <a:pt x="72861" y="115363"/>
                </a:cubicBezTo>
                <a:lnTo>
                  <a:pt x="72861" y="78932"/>
                </a:lnTo>
                <a:cubicBezTo>
                  <a:pt x="72861" y="75568"/>
                  <a:pt x="75568" y="72861"/>
                  <a:pt x="78932" y="72861"/>
                </a:cubicBezTo>
                <a:lnTo>
                  <a:pt x="115363" y="72861"/>
                </a:lnTo>
                <a:close/>
                <a:moveTo>
                  <a:pt x="50598" y="72861"/>
                </a:moveTo>
                <a:cubicBezTo>
                  <a:pt x="53962" y="72861"/>
                  <a:pt x="56669" y="75568"/>
                  <a:pt x="56669" y="78932"/>
                </a:cubicBezTo>
                <a:lnTo>
                  <a:pt x="56669" y="115363"/>
                </a:lnTo>
                <a:cubicBezTo>
                  <a:pt x="56669" y="117817"/>
                  <a:pt x="55202" y="120043"/>
                  <a:pt x="52925" y="120979"/>
                </a:cubicBezTo>
                <a:cubicBezTo>
                  <a:pt x="50648" y="121915"/>
                  <a:pt x="48042" y="121409"/>
                  <a:pt x="46297" y="119663"/>
                </a:cubicBezTo>
                <a:lnTo>
                  <a:pt x="36177" y="109544"/>
                </a:lnTo>
                <a:lnTo>
                  <a:pt x="17608" y="128113"/>
                </a:lnTo>
                <a:cubicBezTo>
                  <a:pt x="16697" y="129024"/>
                  <a:pt x="15458" y="129530"/>
                  <a:pt x="14167" y="129530"/>
                </a:cubicBezTo>
                <a:cubicBezTo>
                  <a:pt x="12877" y="129530"/>
                  <a:pt x="11637" y="129024"/>
                  <a:pt x="10701" y="128088"/>
                </a:cubicBezTo>
                <a:lnTo>
                  <a:pt x="1442" y="118828"/>
                </a:lnTo>
                <a:cubicBezTo>
                  <a:pt x="506" y="117892"/>
                  <a:pt x="0" y="116653"/>
                  <a:pt x="0" y="115363"/>
                </a:cubicBezTo>
                <a:cubicBezTo>
                  <a:pt x="0" y="114072"/>
                  <a:pt x="506" y="112833"/>
                  <a:pt x="1442" y="111897"/>
                </a:cubicBezTo>
                <a:lnTo>
                  <a:pt x="19986" y="93353"/>
                </a:lnTo>
                <a:lnTo>
                  <a:pt x="9867" y="83233"/>
                </a:lnTo>
                <a:cubicBezTo>
                  <a:pt x="8121" y="81487"/>
                  <a:pt x="7615" y="78882"/>
                  <a:pt x="8551" y="76605"/>
                </a:cubicBezTo>
                <a:cubicBezTo>
                  <a:pt x="9487" y="74328"/>
                  <a:pt x="11713" y="72861"/>
                  <a:pt x="14167" y="72861"/>
                </a:cubicBezTo>
                <a:lnTo>
                  <a:pt x="50598" y="72861"/>
                </a:lnTo>
                <a:close/>
                <a:moveTo>
                  <a:pt x="14167" y="56669"/>
                </a:moveTo>
                <a:cubicBezTo>
                  <a:pt x="11713" y="56669"/>
                  <a:pt x="9487" y="55202"/>
                  <a:pt x="8551" y="52925"/>
                </a:cubicBezTo>
                <a:cubicBezTo>
                  <a:pt x="7615" y="50648"/>
                  <a:pt x="8146" y="48042"/>
                  <a:pt x="9867" y="46297"/>
                </a:cubicBezTo>
                <a:lnTo>
                  <a:pt x="19986" y="36177"/>
                </a:lnTo>
                <a:lnTo>
                  <a:pt x="1442" y="17633"/>
                </a:lnTo>
                <a:cubicBezTo>
                  <a:pt x="506" y="16697"/>
                  <a:pt x="0" y="15458"/>
                  <a:pt x="0" y="14167"/>
                </a:cubicBezTo>
                <a:cubicBezTo>
                  <a:pt x="0" y="12877"/>
                  <a:pt x="506" y="11637"/>
                  <a:pt x="1442" y="10701"/>
                </a:cubicBezTo>
                <a:lnTo>
                  <a:pt x="10701" y="1442"/>
                </a:lnTo>
                <a:cubicBezTo>
                  <a:pt x="11637" y="506"/>
                  <a:pt x="12877" y="0"/>
                  <a:pt x="14167" y="0"/>
                </a:cubicBezTo>
                <a:cubicBezTo>
                  <a:pt x="15458" y="0"/>
                  <a:pt x="16697" y="506"/>
                  <a:pt x="17633" y="1442"/>
                </a:cubicBezTo>
                <a:lnTo>
                  <a:pt x="36177" y="19986"/>
                </a:lnTo>
                <a:lnTo>
                  <a:pt x="46297" y="9867"/>
                </a:lnTo>
                <a:cubicBezTo>
                  <a:pt x="48042" y="8121"/>
                  <a:pt x="50648" y="7615"/>
                  <a:pt x="52925" y="8551"/>
                </a:cubicBezTo>
                <a:cubicBezTo>
                  <a:pt x="55202" y="9487"/>
                  <a:pt x="56669" y="11713"/>
                  <a:pt x="56669" y="14167"/>
                </a:cubicBezTo>
                <a:lnTo>
                  <a:pt x="56669" y="50598"/>
                </a:lnTo>
                <a:cubicBezTo>
                  <a:pt x="56669" y="53962"/>
                  <a:pt x="53962" y="56669"/>
                  <a:pt x="50598" y="56669"/>
                </a:cubicBezTo>
                <a:lnTo>
                  <a:pt x="14167" y="56669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7" name="Text 24"/>
          <p:cNvSpPr/>
          <p:nvPr/>
        </p:nvSpPr>
        <p:spPr>
          <a:xfrm>
            <a:off x="6703067" y="2153434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流动性宽松 + 业绩miss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99870" y="2412494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流动性支撑估值，但业绩疲软限制涨幅，市场呈现</a:t>
            </a:r>
            <a:r>
              <a:rPr lang="en-US" sz="892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震荡格局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，结构性行情为主。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54149" y="2823347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10000"/>
                </a:srgbClr>
              </a:gs>
              <a:gs pos="100000">
                <a:srgbClr val="7C1D5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6354149" y="2823347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1" name="Shape 28"/>
          <p:cNvSpPr/>
          <p:nvPr/>
        </p:nvSpPr>
        <p:spPr>
          <a:xfrm>
            <a:off x="6524157" y="2978784"/>
            <a:ext cx="113339" cy="129530"/>
          </a:xfrm>
          <a:custGeom>
            <a:avLst/>
            <a:gdLst/>
            <a:ahLst/>
            <a:cxnLst/>
            <a:rect l="l" t="t" r="r" b="b"/>
            <a:pathLst>
              <a:path w="113339" h="129530">
                <a:moveTo>
                  <a:pt x="42502" y="8096"/>
                </a:moveTo>
                <a:lnTo>
                  <a:pt x="6072" y="8096"/>
                </a:lnTo>
                <a:cubicBezTo>
                  <a:pt x="2707" y="8096"/>
                  <a:pt x="0" y="10803"/>
                  <a:pt x="0" y="14167"/>
                </a:cubicBezTo>
                <a:lnTo>
                  <a:pt x="0" y="50598"/>
                </a:lnTo>
                <a:cubicBezTo>
                  <a:pt x="0" y="53052"/>
                  <a:pt x="1467" y="55278"/>
                  <a:pt x="3744" y="56214"/>
                </a:cubicBezTo>
                <a:cubicBezTo>
                  <a:pt x="6021" y="57150"/>
                  <a:pt x="8627" y="56619"/>
                  <a:pt x="10373" y="54898"/>
                </a:cubicBezTo>
                <a:lnTo>
                  <a:pt x="20492" y="44779"/>
                </a:lnTo>
                <a:lnTo>
                  <a:pt x="40478" y="64765"/>
                </a:lnTo>
                <a:lnTo>
                  <a:pt x="20492" y="84751"/>
                </a:lnTo>
                <a:lnTo>
                  <a:pt x="10373" y="74631"/>
                </a:lnTo>
                <a:cubicBezTo>
                  <a:pt x="8627" y="72886"/>
                  <a:pt x="6021" y="72380"/>
                  <a:pt x="3744" y="73316"/>
                </a:cubicBezTo>
                <a:cubicBezTo>
                  <a:pt x="1467" y="74252"/>
                  <a:pt x="0" y="76478"/>
                  <a:pt x="0" y="78932"/>
                </a:cubicBezTo>
                <a:lnTo>
                  <a:pt x="0" y="115363"/>
                </a:lnTo>
                <a:cubicBezTo>
                  <a:pt x="0" y="118727"/>
                  <a:pt x="2707" y="121434"/>
                  <a:pt x="6072" y="121434"/>
                </a:cubicBezTo>
                <a:lnTo>
                  <a:pt x="42502" y="121434"/>
                </a:lnTo>
                <a:cubicBezTo>
                  <a:pt x="44956" y="121434"/>
                  <a:pt x="47182" y="119967"/>
                  <a:pt x="48118" y="117690"/>
                </a:cubicBezTo>
                <a:cubicBezTo>
                  <a:pt x="49054" y="115413"/>
                  <a:pt x="48548" y="112807"/>
                  <a:pt x="46803" y="111062"/>
                </a:cubicBezTo>
                <a:lnTo>
                  <a:pt x="36683" y="100942"/>
                </a:lnTo>
                <a:lnTo>
                  <a:pt x="56669" y="80956"/>
                </a:lnTo>
                <a:lnTo>
                  <a:pt x="76655" y="100942"/>
                </a:lnTo>
                <a:lnTo>
                  <a:pt x="66536" y="111062"/>
                </a:lnTo>
                <a:cubicBezTo>
                  <a:pt x="64790" y="112807"/>
                  <a:pt x="64284" y="115413"/>
                  <a:pt x="65220" y="117690"/>
                </a:cubicBezTo>
                <a:cubicBezTo>
                  <a:pt x="66156" y="119967"/>
                  <a:pt x="68383" y="121434"/>
                  <a:pt x="70837" y="121434"/>
                </a:cubicBezTo>
                <a:lnTo>
                  <a:pt x="107267" y="121434"/>
                </a:lnTo>
                <a:cubicBezTo>
                  <a:pt x="110632" y="121434"/>
                  <a:pt x="113339" y="118727"/>
                  <a:pt x="113339" y="115363"/>
                </a:cubicBezTo>
                <a:lnTo>
                  <a:pt x="113339" y="78932"/>
                </a:lnTo>
                <a:cubicBezTo>
                  <a:pt x="113339" y="76478"/>
                  <a:pt x="111871" y="74252"/>
                  <a:pt x="109594" y="73316"/>
                </a:cubicBezTo>
                <a:cubicBezTo>
                  <a:pt x="107318" y="72380"/>
                  <a:pt x="104712" y="72886"/>
                  <a:pt x="102966" y="74631"/>
                </a:cubicBezTo>
                <a:lnTo>
                  <a:pt x="92847" y="84751"/>
                </a:lnTo>
                <a:lnTo>
                  <a:pt x="72861" y="64765"/>
                </a:lnTo>
                <a:lnTo>
                  <a:pt x="92847" y="44779"/>
                </a:lnTo>
                <a:lnTo>
                  <a:pt x="102966" y="54898"/>
                </a:lnTo>
                <a:cubicBezTo>
                  <a:pt x="104712" y="56644"/>
                  <a:pt x="107318" y="57150"/>
                  <a:pt x="109594" y="56214"/>
                </a:cubicBezTo>
                <a:cubicBezTo>
                  <a:pt x="111871" y="55278"/>
                  <a:pt x="113339" y="53052"/>
                  <a:pt x="113339" y="50598"/>
                </a:cubicBezTo>
                <a:lnTo>
                  <a:pt x="113339" y="14167"/>
                </a:lnTo>
                <a:cubicBezTo>
                  <a:pt x="113339" y="10803"/>
                  <a:pt x="110632" y="8096"/>
                  <a:pt x="107267" y="8096"/>
                </a:cubicBezTo>
                <a:lnTo>
                  <a:pt x="70837" y="8096"/>
                </a:lnTo>
                <a:cubicBezTo>
                  <a:pt x="68383" y="8096"/>
                  <a:pt x="66156" y="9563"/>
                  <a:pt x="65220" y="11840"/>
                </a:cubicBezTo>
                <a:cubicBezTo>
                  <a:pt x="64284" y="14117"/>
                  <a:pt x="64816" y="16723"/>
                  <a:pt x="66536" y="18468"/>
                </a:cubicBezTo>
                <a:lnTo>
                  <a:pt x="76655" y="28588"/>
                </a:lnTo>
                <a:lnTo>
                  <a:pt x="56669" y="48574"/>
                </a:lnTo>
                <a:lnTo>
                  <a:pt x="36683" y="28588"/>
                </a:lnTo>
                <a:lnTo>
                  <a:pt x="46803" y="18468"/>
                </a:lnTo>
                <a:cubicBezTo>
                  <a:pt x="48548" y="16723"/>
                  <a:pt x="49054" y="14117"/>
                  <a:pt x="48118" y="11840"/>
                </a:cubicBezTo>
                <a:cubicBezTo>
                  <a:pt x="47182" y="9563"/>
                  <a:pt x="44956" y="8096"/>
                  <a:pt x="42502" y="8096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2" name="Text 29"/>
          <p:cNvSpPr/>
          <p:nvPr/>
        </p:nvSpPr>
        <p:spPr>
          <a:xfrm>
            <a:off x="6703067" y="2952876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流动性收紧 + 业绩超预期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99870" y="3211936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业绩支撑个别标的，但流动性压制整体估值，市场呈现</a:t>
            </a:r>
            <a:r>
              <a:rPr lang="en-US" sz="892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分化格局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，精选个股为主。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23825" y="3817084"/>
            <a:ext cx="11544351" cy="2720127"/>
          </a:xfrm>
          <a:custGeom>
            <a:avLst/>
            <a:gdLst/>
            <a:ahLst/>
            <a:cxnLst/>
            <a:rect l="l" t="t" r="r" b="b"/>
            <a:pathLst>
              <a:path w="11544351" h="2720127">
                <a:moveTo>
                  <a:pt x="97136" y="0"/>
                </a:moveTo>
                <a:lnTo>
                  <a:pt x="11447215" y="0"/>
                </a:lnTo>
                <a:cubicBezTo>
                  <a:pt x="11500861" y="0"/>
                  <a:pt x="11544351" y="43489"/>
                  <a:pt x="11544351" y="97136"/>
                </a:cubicBezTo>
                <a:lnTo>
                  <a:pt x="11544351" y="2622992"/>
                </a:lnTo>
                <a:cubicBezTo>
                  <a:pt x="11544351" y="2676638"/>
                  <a:pt x="11500861" y="2720127"/>
                  <a:pt x="11447215" y="2720127"/>
                </a:cubicBezTo>
                <a:lnTo>
                  <a:pt x="97136" y="2720127"/>
                </a:lnTo>
                <a:cubicBezTo>
                  <a:pt x="43489" y="2720127"/>
                  <a:pt x="0" y="2676638"/>
                  <a:pt x="0" y="2622992"/>
                </a:cubicBezTo>
                <a:lnTo>
                  <a:pt x="0" y="97136"/>
                </a:lnTo>
                <a:cubicBezTo>
                  <a:pt x="0" y="43525"/>
                  <a:pt x="43525" y="0"/>
                  <a:pt x="971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574" dist="323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16096" y="4011378"/>
            <a:ext cx="141673" cy="161912"/>
          </a:xfrm>
          <a:custGeom>
            <a:avLst/>
            <a:gdLst/>
            <a:ahLst/>
            <a:cxnLst/>
            <a:rect l="l" t="t" r="r" b="b"/>
            <a:pathLst>
              <a:path w="141673" h="161912">
                <a:moveTo>
                  <a:pt x="121434" y="30359"/>
                </a:moveTo>
                <a:lnTo>
                  <a:pt x="121434" y="50598"/>
                </a:lnTo>
                <a:lnTo>
                  <a:pt x="101195" y="50598"/>
                </a:lnTo>
                <a:lnTo>
                  <a:pt x="101195" y="30359"/>
                </a:lnTo>
                <a:lnTo>
                  <a:pt x="121434" y="30359"/>
                </a:lnTo>
                <a:close/>
                <a:moveTo>
                  <a:pt x="121434" y="70837"/>
                </a:moveTo>
                <a:lnTo>
                  <a:pt x="121434" y="91076"/>
                </a:lnTo>
                <a:lnTo>
                  <a:pt x="101195" y="91076"/>
                </a:lnTo>
                <a:lnTo>
                  <a:pt x="101195" y="70837"/>
                </a:lnTo>
                <a:lnTo>
                  <a:pt x="121434" y="70837"/>
                </a:lnTo>
                <a:close/>
                <a:moveTo>
                  <a:pt x="121434" y="111315"/>
                </a:moveTo>
                <a:lnTo>
                  <a:pt x="121434" y="131554"/>
                </a:lnTo>
                <a:lnTo>
                  <a:pt x="101195" y="131554"/>
                </a:lnTo>
                <a:lnTo>
                  <a:pt x="101195" y="111315"/>
                </a:lnTo>
                <a:lnTo>
                  <a:pt x="121434" y="111315"/>
                </a:lnTo>
                <a:close/>
                <a:moveTo>
                  <a:pt x="80956" y="91076"/>
                </a:moveTo>
                <a:lnTo>
                  <a:pt x="60717" y="91076"/>
                </a:lnTo>
                <a:lnTo>
                  <a:pt x="60717" y="70837"/>
                </a:lnTo>
                <a:lnTo>
                  <a:pt x="80956" y="70837"/>
                </a:lnTo>
                <a:lnTo>
                  <a:pt x="80956" y="91076"/>
                </a:lnTo>
                <a:close/>
                <a:moveTo>
                  <a:pt x="60717" y="111315"/>
                </a:moveTo>
                <a:lnTo>
                  <a:pt x="80956" y="111315"/>
                </a:lnTo>
                <a:lnTo>
                  <a:pt x="80956" y="131554"/>
                </a:lnTo>
                <a:lnTo>
                  <a:pt x="60717" y="131554"/>
                </a:lnTo>
                <a:lnTo>
                  <a:pt x="60717" y="111315"/>
                </a:lnTo>
                <a:close/>
                <a:moveTo>
                  <a:pt x="40478" y="91076"/>
                </a:moveTo>
                <a:lnTo>
                  <a:pt x="20239" y="91076"/>
                </a:lnTo>
                <a:lnTo>
                  <a:pt x="20239" y="70837"/>
                </a:lnTo>
                <a:lnTo>
                  <a:pt x="40478" y="70837"/>
                </a:lnTo>
                <a:lnTo>
                  <a:pt x="40478" y="91076"/>
                </a:lnTo>
                <a:close/>
                <a:moveTo>
                  <a:pt x="20239" y="111315"/>
                </a:moveTo>
                <a:lnTo>
                  <a:pt x="40478" y="111315"/>
                </a:lnTo>
                <a:lnTo>
                  <a:pt x="40478" y="131554"/>
                </a:lnTo>
                <a:lnTo>
                  <a:pt x="20239" y="131554"/>
                </a:lnTo>
                <a:lnTo>
                  <a:pt x="20239" y="111315"/>
                </a:lnTo>
                <a:close/>
                <a:moveTo>
                  <a:pt x="20239" y="50598"/>
                </a:moveTo>
                <a:lnTo>
                  <a:pt x="20239" y="30359"/>
                </a:lnTo>
                <a:lnTo>
                  <a:pt x="40478" y="30359"/>
                </a:lnTo>
                <a:lnTo>
                  <a:pt x="40478" y="50598"/>
                </a:lnTo>
                <a:lnTo>
                  <a:pt x="20239" y="50598"/>
                </a:lnTo>
                <a:close/>
                <a:moveTo>
                  <a:pt x="60717" y="50598"/>
                </a:moveTo>
                <a:lnTo>
                  <a:pt x="60717" y="30359"/>
                </a:lnTo>
                <a:lnTo>
                  <a:pt x="80956" y="30359"/>
                </a:lnTo>
                <a:lnTo>
                  <a:pt x="80956" y="50598"/>
                </a:lnTo>
                <a:lnTo>
                  <a:pt x="60717" y="50598"/>
                </a:lnTo>
                <a:close/>
                <a:moveTo>
                  <a:pt x="20239" y="10120"/>
                </a:moveTo>
                <a:cubicBezTo>
                  <a:pt x="9076" y="10120"/>
                  <a:pt x="0" y="19195"/>
                  <a:pt x="0" y="30359"/>
                </a:cubicBezTo>
                <a:lnTo>
                  <a:pt x="0" y="131554"/>
                </a:lnTo>
                <a:cubicBezTo>
                  <a:pt x="0" y="142717"/>
                  <a:pt x="9076" y="151793"/>
                  <a:pt x="20239" y="151793"/>
                </a:cubicBezTo>
                <a:lnTo>
                  <a:pt x="121434" y="151793"/>
                </a:lnTo>
                <a:cubicBezTo>
                  <a:pt x="132597" y="151793"/>
                  <a:pt x="141673" y="142717"/>
                  <a:pt x="141673" y="131554"/>
                </a:cubicBezTo>
                <a:lnTo>
                  <a:pt x="141673" y="30359"/>
                </a:lnTo>
                <a:cubicBezTo>
                  <a:pt x="141673" y="19195"/>
                  <a:pt x="132597" y="10120"/>
                  <a:pt x="121434" y="10120"/>
                </a:cubicBezTo>
                <a:lnTo>
                  <a:pt x="20239" y="10120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6" name="Text 33"/>
          <p:cNvSpPr/>
          <p:nvPr/>
        </p:nvSpPr>
        <p:spPr>
          <a:xfrm>
            <a:off x="688127" y="3978996"/>
            <a:ext cx="11099092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市场走势预判矩阵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85737" y="4335203"/>
            <a:ext cx="3651124" cy="615267"/>
          </a:xfrm>
          <a:custGeom>
            <a:avLst/>
            <a:gdLst/>
            <a:ahLst/>
            <a:cxnLst/>
            <a:rect l="l" t="t" r="r" b="b"/>
            <a:pathLst>
              <a:path w="3651124" h="615267">
                <a:moveTo>
                  <a:pt x="64763" y="0"/>
                </a:moveTo>
                <a:lnTo>
                  <a:pt x="3586361" y="0"/>
                </a:lnTo>
                <a:cubicBezTo>
                  <a:pt x="3622128" y="0"/>
                  <a:pt x="3651124" y="28995"/>
                  <a:pt x="3651124" y="64763"/>
                </a:cubicBezTo>
                <a:lnTo>
                  <a:pt x="3651124" y="550504"/>
                </a:lnTo>
                <a:cubicBezTo>
                  <a:pt x="3651124" y="586272"/>
                  <a:pt x="3622128" y="615267"/>
                  <a:pt x="3586361" y="615267"/>
                </a:cubicBezTo>
                <a:lnTo>
                  <a:pt x="64763" y="615267"/>
                </a:lnTo>
                <a:cubicBezTo>
                  <a:pt x="28995" y="615267"/>
                  <a:pt x="0" y="586272"/>
                  <a:pt x="0" y="550504"/>
                </a:cubicBezTo>
                <a:lnTo>
                  <a:pt x="0" y="64763"/>
                </a:lnTo>
                <a:cubicBezTo>
                  <a:pt x="0" y="29019"/>
                  <a:pt x="29019" y="0"/>
                  <a:pt x="64763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54550" y="4432351"/>
            <a:ext cx="3513498" cy="16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2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 \ 业绩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50502" y="4659028"/>
            <a:ext cx="3521594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超预期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274891" y="4341680"/>
            <a:ext cx="3639790" cy="603933"/>
          </a:xfrm>
          <a:custGeom>
            <a:avLst/>
            <a:gdLst/>
            <a:ahLst/>
            <a:cxnLst/>
            <a:rect l="l" t="t" r="r" b="b"/>
            <a:pathLst>
              <a:path w="3639790" h="603933">
                <a:moveTo>
                  <a:pt x="64766" y="0"/>
                </a:moveTo>
                <a:lnTo>
                  <a:pt x="3575024" y="0"/>
                </a:lnTo>
                <a:cubicBezTo>
                  <a:pt x="3610793" y="0"/>
                  <a:pt x="3639790" y="28997"/>
                  <a:pt x="3639790" y="64766"/>
                </a:cubicBezTo>
                <a:lnTo>
                  <a:pt x="3639790" y="539167"/>
                </a:lnTo>
                <a:cubicBezTo>
                  <a:pt x="3639790" y="574936"/>
                  <a:pt x="3610793" y="603933"/>
                  <a:pt x="3575024" y="603933"/>
                </a:cubicBezTo>
                <a:lnTo>
                  <a:pt x="64766" y="603933"/>
                </a:lnTo>
                <a:cubicBezTo>
                  <a:pt x="28997" y="603933"/>
                  <a:pt x="0" y="574936"/>
                  <a:pt x="0" y="539167"/>
                </a:cubicBezTo>
                <a:lnTo>
                  <a:pt x="0" y="64766"/>
                </a:lnTo>
                <a:cubicBezTo>
                  <a:pt x="0" y="28997"/>
                  <a:pt x="28997" y="0"/>
                  <a:pt x="64766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 w="20320">
            <a:solidFill>
              <a:srgbClr val="8F5C9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46133" y="4445304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354228" y="4671982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TGA↓ 降息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069003" y="4341680"/>
            <a:ext cx="3639790" cy="603933"/>
          </a:xfrm>
          <a:custGeom>
            <a:avLst/>
            <a:gdLst/>
            <a:ahLst/>
            <a:cxnLst/>
            <a:rect l="l" t="t" r="r" b="b"/>
            <a:pathLst>
              <a:path w="3639790" h="603933">
                <a:moveTo>
                  <a:pt x="64766" y="0"/>
                </a:moveTo>
                <a:lnTo>
                  <a:pt x="3575024" y="0"/>
                </a:lnTo>
                <a:cubicBezTo>
                  <a:pt x="3610793" y="0"/>
                  <a:pt x="3639790" y="28997"/>
                  <a:pt x="3639790" y="64766"/>
                </a:cubicBezTo>
                <a:lnTo>
                  <a:pt x="3639790" y="539167"/>
                </a:lnTo>
                <a:cubicBezTo>
                  <a:pt x="3639790" y="574936"/>
                  <a:pt x="3610793" y="603933"/>
                  <a:pt x="3575024" y="603933"/>
                </a:cubicBezTo>
                <a:lnTo>
                  <a:pt x="64766" y="603933"/>
                </a:lnTo>
                <a:cubicBezTo>
                  <a:pt x="28997" y="603933"/>
                  <a:pt x="0" y="574936"/>
                  <a:pt x="0" y="539167"/>
                </a:cubicBezTo>
                <a:lnTo>
                  <a:pt x="0" y="64766"/>
                </a:lnTo>
                <a:cubicBezTo>
                  <a:pt x="0" y="28997"/>
                  <a:pt x="28997" y="0"/>
                  <a:pt x="64766" y="0"/>
                </a:cubicBezTo>
                <a:close/>
              </a:path>
            </a:pathLst>
          </a:custGeom>
          <a:solidFill>
            <a:srgbClr val="7C1D56">
              <a:alpha val="10196"/>
            </a:srgbClr>
          </a:solidFill>
          <a:ln w="20320">
            <a:solidFill>
              <a:srgbClr val="7C1D5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28911" y="4445304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收紧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137006" y="4671982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TGA↑ 加息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92214" y="5086476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 w="20320">
            <a:solidFill>
              <a:srgbClr val="8F5C9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3455" y="5190101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超预期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71551" y="5416778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765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主线</a:t>
            </a:r>
            <a:r>
              <a:rPr lang="en-US" sz="765" dirty="0" err="1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强劲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268414" y="5080000"/>
            <a:ext cx="3651124" cy="582884"/>
          </a:xfrm>
          <a:custGeom>
            <a:avLst/>
            <a:gdLst/>
            <a:ahLst/>
            <a:cxnLst/>
            <a:rect l="l" t="t" r="r" b="b"/>
            <a:pathLst>
              <a:path w="3651124" h="582884">
                <a:moveTo>
                  <a:pt x="64764" y="0"/>
                </a:moveTo>
                <a:lnTo>
                  <a:pt x="3586359" y="0"/>
                </a:lnTo>
                <a:cubicBezTo>
                  <a:pt x="3622128" y="0"/>
                  <a:pt x="3651124" y="28996"/>
                  <a:pt x="3651124" y="64764"/>
                </a:cubicBezTo>
                <a:lnTo>
                  <a:pt x="3651124" y="518120"/>
                </a:lnTo>
                <a:cubicBezTo>
                  <a:pt x="3651124" y="553889"/>
                  <a:pt x="3622128" y="582884"/>
                  <a:pt x="3586359" y="582884"/>
                </a:cubicBezTo>
                <a:lnTo>
                  <a:pt x="64764" y="582884"/>
                </a:lnTo>
                <a:cubicBezTo>
                  <a:pt x="28996" y="582884"/>
                  <a:pt x="0" y="553889"/>
                  <a:pt x="0" y="518120"/>
                </a:cubicBezTo>
                <a:lnTo>
                  <a:pt x="0" y="64764"/>
                </a:lnTo>
                <a:cubicBezTo>
                  <a:pt x="0" y="29020"/>
                  <a:pt x="29020" y="0"/>
                  <a:pt x="64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50" name="Text 47"/>
          <p:cNvSpPr/>
          <p:nvPr/>
        </p:nvSpPr>
        <p:spPr>
          <a:xfrm>
            <a:off x="4325084" y="5177147"/>
            <a:ext cx="3537785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主升浪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4341275" y="5436207"/>
            <a:ext cx="3505402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估值+盈利双击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057669" y="5086476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A95EAF">
              <a:alpha val="20000"/>
            </a:srgbClr>
          </a:solidFill>
          <a:ln w="20320">
            <a:solidFill>
              <a:srgbClr val="A95EA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28911" y="5190101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分化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137006" y="5416778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个股精选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492214" y="5798792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7C1D56">
              <a:alpha val="10196"/>
            </a:srgbClr>
          </a:solidFill>
          <a:ln w="20320">
            <a:solidFill>
              <a:srgbClr val="7C1D5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63455" y="5902413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71551" y="6129090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765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主线</a:t>
            </a:r>
            <a:r>
              <a:rPr lang="en-US" sz="765" dirty="0" err="1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疲软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4274891" y="5798792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A95EAF">
              <a:alpha val="20000"/>
            </a:srgbClr>
          </a:solidFill>
          <a:ln w="20320">
            <a:solidFill>
              <a:srgbClr val="A95EA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346133" y="5902413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震荡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354228" y="6129090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结构性行情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057669" y="5798792"/>
            <a:ext cx="3651124" cy="582884"/>
          </a:xfrm>
          <a:custGeom>
            <a:avLst/>
            <a:gdLst/>
            <a:ahLst/>
            <a:cxnLst/>
            <a:rect l="l" t="t" r="r" b="b"/>
            <a:pathLst>
              <a:path w="3651124" h="582884">
                <a:moveTo>
                  <a:pt x="64764" y="0"/>
                </a:moveTo>
                <a:lnTo>
                  <a:pt x="3586359" y="0"/>
                </a:lnTo>
                <a:cubicBezTo>
                  <a:pt x="3622128" y="0"/>
                  <a:pt x="3651124" y="28996"/>
                  <a:pt x="3651124" y="64764"/>
                </a:cubicBezTo>
                <a:lnTo>
                  <a:pt x="3651124" y="518120"/>
                </a:lnTo>
                <a:cubicBezTo>
                  <a:pt x="3651124" y="553889"/>
                  <a:pt x="3622128" y="582884"/>
                  <a:pt x="3586359" y="582884"/>
                </a:cubicBezTo>
                <a:lnTo>
                  <a:pt x="64764" y="582884"/>
                </a:lnTo>
                <a:cubicBezTo>
                  <a:pt x="28996" y="582884"/>
                  <a:pt x="0" y="553889"/>
                  <a:pt x="0" y="518120"/>
                </a:cubicBezTo>
                <a:lnTo>
                  <a:pt x="0" y="64764"/>
                </a:lnTo>
                <a:cubicBezTo>
                  <a:pt x="0" y="29020"/>
                  <a:pt x="29020" y="0"/>
                  <a:pt x="64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62" name="Text 59"/>
          <p:cNvSpPr/>
          <p:nvPr/>
        </p:nvSpPr>
        <p:spPr>
          <a:xfrm>
            <a:off x="8107862" y="5889463"/>
            <a:ext cx="3537785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双杀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124053" y="6148523"/>
            <a:ext cx="3505402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估值+盈利双杀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508125" cy="293688"/>
          </a:xfrm>
          <a:custGeom>
            <a:avLst/>
            <a:gdLst/>
            <a:ahLst/>
            <a:cxnLst/>
            <a:rect l="l" t="t" r="r" b="b"/>
            <a:pathLst>
              <a:path w="1508125" h="293688">
                <a:moveTo>
                  <a:pt x="146844" y="0"/>
                </a:moveTo>
                <a:lnTo>
                  <a:pt x="1361281" y="0"/>
                </a:lnTo>
                <a:cubicBezTo>
                  <a:pt x="1442327" y="0"/>
                  <a:pt x="1508125" y="65798"/>
                  <a:pt x="1508125" y="146844"/>
                </a:cubicBezTo>
                <a:lnTo>
                  <a:pt x="1508125" y="146844"/>
                </a:lnTo>
                <a:cubicBezTo>
                  <a:pt x="1508125" y="227889"/>
                  <a:pt x="1442327" y="293688"/>
                  <a:pt x="1361281" y="293688"/>
                </a:cubicBezTo>
                <a:lnTo>
                  <a:pt x="146844" y="293688"/>
                </a:lnTo>
                <a:cubicBezTo>
                  <a:pt x="65798" y="293688"/>
                  <a:pt x="0" y="227889"/>
                  <a:pt x="0" y="146844"/>
                </a:cubicBezTo>
                <a:lnTo>
                  <a:pt x="0" y="146844"/>
                </a:lnTo>
                <a:cubicBezTo>
                  <a:pt x="0" y="65798"/>
                  <a:pt x="65798" y="0"/>
                  <a:pt x="146844" y="0"/>
                </a:cubicBezTo>
                <a:close/>
              </a:path>
            </a:pathLst>
          </a:custGeom>
          <a:solidFill>
            <a:srgbClr val="C0A062">
              <a:alpha val="20000"/>
            </a:srgbClr>
          </a:solidFill>
          <a:ln w="12700">
            <a:solidFill>
              <a:srgbClr val="C0A062">
                <a:alpha val="5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2438" y="404813"/>
            <a:ext cx="1299766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C0A0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&amp; MONITORING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1437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风险提示与监测指标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12712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58094"/>
            <a:ext cx="5707063" cy="4643438"/>
          </a:xfrm>
          <a:custGeom>
            <a:avLst/>
            <a:gdLst/>
            <a:ahLst/>
            <a:cxnLst/>
            <a:rect l="l" t="t" r="r" b="b"/>
            <a:pathLst>
              <a:path w="5707063" h="4643438">
                <a:moveTo>
                  <a:pt x="95237" y="0"/>
                </a:moveTo>
                <a:lnTo>
                  <a:pt x="5611826" y="0"/>
                </a:lnTo>
                <a:cubicBezTo>
                  <a:pt x="5664423" y="0"/>
                  <a:pt x="5707063" y="42639"/>
                  <a:pt x="5707063" y="95237"/>
                </a:cubicBezTo>
                <a:lnTo>
                  <a:pt x="5707063" y="4548201"/>
                </a:lnTo>
                <a:cubicBezTo>
                  <a:pt x="5707063" y="4600798"/>
                  <a:pt x="5664423" y="4643438"/>
                  <a:pt x="5611826" y="4643438"/>
                </a:cubicBezTo>
                <a:lnTo>
                  <a:pt x="95237" y="4643438"/>
                </a:lnTo>
                <a:cubicBezTo>
                  <a:pt x="42639" y="4643438"/>
                  <a:pt x="0" y="4600798"/>
                  <a:pt x="0" y="4548201"/>
                </a:cubicBezTo>
                <a:lnTo>
                  <a:pt x="0" y="95237"/>
                </a:lnTo>
                <a:cubicBezTo>
                  <a:pt x="0" y="42674"/>
                  <a:pt x="42674" y="0"/>
                  <a:pt x="9523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1" y="14208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650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历史黑天鹅事件回顾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8313" y="1706563"/>
            <a:ext cx="5429250" cy="1016000"/>
          </a:xfrm>
          <a:custGeom>
            <a:avLst/>
            <a:gdLst/>
            <a:ahLst/>
            <a:cxnLst/>
            <a:rect l="l" t="t" r="r" b="b"/>
            <a:pathLst>
              <a:path w="5429250" h="1016000">
                <a:moveTo>
                  <a:pt x="3175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952500"/>
                </a:lnTo>
                <a:cubicBezTo>
                  <a:pt x="5429250" y="987547"/>
                  <a:pt x="5400797" y="1016000"/>
                  <a:pt x="5365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68313" y="1706563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1" name="Shape 9"/>
          <p:cNvSpPr/>
          <p:nvPr/>
        </p:nvSpPr>
        <p:spPr>
          <a:xfrm>
            <a:off x="608211" y="193675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44788" y="-7367"/>
                </a:moveTo>
                <a:cubicBezTo>
                  <a:pt x="47383" y="-9544"/>
                  <a:pt x="51206" y="-9460"/>
                  <a:pt x="53690" y="-7116"/>
                </a:cubicBezTo>
                <a:cubicBezTo>
                  <a:pt x="57122" y="-3879"/>
                  <a:pt x="60192" y="-307"/>
                  <a:pt x="63150" y="3321"/>
                </a:cubicBezTo>
                <a:cubicBezTo>
                  <a:pt x="66917" y="7925"/>
                  <a:pt x="71438" y="14008"/>
                  <a:pt x="75791" y="21236"/>
                </a:cubicBezTo>
                <a:cubicBezTo>
                  <a:pt x="77242" y="19338"/>
                  <a:pt x="78581" y="17664"/>
                  <a:pt x="79753" y="16241"/>
                </a:cubicBezTo>
                <a:cubicBezTo>
                  <a:pt x="80060" y="15878"/>
                  <a:pt x="80367" y="15487"/>
                  <a:pt x="80674" y="15097"/>
                </a:cubicBezTo>
                <a:cubicBezTo>
                  <a:pt x="82879" y="12362"/>
                  <a:pt x="85613" y="8930"/>
                  <a:pt x="89269" y="8930"/>
                </a:cubicBezTo>
                <a:cubicBezTo>
                  <a:pt x="93008" y="8930"/>
                  <a:pt x="95631" y="12250"/>
                  <a:pt x="97864" y="15097"/>
                </a:cubicBezTo>
                <a:cubicBezTo>
                  <a:pt x="98227" y="15571"/>
                  <a:pt x="98589" y="16018"/>
                  <a:pt x="98952" y="16436"/>
                </a:cubicBezTo>
                <a:cubicBezTo>
                  <a:pt x="101826" y="19896"/>
                  <a:pt x="105649" y="24892"/>
                  <a:pt x="109472" y="31059"/>
                </a:cubicBezTo>
                <a:cubicBezTo>
                  <a:pt x="117063" y="43309"/>
                  <a:pt x="124988" y="60750"/>
                  <a:pt x="124988" y="80339"/>
                </a:cubicBezTo>
                <a:cubicBezTo>
                  <a:pt x="124988" y="114858"/>
                  <a:pt x="96999" y="142847"/>
                  <a:pt x="62480" y="142847"/>
                </a:cubicBezTo>
                <a:cubicBezTo>
                  <a:pt x="27961" y="142847"/>
                  <a:pt x="0" y="114886"/>
                  <a:pt x="0" y="80367"/>
                </a:cubicBezTo>
                <a:cubicBezTo>
                  <a:pt x="0" y="54945"/>
                  <a:pt x="11469" y="32928"/>
                  <a:pt x="22464" y="17580"/>
                </a:cubicBezTo>
                <a:cubicBezTo>
                  <a:pt x="28017" y="9851"/>
                  <a:pt x="33542" y="3656"/>
                  <a:pt x="37700" y="-586"/>
                </a:cubicBezTo>
                <a:cubicBezTo>
                  <a:pt x="39988" y="-2930"/>
                  <a:pt x="42304" y="-5246"/>
                  <a:pt x="44816" y="-7339"/>
                </a:cubicBezTo>
                <a:close/>
                <a:moveTo>
                  <a:pt x="62982" y="116086"/>
                </a:moveTo>
                <a:cubicBezTo>
                  <a:pt x="70042" y="116086"/>
                  <a:pt x="76293" y="114133"/>
                  <a:pt x="82181" y="110226"/>
                </a:cubicBezTo>
                <a:cubicBezTo>
                  <a:pt x="93929" y="102022"/>
                  <a:pt x="97082" y="85613"/>
                  <a:pt x="90022" y="72721"/>
                </a:cubicBezTo>
                <a:cubicBezTo>
                  <a:pt x="88767" y="70210"/>
                  <a:pt x="85558" y="70042"/>
                  <a:pt x="83744" y="72163"/>
                </a:cubicBezTo>
                <a:lnTo>
                  <a:pt x="76712" y="80339"/>
                </a:lnTo>
                <a:cubicBezTo>
                  <a:pt x="74870" y="82460"/>
                  <a:pt x="71549" y="82404"/>
                  <a:pt x="69819" y="80200"/>
                </a:cubicBezTo>
                <a:cubicBezTo>
                  <a:pt x="64991" y="74033"/>
                  <a:pt x="56118" y="62787"/>
                  <a:pt x="51597" y="57038"/>
                </a:cubicBezTo>
                <a:cubicBezTo>
                  <a:pt x="50090" y="55113"/>
                  <a:pt x="47355" y="54806"/>
                  <a:pt x="45597" y="56508"/>
                </a:cubicBezTo>
                <a:cubicBezTo>
                  <a:pt x="40491" y="61475"/>
                  <a:pt x="31226" y="72358"/>
                  <a:pt x="31226" y="85613"/>
                </a:cubicBezTo>
                <a:cubicBezTo>
                  <a:pt x="31226" y="104756"/>
                  <a:pt x="45346" y="116086"/>
                  <a:pt x="62954" y="116086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2" name="Text 10"/>
          <p:cNvSpPr/>
          <p:nvPr/>
        </p:nvSpPr>
        <p:spPr>
          <a:xfrm>
            <a:off x="853281" y="18970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通胀反弹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23706" y="1801813"/>
            <a:ext cx="47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63394" y="2055813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8367" y="2293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2278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历史案例：1970年代、2008年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2258" y="24844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2468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预警信号：油价冲击、工资螺旋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8313" y="2786063"/>
            <a:ext cx="5429250" cy="1016000"/>
          </a:xfrm>
          <a:custGeom>
            <a:avLst/>
            <a:gdLst/>
            <a:ahLst/>
            <a:cxnLst/>
            <a:rect l="l" t="t" r="r" b="b"/>
            <a:pathLst>
              <a:path w="5429250" h="1016000">
                <a:moveTo>
                  <a:pt x="3175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952500"/>
                </a:lnTo>
                <a:cubicBezTo>
                  <a:pt x="5429250" y="987547"/>
                  <a:pt x="5400797" y="1016000"/>
                  <a:pt x="5365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8313" y="2786063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9281" y="3016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8390" y="63764"/>
                </a:moveTo>
                <a:cubicBezTo>
                  <a:pt x="22101" y="37812"/>
                  <a:pt x="44453" y="17859"/>
                  <a:pt x="71438" y="17859"/>
                </a:cubicBezTo>
                <a:cubicBezTo>
                  <a:pt x="86227" y="17859"/>
                  <a:pt x="99622" y="23859"/>
                  <a:pt x="109333" y="33542"/>
                </a:cubicBezTo>
                <a:cubicBezTo>
                  <a:pt x="109389" y="33598"/>
                  <a:pt x="109444" y="33654"/>
                  <a:pt x="109500" y="33710"/>
                </a:cubicBezTo>
                <a:lnTo>
                  <a:pt x="111621" y="35719"/>
                </a:lnTo>
                <a:lnTo>
                  <a:pt x="98254" y="35719"/>
                </a:lnTo>
                <a:cubicBezTo>
                  <a:pt x="93315" y="35719"/>
                  <a:pt x="89325" y="39709"/>
                  <a:pt x="89325" y="44648"/>
                </a:cubicBezTo>
                <a:cubicBezTo>
                  <a:pt x="89325" y="49588"/>
                  <a:pt x="93315" y="53578"/>
                  <a:pt x="98254" y="53578"/>
                </a:cubicBezTo>
                <a:lnTo>
                  <a:pt x="133973" y="53578"/>
                </a:lnTo>
                <a:cubicBezTo>
                  <a:pt x="138912" y="53578"/>
                  <a:pt x="142903" y="49588"/>
                  <a:pt x="142903" y="44648"/>
                </a:cubicBezTo>
                <a:lnTo>
                  <a:pt x="142903" y="8930"/>
                </a:lnTo>
                <a:cubicBezTo>
                  <a:pt x="142903" y="3990"/>
                  <a:pt x="138912" y="0"/>
                  <a:pt x="133973" y="0"/>
                </a:cubicBezTo>
                <a:cubicBezTo>
                  <a:pt x="129034" y="0"/>
                  <a:pt x="125044" y="3990"/>
                  <a:pt x="125044" y="8930"/>
                </a:cubicBezTo>
                <a:lnTo>
                  <a:pt x="125044" y="23831"/>
                </a:lnTo>
                <a:lnTo>
                  <a:pt x="121890" y="20845"/>
                </a:lnTo>
                <a:cubicBezTo>
                  <a:pt x="108970" y="7981"/>
                  <a:pt x="91111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lose/>
                <a:moveTo>
                  <a:pt x="142149" y="81623"/>
                </a:moveTo>
                <a:cubicBezTo>
                  <a:pt x="142847" y="76740"/>
                  <a:pt x="139443" y="72219"/>
                  <a:pt x="134587" y="71521"/>
                </a:cubicBezTo>
                <a:cubicBezTo>
                  <a:pt x="129732" y="70824"/>
                  <a:pt x="125183" y="74228"/>
                  <a:pt x="124485" y="79084"/>
                </a:cubicBezTo>
                <a:cubicBezTo>
                  <a:pt x="120774" y="105035"/>
                  <a:pt x="98422" y="124988"/>
                  <a:pt x="71438" y="124988"/>
                </a:cubicBezTo>
                <a:cubicBezTo>
                  <a:pt x="56648" y="124988"/>
                  <a:pt x="43253" y="118988"/>
                  <a:pt x="33542" y="109305"/>
                </a:cubicBezTo>
                <a:cubicBezTo>
                  <a:pt x="33486" y="109249"/>
                  <a:pt x="33431" y="109193"/>
                  <a:pt x="33375" y="109138"/>
                </a:cubicBezTo>
                <a:lnTo>
                  <a:pt x="31254" y="107128"/>
                </a:lnTo>
                <a:lnTo>
                  <a:pt x="44621" y="107128"/>
                </a:lnTo>
                <a:cubicBezTo>
                  <a:pt x="49560" y="107128"/>
                  <a:pt x="53550" y="103138"/>
                  <a:pt x="53550" y="98199"/>
                </a:cubicBezTo>
                <a:cubicBezTo>
                  <a:pt x="53550" y="93259"/>
                  <a:pt x="49560" y="89269"/>
                  <a:pt x="44621" y="89269"/>
                </a:cubicBezTo>
                <a:lnTo>
                  <a:pt x="8930" y="89297"/>
                </a:lnTo>
                <a:cubicBezTo>
                  <a:pt x="6558" y="89297"/>
                  <a:pt x="4270" y="90246"/>
                  <a:pt x="2595" y="91948"/>
                </a:cubicBezTo>
                <a:cubicBezTo>
                  <a:pt x="921" y="93650"/>
                  <a:pt x="-28" y="95910"/>
                  <a:pt x="0" y="98310"/>
                </a:cubicBezTo>
                <a:lnTo>
                  <a:pt x="279" y="133750"/>
                </a:lnTo>
                <a:cubicBezTo>
                  <a:pt x="307" y="138689"/>
                  <a:pt x="4353" y="142652"/>
                  <a:pt x="9292" y="142596"/>
                </a:cubicBezTo>
                <a:cubicBezTo>
                  <a:pt x="14232" y="142540"/>
                  <a:pt x="18194" y="138522"/>
                  <a:pt x="18138" y="133583"/>
                </a:cubicBezTo>
                <a:lnTo>
                  <a:pt x="18027" y="119211"/>
                </a:lnTo>
                <a:lnTo>
                  <a:pt x="21013" y="122030"/>
                </a:lnTo>
                <a:cubicBezTo>
                  <a:pt x="33933" y="134894"/>
                  <a:pt x="51764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853281" y="29765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经济衰退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3706" y="2881313"/>
            <a:ext cx="47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63394" y="3135313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8367" y="33734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3357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历史案例：2001年、2008年、2020年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2258" y="35639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3548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预警信号：收益率曲线倒挂、信贷紧缩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8313" y="3865563"/>
            <a:ext cx="5429250" cy="1016000"/>
          </a:xfrm>
          <a:custGeom>
            <a:avLst/>
            <a:gdLst/>
            <a:ahLst/>
            <a:cxnLst/>
            <a:rect l="l" t="t" r="r" b="b"/>
            <a:pathLst>
              <a:path w="5429250" h="1016000">
                <a:moveTo>
                  <a:pt x="3175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952500"/>
                </a:lnTo>
                <a:cubicBezTo>
                  <a:pt x="5429250" y="987547"/>
                  <a:pt x="5400797" y="1016000"/>
                  <a:pt x="5365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8313" y="3865563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599281" y="4095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5874" y="5637"/>
                </a:moveTo>
                <a:cubicBezTo>
                  <a:pt x="73140" y="4074"/>
                  <a:pt x="69763" y="4074"/>
                  <a:pt x="67001" y="5637"/>
                </a:cubicBezTo>
                <a:lnTo>
                  <a:pt x="4493" y="41356"/>
                </a:lnTo>
                <a:cubicBezTo>
                  <a:pt x="977" y="43365"/>
                  <a:pt x="-753" y="47495"/>
                  <a:pt x="279" y="51402"/>
                </a:cubicBezTo>
                <a:cubicBezTo>
                  <a:pt x="1312" y="55308"/>
                  <a:pt x="4883" y="58043"/>
                  <a:pt x="8930" y="58043"/>
                </a:cubicBezTo>
                <a:lnTo>
                  <a:pt x="17859" y="58043"/>
                </a:lnTo>
                <a:lnTo>
                  <a:pt x="17859" y="116086"/>
                </a:lnTo>
                <a:lnTo>
                  <a:pt x="17859" y="116086"/>
                </a:lnTo>
                <a:lnTo>
                  <a:pt x="3572" y="126802"/>
                </a:lnTo>
                <a:cubicBezTo>
                  <a:pt x="1312" y="128476"/>
                  <a:pt x="0" y="131127"/>
                  <a:pt x="0" y="133945"/>
                </a:cubicBezTo>
                <a:cubicBezTo>
                  <a:pt x="0" y="138885"/>
                  <a:pt x="3990" y="142875"/>
                  <a:pt x="8930" y="142875"/>
                </a:cubicBezTo>
                <a:lnTo>
                  <a:pt x="133945" y="142875"/>
                </a:lnTo>
                <a:cubicBezTo>
                  <a:pt x="138885" y="142875"/>
                  <a:pt x="142875" y="138885"/>
                  <a:pt x="142875" y="133945"/>
                </a:cubicBezTo>
                <a:cubicBezTo>
                  <a:pt x="142875" y="131127"/>
                  <a:pt x="141563" y="128476"/>
                  <a:pt x="139303" y="126802"/>
                </a:cubicBezTo>
                <a:lnTo>
                  <a:pt x="125016" y="116086"/>
                </a:lnTo>
                <a:lnTo>
                  <a:pt x="125016" y="58043"/>
                </a:lnTo>
                <a:lnTo>
                  <a:pt x="133945" y="58043"/>
                </a:lnTo>
                <a:cubicBezTo>
                  <a:pt x="137992" y="58043"/>
                  <a:pt x="141536" y="55308"/>
                  <a:pt x="142568" y="51402"/>
                </a:cubicBezTo>
                <a:cubicBezTo>
                  <a:pt x="143601" y="47495"/>
                  <a:pt x="141870" y="43365"/>
                  <a:pt x="138354" y="41356"/>
                </a:cubicBezTo>
                <a:lnTo>
                  <a:pt x="75847" y="5637"/>
                </a:lnTo>
                <a:close/>
                <a:moveTo>
                  <a:pt x="111621" y="58043"/>
                </a:moveTo>
                <a:lnTo>
                  <a:pt x="111621" y="116086"/>
                </a:lnTo>
                <a:lnTo>
                  <a:pt x="93762" y="116086"/>
                </a:lnTo>
                <a:lnTo>
                  <a:pt x="93762" y="58043"/>
                </a:lnTo>
                <a:lnTo>
                  <a:pt x="111621" y="58043"/>
                </a:lnTo>
                <a:close/>
                <a:moveTo>
                  <a:pt x="80367" y="58043"/>
                </a:moveTo>
                <a:lnTo>
                  <a:pt x="80367" y="116086"/>
                </a:lnTo>
                <a:lnTo>
                  <a:pt x="62508" y="116086"/>
                </a:lnTo>
                <a:lnTo>
                  <a:pt x="62508" y="58043"/>
                </a:lnTo>
                <a:lnTo>
                  <a:pt x="80367" y="58043"/>
                </a:lnTo>
                <a:close/>
                <a:moveTo>
                  <a:pt x="49113" y="58043"/>
                </a:moveTo>
                <a:lnTo>
                  <a:pt x="49113" y="116086"/>
                </a:lnTo>
                <a:lnTo>
                  <a:pt x="31254" y="116086"/>
                </a:lnTo>
                <a:lnTo>
                  <a:pt x="31254" y="58043"/>
                </a:lnTo>
                <a:lnTo>
                  <a:pt x="49113" y="58043"/>
                </a:lnTo>
                <a:close/>
                <a:moveTo>
                  <a:pt x="71438" y="26789"/>
                </a:moveTo>
                <a:cubicBezTo>
                  <a:pt x="76366" y="26789"/>
                  <a:pt x="80367" y="30790"/>
                  <a:pt x="80367" y="35719"/>
                </a:cubicBezTo>
                <a:cubicBezTo>
                  <a:pt x="80367" y="40647"/>
                  <a:pt x="76366" y="44648"/>
                  <a:pt x="71438" y="44648"/>
                </a:cubicBezTo>
                <a:cubicBezTo>
                  <a:pt x="66509" y="44648"/>
                  <a:pt x="62508" y="40647"/>
                  <a:pt x="62508" y="35719"/>
                </a:cubicBezTo>
                <a:cubicBezTo>
                  <a:pt x="62508" y="30790"/>
                  <a:pt x="66509" y="26789"/>
                  <a:pt x="71438" y="2678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853281" y="40560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债务危机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3706" y="3960813"/>
            <a:ext cx="47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63394" y="4214813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8367" y="4452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13891"/>
                </a:moveTo>
                <a:cubicBezTo>
                  <a:pt x="85514" y="13891"/>
                  <a:pt x="104180" y="32556"/>
                  <a:pt x="104180" y="55563"/>
                </a:cubicBezTo>
                <a:cubicBezTo>
                  <a:pt x="104180" y="78569"/>
                  <a:pt x="85514" y="97234"/>
                  <a:pt x="62508" y="97234"/>
                </a:cubicBezTo>
                <a:cubicBezTo>
                  <a:pt x="48357" y="97234"/>
                  <a:pt x="35833" y="90181"/>
                  <a:pt x="28302" y="79372"/>
                </a:cubicBezTo>
                <a:cubicBezTo>
                  <a:pt x="26110" y="76225"/>
                  <a:pt x="21769" y="75465"/>
                  <a:pt x="18622" y="77657"/>
                </a:cubicBezTo>
                <a:cubicBezTo>
                  <a:pt x="15475" y="79849"/>
                  <a:pt x="14715" y="84190"/>
                  <a:pt x="16907" y="87337"/>
                </a:cubicBezTo>
                <a:cubicBezTo>
                  <a:pt x="26935" y="101705"/>
                  <a:pt x="43625" y="111125"/>
                  <a:pt x="62508" y="111125"/>
                </a:cubicBezTo>
                <a:cubicBezTo>
                  <a:pt x="93197" y="111125"/>
                  <a:pt x="118070" y="86252"/>
                  <a:pt x="118070" y="55563"/>
                </a:cubicBezTo>
                <a:cubicBezTo>
                  <a:pt x="118070" y="24873"/>
                  <a:pt x="93197" y="0"/>
                  <a:pt x="62508" y="0"/>
                </a:cubicBezTo>
                <a:cubicBezTo>
                  <a:pt x="43907" y="0"/>
                  <a:pt x="27456" y="9137"/>
                  <a:pt x="17363" y="23158"/>
                </a:cubicBezTo>
                <a:lnTo>
                  <a:pt x="17363" y="17363"/>
                </a:lnTo>
                <a:cubicBezTo>
                  <a:pt x="17363" y="13522"/>
                  <a:pt x="14260" y="10418"/>
                  <a:pt x="10418" y="10418"/>
                </a:cubicBezTo>
                <a:cubicBezTo>
                  <a:pt x="6576" y="10418"/>
                  <a:pt x="3473" y="13522"/>
                  <a:pt x="3473" y="17363"/>
                </a:cubicBezTo>
                <a:lnTo>
                  <a:pt x="3473" y="41672"/>
                </a:lnTo>
                <a:cubicBezTo>
                  <a:pt x="3473" y="45514"/>
                  <a:pt x="6576" y="48617"/>
                  <a:pt x="10418" y="48617"/>
                </a:cubicBezTo>
                <a:lnTo>
                  <a:pt x="15757" y="48617"/>
                </a:lnTo>
                <a:cubicBezTo>
                  <a:pt x="15866" y="48617"/>
                  <a:pt x="15974" y="48617"/>
                  <a:pt x="16083" y="48617"/>
                </a:cubicBezTo>
                <a:lnTo>
                  <a:pt x="34748" y="48617"/>
                </a:lnTo>
                <a:cubicBezTo>
                  <a:pt x="38590" y="48617"/>
                  <a:pt x="41694" y="45514"/>
                  <a:pt x="41694" y="41672"/>
                </a:cubicBezTo>
                <a:cubicBezTo>
                  <a:pt x="41694" y="37830"/>
                  <a:pt x="38590" y="34727"/>
                  <a:pt x="34748" y="34727"/>
                </a:cubicBezTo>
                <a:lnTo>
                  <a:pt x="26436" y="34727"/>
                </a:lnTo>
                <a:cubicBezTo>
                  <a:pt x="33620" y="22268"/>
                  <a:pt x="47098" y="13891"/>
                  <a:pt x="62508" y="13891"/>
                </a:cubicBezTo>
                <a:close/>
                <a:moveTo>
                  <a:pt x="67717" y="32990"/>
                </a:moveTo>
                <a:cubicBezTo>
                  <a:pt x="67717" y="30104"/>
                  <a:pt x="65394" y="27781"/>
                  <a:pt x="62508" y="27781"/>
                </a:cubicBezTo>
                <a:cubicBezTo>
                  <a:pt x="59621" y="27781"/>
                  <a:pt x="57299" y="30104"/>
                  <a:pt x="57299" y="32990"/>
                </a:cubicBezTo>
                <a:lnTo>
                  <a:pt x="57299" y="55563"/>
                </a:lnTo>
                <a:cubicBezTo>
                  <a:pt x="57299" y="56952"/>
                  <a:pt x="57841" y="58276"/>
                  <a:pt x="58818" y="59252"/>
                </a:cubicBezTo>
                <a:lnTo>
                  <a:pt x="74445" y="74879"/>
                </a:lnTo>
                <a:cubicBezTo>
                  <a:pt x="76485" y="76919"/>
                  <a:pt x="79784" y="76919"/>
                  <a:pt x="81803" y="74879"/>
                </a:cubicBezTo>
                <a:cubicBezTo>
                  <a:pt x="83821" y="72839"/>
                  <a:pt x="83843" y="69540"/>
                  <a:pt x="81803" y="67521"/>
                </a:cubicBezTo>
                <a:lnTo>
                  <a:pt x="67695" y="53414"/>
                </a:lnTo>
                <a:lnTo>
                  <a:pt x="67695" y="32990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44370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历史案例：2011年欧洲、新兴市场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2258" y="46434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4627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预警信号：国债拍卖失败、信用利差扩大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8313" y="4945063"/>
            <a:ext cx="5429250" cy="825500"/>
          </a:xfrm>
          <a:custGeom>
            <a:avLst/>
            <a:gdLst/>
            <a:ahLst/>
            <a:cxnLst/>
            <a:rect l="l" t="t" r="r" b="b"/>
            <a:pathLst>
              <a:path w="5429250" h="825500">
                <a:moveTo>
                  <a:pt x="31750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762003"/>
                </a:lnTo>
                <a:cubicBezTo>
                  <a:pt x="5429250" y="797071"/>
                  <a:pt x="5400821" y="825500"/>
                  <a:pt x="5365753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8313" y="4945063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Shape 39"/>
          <p:cNvSpPr/>
          <p:nvPr/>
        </p:nvSpPr>
        <p:spPr>
          <a:xfrm>
            <a:off x="599281" y="5175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8199" y="78135"/>
                </a:moveTo>
                <a:lnTo>
                  <a:pt x="44927" y="78135"/>
                </a:lnTo>
                <a:cubicBezTo>
                  <a:pt x="45737" y="96134"/>
                  <a:pt x="49727" y="112709"/>
                  <a:pt x="55392" y="124848"/>
                </a:cubicBezTo>
                <a:cubicBezTo>
                  <a:pt x="58573" y="131685"/>
                  <a:pt x="62006" y="136513"/>
                  <a:pt x="65187" y="139471"/>
                </a:cubicBezTo>
                <a:cubicBezTo>
                  <a:pt x="68312" y="142401"/>
                  <a:pt x="70461" y="142875"/>
                  <a:pt x="71577" y="142875"/>
                </a:cubicBezTo>
                <a:cubicBezTo>
                  <a:pt x="72693" y="142875"/>
                  <a:pt x="74842" y="142401"/>
                  <a:pt x="77967" y="139471"/>
                </a:cubicBezTo>
                <a:cubicBezTo>
                  <a:pt x="81149" y="136513"/>
                  <a:pt x="84581" y="131657"/>
                  <a:pt x="87762" y="124848"/>
                </a:cubicBezTo>
                <a:cubicBezTo>
                  <a:pt x="93427" y="112709"/>
                  <a:pt x="97417" y="96134"/>
                  <a:pt x="98227" y="78135"/>
                </a:cubicBezTo>
                <a:close/>
                <a:moveTo>
                  <a:pt x="44900" y="64740"/>
                </a:moveTo>
                <a:lnTo>
                  <a:pt x="98171" y="64740"/>
                </a:lnTo>
                <a:cubicBezTo>
                  <a:pt x="97389" y="46741"/>
                  <a:pt x="93399" y="30166"/>
                  <a:pt x="87734" y="18027"/>
                </a:cubicBezTo>
                <a:cubicBezTo>
                  <a:pt x="84553" y="11218"/>
                  <a:pt x="81121" y="6362"/>
                  <a:pt x="77939" y="3404"/>
                </a:cubicBezTo>
                <a:cubicBezTo>
                  <a:pt x="74814" y="474"/>
                  <a:pt x="72665" y="0"/>
                  <a:pt x="71549" y="0"/>
                </a:cubicBezTo>
                <a:cubicBezTo>
                  <a:pt x="70433" y="0"/>
                  <a:pt x="68284" y="474"/>
                  <a:pt x="65159" y="3404"/>
                </a:cubicBezTo>
                <a:cubicBezTo>
                  <a:pt x="61978" y="6362"/>
                  <a:pt x="58545" y="11218"/>
                  <a:pt x="55364" y="18027"/>
                </a:cubicBezTo>
                <a:cubicBezTo>
                  <a:pt x="49699" y="30166"/>
                  <a:pt x="45709" y="46741"/>
                  <a:pt x="44900" y="64740"/>
                </a:cubicBezTo>
                <a:close/>
                <a:moveTo>
                  <a:pt x="31505" y="64740"/>
                </a:moveTo>
                <a:cubicBezTo>
                  <a:pt x="32482" y="40853"/>
                  <a:pt x="38649" y="18669"/>
                  <a:pt x="47662" y="4102"/>
                </a:cubicBezTo>
                <a:cubicBezTo>
                  <a:pt x="21961" y="13199"/>
                  <a:pt x="3042" y="36612"/>
                  <a:pt x="419" y="64740"/>
                </a:cubicBezTo>
                <a:lnTo>
                  <a:pt x="31505" y="64740"/>
                </a:lnTo>
                <a:close/>
                <a:moveTo>
                  <a:pt x="419" y="78135"/>
                </a:moveTo>
                <a:cubicBezTo>
                  <a:pt x="3042" y="106263"/>
                  <a:pt x="21961" y="129676"/>
                  <a:pt x="47662" y="138773"/>
                </a:cubicBezTo>
                <a:cubicBezTo>
                  <a:pt x="38649" y="124206"/>
                  <a:pt x="32482" y="102022"/>
                  <a:pt x="31505" y="78135"/>
                </a:cubicBezTo>
                <a:lnTo>
                  <a:pt x="419" y="78135"/>
                </a:lnTo>
                <a:close/>
                <a:moveTo>
                  <a:pt x="111593" y="78135"/>
                </a:moveTo>
                <a:cubicBezTo>
                  <a:pt x="110617" y="102022"/>
                  <a:pt x="104449" y="124206"/>
                  <a:pt x="95436" y="138773"/>
                </a:cubicBezTo>
                <a:cubicBezTo>
                  <a:pt x="121137" y="129648"/>
                  <a:pt x="140057" y="106263"/>
                  <a:pt x="142680" y="78135"/>
                </a:cubicBezTo>
                <a:lnTo>
                  <a:pt x="111593" y="78135"/>
                </a:lnTo>
                <a:close/>
                <a:moveTo>
                  <a:pt x="142680" y="64740"/>
                </a:moveTo>
                <a:cubicBezTo>
                  <a:pt x="140057" y="36612"/>
                  <a:pt x="121137" y="13199"/>
                  <a:pt x="95436" y="4102"/>
                </a:cubicBezTo>
                <a:cubicBezTo>
                  <a:pt x="104449" y="18669"/>
                  <a:pt x="110617" y="40853"/>
                  <a:pt x="111593" y="64740"/>
                </a:cubicBezTo>
                <a:lnTo>
                  <a:pt x="142680" y="6474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40"/>
          <p:cNvSpPr/>
          <p:nvPr/>
        </p:nvSpPr>
        <p:spPr>
          <a:xfrm>
            <a:off x="853281" y="5135563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地缘政治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62563" y="5040313"/>
            <a:ext cx="53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4A6C8C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?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02250" y="5294313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难以预测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02258" y="55324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0"/>
                </a:moveTo>
                <a:cubicBezTo>
                  <a:pt x="44776" y="0"/>
                  <a:pt x="41672" y="3104"/>
                  <a:pt x="41672" y="6945"/>
                </a:cubicBezTo>
                <a:lnTo>
                  <a:pt x="41672" y="7640"/>
                </a:lnTo>
                <a:cubicBezTo>
                  <a:pt x="25828" y="10852"/>
                  <a:pt x="13891" y="24873"/>
                  <a:pt x="13891" y="41672"/>
                </a:cubicBezTo>
                <a:lnTo>
                  <a:pt x="13891" y="46382"/>
                </a:lnTo>
                <a:cubicBezTo>
                  <a:pt x="13891" y="56821"/>
                  <a:pt x="10331" y="66957"/>
                  <a:pt x="3820" y="75118"/>
                </a:cubicBezTo>
                <a:lnTo>
                  <a:pt x="1693" y="77766"/>
                </a:lnTo>
                <a:cubicBezTo>
                  <a:pt x="586" y="79133"/>
                  <a:pt x="0" y="80826"/>
                  <a:pt x="0" y="82584"/>
                </a:cubicBezTo>
                <a:cubicBezTo>
                  <a:pt x="0" y="86838"/>
                  <a:pt x="3451" y="90289"/>
                  <a:pt x="7705" y="90289"/>
                </a:cubicBezTo>
                <a:lnTo>
                  <a:pt x="89508" y="90289"/>
                </a:lnTo>
                <a:cubicBezTo>
                  <a:pt x="93762" y="90289"/>
                  <a:pt x="97213" y="86838"/>
                  <a:pt x="97213" y="82584"/>
                </a:cubicBezTo>
                <a:cubicBezTo>
                  <a:pt x="97213" y="80826"/>
                  <a:pt x="96627" y="79133"/>
                  <a:pt x="95520" y="77766"/>
                </a:cubicBezTo>
                <a:lnTo>
                  <a:pt x="93393" y="75118"/>
                </a:lnTo>
                <a:cubicBezTo>
                  <a:pt x="86903" y="66957"/>
                  <a:pt x="83344" y="56821"/>
                  <a:pt x="83344" y="46382"/>
                </a:cubicBezTo>
                <a:lnTo>
                  <a:pt x="83344" y="41672"/>
                </a:lnTo>
                <a:cubicBezTo>
                  <a:pt x="83344" y="24873"/>
                  <a:pt x="71406" y="10852"/>
                  <a:pt x="55563" y="7640"/>
                </a:cubicBezTo>
                <a:lnTo>
                  <a:pt x="55563" y="6945"/>
                </a:lnTo>
                <a:cubicBezTo>
                  <a:pt x="55563" y="3104"/>
                  <a:pt x="52459" y="0"/>
                  <a:pt x="48617" y="0"/>
                </a:cubicBezTo>
                <a:close/>
                <a:moveTo>
                  <a:pt x="35161" y="100707"/>
                </a:moveTo>
                <a:cubicBezTo>
                  <a:pt x="36702" y="106697"/>
                  <a:pt x="42149" y="111125"/>
                  <a:pt x="48617" y="111125"/>
                </a:cubicBezTo>
                <a:cubicBezTo>
                  <a:pt x="55085" y="111125"/>
                  <a:pt x="60533" y="106697"/>
                  <a:pt x="62074" y="100707"/>
                </a:cubicBezTo>
                <a:lnTo>
                  <a:pt x="35161" y="100707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6" name="Text 44"/>
          <p:cNvSpPr/>
          <p:nvPr/>
        </p:nvSpPr>
        <p:spPr>
          <a:xfrm>
            <a:off x="762000" y="5516563"/>
            <a:ext cx="509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预警信号：地缘紧张指数上升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3469" y="1258094"/>
            <a:ext cx="5707063" cy="3944937"/>
          </a:xfrm>
          <a:custGeom>
            <a:avLst/>
            <a:gdLst/>
            <a:ahLst/>
            <a:cxnLst/>
            <a:rect l="l" t="t" r="r" b="b"/>
            <a:pathLst>
              <a:path w="5707063" h="3944937">
                <a:moveTo>
                  <a:pt x="95231" y="0"/>
                </a:moveTo>
                <a:lnTo>
                  <a:pt x="5611832" y="0"/>
                </a:lnTo>
                <a:cubicBezTo>
                  <a:pt x="5664426" y="0"/>
                  <a:pt x="5707063" y="42636"/>
                  <a:pt x="5707063" y="95231"/>
                </a:cubicBezTo>
                <a:lnTo>
                  <a:pt x="5707063" y="3849707"/>
                </a:lnTo>
                <a:cubicBezTo>
                  <a:pt x="5707063" y="3902301"/>
                  <a:pt x="5664426" y="3944937"/>
                  <a:pt x="5611832" y="3944937"/>
                </a:cubicBezTo>
                <a:lnTo>
                  <a:pt x="95231" y="3944937"/>
                </a:lnTo>
                <a:cubicBezTo>
                  <a:pt x="42636" y="3944937"/>
                  <a:pt x="0" y="3902301"/>
                  <a:pt x="0" y="3849707"/>
                </a:cubicBezTo>
                <a:lnTo>
                  <a:pt x="0" y="95231"/>
                </a:lnTo>
                <a:cubicBezTo>
                  <a:pt x="0" y="42671"/>
                  <a:pt x="42671" y="0"/>
                  <a:pt x="9523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4359" y="14208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875" y="138906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货币政策监测指标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94438" y="170656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389688" y="1881187"/>
            <a:ext cx="635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核心PCE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83801" y="1801813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2.4-2.6%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07613" y="2024062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89688" y="2246313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&gt;3%暂停降息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77563" y="224631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通胀压力指标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94438" y="256381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389688" y="2738438"/>
            <a:ext cx="50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失业率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83801" y="2659063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4.0-4.2%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07613" y="2881313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9688" y="3103563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&gt;4.5%加速降息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77563" y="310356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就业市场指标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94438" y="342106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389688" y="3595688"/>
            <a:ext cx="88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3M-10Y利差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088688" y="3516313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8D99A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待确认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12500" y="3738563"/>
            <a:ext cx="531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当前状态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89688" y="3960813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历史信号: 倒挂预示衰退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977563" y="396081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衰退信号指标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294438" y="4278313"/>
            <a:ext cx="5445125" cy="793750"/>
          </a:xfrm>
          <a:custGeom>
            <a:avLst/>
            <a:gdLst/>
            <a:ahLst/>
            <a:cxnLst/>
            <a:rect l="l" t="t" r="r" b="b"/>
            <a:pathLst>
              <a:path w="5445125" h="79375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730250"/>
                </a:lnTo>
                <a:cubicBezTo>
                  <a:pt x="5445125" y="765297"/>
                  <a:pt x="5416672" y="793750"/>
                  <a:pt x="5381625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389688" y="4452938"/>
            <a:ext cx="64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实际利率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883801" y="4373563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1.5-2.0%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907613" y="4595813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89688" y="4818063"/>
            <a:ext cx="111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历史阈值: &gt;2%限制性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977563" y="4818063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0A0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政策紧缩程度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63469" y="5306219"/>
            <a:ext cx="5707063" cy="2230438"/>
          </a:xfrm>
          <a:custGeom>
            <a:avLst/>
            <a:gdLst/>
            <a:ahLst/>
            <a:cxnLst/>
            <a:rect l="l" t="t" r="r" b="b"/>
            <a:pathLst>
              <a:path w="5707063" h="2230438">
                <a:moveTo>
                  <a:pt x="95240" y="0"/>
                </a:moveTo>
                <a:lnTo>
                  <a:pt x="5611823" y="0"/>
                </a:lnTo>
                <a:cubicBezTo>
                  <a:pt x="5664422" y="0"/>
                  <a:pt x="5707063" y="42640"/>
                  <a:pt x="5707063" y="95240"/>
                </a:cubicBezTo>
                <a:lnTo>
                  <a:pt x="5707063" y="2135198"/>
                </a:lnTo>
                <a:cubicBezTo>
                  <a:pt x="5707063" y="2187797"/>
                  <a:pt x="5664422" y="2230437"/>
                  <a:pt x="5611823" y="2230438"/>
                </a:cubicBezTo>
                <a:lnTo>
                  <a:pt x="95240" y="2230438"/>
                </a:lnTo>
                <a:cubicBezTo>
                  <a:pt x="42640" y="2230438"/>
                  <a:pt x="0" y="2187797"/>
                  <a:pt x="0" y="2135198"/>
                </a:cubicBezTo>
                <a:lnTo>
                  <a:pt x="0" y="95240"/>
                </a:lnTo>
                <a:cubicBezTo>
                  <a:pt x="0" y="42675"/>
                  <a:pt x="42675" y="0"/>
                  <a:pt x="95240" y="0"/>
                </a:cubicBezTo>
                <a:close/>
              </a:path>
            </a:pathLst>
          </a:custGeom>
          <a:solidFill>
            <a:srgbClr val="C0A062">
              <a:alpha val="10196"/>
            </a:srgbClr>
          </a:solidFill>
          <a:ln w="12700">
            <a:solidFill>
              <a:srgbClr val="C0A062">
                <a:alpha val="30196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14281" y="5468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4011" y="1581"/>
                </a:moveTo>
                <a:cubicBezTo>
                  <a:pt x="77267" y="-527"/>
                  <a:pt x="81483" y="-527"/>
                  <a:pt x="84739" y="1581"/>
                </a:cubicBezTo>
                <a:lnTo>
                  <a:pt x="154192" y="46230"/>
                </a:lnTo>
                <a:cubicBezTo>
                  <a:pt x="157882" y="48617"/>
                  <a:pt x="159587" y="53144"/>
                  <a:pt x="158347" y="57361"/>
                </a:cubicBezTo>
                <a:cubicBezTo>
                  <a:pt x="157107" y="61578"/>
                  <a:pt x="153231" y="64492"/>
                  <a:pt x="148828" y="64492"/>
                </a:cubicBezTo>
                <a:lnTo>
                  <a:pt x="138906" y="64492"/>
                </a:lnTo>
                <a:lnTo>
                  <a:pt x="138906" y="128984"/>
                </a:lnTo>
                <a:lnTo>
                  <a:pt x="154781" y="140891"/>
                </a:lnTo>
                <a:cubicBezTo>
                  <a:pt x="157293" y="142751"/>
                  <a:pt x="158750" y="145697"/>
                  <a:pt x="158750" y="148828"/>
                </a:cubicBezTo>
                <a:cubicBezTo>
                  <a:pt x="158750" y="154316"/>
                  <a:pt x="154316" y="158750"/>
                  <a:pt x="148828" y="158750"/>
                </a:cubicBezTo>
                <a:lnTo>
                  <a:pt x="9922" y="158750"/>
                </a:lnTo>
                <a:cubicBezTo>
                  <a:pt x="4434" y="158750"/>
                  <a:pt x="0" y="154316"/>
                  <a:pt x="0" y="148828"/>
                </a:cubicBezTo>
                <a:cubicBezTo>
                  <a:pt x="0" y="145697"/>
                  <a:pt x="1457" y="142751"/>
                  <a:pt x="3969" y="140891"/>
                </a:cubicBezTo>
                <a:lnTo>
                  <a:pt x="19844" y="128984"/>
                </a:lnTo>
                <a:lnTo>
                  <a:pt x="19844" y="128984"/>
                </a:lnTo>
                <a:lnTo>
                  <a:pt x="19844" y="64492"/>
                </a:lnTo>
                <a:lnTo>
                  <a:pt x="9922" y="64492"/>
                </a:lnTo>
                <a:cubicBezTo>
                  <a:pt x="5519" y="64492"/>
                  <a:pt x="1643" y="61578"/>
                  <a:pt x="403" y="57361"/>
                </a:cubicBezTo>
                <a:cubicBezTo>
                  <a:pt x="-837" y="53144"/>
                  <a:pt x="868" y="48586"/>
                  <a:pt x="4558" y="46230"/>
                </a:cubicBezTo>
                <a:lnTo>
                  <a:pt x="74011" y="1581"/>
                </a:lnTo>
                <a:close/>
                <a:moveTo>
                  <a:pt x="104180" y="64492"/>
                </a:moveTo>
                <a:lnTo>
                  <a:pt x="104180" y="128984"/>
                </a:lnTo>
                <a:lnTo>
                  <a:pt x="124023" y="128984"/>
                </a:lnTo>
                <a:lnTo>
                  <a:pt x="124023" y="64492"/>
                </a:lnTo>
                <a:lnTo>
                  <a:pt x="104180" y="64492"/>
                </a:lnTo>
                <a:close/>
                <a:moveTo>
                  <a:pt x="69453" y="128984"/>
                </a:moveTo>
                <a:lnTo>
                  <a:pt x="89297" y="128984"/>
                </a:lnTo>
                <a:lnTo>
                  <a:pt x="89297" y="64492"/>
                </a:lnTo>
                <a:lnTo>
                  <a:pt x="69453" y="64492"/>
                </a:lnTo>
                <a:lnTo>
                  <a:pt x="69453" y="128984"/>
                </a:lnTo>
                <a:close/>
                <a:moveTo>
                  <a:pt x="34727" y="64492"/>
                </a:moveTo>
                <a:lnTo>
                  <a:pt x="34727" y="128984"/>
                </a:lnTo>
                <a:lnTo>
                  <a:pt x="54570" y="128984"/>
                </a:lnTo>
                <a:lnTo>
                  <a:pt x="54570" y="64492"/>
                </a:lnTo>
                <a:lnTo>
                  <a:pt x="34727" y="64492"/>
                </a:lnTo>
                <a:close/>
              </a:path>
            </a:pathLst>
          </a:custGeom>
          <a:solidFill>
            <a:srgbClr val="C0A062"/>
          </a:solidFill>
          <a:ln/>
        </p:spPr>
      </p:sp>
      <p:sp>
        <p:nvSpPr>
          <p:cNvPr id="76" name="Text 74"/>
          <p:cNvSpPr/>
          <p:nvPr/>
        </p:nvSpPr>
        <p:spPr>
          <a:xfrm>
            <a:off x="6492875" y="5437188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财政政策监测指标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94438" y="5754688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357938" y="5834063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债务/GDP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57938" y="6024563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&gt;130%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832703" y="5818188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120-125%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856516" y="6040438"/>
            <a:ext cx="81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294438" y="6326188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6357938" y="6405563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利息/财政收入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57938" y="6596063"/>
            <a:ext cx="96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&gt;20%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020103" y="6389688"/>
            <a:ext cx="65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15-18%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1043915" y="6611938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294438" y="6897688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6357938" y="6977063"/>
            <a:ext cx="89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财政赤字率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357938" y="7167563"/>
            <a:ext cx="88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历史警戒线: &gt;7%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0915551" y="6961188"/>
            <a:ext cx="76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C0A06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5.5-6.5%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0939363" y="7183438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当前推断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</TotalTime>
  <Words>1671</Words>
  <Application>Microsoft Office PowerPoint</Application>
  <PresentationFormat>宽屏</PresentationFormat>
  <Paragraphs>402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Liter</vt:lpstr>
      <vt:lpstr>Calibri</vt:lpstr>
      <vt:lpstr>Arial</vt:lpstr>
      <vt:lpstr>MiSans</vt:lpstr>
      <vt:lpstr>Alimama ShuHeiTi</vt:lpstr>
      <vt:lpstr>等线</vt:lpstr>
      <vt:lpstr>Google Sans Text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2026年宏观政策走向分析报告</dc:title>
  <dc:subject>2026年宏观政策走向分析报告</dc:subject>
  <dc:creator>Kimi</dc:creator>
  <cp:lastModifiedBy>Xuan Fu</cp:lastModifiedBy>
  <cp:revision>5</cp:revision>
  <dcterms:created xsi:type="dcterms:W3CDTF">2026-03-04T01:07:22Z</dcterms:created>
  <dcterms:modified xsi:type="dcterms:W3CDTF">2026-03-04T07:05:47Z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2026年宏观政策走向分析报告","ContentProducer":"001191110108MACG2KBH8F10000","ProduceID":"19cb65b1-2b32-8816-8000-000027831775","ReservedCode1":"","ContentPropagator":"001191110108MACG2KBH8F20000","PropagateID":"19cb65b1-2b32-8816-8000-000027831775","ReservedCode2":""}</vt:lpwstr>
  </property>
</Properties>
</file>
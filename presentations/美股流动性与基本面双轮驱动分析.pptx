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imama ShuHeiTi" charset="-122"/>
      <p:regular r:id="rId13"/>
    </p:embeddedFont>
    <p:embeddedFont>
      <p:font typeface="MiSans" panose="02010600030101010101" charset="-122"/>
      <p:regular r:id="rId1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60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291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3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pic>
        <p:nvPicPr>
          <p:cNvPr id="3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pic>
        <p:nvPicPr>
          <p:cNvPr id="4" name="Image 1" descr="https://kimi-web-img.moonshot.cn/img/img.freepik.com/28786d4cf47fde4b7f3da8960a27ea43cf8c1618.jpg"/>
          <p:cNvPicPr>
            <a:picLocks noChangeAspect="1"/>
          </p:cNvPicPr>
          <p:nvPr/>
        </p:nvPicPr>
        <p:blipFill>
          <a:blip r:embed="rId4">
            <a:alphaModFix amt="40000"/>
          </a:blip>
          <a:srcRect l="160" r="16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5C9A">
                  <a:alpha val="90000"/>
                </a:srgbClr>
              </a:gs>
              <a:gs pos="50000">
                <a:srgbClr val="7C1D56">
                  <a:alpha val="80000"/>
                </a:srgbClr>
              </a:gs>
              <a:gs pos="100000">
                <a:srgbClr val="3C3542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6" name="Shape 2"/>
          <p:cNvSpPr/>
          <p:nvPr/>
        </p:nvSpPr>
        <p:spPr>
          <a:xfrm>
            <a:off x="384810" y="1639252"/>
            <a:ext cx="2455545" cy="388620"/>
          </a:xfrm>
          <a:custGeom>
            <a:avLst/>
            <a:gdLst/>
            <a:ahLst/>
            <a:cxnLst/>
            <a:rect l="l" t="t" r="r" b="b"/>
            <a:pathLst>
              <a:path w="2455545" h="388620">
                <a:moveTo>
                  <a:pt x="76201" y="0"/>
                </a:moveTo>
                <a:lnTo>
                  <a:pt x="2379344" y="0"/>
                </a:lnTo>
                <a:cubicBezTo>
                  <a:pt x="2421429" y="0"/>
                  <a:pt x="2455545" y="34116"/>
                  <a:pt x="2455545" y="76201"/>
                </a:cubicBezTo>
                <a:lnTo>
                  <a:pt x="2455545" y="312419"/>
                </a:lnTo>
                <a:cubicBezTo>
                  <a:pt x="2455545" y="354504"/>
                  <a:pt x="2421429" y="388620"/>
                  <a:pt x="237934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A95EAF">
              <a:alpha val="30196"/>
            </a:srgbClr>
          </a:solidFill>
          <a:ln w="10160">
            <a:solidFill>
              <a:srgbClr val="D3B9D7">
                <a:alpha val="4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79120" y="1719263"/>
            <a:ext cx="2143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D3B9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ANALYSIS 2026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81000" y="2336483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美股流动性与基本面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双轮驱动分析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81000" y="427958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95EAF"/>
              </a:gs>
              <a:gs pos="100000">
                <a:srgbClr val="D3B9D7"/>
              </a:gs>
            </a:gsLst>
            <a:lin ang="0" scaled="1"/>
          </a:gradFill>
          <a:ln/>
        </p:spPr>
      </p:sp>
      <p:sp>
        <p:nvSpPr>
          <p:cNvPr id="10" name="Text 6"/>
          <p:cNvSpPr/>
          <p:nvPr/>
        </p:nvSpPr>
        <p:spPr>
          <a:xfrm>
            <a:off x="381000" y="4622482"/>
            <a:ext cx="74295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D3B9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宏观流动性 × 微观业绩 | 2026年市场核心变量解析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04813" y="626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2" name="Text 8"/>
          <p:cNvSpPr/>
          <p:nvPr/>
        </p:nvSpPr>
        <p:spPr>
          <a:xfrm>
            <a:off x="733425" y="62484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3B9D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美联储政策路径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2281238" y="626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4" name="Text 10"/>
          <p:cNvSpPr/>
          <p:nvPr/>
        </p:nvSpPr>
        <p:spPr>
          <a:xfrm>
            <a:off x="2609850" y="62484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3B9D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TGA账户动态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003953" y="6267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65484" y="8930"/>
                </a:moveTo>
                <a:cubicBezTo>
                  <a:pt x="65484" y="3981"/>
                  <a:pt x="61503" y="0"/>
                  <a:pt x="56555" y="0"/>
                </a:cubicBezTo>
                <a:cubicBezTo>
                  <a:pt x="51606" y="0"/>
                  <a:pt x="47625" y="3981"/>
                  <a:pt x="47625" y="8930"/>
                </a:cubicBezTo>
                <a:lnTo>
                  <a:pt x="47625" y="23812"/>
                </a:lnTo>
                <a:cubicBezTo>
                  <a:pt x="34491" y="23812"/>
                  <a:pt x="23812" y="34491"/>
                  <a:pt x="23812" y="47625"/>
                </a:cubicBezTo>
                <a:lnTo>
                  <a:pt x="8930" y="47625"/>
                </a:lnTo>
                <a:cubicBezTo>
                  <a:pt x="3981" y="47625"/>
                  <a:pt x="0" y="51606"/>
                  <a:pt x="0" y="56555"/>
                </a:cubicBezTo>
                <a:cubicBezTo>
                  <a:pt x="0" y="61503"/>
                  <a:pt x="3981" y="65484"/>
                  <a:pt x="8930" y="65484"/>
                </a:cubicBezTo>
                <a:lnTo>
                  <a:pt x="23812" y="65484"/>
                </a:lnTo>
                <a:lnTo>
                  <a:pt x="23812" y="86320"/>
                </a:lnTo>
                <a:lnTo>
                  <a:pt x="8930" y="86320"/>
                </a:lnTo>
                <a:cubicBezTo>
                  <a:pt x="3981" y="86320"/>
                  <a:pt x="0" y="90301"/>
                  <a:pt x="0" y="95250"/>
                </a:cubicBezTo>
                <a:cubicBezTo>
                  <a:pt x="0" y="100199"/>
                  <a:pt x="3981" y="104180"/>
                  <a:pt x="8930" y="104180"/>
                </a:cubicBezTo>
                <a:lnTo>
                  <a:pt x="23812" y="104180"/>
                </a:lnTo>
                <a:lnTo>
                  <a:pt x="23812" y="125016"/>
                </a:lnTo>
                <a:lnTo>
                  <a:pt x="8930" y="125016"/>
                </a:lnTo>
                <a:cubicBezTo>
                  <a:pt x="3981" y="125016"/>
                  <a:pt x="0" y="128997"/>
                  <a:pt x="0" y="133945"/>
                </a:cubicBezTo>
                <a:cubicBezTo>
                  <a:pt x="0" y="138894"/>
                  <a:pt x="3981" y="142875"/>
                  <a:pt x="8930" y="142875"/>
                </a:cubicBezTo>
                <a:lnTo>
                  <a:pt x="23812" y="142875"/>
                </a:lnTo>
                <a:cubicBezTo>
                  <a:pt x="23812" y="156009"/>
                  <a:pt x="34491" y="166688"/>
                  <a:pt x="47625" y="166688"/>
                </a:cubicBezTo>
                <a:lnTo>
                  <a:pt x="47625" y="181570"/>
                </a:lnTo>
                <a:cubicBezTo>
                  <a:pt x="47625" y="186519"/>
                  <a:pt x="51606" y="190500"/>
                  <a:pt x="56555" y="190500"/>
                </a:cubicBezTo>
                <a:cubicBezTo>
                  <a:pt x="61503" y="190500"/>
                  <a:pt x="65484" y="186519"/>
                  <a:pt x="65484" y="181570"/>
                </a:cubicBezTo>
                <a:lnTo>
                  <a:pt x="65484" y="166688"/>
                </a:lnTo>
                <a:lnTo>
                  <a:pt x="86320" y="166688"/>
                </a:lnTo>
                <a:lnTo>
                  <a:pt x="86320" y="181570"/>
                </a:lnTo>
                <a:cubicBezTo>
                  <a:pt x="86320" y="186519"/>
                  <a:pt x="90301" y="190500"/>
                  <a:pt x="95250" y="190500"/>
                </a:cubicBezTo>
                <a:cubicBezTo>
                  <a:pt x="100199" y="190500"/>
                  <a:pt x="104180" y="186519"/>
                  <a:pt x="104180" y="181570"/>
                </a:cubicBezTo>
                <a:lnTo>
                  <a:pt x="104180" y="166688"/>
                </a:lnTo>
                <a:lnTo>
                  <a:pt x="125016" y="166688"/>
                </a:lnTo>
                <a:lnTo>
                  <a:pt x="125016" y="181570"/>
                </a:lnTo>
                <a:cubicBezTo>
                  <a:pt x="125016" y="186519"/>
                  <a:pt x="128997" y="190500"/>
                  <a:pt x="133945" y="190500"/>
                </a:cubicBezTo>
                <a:cubicBezTo>
                  <a:pt x="138894" y="190500"/>
                  <a:pt x="142875" y="186519"/>
                  <a:pt x="142875" y="181570"/>
                </a:cubicBezTo>
                <a:lnTo>
                  <a:pt x="142875" y="166688"/>
                </a:lnTo>
                <a:cubicBezTo>
                  <a:pt x="156009" y="166688"/>
                  <a:pt x="166688" y="156009"/>
                  <a:pt x="166688" y="142875"/>
                </a:cubicBezTo>
                <a:lnTo>
                  <a:pt x="181570" y="142875"/>
                </a:lnTo>
                <a:cubicBezTo>
                  <a:pt x="186519" y="142875"/>
                  <a:pt x="190500" y="138894"/>
                  <a:pt x="190500" y="133945"/>
                </a:cubicBezTo>
                <a:cubicBezTo>
                  <a:pt x="190500" y="128997"/>
                  <a:pt x="186519" y="125016"/>
                  <a:pt x="181570" y="125016"/>
                </a:cubicBezTo>
                <a:lnTo>
                  <a:pt x="166688" y="125016"/>
                </a:lnTo>
                <a:lnTo>
                  <a:pt x="166688" y="104180"/>
                </a:lnTo>
                <a:lnTo>
                  <a:pt x="181570" y="104180"/>
                </a:lnTo>
                <a:cubicBezTo>
                  <a:pt x="186519" y="104180"/>
                  <a:pt x="190500" y="100199"/>
                  <a:pt x="190500" y="95250"/>
                </a:cubicBezTo>
                <a:cubicBezTo>
                  <a:pt x="190500" y="90301"/>
                  <a:pt x="186519" y="86320"/>
                  <a:pt x="181570" y="86320"/>
                </a:cubicBezTo>
                <a:lnTo>
                  <a:pt x="166688" y="86320"/>
                </a:lnTo>
                <a:lnTo>
                  <a:pt x="166688" y="65484"/>
                </a:lnTo>
                <a:lnTo>
                  <a:pt x="181570" y="65484"/>
                </a:lnTo>
                <a:cubicBezTo>
                  <a:pt x="186519" y="65484"/>
                  <a:pt x="190500" y="61503"/>
                  <a:pt x="190500" y="56555"/>
                </a:cubicBezTo>
                <a:cubicBezTo>
                  <a:pt x="190500" y="51606"/>
                  <a:pt x="186519" y="47625"/>
                  <a:pt x="181570" y="47625"/>
                </a:cubicBez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42875" y="8930"/>
                </a:lnTo>
                <a:cubicBezTo>
                  <a:pt x="142875" y="3981"/>
                  <a:pt x="138894" y="0"/>
                  <a:pt x="133945" y="0"/>
                </a:cubicBezTo>
                <a:cubicBezTo>
                  <a:pt x="128997" y="0"/>
                  <a:pt x="125016" y="3981"/>
                  <a:pt x="125016" y="8930"/>
                </a:cubicBezTo>
                <a:lnTo>
                  <a:pt x="125016" y="23812"/>
                </a:lnTo>
                <a:lnTo>
                  <a:pt x="104180" y="23812"/>
                </a:lnTo>
                <a:lnTo>
                  <a:pt x="104180" y="8930"/>
                </a:lnTo>
                <a:cubicBezTo>
                  <a:pt x="104180" y="3981"/>
                  <a:pt x="100199" y="0"/>
                  <a:pt x="95250" y="0"/>
                </a:cubicBezTo>
                <a:cubicBezTo>
                  <a:pt x="90301" y="0"/>
                  <a:pt x="86320" y="3981"/>
                  <a:pt x="86320" y="8930"/>
                </a:cubicBezTo>
                <a:lnTo>
                  <a:pt x="86320" y="23812"/>
                </a:lnTo>
                <a:lnTo>
                  <a:pt x="65484" y="23812"/>
                </a:lnTo>
                <a:lnTo>
                  <a:pt x="65484" y="8930"/>
                </a:lnTo>
                <a:close/>
                <a:moveTo>
                  <a:pt x="59531" y="47625"/>
                </a:moveTo>
                <a:lnTo>
                  <a:pt x="130969" y="47625"/>
                </a:lnTo>
                <a:cubicBezTo>
                  <a:pt x="137554" y="47625"/>
                  <a:pt x="142875" y="52946"/>
                  <a:pt x="142875" y="59531"/>
                </a:cubicBezTo>
                <a:lnTo>
                  <a:pt x="142875" y="130969"/>
                </a:lnTo>
                <a:cubicBezTo>
                  <a:pt x="142875" y="137554"/>
                  <a:pt x="137554" y="142875"/>
                  <a:pt x="130969" y="142875"/>
                </a:cubicBezTo>
                <a:lnTo>
                  <a:pt x="59531" y="142875"/>
                </a:lnTo>
                <a:cubicBezTo>
                  <a:pt x="52946" y="142875"/>
                  <a:pt x="47625" y="137554"/>
                  <a:pt x="47625" y="130969"/>
                </a:cubicBezTo>
                <a:lnTo>
                  <a:pt x="47625" y="59531"/>
                </a:lnTo>
                <a:cubicBezTo>
                  <a:pt x="47625" y="52946"/>
                  <a:pt x="52946" y="47625"/>
                  <a:pt x="59531" y="47625"/>
                </a:cubicBezTo>
                <a:close/>
                <a:moveTo>
                  <a:pt x="65484" y="65484"/>
                </a:moveTo>
                <a:lnTo>
                  <a:pt x="65484" y="125016"/>
                </a:lnTo>
                <a:lnTo>
                  <a:pt x="125016" y="125016"/>
                </a:lnTo>
                <a:lnTo>
                  <a:pt x="125016" y="65484"/>
                </a:lnTo>
                <a:lnTo>
                  <a:pt x="65484" y="65484"/>
                </a:ln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6" name="Text 12"/>
          <p:cNvSpPr/>
          <p:nvPr/>
        </p:nvSpPr>
        <p:spPr>
          <a:xfrm>
            <a:off x="4332565" y="624840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D3B9D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 7业绩成色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pic>
        <p:nvPicPr>
          <p:cNvPr id="3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1524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1866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2476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400050" y="2895600"/>
            <a:ext cx="5543550" cy="2438400"/>
          </a:xfrm>
          <a:custGeom>
            <a:avLst/>
            <a:gdLst/>
            <a:ahLst/>
            <a:cxnLst/>
            <a:rect l="l" t="t" r="r" b="b"/>
            <a:pathLst>
              <a:path w="5543550" h="2438400">
                <a:moveTo>
                  <a:pt x="38100" y="0"/>
                </a:moveTo>
                <a:lnTo>
                  <a:pt x="5391150" y="0"/>
                </a:lnTo>
                <a:cubicBezTo>
                  <a:pt x="5475262" y="0"/>
                  <a:pt x="5543550" y="68288"/>
                  <a:pt x="5543550" y="152400"/>
                </a:cubicBezTo>
                <a:lnTo>
                  <a:pt x="5543550" y="2286000"/>
                </a:lnTo>
                <a:cubicBezTo>
                  <a:pt x="5543550" y="2370112"/>
                  <a:pt x="5475262" y="2438400"/>
                  <a:pt x="5391150" y="2438400"/>
                </a:cubicBez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00050" y="2895600"/>
            <a:ext cx="38100" cy="2438400"/>
          </a:xfrm>
          <a:custGeom>
            <a:avLst/>
            <a:gdLst/>
            <a:ahLst/>
            <a:cxnLst/>
            <a:rect l="l" t="t" r="r" b="b"/>
            <a:pathLst>
              <a:path w="38100" h="2438400">
                <a:moveTo>
                  <a:pt x="3810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9" name="Shape 6"/>
          <p:cNvSpPr/>
          <p:nvPr/>
        </p:nvSpPr>
        <p:spPr>
          <a:xfrm>
            <a:off x="723900" y="320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2700000" scaled="1"/>
          </a:gradFill>
          <a:ln/>
        </p:spPr>
      </p:sp>
      <p:sp>
        <p:nvSpPr>
          <p:cNvPr id="10" name="Text 7"/>
          <p:cNvSpPr/>
          <p:nvPr/>
        </p:nvSpPr>
        <p:spPr>
          <a:xfrm>
            <a:off x="860108" y="333375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24000" y="3219450"/>
            <a:ext cx="133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宏观流动性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24000" y="3562231"/>
            <a:ext cx="129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美联储与TGA账户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3900" y="4038600"/>
            <a:ext cx="4991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深入解析美联储货币政策与TGA账户动态，揭示流动性如何决定市场估值上限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23900" y="4724400"/>
            <a:ext cx="704850" cy="304800"/>
          </a:xfrm>
          <a:custGeom>
            <a:avLst/>
            <a:gdLst/>
            <a:ahLst/>
            <a:cxnLst/>
            <a:rect l="l" t="t" r="r" b="b"/>
            <a:pathLst>
              <a:path w="704850" h="304800">
                <a:moveTo>
                  <a:pt x="152400" y="0"/>
                </a:moveTo>
                <a:lnTo>
                  <a:pt x="552450" y="0"/>
                </a:lnTo>
                <a:cubicBezTo>
                  <a:pt x="636562" y="0"/>
                  <a:pt x="704850" y="68288"/>
                  <a:pt x="704850" y="152400"/>
                </a:cubicBezTo>
                <a:lnTo>
                  <a:pt x="704850" y="152400"/>
                </a:lnTo>
                <a:cubicBezTo>
                  <a:pt x="704850" y="236512"/>
                  <a:pt x="636562" y="304800"/>
                  <a:pt x="55245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23900" y="4724400"/>
            <a:ext cx="771525" cy="3048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点阵图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543050" y="472440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543050" y="4724400"/>
            <a:ext cx="904875" cy="3048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中性利率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495550" y="472440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2495550" y="4724400"/>
            <a:ext cx="904875" cy="3048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TGA账户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267450" y="2895600"/>
            <a:ext cx="5543550" cy="2438400"/>
          </a:xfrm>
          <a:custGeom>
            <a:avLst/>
            <a:gdLst/>
            <a:ahLst/>
            <a:cxnLst/>
            <a:rect l="l" t="t" r="r" b="b"/>
            <a:pathLst>
              <a:path w="5543550" h="2438400">
                <a:moveTo>
                  <a:pt x="38100" y="0"/>
                </a:moveTo>
                <a:lnTo>
                  <a:pt x="5391150" y="0"/>
                </a:lnTo>
                <a:cubicBezTo>
                  <a:pt x="5475262" y="0"/>
                  <a:pt x="5543550" y="68288"/>
                  <a:pt x="5543550" y="152400"/>
                </a:cubicBezTo>
                <a:lnTo>
                  <a:pt x="5543550" y="2286000"/>
                </a:lnTo>
                <a:cubicBezTo>
                  <a:pt x="5543550" y="2370112"/>
                  <a:pt x="5475262" y="2438400"/>
                  <a:pt x="5391150" y="2438400"/>
                </a:cubicBez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7450" y="2895600"/>
            <a:ext cx="38100" cy="2438400"/>
          </a:xfrm>
          <a:custGeom>
            <a:avLst/>
            <a:gdLst/>
            <a:ahLst/>
            <a:cxnLst/>
            <a:rect l="l" t="t" r="r" b="b"/>
            <a:pathLst>
              <a:path w="38100" h="2438400">
                <a:moveTo>
                  <a:pt x="38100" y="0"/>
                </a:moveTo>
                <a:lnTo>
                  <a:pt x="38100" y="0"/>
                </a:lnTo>
                <a:lnTo>
                  <a:pt x="38100" y="2438400"/>
                </a:lnTo>
                <a:lnTo>
                  <a:pt x="38100" y="2438400"/>
                </a:lnTo>
                <a:cubicBezTo>
                  <a:pt x="17072" y="2438400"/>
                  <a:pt x="0" y="2421328"/>
                  <a:pt x="0" y="2400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22" name="Shape 19"/>
          <p:cNvSpPr/>
          <p:nvPr/>
        </p:nvSpPr>
        <p:spPr>
          <a:xfrm>
            <a:off x="6591300" y="320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7C1D56"/>
              </a:gs>
              <a:gs pos="100000">
                <a:srgbClr val="A95EAF"/>
              </a:gs>
            </a:gsLst>
            <a:lin ang="2700000" scaled="1"/>
          </a:gradFill>
          <a:ln/>
        </p:spPr>
      </p:sp>
      <p:sp>
        <p:nvSpPr>
          <p:cNvPr id="23" name="Text 20"/>
          <p:cNvSpPr/>
          <p:nvPr/>
        </p:nvSpPr>
        <p:spPr>
          <a:xfrm>
            <a:off x="6727507" y="3333750"/>
            <a:ext cx="47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391400" y="321945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微观基本面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391400" y="3562231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C1D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头部公司业绩与反应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591300" y="4038600"/>
            <a:ext cx="4991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深度剖析Mag 7业绩成色与价格行动，把握市场安全边际的关键信号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591300" y="4476750"/>
            <a:ext cx="685800" cy="304800"/>
          </a:xfrm>
          <a:custGeom>
            <a:avLst/>
            <a:gdLst/>
            <a:ahLst/>
            <a:cxnLst/>
            <a:rect l="l" t="t" r="r" b="b"/>
            <a:pathLst>
              <a:path w="685800" h="304800">
                <a:moveTo>
                  <a:pt x="152400" y="0"/>
                </a:moveTo>
                <a:lnTo>
                  <a:pt x="533400" y="0"/>
                </a:lnTo>
                <a:cubicBezTo>
                  <a:pt x="617512" y="0"/>
                  <a:pt x="685800" y="68288"/>
                  <a:pt x="685800" y="152400"/>
                </a:cubicBezTo>
                <a:lnTo>
                  <a:pt x="685800" y="152400"/>
                </a:lnTo>
                <a:cubicBezTo>
                  <a:pt x="685800" y="236512"/>
                  <a:pt x="617512" y="304800"/>
                  <a:pt x="533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6591300" y="4476750"/>
            <a:ext cx="752475" cy="3048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C1D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ROI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387828" y="447675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7387828" y="4476750"/>
            <a:ext cx="904875" cy="3048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C1D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业绩指引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340328" y="4476750"/>
            <a:ext cx="838200" cy="304800"/>
          </a:xfrm>
          <a:custGeom>
            <a:avLst/>
            <a:gdLst/>
            <a:ahLst/>
            <a:cxnLst/>
            <a:rect l="l" t="t" r="r" b="b"/>
            <a:pathLst>
              <a:path w="838200" h="304800">
                <a:moveTo>
                  <a:pt x="152400" y="0"/>
                </a:moveTo>
                <a:lnTo>
                  <a:pt x="685800" y="0"/>
                </a:lnTo>
                <a:cubicBezTo>
                  <a:pt x="769912" y="0"/>
                  <a:pt x="838200" y="68288"/>
                  <a:pt x="838200" y="152400"/>
                </a:cubicBezTo>
                <a:lnTo>
                  <a:pt x="838200" y="152400"/>
                </a:lnTo>
                <a:cubicBezTo>
                  <a:pt x="838200" y="236512"/>
                  <a:pt x="769912" y="304800"/>
                  <a:pt x="6858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D3B9D7">
              <a:alpha val="3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8340328" y="4476750"/>
            <a:ext cx="904875" cy="304800"/>
          </a:xfrm>
          <a:prstGeom prst="rect">
            <a:avLst/>
          </a:prstGeom>
          <a:noFill/>
          <a:ln/>
        </p:spPr>
        <p:txBody>
          <a:bodyPr wrap="square" lIns="152400" tIns="57150" rIns="1524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C1D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价格行动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pic>
        <p:nvPicPr>
          <p:cNvPr id="3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9735" y="369735"/>
            <a:ext cx="11526478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kern="0" spc="58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MONETARY POLICY &amp; DOT PLOT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9735" y="665522"/>
            <a:ext cx="11618911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20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货币政策与点阵图：利息的"价格"与"方向"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9735" y="1146177"/>
            <a:ext cx="887363" cy="36973"/>
          </a:xfrm>
          <a:custGeom>
            <a:avLst/>
            <a:gdLst/>
            <a:ahLst/>
            <a:cxnLst/>
            <a:rect l="l" t="t" r="r" b="b"/>
            <a:pathLst>
              <a:path w="887363" h="36973">
                <a:moveTo>
                  <a:pt x="0" y="0"/>
                </a:moveTo>
                <a:lnTo>
                  <a:pt x="887363" y="0"/>
                </a:lnTo>
                <a:lnTo>
                  <a:pt x="887363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369735" y="1404992"/>
            <a:ext cx="5619967" cy="2366302"/>
          </a:xfrm>
          <a:custGeom>
            <a:avLst/>
            <a:gdLst/>
            <a:ahLst/>
            <a:cxnLst/>
            <a:rect l="l" t="t" r="r" b="b"/>
            <a:pathLst>
              <a:path w="5619967" h="2366302">
                <a:moveTo>
                  <a:pt x="110932" y="0"/>
                </a:moveTo>
                <a:lnTo>
                  <a:pt x="5509034" y="0"/>
                </a:lnTo>
                <a:cubicBezTo>
                  <a:pt x="5570301" y="0"/>
                  <a:pt x="5619967" y="49666"/>
                  <a:pt x="5619967" y="110932"/>
                </a:cubicBezTo>
                <a:lnTo>
                  <a:pt x="5619967" y="2255370"/>
                </a:lnTo>
                <a:cubicBezTo>
                  <a:pt x="5619967" y="2316636"/>
                  <a:pt x="5570301" y="2366302"/>
                  <a:pt x="5509034" y="2366302"/>
                </a:cubicBezTo>
                <a:lnTo>
                  <a:pt x="110932" y="2366302"/>
                </a:lnTo>
                <a:cubicBezTo>
                  <a:pt x="49666" y="2366302"/>
                  <a:pt x="0" y="2316636"/>
                  <a:pt x="0" y="2255370"/>
                </a:cubicBezTo>
                <a:lnTo>
                  <a:pt x="0" y="110932"/>
                </a:lnTo>
                <a:cubicBezTo>
                  <a:pt x="0" y="49666"/>
                  <a:pt x="49666" y="0"/>
                  <a:pt x="1109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460" dist="3697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1575" y="1626832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73947" y="0"/>
                </a:moveTo>
                <a:lnTo>
                  <a:pt x="295788" y="0"/>
                </a:lnTo>
                <a:cubicBezTo>
                  <a:pt x="336600" y="0"/>
                  <a:pt x="369735" y="33135"/>
                  <a:pt x="369735" y="73947"/>
                </a:cubicBezTo>
                <a:lnTo>
                  <a:pt x="369735" y="295788"/>
                </a:lnTo>
                <a:cubicBezTo>
                  <a:pt x="369735" y="336627"/>
                  <a:pt x="336627" y="369735"/>
                  <a:pt x="295788" y="369735"/>
                </a:cubicBezTo>
                <a:lnTo>
                  <a:pt x="73947" y="369735"/>
                </a:lnTo>
                <a:cubicBezTo>
                  <a:pt x="33135" y="369735"/>
                  <a:pt x="0" y="336600"/>
                  <a:pt x="0" y="295788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9" name="Shape 6"/>
          <p:cNvSpPr/>
          <p:nvPr/>
        </p:nvSpPr>
        <p:spPr>
          <a:xfrm>
            <a:off x="685165" y="1728509"/>
            <a:ext cx="187178" cy="166381"/>
          </a:xfrm>
          <a:custGeom>
            <a:avLst/>
            <a:gdLst/>
            <a:ahLst/>
            <a:cxnLst/>
            <a:rect l="l" t="t" r="r" b="b"/>
            <a:pathLst>
              <a:path w="187178" h="166381">
                <a:moveTo>
                  <a:pt x="93589" y="-5199"/>
                </a:moveTo>
                <a:cubicBezTo>
                  <a:pt x="99341" y="-5199"/>
                  <a:pt x="103988" y="-552"/>
                  <a:pt x="103988" y="5199"/>
                </a:cubicBezTo>
                <a:lnTo>
                  <a:pt x="103988" y="11146"/>
                </a:lnTo>
                <a:cubicBezTo>
                  <a:pt x="135867" y="15696"/>
                  <a:pt x="161084" y="40913"/>
                  <a:pt x="165633" y="72792"/>
                </a:cubicBezTo>
                <a:lnTo>
                  <a:pt x="171580" y="72792"/>
                </a:lnTo>
                <a:cubicBezTo>
                  <a:pt x="177332" y="72792"/>
                  <a:pt x="181979" y="77438"/>
                  <a:pt x="181979" y="83190"/>
                </a:cubicBezTo>
                <a:cubicBezTo>
                  <a:pt x="181979" y="88942"/>
                  <a:pt x="177332" y="93589"/>
                  <a:pt x="171580" y="93589"/>
                </a:cubicBezTo>
                <a:lnTo>
                  <a:pt x="165633" y="93589"/>
                </a:lnTo>
                <a:cubicBezTo>
                  <a:pt x="161084" y="125468"/>
                  <a:pt x="135867" y="150685"/>
                  <a:pt x="103988" y="155234"/>
                </a:cubicBezTo>
                <a:lnTo>
                  <a:pt x="103988" y="161181"/>
                </a:lnTo>
                <a:cubicBezTo>
                  <a:pt x="103988" y="166933"/>
                  <a:pt x="99341" y="171580"/>
                  <a:pt x="93589" y="171580"/>
                </a:cubicBezTo>
                <a:cubicBezTo>
                  <a:pt x="87837" y="171580"/>
                  <a:pt x="83190" y="166933"/>
                  <a:pt x="83190" y="161181"/>
                </a:cubicBezTo>
                <a:lnTo>
                  <a:pt x="83190" y="155234"/>
                </a:lnTo>
                <a:cubicBezTo>
                  <a:pt x="51312" y="150685"/>
                  <a:pt x="26094" y="125468"/>
                  <a:pt x="21545" y="93589"/>
                </a:cubicBezTo>
                <a:lnTo>
                  <a:pt x="15598" y="93589"/>
                </a:lnTo>
                <a:cubicBezTo>
                  <a:pt x="9846" y="93589"/>
                  <a:pt x="5199" y="88942"/>
                  <a:pt x="5199" y="83190"/>
                </a:cubicBezTo>
                <a:cubicBezTo>
                  <a:pt x="5199" y="77438"/>
                  <a:pt x="9846" y="72792"/>
                  <a:pt x="15598" y="72792"/>
                </a:cubicBezTo>
                <a:lnTo>
                  <a:pt x="21545" y="72792"/>
                </a:lnTo>
                <a:cubicBezTo>
                  <a:pt x="26094" y="40913"/>
                  <a:pt x="51312" y="15696"/>
                  <a:pt x="83190" y="11146"/>
                </a:cubicBezTo>
                <a:lnTo>
                  <a:pt x="83190" y="5199"/>
                </a:lnTo>
                <a:cubicBezTo>
                  <a:pt x="83190" y="-552"/>
                  <a:pt x="87837" y="-5199"/>
                  <a:pt x="93589" y="-5199"/>
                </a:cubicBezTo>
                <a:close/>
                <a:moveTo>
                  <a:pt x="42635" y="93589"/>
                </a:moveTo>
                <a:cubicBezTo>
                  <a:pt x="46762" y="113964"/>
                  <a:pt x="62815" y="130017"/>
                  <a:pt x="83190" y="134144"/>
                </a:cubicBezTo>
                <a:lnTo>
                  <a:pt x="83190" y="129985"/>
                </a:lnTo>
                <a:cubicBezTo>
                  <a:pt x="83190" y="124233"/>
                  <a:pt x="87837" y="119586"/>
                  <a:pt x="93589" y="119586"/>
                </a:cubicBezTo>
                <a:cubicBezTo>
                  <a:pt x="99341" y="119586"/>
                  <a:pt x="103988" y="124233"/>
                  <a:pt x="103988" y="129985"/>
                </a:cubicBezTo>
                <a:lnTo>
                  <a:pt x="103988" y="134144"/>
                </a:lnTo>
                <a:cubicBezTo>
                  <a:pt x="124363" y="130017"/>
                  <a:pt x="140416" y="113964"/>
                  <a:pt x="144543" y="93589"/>
                </a:cubicBezTo>
                <a:lnTo>
                  <a:pt x="140384" y="93589"/>
                </a:lnTo>
                <a:cubicBezTo>
                  <a:pt x="134632" y="93589"/>
                  <a:pt x="129985" y="88942"/>
                  <a:pt x="129985" y="83190"/>
                </a:cubicBezTo>
                <a:cubicBezTo>
                  <a:pt x="129985" y="77438"/>
                  <a:pt x="134632" y="72792"/>
                  <a:pt x="140384" y="72792"/>
                </a:cubicBezTo>
                <a:lnTo>
                  <a:pt x="144543" y="72792"/>
                </a:lnTo>
                <a:cubicBezTo>
                  <a:pt x="140416" y="52416"/>
                  <a:pt x="124363" y="36363"/>
                  <a:pt x="103988" y="32236"/>
                </a:cubicBezTo>
                <a:lnTo>
                  <a:pt x="103988" y="36396"/>
                </a:lnTo>
                <a:cubicBezTo>
                  <a:pt x="103988" y="42148"/>
                  <a:pt x="99341" y="46795"/>
                  <a:pt x="93589" y="46795"/>
                </a:cubicBezTo>
                <a:cubicBezTo>
                  <a:pt x="87837" y="46795"/>
                  <a:pt x="83190" y="42148"/>
                  <a:pt x="83190" y="36396"/>
                </a:cubicBezTo>
                <a:lnTo>
                  <a:pt x="83190" y="32236"/>
                </a:lnTo>
                <a:cubicBezTo>
                  <a:pt x="62815" y="36363"/>
                  <a:pt x="46762" y="52416"/>
                  <a:pt x="42635" y="72792"/>
                </a:cubicBezTo>
                <a:lnTo>
                  <a:pt x="46795" y="72792"/>
                </a:lnTo>
                <a:cubicBezTo>
                  <a:pt x="52546" y="72792"/>
                  <a:pt x="57193" y="77438"/>
                  <a:pt x="57193" y="83190"/>
                </a:cubicBezTo>
                <a:cubicBezTo>
                  <a:pt x="57193" y="88942"/>
                  <a:pt x="52546" y="93589"/>
                  <a:pt x="46795" y="93589"/>
                </a:cubicBezTo>
                <a:lnTo>
                  <a:pt x="42635" y="93589"/>
                </a:lnTo>
                <a:close/>
                <a:moveTo>
                  <a:pt x="93589" y="67592"/>
                </a:moveTo>
                <a:cubicBezTo>
                  <a:pt x="102198" y="67592"/>
                  <a:pt x="109187" y="74581"/>
                  <a:pt x="109187" y="83190"/>
                </a:cubicBezTo>
                <a:cubicBezTo>
                  <a:pt x="109187" y="91799"/>
                  <a:pt x="102198" y="98788"/>
                  <a:pt x="93589" y="98788"/>
                </a:cubicBezTo>
                <a:cubicBezTo>
                  <a:pt x="84980" y="98788"/>
                  <a:pt x="77991" y="91799"/>
                  <a:pt x="77991" y="83190"/>
                </a:cubicBezTo>
                <a:cubicBezTo>
                  <a:pt x="77991" y="74581"/>
                  <a:pt x="84980" y="67592"/>
                  <a:pt x="93589" y="6759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72230" y="1682293"/>
            <a:ext cx="1386505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中性利率的锚点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1575" y="2181434"/>
            <a:ext cx="5250232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b="1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2026年市场关注焦点：</a:t>
            </a:r>
            <a:r>
              <a:rPr lang="en-US" sz="116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从"降多少"转向"降到哪"。通过点阵图观察委员们对2026年末联邦基金利率中值的预测。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0062" y="2809983"/>
            <a:ext cx="5157798" cy="739469"/>
          </a:xfrm>
          <a:custGeom>
            <a:avLst/>
            <a:gdLst/>
            <a:ahLst/>
            <a:cxnLst/>
            <a:rect l="l" t="t" r="r" b="b"/>
            <a:pathLst>
              <a:path w="5157798" h="739469">
                <a:moveTo>
                  <a:pt x="36973" y="0"/>
                </a:moveTo>
                <a:lnTo>
                  <a:pt x="5083851" y="0"/>
                </a:lnTo>
                <a:cubicBezTo>
                  <a:pt x="5124691" y="0"/>
                  <a:pt x="5157798" y="33107"/>
                  <a:pt x="5157798" y="73947"/>
                </a:cubicBezTo>
                <a:lnTo>
                  <a:pt x="5157798" y="665522"/>
                </a:lnTo>
                <a:cubicBezTo>
                  <a:pt x="5157798" y="706362"/>
                  <a:pt x="5124691" y="739469"/>
                  <a:pt x="5083851" y="739469"/>
                </a:cubicBezTo>
                <a:lnTo>
                  <a:pt x="36973" y="739469"/>
                </a:lnTo>
                <a:cubicBezTo>
                  <a:pt x="16554" y="739469"/>
                  <a:pt x="0" y="722916"/>
                  <a:pt x="0" y="702496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gradFill flip="none" rotWithShape="1">
            <a:gsLst>
              <a:gs pos="0">
                <a:srgbClr val="D3B9D7">
                  <a:alpha val="20000"/>
                </a:srgbClr>
              </a:gs>
              <a:gs pos="100000">
                <a:srgbClr val="A95EAF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13" name="Shape 10"/>
          <p:cNvSpPr/>
          <p:nvPr/>
        </p:nvSpPr>
        <p:spPr>
          <a:xfrm>
            <a:off x="610062" y="2809983"/>
            <a:ext cx="36973" cy="739469"/>
          </a:xfrm>
          <a:custGeom>
            <a:avLst/>
            <a:gdLst/>
            <a:ahLst/>
            <a:cxnLst/>
            <a:rect l="l" t="t" r="r" b="b"/>
            <a:pathLst>
              <a:path w="36973" h="739469">
                <a:moveTo>
                  <a:pt x="36973" y="0"/>
                </a:moveTo>
                <a:lnTo>
                  <a:pt x="36973" y="0"/>
                </a:lnTo>
                <a:lnTo>
                  <a:pt x="36973" y="739469"/>
                </a:lnTo>
                <a:lnTo>
                  <a:pt x="36973" y="739469"/>
                </a:lnTo>
                <a:cubicBezTo>
                  <a:pt x="16554" y="739469"/>
                  <a:pt x="0" y="722916"/>
                  <a:pt x="0" y="702496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4" name="Shape 11"/>
          <p:cNvSpPr/>
          <p:nvPr/>
        </p:nvSpPr>
        <p:spPr>
          <a:xfrm>
            <a:off x="785686" y="2987456"/>
            <a:ext cx="166381" cy="147894"/>
          </a:xfrm>
          <a:custGeom>
            <a:avLst/>
            <a:gdLst/>
            <a:ahLst/>
            <a:cxnLst/>
            <a:rect l="l" t="t" r="r" b="b"/>
            <a:pathLst>
              <a:path w="166381" h="147894">
                <a:moveTo>
                  <a:pt x="89401" y="-5459"/>
                </a:moveTo>
                <a:cubicBezTo>
                  <a:pt x="88216" y="-7770"/>
                  <a:pt x="85819" y="-9243"/>
                  <a:pt x="83219" y="-9243"/>
                </a:cubicBezTo>
                <a:cubicBezTo>
                  <a:pt x="80619" y="-9243"/>
                  <a:pt x="78222" y="-7770"/>
                  <a:pt x="77038" y="-5459"/>
                </a:cubicBezTo>
                <a:lnTo>
                  <a:pt x="55778" y="36194"/>
                </a:lnTo>
                <a:lnTo>
                  <a:pt x="9590" y="43530"/>
                </a:lnTo>
                <a:cubicBezTo>
                  <a:pt x="7019" y="43935"/>
                  <a:pt x="4882" y="45755"/>
                  <a:pt x="4073" y="48239"/>
                </a:cubicBezTo>
                <a:cubicBezTo>
                  <a:pt x="3264" y="50723"/>
                  <a:pt x="3928" y="53438"/>
                  <a:pt x="5748" y="55287"/>
                </a:cubicBezTo>
                <a:lnTo>
                  <a:pt x="38793" y="88361"/>
                </a:lnTo>
                <a:lnTo>
                  <a:pt x="31514" y="134549"/>
                </a:lnTo>
                <a:cubicBezTo>
                  <a:pt x="31110" y="137120"/>
                  <a:pt x="32178" y="139719"/>
                  <a:pt x="34287" y="141250"/>
                </a:cubicBezTo>
                <a:cubicBezTo>
                  <a:pt x="36396" y="142781"/>
                  <a:pt x="39169" y="143012"/>
                  <a:pt x="41508" y="141828"/>
                </a:cubicBezTo>
                <a:lnTo>
                  <a:pt x="83219" y="120626"/>
                </a:lnTo>
                <a:lnTo>
                  <a:pt x="124901" y="141828"/>
                </a:lnTo>
                <a:cubicBezTo>
                  <a:pt x="127212" y="143012"/>
                  <a:pt x="130014" y="142781"/>
                  <a:pt x="132122" y="141250"/>
                </a:cubicBezTo>
                <a:cubicBezTo>
                  <a:pt x="134231" y="139719"/>
                  <a:pt x="135300" y="137148"/>
                  <a:pt x="134895" y="134549"/>
                </a:cubicBezTo>
                <a:lnTo>
                  <a:pt x="127587" y="88361"/>
                </a:lnTo>
                <a:lnTo>
                  <a:pt x="160632" y="55287"/>
                </a:lnTo>
                <a:cubicBezTo>
                  <a:pt x="162481" y="53438"/>
                  <a:pt x="163117" y="50723"/>
                  <a:pt x="162308" y="48239"/>
                </a:cubicBezTo>
                <a:cubicBezTo>
                  <a:pt x="161499" y="45755"/>
                  <a:pt x="159390" y="43935"/>
                  <a:pt x="156791" y="43530"/>
                </a:cubicBezTo>
                <a:lnTo>
                  <a:pt x="110632" y="36194"/>
                </a:lnTo>
                <a:lnTo>
                  <a:pt x="89401" y="-5459"/>
                </a:ln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5" name="Text 12"/>
          <p:cNvSpPr/>
          <p:nvPr/>
        </p:nvSpPr>
        <p:spPr>
          <a:xfrm>
            <a:off x="1015130" y="2957877"/>
            <a:ext cx="4678783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关键指标：</a:t>
            </a:r>
            <a:r>
              <a:rPr lang="en-US" sz="116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点阵图显示利率目标在 </a:t>
            </a:r>
            <a:r>
              <a:rPr lang="en-US" sz="1165" b="1" dirty="0">
                <a:solidFill>
                  <a:srgbClr val="7C1D56"/>
                </a:solidFill>
                <a:highlight>
                  <a:srgbClr val="A95EA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3.0% - 3.5% </a:t>
            </a:r>
            <a:r>
              <a:rPr lang="en-US" sz="116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之间，说明美联储正试图将利率维持在"中性区间"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207382" y="1404992"/>
            <a:ext cx="5619967" cy="2366302"/>
          </a:xfrm>
          <a:custGeom>
            <a:avLst/>
            <a:gdLst/>
            <a:ahLst/>
            <a:cxnLst/>
            <a:rect l="l" t="t" r="r" b="b"/>
            <a:pathLst>
              <a:path w="5619967" h="2366302">
                <a:moveTo>
                  <a:pt x="110932" y="0"/>
                </a:moveTo>
                <a:lnTo>
                  <a:pt x="5509034" y="0"/>
                </a:lnTo>
                <a:cubicBezTo>
                  <a:pt x="5570301" y="0"/>
                  <a:pt x="5619967" y="49666"/>
                  <a:pt x="5619967" y="110932"/>
                </a:cubicBezTo>
                <a:lnTo>
                  <a:pt x="5619967" y="2255370"/>
                </a:lnTo>
                <a:cubicBezTo>
                  <a:pt x="5619967" y="2316636"/>
                  <a:pt x="5570301" y="2366302"/>
                  <a:pt x="5509034" y="2366302"/>
                </a:cubicBezTo>
                <a:lnTo>
                  <a:pt x="110932" y="2366302"/>
                </a:lnTo>
                <a:cubicBezTo>
                  <a:pt x="49666" y="2366302"/>
                  <a:pt x="0" y="2316636"/>
                  <a:pt x="0" y="2255370"/>
                </a:cubicBezTo>
                <a:lnTo>
                  <a:pt x="0" y="110932"/>
                </a:lnTo>
                <a:cubicBezTo>
                  <a:pt x="0" y="49666"/>
                  <a:pt x="49666" y="0"/>
                  <a:pt x="1109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460" dist="3697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29223" y="1626832"/>
            <a:ext cx="369735" cy="369735"/>
          </a:xfrm>
          <a:custGeom>
            <a:avLst/>
            <a:gdLst/>
            <a:ahLst/>
            <a:cxnLst/>
            <a:rect l="l" t="t" r="r" b="b"/>
            <a:pathLst>
              <a:path w="369735" h="369735">
                <a:moveTo>
                  <a:pt x="73947" y="0"/>
                </a:moveTo>
                <a:lnTo>
                  <a:pt x="295788" y="0"/>
                </a:lnTo>
                <a:cubicBezTo>
                  <a:pt x="336600" y="0"/>
                  <a:pt x="369735" y="33135"/>
                  <a:pt x="369735" y="73947"/>
                </a:cubicBezTo>
                <a:lnTo>
                  <a:pt x="369735" y="295788"/>
                </a:lnTo>
                <a:cubicBezTo>
                  <a:pt x="369735" y="336627"/>
                  <a:pt x="336627" y="369735"/>
                  <a:pt x="295788" y="369735"/>
                </a:cubicBezTo>
                <a:lnTo>
                  <a:pt x="73947" y="369735"/>
                </a:lnTo>
                <a:cubicBezTo>
                  <a:pt x="33135" y="369735"/>
                  <a:pt x="0" y="336600"/>
                  <a:pt x="0" y="295788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18" name="Shape 15"/>
          <p:cNvSpPr/>
          <p:nvPr/>
        </p:nvSpPr>
        <p:spPr>
          <a:xfrm>
            <a:off x="6543610" y="1728509"/>
            <a:ext cx="145583" cy="166381"/>
          </a:xfrm>
          <a:custGeom>
            <a:avLst/>
            <a:gdLst/>
            <a:ahLst/>
            <a:cxnLst/>
            <a:rect l="l" t="t" r="r" b="b"/>
            <a:pathLst>
              <a:path w="145583" h="166381">
                <a:moveTo>
                  <a:pt x="72792" y="80591"/>
                </a:moveTo>
                <a:cubicBezTo>
                  <a:pt x="51269" y="80591"/>
                  <a:pt x="33796" y="63117"/>
                  <a:pt x="33796" y="41595"/>
                </a:cubicBezTo>
                <a:cubicBezTo>
                  <a:pt x="33796" y="20073"/>
                  <a:pt x="51269" y="2600"/>
                  <a:pt x="72792" y="2600"/>
                </a:cubicBezTo>
                <a:cubicBezTo>
                  <a:pt x="94314" y="2600"/>
                  <a:pt x="111787" y="20073"/>
                  <a:pt x="111787" y="41595"/>
                </a:cubicBezTo>
                <a:cubicBezTo>
                  <a:pt x="111787" y="63117"/>
                  <a:pt x="94314" y="80591"/>
                  <a:pt x="72792" y="80591"/>
                </a:cubicBezTo>
                <a:close/>
                <a:moveTo>
                  <a:pt x="62880" y="98788"/>
                </a:moveTo>
                <a:lnTo>
                  <a:pt x="82703" y="98788"/>
                </a:lnTo>
                <a:cubicBezTo>
                  <a:pt x="85855" y="98788"/>
                  <a:pt x="88390" y="101323"/>
                  <a:pt x="88390" y="104475"/>
                </a:cubicBezTo>
                <a:cubicBezTo>
                  <a:pt x="88390" y="105840"/>
                  <a:pt x="87902" y="107140"/>
                  <a:pt x="87025" y="108180"/>
                </a:cubicBezTo>
                <a:lnTo>
                  <a:pt x="78121" y="118579"/>
                </a:lnTo>
                <a:lnTo>
                  <a:pt x="88195" y="155982"/>
                </a:lnTo>
                <a:lnTo>
                  <a:pt x="88390" y="155982"/>
                </a:lnTo>
                <a:lnTo>
                  <a:pt x="99633" y="110975"/>
                </a:lnTo>
                <a:cubicBezTo>
                  <a:pt x="100348" y="108147"/>
                  <a:pt x="103240" y="106425"/>
                  <a:pt x="105970" y="107465"/>
                </a:cubicBezTo>
                <a:cubicBezTo>
                  <a:pt x="126085" y="115134"/>
                  <a:pt x="140384" y="134632"/>
                  <a:pt x="140384" y="157444"/>
                </a:cubicBezTo>
                <a:cubicBezTo>
                  <a:pt x="140384" y="162351"/>
                  <a:pt x="136387" y="166348"/>
                  <a:pt x="131480" y="166348"/>
                </a:cubicBezTo>
                <a:lnTo>
                  <a:pt x="14103" y="166381"/>
                </a:lnTo>
                <a:cubicBezTo>
                  <a:pt x="9196" y="166381"/>
                  <a:pt x="5199" y="162384"/>
                  <a:pt x="5199" y="157477"/>
                </a:cubicBezTo>
                <a:cubicBezTo>
                  <a:pt x="5199" y="134664"/>
                  <a:pt x="19498" y="115167"/>
                  <a:pt x="39613" y="107497"/>
                </a:cubicBezTo>
                <a:cubicBezTo>
                  <a:pt x="42343" y="106458"/>
                  <a:pt x="45235" y="108180"/>
                  <a:pt x="45950" y="111007"/>
                </a:cubicBezTo>
                <a:lnTo>
                  <a:pt x="57193" y="156014"/>
                </a:lnTo>
                <a:lnTo>
                  <a:pt x="57388" y="156014"/>
                </a:lnTo>
                <a:lnTo>
                  <a:pt x="67462" y="118611"/>
                </a:lnTo>
                <a:lnTo>
                  <a:pt x="58558" y="108212"/>
                </a:lnTo>
                <a:cubicBezTo>
                  <a:pt x="57681" y="107172"/>
                  <a:pt x="57193" y="105873"/>
                  <a:pt x="57193" y="104508"/>
                </a:cubicBezTo>
                <a:cubicBezTo>
                  <a:pt x="57193" y="101356"/>
                  <a:pt x="59728" y="98821"/>
                  <a:pt x="62880" y="9882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6909878" y="1682293"/>
            <a:ext cx="1756240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换届变量：主席人选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29223" y="2181434"/>
            <a:ext cx="5250232" cy="480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b="1" dirty="0">
                <a:solidFill>
                  <a:srgbClr val="7C1D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2026年是美联储主席换届年</a:t>
            </a:r>
            <a:r>
              <a:rPr lang="en-US" sz="116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，凯文·沃什（Kevin Warsh）被提名为热门人选。新任主席的风格（鹰派vs鸽派）会直接重塑点阵图分布。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47710" y="2809983"/>
            <a:ext cx="5157798" cy="739469"/>
          </a:xfrm>
          <a:custGeom>
            <a:avLst/>
            <a:gdLst/>
            <a:ahLst/>
            <a:cxnLst/>
            <a:rect l="l" t="t" r="r" b="b"/>
            <a:pathLst>
              <a:path w="5157798" h="739469">
                <a:moveTo>
                  <a:pt x="36973" y="0"/>
                </a:moveTo>
                <a:lnTo>
                  <a:pt x="5083851" y="0"/>
                </a:lnTo>
                <a:cubicBezTo>
                  <a:pt x="5124691" y="0"/>
                  <a:pt x="5157798" y="33107"/>
                  <a:pt x="5157798" y="73947"/>
                </a:cubicBezTo>
                <a:lnTo>
                  <a:pt x="5157798" y="665522"/>
                </a:lnTo>
                <a:cubicBezTo>
                  <a:pt x="5157798" y="706362"/>
                  <a:pt x="5124691" y="739469"/>
                  <a:pt x="5083851" y="739469"/>
                </a:cubicBezTo>
                <a:lnTo>
                  <a:pt x="36973" y="739469"/>
                </a:lnTo>
                <a:cubicBezTo>
                  <a:pt x="16554" y="739469"/>
                  <a:pt x="0" y="722916"/>
                  <a:pt x="0" y="702496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gradFill flip="none" rotWithShape="1">
            <a:gsLst>
              <a:gs pos="0">
                <a:srgbClr val="D3B9D7">
                  <a:alpha val="20000"/>
                </a:srgbClr>
              </a:gs>
              <a:gs pos="100000">
                <a:srgbClr val="7C1D56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22" name="Shape 19"/>
          <p:cNvSpPr/>
          <p:nvPr/>
        </p:nvSpPr>
        <p:spPr>
          <a:xfrm>
            <a:off x="6447710" y="2809983"/>
            <a:ext cx="36973" cy="739469"/>
          </a:xfrm>
          <a:custGeom>
            <a:avLst/>
            <a:gdLst/>
            <a:ahLst/>
            <a:cxnLst/>
            <a:rect l="l" t="t" r="r" b="b"/>
            <a:pathLst>
              <a:path w="36973" h="739469">
                <a:moveTo>
                  <a:pt x="36973" y="0"/>
                </a:moveTo>
                <a:lnTo>
                  <a:pt x="36973" y="0"/>
                </a:lnTo>
                <a:lnTo>
                  <a:pt x="36973" y="739469"/>
                </a:lnTo>
                <a:lnTo>
                  <a:pt x="36973" y="739469"/>
                </a:lnTo>
                <a:cubicBezTo>
                  <a:pt x="16554" y="739469"/>
                  <a:pt x="0" y="722916"/>
                  <a:pt x="0" y="702496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23" name="Shape 20"/>
          <p:cNvSpPr/>
          <p:nvPr/>
        </p:nvSpPr>
        <p:spPr>
          <a:xfrm>
            <a:off x="6632577" y="2987456"/>
            <a:ext cx="147894" cy="147894"/>
          </a:xfrm>
          <a:custGeom>
            <a:avLst/>
            <a:gdLst/>
            <a:ahLst/>
            <a:cxnLst/>
            <a:rect l="l" t="t" r="r" b="b"/>
            <a:pathLst>
              <a:path w="147894" h="147894">
                <a:moveTo>
                  <a:pt x="73947" y="0"/>
                </a:moveTo>
                <a:cubicBezTo>
                  <a:pt x="78193" y="0"/>
                  <a:pt x="82093" y="2340"/>
                  <a:pt x="84115" y="6066"/>
                </a:cubicBezTo>
                <a:lnTo>
                  <a:pt x="146507" y="121608"/>
                </a:lnTo>
                <a:cubicBezTo>
                  <a:pt x="148443" y="125190"/>
                  <a:pt x="148356" y="129523"/>
                  <a:pt x="146276" y="133018"/>
                </a:cubicBezTo>
                <a:cubicBezTo>
                  <a:pt x="144197" y="136513"/>
                  <a:pt x="140413" y="138650"/>
                  <a:pt x="136340" y="138650"/>
                </a:cubicBezTo>
                <a:lnTo>
                  <a:pt x="11554" y="138650"/>
                </a:lnTo>
                <a:cubicBezTo>
                  <a:pt x="7481" y="138650"/>
                  <a:pt x="3726" y="136513"/>
                  <a:pt x="1618" y="133018"/>
                </a:cubicBezTo>
                <a:cubicBezTo>
                  <a:pt x="-491" y="129523"/>
                  <a:pt x="-549" y="125190"/>
                  <a:pt x="1387" y="121608"/>
                </a:cubicBezTo>
                <a:lnTo>
                  <a:pt x="63779" y="6066"/>
                </a:lnTo>
                <a:cubicBezTo>
                  <a:pt x="65801" y="2340"/>
                  <a:pt x="69701" y="0"/>
                  <a:pt x="73947" y="0"/>
                </a:cubicBezTo>
                <a:close/>
                <a:moveTo>
                  <a:pt x="73947" y="48528"/>
                </a:moveTo>
                <a:cubicBezTo>
                  <a:pt x="70105" y="48528"/>
                  <a:pt x="67014" y="51618"/>
                  <a:pt x="67014" y="55460"/>
                </a:cubicBezTo>
                <a:lnTo>
                  <a:pt x="67014" y="87812"/>
                </a:lnTo>
                <a:cubicBezTo>
                  <a:pt x="67014" y="91654"/>
                  <a:pt x="70105" y="94745"/>
                  <a:pt x="73947" y="94745"/>
                </a:cubicBezTo>
                <a:cubicBezTo>
                  <a:pt x="77789" y="94745"/>
                  <a:pt x="80879" y="91654"/>
                  <a:pt x="80879" y="87812"/>
                </a:cubicBezTo>
                <a:lnTo>
                  <a:pt x="80879" y="55460"/>
                </a:lnTo>
                <a:cubicBezTo>
                  <a:pt x="80879" y="51618"/>
                  <a:pt x="77789" y="48528"/>
                  <a:pt x="73947" y="48528"/>
                </a:cubicBezTo>
                <a:close/>
                <a:moveTo>
                  <a:pt x="81659" y="110920"/>
                </a:moveTo>
                <a:cubicBezTo>
                  <a:pt x="81835" y="108058"/>
                  <a:pt x="80407" y="105334"/>
                  <a:pt x="77953" y="103850"/>
                </a:cubicBezTo>
                <a:cubicBezTo>
                  <a:pt x="75499" y="102365"/>
                  <a:pt x="72424" y="102365"/>
                  <a:pt x="69970" y="103850"/>
                </a:cubicBezTo>
                <a:cubicBezTo>
                  <a:pt x="67516" y="105334"/>
                  <a:pt x="66088" y="108058"/>
                  <a:pt x="66263" y="110920"/>
                </a:cubicBezTo>
                <a:cubicBezTo>
                  <a:pt x="66088" y="113783"/>
                  <a:pt x="67516" y="116507"/>
                  <a:pt x="69970" y="117991"/>
                </a:cubicBezTo>
                <a:cubicBezTo>
                  <a:pt x="72424" y="119476"/>
                  <a:pt x="75499" y="119476"/>
                  <a:pt x="77953" y="117991"/>
                </a:cubicBezTo>
                <a:cubicBezTo>
                  <a:pt x="80407" y="116507"/>
                  <a:pt x="81835" y="113783"/>
                  <a:pt x="81659" y="11092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24" name="Text 21"/>
          <p:cNvSpPr/>
          <p:nvPr/>
        </p:nvSpPr>
        <p:spPr>
          <a:xfrm>
            <a:off x="6852778" y="2957877"/>
            <a:ext cx="4678783" cy="4436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5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市场影响：</a:t>
            </a:r>
            <a:r>
              <a:rPr lang="en-US" sz="116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引发市场对"通胀忍受度"的重新定价，政策路径不确定性上升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69735" y="3993134"/>
            <a:ext cx="11452531" cy="2033541"/>
          </a:xfrm>
          <a:custGeom>
            <a:avLst/>
            <a:gdLst/>
            <a:ahLst/>
            <a:cxnLst/>
            <a:rect l="l" t="t" r="r" b="b"/>
            <a:pathLst>
              <a:path w="11452531" h="2033541">
                <a:moveTo>
                  <a:pt x="110930" y="0"/>
                </a:moveTo>
                <a:lnTo>
                  <a:pt x="11341601" y="0"/>
                </a:lnTo>
                <a:cubicBezTo>
                  <a:pt x="11402866" y="0"/>
                  <a:pt x="11452531" y="49665"/>
                  <a:pt x="11452531" y="110930"/>
                </a:cubicBezTo>
                <a:lnTo>
                  <a:pt x="11452531" y="1922611"/>
                </a:lnTo>
                <a:cubicBezTo>
                  <a:pt x="11452531" y="1983876"/>
                  <a:pt x="11402866" y="2033541"/>
                  <a:pt x="11341601" y="2033541"/>
                </a:cubicBezTo>
                <a:lnTo>
                  <a:pt x="110930" y="2033541"/>
                </a:lnTo>
                <a:cubicBezTo>
                  <a:pt x="49665" y="2033541"/>
                  <a:pt x="0" y="1983876"/>
                  <a:pt x="0" y="1922611"/>
                </a:cubicBezTo>
                <a:lnTo>
                  <a:pt x="0" y="110930"/>
                </a:lnTo>
                <a:cubicBezTo>
                  <a:pt x="0" y="49706"/>
                  <a:pt x="49706" y="0"/>
                  <a:pt x="1109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460" dist="3697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4684" y="4251948"/>
            <a:ext cx="184867" cy="184867"/>
          </a:xfrm>
          <a:custGeom>
            <a:avLst/>
            <a:gdLst/>
            <a:ahLst/>
            <a:cxnLst/>
            <a:rect l="l" t="t" r="r" b="b"/>
            <a:pathLst>
              <a:path w="184867" h="184867">
                <a:moveTo>
                  <a:pt x="11554" y="11554"/>
                </a:moveTo>
                <a:cubicBezTo>
                  <a:pt x="17945" y="11554"/>
                  <a:pt x="23108" y="16717"/>
                  <a:pt x="23108" y="23108"/>
                </a:cubicBezTo>
                <a:lnTo>
                  <a:pt x="23108" y="144428"/>
                </a:lnTo>
                <a:cubicBezTo>
                  <a:pt x="23108" y="147605"/>
                  <a:pt x="25708" y="150205"/>
                  <a:pt x="28886" y="150205"/>
                </a:cubicBezTo>
                <a:lnTo>
                  <a:pt x="173313" y="150205"/>
                </a:lnTo>
                <a:cubicBezTo>
                  <a:pt x="179704" y="150205"/>
                  <a:pt x="184867" y="155368"/>
                  <a:pt x="184867" y="161759"/>
                </a:cubicBezTo>
                <a:cubicBezTo>
                  <a:pt x="184867" y="168150"/>
                  <a:pt x="179704" y="173313"/>
                  <a:pt x="173313" y="173313"/>
                </a:cubicBezTo>
                <a:lnTo>
                  <a:pt x="28886" y="173313"/>
                </a:lnTo>
                <a:cubicBezTo>
                  <a:pt x="12926" y="173313"/>
                  <a:pt x="0" y="160387"/>
                  <a:pt x="0" y="144428"/>
                </a:cubicBezTo>
                <a:lnTo>
                  <a:pt x="0" y="23108"/>
                </a:lnTo>
                <a:cubicBezTo>
                  <a:pt x="0" y="16717"/>
                  <a:pt x="5163" y="11554"/>
                  <a:pt x="11554" y="11554"/>
                </a:cubicBezTo>
                <a:close/>
                <a:moveTo>
                  <a:pt x="46217" y="34663"/>
                </a:moveTo>
                <a:cubicBezTo>
                  <a:pt x="46217" y="28272"/>
                  <a:pt x="51380" y="23108"/>
                  <a:pt x="57771" y="23108"/>
                </a:cubicBezTo>
                <a:lnTo>
                  <a:pt x="127096" y="23108"/>
                </a:lnTo>
                <a:cubicBezTo>
                  <a:pt x="133487" y="23108"/>
                  <a:pt x="138650" y="28272"/>
                  <a:pt x="138650" y="34663"/>
                </a:cubicBezTo>
                <a:cubicBezTo>
                  <a:pt x="138650" y="41054"/>
                  <a:pt x="133487" y="46217"/>
                  <a:pt x="127096" y="46217"/>
                </a:cubicBezTo>
                <a:lnTo>
                  <a:pt x="57771" y="46217"/>
                </a:lnTo>
                <a:cubicBezTo>
                  <a:pt x="51380" y="46217"/>
                  <a:pt x="46217" y="41054"/>
                  <a:pt x="46217" y="34663"/>
                </a:cubicBezTo>
                <a:close/>
                <a:moveTo>
                  <a:pt x="57771" y="63548"/>
                </a:moveTo>
                <a:lnTo>
                  <a:pt x="103988" y="63548"/>
                </a:lnTo>
                <a:cubicBezTo>
                  <a:pt x="110379" y="63548"/>
                  <a:pt x="115542" y="68711"/>
                  <a:pt x="115542" y="75102"/>
                </a:cubicBezTo>
                <a:cubicBezTo>
                  <a:pt x="115542" y="81493"/>
                  <a:pt x="110379" y="86657"/>
                  <a:pt x="103988" y="86657"/>
                </a:cubicBezTo>
                <a:lnTo>
                  <a:pt x="57771" y="86657"/>
                </a:lnTo>
                <a:cubicBezTo>
                  <a:pt x="51380" y="86657"/>
                  <a:pt x="46217" y="81493"/>
                  <a:pt x="46217" y="75102"/>
                </a:cubicBezTo>
                <a:cubicBezTo>
                  <a:pt x="46217" y="68711"/>
                  <a:pt x="51380" y="63548"/>
                  <a:pt x="57771" y="63548"/>
                </a:cubicBezTo>
                <a:close/>
                <a:moveTo>
                  <a:pt x="57771" y="103988"/>
                </a:moveTo>
                <a:lnTo>
                  <a:pt x="150205" y="103988"/>
                </a:lnTo>
                <a:cubicBezTo>
                  <a:pt x="156596" y="103988"/>
                  <a:pt x="161759" y="109151"/>
                  <a:pt x="161759" y="115542"/>
                </a:cubicBezTo>
                <a:cubicBezTo>
                  <a:pt x="161759" y="121933"/>
                  <a:pt x="156596" y="127096"/>
                  <a:pt x="150205" y="127096"/>
                </a:cubicBezTo>
                <a:lnTo>
                  <a:pt x="57771" y="127096"/>
                </a:lnTo>
                <a:cubicBezTo>
                  <a:pt x="51380" y="127096"/>
                  <a:pt x="46217" y="121933"/>
                  <a:pt x="46217" y="115542"/>
                </a:cubicBezTo>
                <a:cubicBezTo>
                  <a:pt x="46217" y="109151"/>
                  <a:pt x="51380" y="103988"/>
                  <a:pt x="57771" y="103988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7" name="Text 24"/>
          <p:cNvSpPr/>
          <p:nvPr/>
        </p:nvSpPr>
        <p:spPr>
          <a:xfrm>
            <a:off x="822660" y="4214975"/>
            <a:ext cx="10870199" cy="258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6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2026年点阵图预测数据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91575" y="4621683"/>
            <a:ext cx="2615873" cy="1183151"/>
          </a:xfrm>
          <a:custGeom>
            <a:avLst/>
            <a:gdLst/>
            <a:ahLst/>
            <a:cxnLst/>
            <a:rect l="l" t="t" r="r" b="b"/>
            <a:pathLst>
              <a:path w="2615873" h="1183151">
                <a:moveTo>
                  <a:pt x="73947" y="0"/>
                </a:moveTo>
                <a:lnTo>
                  <a:pt x="2541926" y="0"/>
                </a:lnTo>
                <a:cubicBezTo>
                  <a:pt x="2582765" y="0"/>
                  <a:pt x="2615873" y="33107"/>
                  <a:pt x="2615873" y="73947"/>
                </a:cubicBezTo>
                <a:lnTo>
                  <a:pt x="2615873" y="1109204"/>
                </a:lnTo>
                <a:cubicBezTo>
                  <a:pt x="2615873" y="1150044"/>
                  <a:pt x="2582765" y="1183151"/>
                  <a:pt x="2541926" y="1183151"/>
                </a:cubicBezTo>
                <a:lnTo>
                  <a:pt x="73947" y="1183151"/>
                </a:lnTo>
                <a:cubicBezTo>
                  <a:pt x="33107" y="1183151"/>
                  <a:pt x="0" y="1150044"/>
                  <a:pt x="0" y="1109204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29" name="Text 26"/>
          <p:cNvSpPr/>
          <p:nvPr/>
        </p:nvSpPr>
        <p:spPr>
          <a:xfrm>
            <a:off x="702496" y="4769577"/>
            <a:ext cx="23940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2026年末利率中值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56279" y="5065365"/>
            <a:ext cx="2486466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0" b="1" dirty="0">
                <a:solidFill>
                  <a:srgbClr val="8F5C9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3.4%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07118" y="5472073"/>
            <a:ext cx="2384788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3C354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预测降息1次（25bp）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390236" y="4621683"/>
            <a:ext cx="2615873" cy="1183151"/>
          </a:xfrm>
          <a:custGeom>
            <a:avLst/>
            <a:gdLst/>
            <a:ahLst/>
            <a:cxnLst/>
            <a:rect l="l" t="t" r="r" b="b"/>
            <a:pathLst>
              <a:path w="2615873" h="1183151">
                <a:moveTo>
                  <a:pt x="73947" y="0"/>
                </a:moveTo>
                <a:lnTo>
                  <a:pt x="2541926" y="0"/>
                </a:lnTo>
                <a:cubicBezTo>
                  <a:pt x="2582765" y="0"/>
                  <a:pt x="2615873" y="33107"/>
                  <a:pt x="2615873" y="73947"/>
                </a:cubicBezTo>
                <a:lnTo>
                  <a:pt x="2615873" y="1109204"/>
                </a:lnTo>
                <a:cubicBezTo>
                  <a:pt x="2615873" y="1150044"/>
                  <a:pt x="2582765" y="1183151"/>
                  <a:pt x="2541926" y="1183151"/>
                </a:cubicBezTo>
                <a:lnTo>
                  <a:pt x="73947" y="1183151"/>
                </a:lnTo>
                <a:cubicBezTo>
                  <a:pt x="33107" y="1183151"/>
                  <a:pt x="0" y="1150044"/>
                  <a:pt x="0" y="1109204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gradFill flip="none" rotWithShape="1">
            <a:gsLst>
              <a:gs pos="0">
                <a:srgbClr val="A95EAF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3" name="Text 30"/>
          <p:cNvSpPr/>
          <p:nvPr/>
        </p:nvSpPr>
        <p:spPr>
          <a:xfrm>
            <a:off x="3501156" y="4769577"/>
            <a:ext cx="23940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长期中性利率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3454939" y="5065365"/>
            <a:ext cx="2486466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0" b="1" dirty="0">
                <a:solidFill>
                  <a:srgbClr val="A95EA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3.0%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3505778" y="5472073"/>
            <a:ext cx="2384788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3C354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维持不变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188896" y="4621683"/>
            <a:ext cx="2615873" cy="1183151"/>
          </a:xfrm>
          <a:custGeom>
            <a:avLst/>
            <a:gdLst/>
            <a:ahLst/>
            <a:cxnLst/>
            <a:rect l="l" t="t" r="r" b="b"/>
            <a:pathLst>
              <a:path w="2615873" h="1183151">
                <a:moveTo>
                  <a:pt x="73947" y="0"/>
                </a:moveTo>
                <a:lnTo>
                  <a:pt x="2541926" y="0"/>
                </a:lnTo>
                <a:cubicBezTo>
                  <a:pt x="2582765" y="0"/>
                  <a:pt x="2615873" y="33107"/>
                  <a:pt x="2615873" y="73947"/>
                </a:cubicBezTo>
                <a:lnTo>
                  <a:pt x="2615873" y="1109204"/>
                </a:lnTo>
                <a:cubicBezTo>
                  <a:pt x="2615873" y="1150044"/>
                  <a:pt x="2582765" y="1183151"/>
                  <a:pt x="2541926" y="1183151"/>
                </a:cubicBezTo>
                <a:lnTo>
                  <a:pt x="73947" y="1183151"/>
                </a:lnTo>
                <a:cubicBezTo>
                  <a:pt x="33107" y="1183151"/>
                  <a:pt x="0" y="1150044"/>
                  <a:pt x="0" y="1109204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gradFill flip="none" rotWithShape="1">
            <a:gsLst>
              <a:gs pos="0">
                <a:srgbClr val="7C1D56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37" name="Text 34"/>
          <p:cNvSpPr/>
          <p:nvPr/>
        </p:nvSpPr>
        <p:spPr>
          <a:xfrm>
            <a:off x="6299816" y="4769577"/>
            <a:ext cx="23940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预计不降息官员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253599" y="5065365"/>
            <a:ext cx="2486466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0" b="1" dirty="0">
                <a:solidFill>
                  <a:srgbClr val="7C1D5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7人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304438" y="5472073"/>
            <a:ext cx="2384788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3C354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内部分歧显著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987556" y="4621683"/>
            <a:ext cx="2615873" cy="1183151"/>
          </a:xfrm>
          <a:custGeom>
            <a:avLst/>
            <a:gdLst/>
            <a:ahLst/>
            <a:cxnLst/>
            <a:rect l="l" t="t" r="r" b="b"/>
            <a:pathLst>
              <a:path w="2615873" h="1183151">
                <a:moveTo>
                  <a:pt x="73947" y="0"/>
                </a:moveTo>
                <a:lnTo>
                  <a:pt x="2541926" y="0"/>
                </a:lnTo>
                <a:cubicBezTo>
                  <a:pt x="2582765" y="0"/>
                  <a:pt x="2615873" y="33107"/>
                  <a:pt x="2615873" y="73947"/>
                </a:cubicBezTo>
                <a:lnTo>
                  <a:pt x="2615873" y="1109204"/>
                </a:lnTo>
                <a:cubicBezTo>
                  <a:pt x="2615873" y="1150044"/>
                  <a:pt x="2582765" y="1183151"/>
                  <a:pt x="2541926" y="1183151"/>
                </a:cubicBezTo>
                <a:lnTo>
                  <a:pt x="73947" y="1183151"/>
                </a:lnTo>
                <a:cubicBezTo>
                  <a:pt x="33107" y="1183151"/>
                  <a:pt x="0" y="1150044"/>
                  <a:pt x="0" y="1109204"/>
                </a:cubicBezTo>
                <a:lnTo>
                  <a:pt x="0" y="73947"/>
                </a:lnTo>
                <a:cubicBezTo>
                  <a:pt x="0" y="33135"/>
                  <a:pt x="33135" y="0"/>
                  <a:pt x="73947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</p:sp>
      <p:sp>
        <p:nvSpPr>
          <p:cNvPr id="41" name="Text 38"/>
          <p:cNvSpPr/>
          <p:nvPr/>
        </p:nvSpPr>
        <p:spPr>
          <a:xfrm>
            <a:off x="9098477" y="4769577"/>
            <a:ext cx="2394032" cy="221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预计降息2次官员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9052260" y="5065365"/>
            <a:ext cx="2486466" cy="36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20" b="1" dirty="0">
                <a:solidFill>
                  <a:srgbClr val="8F5C9A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4人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9103098" y="5472073"/>
            <a:ext cx="2384788" cy="184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9" dirty="0">
                <a:solidFill>
                  <a:srgbClr val="3C354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鸽派阵营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392843" y="6267002"/>
            <a:ext cx="166381" cy="166381"/>
          </a:xfrm>
          <a:custGeom>
            <a:avLst/>
            <a:gdLst/>
            <a:ahLst/>
            <a:cxnLst/>
            <a:rect l="l" t="t" r="r" b="b"/>
            <a:pathLst>
              <a:path w="166381" h="166381">
                <a:moveTo>
                  <a:pt x="83190" y="166381"/>
                </a:moveTo>
                <a:cubicBezTo>
                  <a:pt x="129104" y="166381"/>
                  <a:pt x="166381" y="129104"/>
                  <a:pt x="166381" y="83190"/>
                </a:cubicBezTo>
                <a:cubicBezTo>
                  <a:pt x="166381" y="37276"/>
                  <a:pt x="129104" y="0"/>
                  <a:pt x="83190" y="0"/>
                </a:cubicBezTo>
                <a:cubicBezTo>
                  <a:pt x="37276" y="0"/>
                  <a:pt x="0" y="37276"/>
                  <a:pt x="0" y="83190"/>
                </a:cubicBezTo>
                <a:cubicBezTo>
                  <a:pt x="0" y="129104"/>
                  <a:pt x="37276" y="166381"/>
                  <a:pt x="83190" y="166381"/>
                </a:cubicBezTo>
                <a:close/>
                <a:moveTo>
                  <a:pt x="72792" y="51994"/>
                </a:moveTo>
                <a:cubicBezTo>
                  <a:pt x="72792" y="46255"/>
                  <a:pt x="77451" y="41595"/>
                  <a:pt x="83190" y="41595"/>
                </a:cubicBezTo>
                <a:cubicBezTo>
                  <a:pt x="88930" y="41595"/>
                  <a:pt x="93589" y="46255"/>
                  <a:pt x="93589" y="51994"/>
                </a:cubicBezTo>
                <a:cubicBezTo>
                  <a:pt x="93589" y="57733"/>
                  <a:pt x="88930" y="62393"/>
                  <a:pt x="83190" y="62393"/>
                </a:cubicBezTo>
                <a:cubicBezTo>
                  <a:pt x="77451" y="62393"/>
                  <a:pt x="72792" y="57733"/>
                  <a:pt x="72792" y="51994"/>
                </a:cubicBezTo>
                <a:close/>
                <a:moveTo>
                  <a:pt x="70192" y="72792"/>
                </a:moveTo>
                <a:lnTo>
                  <a:pt x="85790" y="72792"/>
                </a:lnTo>
                <a:cubicBezTo>
                  <a:pt x="90112" y="72792"/>
                  <a:pt x="93589" y="76269"/>
                  <a:pt x="93589" y="80591"/>
                </a:cubicBezTo>
                <a:lnTo>
                  <a:pt x="93589" y="109187"/>
                </a:lnTo>
                <a:lnTo>
                  <a:pt x="96189" y="109187"/>
                </a:lnTo>
                <a:cubicBezTo>
                  <a:pt x="100511" y="109187"/>
                  <a:pt x="103988" y="112664"/>
                  <a:pt x="103988" y="116986"/>
                </a:cubicBezTo>
                <a:cubicBezTo>
                  <a:pt x="103988" y="121308"/>
                  <a:pt x="100511" y="124785"/>
                  <a:pt x="96189" y="124785"/>
                </a:cubicBezTo>
                <a:lnTo>
                  <a:pt x="70192" y="124785"/>
                </a:lnTo>
                <a:cubicBezTo>
                  <a:pt x="65870" y="124785"/>
                  <a:pt x="62393" y="121308"/>
                  <a:pt x="62393" y="116986"/>
                </a:cubicBezTo>
                <a:cubicBezTo>
                  <a:pt x="62393" y="112664"/>
                  <a:pt x="65870" y="109187"/>
                  <a:pt x="70192" y="109187"/>
                </a:cubicBezTo>
                <a:lnTo>
                  <a:pt x="77991" y="109187"/>
                </a:lnTo>
                <a:lnTo>
                  <a:pt x="77991" y="88390"/>
                </a:lnTo>
                <a:lnTo>
                  <a:pt x="70192" y="88390"/>
                </a:lnTo>
                <a:cubicBezTo>
                  <a:pt x="65870" y="88390"/>
                  <a:pt x="62393" y="84913"/>
                  <a:pt x="62393" y="80591"/>
                </a:cubicBezTo>
                <a:cubicBezTo>
                  <a:pt x="62393" y="76269"/>
                  <a:pt x="65870" y="72792"/>
                  <a:pt x="70192" y="72792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45" name="Text 42"/>
          <p:cNvSpPr/>
          <p:nvPr/>
        </p:nvSpPr>
        <p:spPr>
          <a:xfrm>
            <a:off x="688631" y="6248516"/>
            <a:ext cx="7940052" cy="240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5" b="1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数据来源：</a:t>
            </a:r>
            <a:r>
              <a:rPr lang="en-US" sz="116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美联储2025年12月FOMC会议点阵图 | 19位官员中有7位预计2026年不降息，显示内部对通胀路径的分歧加剧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pic>
        <p:nvPicPr>
          <p:cNvPr id="3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0849" y="350849"/>
            <a:ext cx="11560472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kern="0" spc="55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 INTEREST RATE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50849" y="631528"/>
            <a:ext cx="11648184" cy="350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86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实际利率与科技股估值逻辑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50849" y="1087632"/>
            <a:ext cx="842037" cy="35085"/>
          </a:xfrm>
          <a:custGeom>
            <a:avLst/>
            <a:gdLst/>
            <a:ahLst/>
            <a:cxnLst/>
            <a:rect l="l" t="t" r="r" b="b"/>
            <a:pathLst>
              <a:path w="842037" h="35085">
                <a:moveTo>
                  <a:pt x="0" y="0"/>
                </a:moveTo>
                <a:lnTo>
                  <a:pt x="842037" y="0"/>
                </a:lnTo>
                <a:lnTo>
                  <a:pt x="842037" y="35085"/>
                </a:lnTo>
                <a:lnTo>
                  <a:pt x="0" y="3508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350849" y="1333226"/>
            <a:ext cx="4473324" cy="2017381"/>
          </a:xfrm>
          <a:custGeom>
            <a:avLst/>
            <a:gdLst/>
            <a:ahLst/>
            <a:cxnLst/>
            <a:rect l="l" t="t" r="r" b="b"/>
            <a:pathLst>
              <a:path w="4473324" h="2017381">
                <a:moveTo>
                  <a:pt x="105247" y="0"/>
                </a:moveTo>
                <a:lnTo>
                  <a:pt x="4368077" y="0"/>
                </a:lnTo>
                <a:cubicBezTo>
                  <a:pt x="4426203" y="0"/>
                  <a:pt x="4473324" y="47121"/>
                  <a:pt x="4473324" y="105247"/>
                </a:cubicBezTo>
                <a:lnTo>
                  <a:pt x="4473324" y="1912135"/>
                </a:lnTo>
                <a:cubicBezTo>
                  <a:pt x="4473324" y="1970261"/>
                  <a:pt x="4426203" y="2017381"/>
                  <a:pt x="4368077" y="2017381"/>
                </a:cubicBezTo>
                <a:lnTo>
                  <a:pt x="105247" y="2017381"/>
                </a:lnTo>
                <a:cubicBezTo>
                  <a:pt x="47121" y="2017381"/>
                  <a:pt x="0" y="1970261"/>
                  <a:pt x="0" y="1912135"/>
                </a:cubicBezTo>
                <a:lnTo>
                  <a:pt x="0" y="105247"/>
                </a:lnTo>
                <a:cubicBezTo>
                  <a:pt x="0" y="47160"/>
                  <a:pt x="47160" y="0"/>
                  <a:pt x="10524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26273" y="1508650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9" name="Shape 6"/>
          <p:cNvSpPr/>
          <p:nvPr/>
        </p:nvSpPr>
        <p:spPr>
          <a:xfrm>
            <a:off x="634817" y="1605134"/>
            <a:ext cx="138147" cy="157882"/>
          </a:xfrm>
          <a:custGeom>
            <a:avLst/>
            <a:gdLst/>
            <a:ahLst/>
            <a:cxnLst/>
            <a:rect l="l" t="t" r="r" b="b"/>
            <a:pathLst>
              <a:path w="138147" h="157882">
                <a:moveTo>
                  <a:pt x="59206" y="39471"/>
                </a:moveTo>
                <a:cubicBezTo>
                  <a:pt x="59206" y="23132"/>
                  <a:pt x="45941" y="9868"/>
                  <a:pt x="29603" y="9868"/>
                </a:cubicBezTo>
                <a:cubicBezTo>
                  <a:pt x="13265" y="9868"/>
                  <a:pt x="0" y="23132"/>
                  <a:pt x="0" y="39471"/>
                </a:cubicBezTo>
                <a:cubicBezTo>
                  <a:pt x="0" y="55809"/>
                  <a:pt x="13265" y="69073"/>
                  <a:pt x="29603" y="69073"/>
                </a:cubicBezTo>
                <a:cubicBezTo>
                  <a:pt x="45941" y="69073"/>
                  <a:pt x="59206" y="55809"/>
                  <a:pt x="59206" y="39471"/>
                </a:cubicBezTo>
                <a:close/>
                <a:moveTo>
                  <a:pt x="138147" y="118412"/>
                </a:moveTo>
                <a:cubicBezTo>
                  <a:pt x="138147" y="102073"/>
                  <a:pt x="124882" y="88809"/>
                  <a:pt x="108544" y="88809"/>
                </a:cubicBezTo>
                <a:cubicBezTo>
                  <a:pt x="92206" y="88809"/>
                  <a:pt x="78941" y="102073"/>
                  <a:pt x="78941" y="118412"/>
                </a:cubicBezTo>
                <a:cubicBezTo>
                  <a:pt x="78941" y="134750"/>
                  <a:pt x="92206" y="148014"/>
                  <a:pt x="108544" y="148014"/>
                </a:cubicBezTo>
                <a:cubicBezTo>
                  <a:pt x="124882" y="148014"/>
                  <a:pt x="138147" y="134750"/>
                  <a:pt x="138147" y="118412"/>
                </a:cubicBezTo>
                <a:close/>
                <a:moveTo>
                  <a:pt x="135248" y="26704"/>
                </a:moveTo>
                <a:cubicBezTo>
                  <a:pt x="139103" y="22850"/>
                  <a:pt x="139103" y="16590"/>
                  <a:pt x="135248" y="12735"/>
                </a:cubicBezTo>
                <a:cubicBezTo>
                  <a:pt x="131394" y="8881"/>
                  <a:pt x="125134" y="8881"/>
                  <a:pt x="121279" y="12735"/>
                </a:cubicBezTo>
                <a:lnTo>
                  <a:pt x="2868" y="131147"/>
                </a:lnTo>
                <a:cubicBezTo>
                  <a:pt x="-987" y="135001"/>
                  <a:pt x="-987" y="141261"/>
                  <a:pt x="2868" y="145116"/>
                </a:cubicBezTo>
                <a:cubicBezTo>
                  <a:pt x="6722" y="148970"/>
                  <a:pt x="12982" y="148970"/>
                  <a:pt x="16837" y="145116"/>
                </a:cubicBezTo>
                <a:lnTo>
                  <a:pt x="135248" y="2670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82377" y="1561278"/>
            <a:ext cx="1140259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实际利率定义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6273" y="2013874"/>
            <a:ext cx="2063978" cy="1894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b="1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实际利率 = 名义利率 - 通胀预期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6273" y="2333145"/>
            <a:ext cx="4192645" cy="4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关注</a:t>
            </a:r>
            <a:r>
              <a:rPr lang="en-US" sz="1105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10年期TIPS收益率</a:t>
            </a:r>
            <a:r>
              <a:rPr lang="en-US" sz="1105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（通胀保值国债），它反映市场对实际资金成本的定价。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50849" y="3529541"/>
            <a:ext cx="4473324" cy="1841957"/>
          </a:xfrm>
          <a:custGeom>
            <a:avLst/>
            <a:gdLst/>
            <a:ahLst/>
            <a:cxnLst/>
            <a:rect l="l" t="t" r="r" b="b"/>
            <a:pathLst>
              <a:path w="4473324" h="1841957">
                <a:moveTo>
                  <a:pt x="105249" y="0"/>
                </a:moveTo>
                <a:lnTo>
                  <a:pt x="4368074" y="0"/>
                </a:lnTo>
                <a:cubicBezTo>
                  <a:pt x="4426202" y="0"/>
                  <a:pt x="4473324" y="47122"/>
                  <a:pt x="4473324" y="105249"/>
                </a:cubicBezTo>
                <a:lnTo>
                  <a:pt x="4473324" y="1736707"/>
                </a:lnTo>
                <a:cubicBezTo>
                  <a:pt x="4473324" y="1794835"/>
                  <a:pt x="4426202" y="1841957"/>
                  <a:pt x="4368074" y="1841957"/>
                </a:cubicBezTo>
                <a:lnTo>
                  <a:pt x="105249" y="1841957"/>
                </a:lnTo>
                <a:cubicBezTo>
                  <a:pt x="47122" y="1841957"/>
                  <a:pt x="0" y="1794835"/>
                  <a:pt x="0" y="1736707"/>
                </a:cubicBezTo>
                <a:lnTo>
                  <a:pt x="0" y="105249"/>
                </a:lnTo>
                <a:cubicBezTo>
                  <a:pt x="0" y="47161"/>
                  <a:pt x="47161" y="0"/>
                  <a:pt x="105249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2700000" scaled="1"/>
          </a:gradFill>
          <a:ln/>
          <a:effectLst>
            <a:outerShdw blurRad="131568" dist="877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26273" y="3704966"/>
            <a:ext cx="350849" cy="350849"/>
          </a:xfrm>
          <a:custGeom>
            <a:avLst/>
            <a:gdLst/>
            <a:ahLst/>
            <a:cxnLst/>
            <a:rect l="l" t="t" r="r" b="b"/>
            <a:pathLst>
              <a:path w="350849" h="350849">
                <a:moveTo>
                  <a:pt x="70170" y="0"/>
                </a:moveTo>
                <a:lnTo>
                  <a:pt x="280679" y="0"/>
                </a:lnTo>
                <a:cubicBezTo>
                  <a:pt x="319433" y="0"/>
                  <a:pt x="350849" y="31416"/>
                  <a:pt x="350849" y="70170"/>
                </a:cubicBezTo>
                <a:lnTo>
                  <a:pt x="350849" y="280679"/>
                </a:lnTo>
                <a:cubicBezTo>
                  <a:pt x="350849" y="319433"/>
                  <a:pt x="319433" y="350849"/>
                  <a:pt x="280679" y="350849"/>
                </a:cubicBezTo>
                <a:lnTo>
                  <a:pt x="70170" y="350849"/>
                </a:lnTo>
                <a:cubicBezTo>
                  <a:pt x="31416" y="350849"/>
                  <a:pt x="0" y="319433"/>
                  <a:pt x="0" y="280679"/>
                </a:cubicBezTo>
                <a:lnTo>
                  <a:pt x="0" y="70170"/>
                </a:lnTo>
                <a:cubicBezTo>
                  <a:pt x="0" y="31442"/>
                  <a:pt x="31442" y="0"/>
                  <a:pt x="7017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24950" y="3801449"/>
            <a:ext cx="157882" cy="157882"/>
          </a:xfrm>
          <a:custGeom>
            <a:avLst/>
            <a:gdLst/>
            <a:ahLst/>
            <a:cxnLst/>
            <a:rect l="l" t="t" r="r" b="b"/>
            <a:pathLst>
              <a:path w="157882" h="157882">
                <a:moveTo>
                  <a:pt x="39471" y="98676"/>
                </a:moveTo>
                <a:lnTo>
                  <a:pt x="7555" y="98676"/>
                </a:lnTo>
                <a:cubicBezTo>
                  <a:pt x="-123" y="98676"/>
                  <a:pt x="-4841" y="90320"/>
                  <a:pt x="-894" y="83721"/>
                </a:cubicBezTo>
                <a:lnTo>
                  <a:pt x="15418" y="56523"/>
                </a:lnTo>
                <a:cubicBezTo>
                  <a:pt x="18101" y="52052"/>
                  <a:pt x="22911" y="49338"/>
                  <a:pt x="28123" y="49338"/>
                </a:cubicBezTo>
                <a:lnTo>
                  <a:pt x="57417" y="49338"/>
                </a:lnTo>
                <a:cubicBezTo>
                  <a:pt x="80884" y="9590"/>
                  <a:pt x="115883" y="7586"/>
                  <a:pt x="139288" y="11009"/>
                </a:cubicBezTo>
                <a:cubicBezTo>
                  <a:pt x="143235" y="11594"/>
                  <a:pt x="146318" y="14678"/>
                  <a:pt x="146873" y="18594"/>
                </a:cubicBezTo>
                <a:cubicBezTo>
                  <a:pt x="150296" y="41999"/>
                  <a:pt x="148292" y="76998"/>
                  <a:pt x="108544" y="100465"/>
                </a:cubicBezTo>
                <a:lnTo>
                  <a:pt x="108544" y="129759"/>
                </a:lnTo>
                <a:cubicBezTo>
                  <a:pt x="108544" y="134971"/>
                  <a:pt x="105830" y="139781"/>
                  <a:pt x="101359" y="142464"/>
                </a:cubicBezTo>
                <a:lnTo>
                  <a:pt x="74161" y="158776"/>
                </a:lnTo>
                <a:cubicBezTo>
                  <a:pt x="67593" y="162723"/>
                  <a:pt x="59206" y="157975"/>
                  <a:pt x="59206" y="150327"/>
                </a:cubicBezTo>
                <a:lnTo>
                  <a:pt x="59206" y="118412"/>
                </a:lnTo>
                <a:cubicBezTo>
                  <a:pt x="59206" y="107526"/>
                  <a:pt x="50356" y="98676"/>
                  <a:pt x="39471" y="98676"/>
                </a:cubicBezTo>
                <a:lnTo>
                  <a:pt x="39440" y="98676"/>
                </a:lnTo>
                <a:close/>
                <a:moveTo>
                  <a:pt x="123345" y="49338"/>
                </a:moveTo>
                <a:cubicBezTo>
                  <a:pt x="123345" y="41169"/>
                  <a:pt x="116713" y="34537"/>
                  <a:pt x="108544" y="34537"/>
                </a:cubicBezTo>
                <a:cubicBezTo>
                  <a:pt x="100375" y="34537"/>
                  <a:pt x="93742" y="41169"/>
                  <a:pt x="93742" y="49338"/>
                </a:cubicBezTo>
                <a:cubicBezTo>
                  <a:pt x="93742" y="57507"/>
                  <a:pt x="100375" y="64140"/>
                  <a:pt x="108544" y="64140"/>
                </a:cubicBezTo>
                <a:cubicBezTo>
                  <a:pt x="116713" y="64140"/>
                  <a:pt x="123345" y="57507"/>
                  <a:pt x="123345" y="493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982377" y="3757593"/>
            <a:ext cx="789410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估值逻辑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6273" y="4196154"/>
            <a:ext cx="4192645" cy="456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</a:t>
            </a:r>
            <a:r>
              <a:rPr lang="en-US" sz="110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实际利率下行</a:t>
            </a:r>
            <a:r>
              <a:rPr lang="en-US" sz="110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时，高估值科技成长股的未来现金流折现率降低，估值扩张空间打开。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29782" y="4761021"/>
            <a:ext cx="4111949" cy="428036"/>
          </a:xfrm>
          <a:custGeom>
            <a:avLst/>
            <a:gdLst/>
            <a:ahLst/>
            <a:cxnLst/>
            <a:rect l="l" t="t" r="r" b="b"/>
            <a:pathLst>
              <a:path w="4111949" h="428036">
                <a:moveTo>
                  <a:pt x="70168" y="0"/>
                </a:moveTo>
                <a:lnTo>
                  <a:pt x="4041781" y="0"/>
                </a:lnTo>
                <a:cubicBezTo>
                  <a:pt x="4080534" y="0"/>
                  <a:pt x="4111949" y="31415"/>
                  <a:pt x="4111949" y="70168"/>
                </a:cubicBezTo>
                <a:lnTo>
                  <a:pt x="4111949" y="357868"/>
                </a:lnTo>
                <a:cubicBezTo>
                  <a:pt x="4111949" y="396620"/>
                  <a:pt x="4080534" y="428036"/>
                  <a:pt x="4041781" y="428036"/>
                </a:cubicBezTo>
                <a:lnTo>
                  <a:pt x="70168" y="428036"/>
                </a:lnTo>
                <a:cubicBezTo>
                  <a:pt x="31415" y="428036"/>
                  <a:pt x="0" y="396620"/>
                  <a:pt x="0" y="357868"/>
                </a:cubicBezTo>
                <a:lnTo>
                  <a:pt x="0" y="70168"/>
                </a:lnTo>
                <a:cubicBezTo>
                  <a:pt x="0" y="31441"/>
                  <a:pt x="31441" y="0"/>
                  <a:pt x="7016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6088" y="4897852"/>
            <a:ext cx="140340" cy="140340"/>
          </a:xfrm>
          <a:custGeom>
            <a:avLst/>
            <a:gdLst/>
            <a:ahLst/>
            <a:cxnLst/>
            <a:rect l="l" t="t" r="r" b="b"/>
            <a:pathLst>
              <a:path w="140340" h="140340">
                <a:moveTo>
                  <a:pt x="137763" y="76364"/>
                </a:moveTo>
                <a:cubicBezTo>
                  <a:pt x="141189" y="72938"/>
                  <a:pt x="141189" y="67374"/>
                  <a:pt x="137763" y="63948"/>
                </a:cubicBezTo>
                <a:lnTo>
                  <a:pt x="93907" y="20092"/>
                </a:lnTo>
                <a:cubicBezTo>
                  <a:pt x="90481" y="16665"/>
                  <a:pt x="84916" y="16665"/>
                  <a:pt x="81490" y="20092"/>
                </a:cubicBezTo>
                <a:cubicBezTo>
                  <a:pt x="78064" y="23518"/>
                  <a:pt x="78064" y="29082"/>
                  <a:pt x="81490" y="32508"/>
                </a:cubicBezTo>
                <a:lnTo>
                  <a:pt x="110380" y="61399"/>
                </a:lnTo>
                <a:lnTo>
                  <a:pt x="8771" y="61399"/>
                </a:lnTo>
                <a:cubicBezTo>
                  <a:pt x="3920" y="61399"/>
                  <a:pt x="0" y="65318"/>
                  <a:pt x="0" y="70170"/>
                </a:cubicBezTo>
                <a:cubicBezTo>
                  <a:pt x="0" y="75021"/>
                  <a:pt x="3920" y="78941"/>
                  <a:pt x="8771" y="78941"/>
                </a:cubicBezTo>
                <a:lnTo>
                  <a:pt x="110380" y="78941"/>
                </a:lnTo>
                <a:lnTo>
                  <a:pt x="81490" y="107831"/>
                </a:lnTo>
                <a:cubicBezTo>
                  <a:pt x="78064" y="111257"/>
                  <a:pt x="78064" y="116822"/>
                  <a:pt x="81490" y="120248"/>
                </a:cubicBezTo>
                <a:cubicBezTo>
                  <a:pt x="84916" y="123674"/>
                  <a:pt x="90481" y="123674"/>
                  <a:pt x="93907" y="120248"/>
                </a:cubicBezTo>
                <a:lnTo>
                  <a:pt x="137763" y="7639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862432" y="4869783"/>
            <a:ext cx="3740706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 7才有持续拉升动力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031831" y="1333226"/>
            <a:ext cx="6815240" cy="4034763"/>
          </a:xfrm>
          <a:custGeom>
            <a:avLst/>
            <a:gdLst/>
            <a:ahLst/>
            <a:cxnLst/>
            <a:rect l="l" t="t" r="r" b="b"/>
            <a:pathLst>
              <a:path w="6815240" h="4034763">
                <a:moveTo>
                  <a:pt x="105267" y="0"/>
                </a:moveTo>
                <a:lnTo>
                  <a:pt x="6709973" y="0"/>
                </a:lnTo>
                <a:cubicBezTo>
                  <a:pt x="6768111" y="0"/>
                  <a:pt x="6815240" y="47130"/>
                  <a:pt x="6815240" y="105267"/>
                </a:cubicBezTo>
                <a:lnTo>
                  <a:pt x="6815240" y="3929496"/>
                </a:lnTo>
                <a:cubicBezTo>
                  <a:pt x="6815240" y="3987633"/>
                  <a:pt x="6768111" y="4034763"/>
                  <a:pt x="6709973" y="4034763"/>
                </a:cubicBezTo>
                <a:lnTo>
                  <a:pt x="105267" y="4034763"/>
                </a:lnTo>
                <a:cubicBezTo>
                  <a:pt x="47130" y="4034763"/>
                  <a:pt x="0" y="3987633"/>
                  <a:pt x="0" y="3929496"/>
                </a:cubicBezTo>
                <a:lnTo>
                  <a:pt x="0" y="105267"/>
                </a:lnTo>
                <a:cubicBezTo>
                  <a:pt x="0" y="47130"/>
                  <a:pt x="47130" y="0"/>
                  <a:pt x="10526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229184" y="1543735"/>
            <a:ext cx="175424" cy="175424"/>
          </a:xfrm>
          <a:custGeom>
            <a:avLst/>
            <a:gdLst/>
            <a:ahLst/>
            <a:cxnLst/>
            <a:rect l="l" t="t" r="r" b="b"/>
            <a:pathLst>
              <a:path w="175424" h="175424">
                <a:moveTo>
                  <a:pt x="21928" y="21928"/>
                </a:moveTo>
                <a:cubicBezTo>
                  <a:pt x="21928" y="15864"/>
                  <a:pt x="17029" y="10964"/>
                  <a:pt x="10964" y="10964"/>
                </a:cubicBezTo>
                <a:cubicBezTo>
                  <a:pt x="4900" y="10964"/>
                  <a:pt x="0" y="15864"/>
                  <a:pt x="0" y="21928"/>
                </a:cubicBezTo>
                <a:lnTo>
                  <a:pt x="0" y="137050"/>
                </a:lnTo>
                <a:cubicBezTo>
                  <a:pt x="0" y="152194"/>
                  <a:pt x="12266" y="164460"/>
                  <a:pt x="27410" y="164460"/>
                </a:cubicBezTo>
                <a:lnTo>
                  <a:pt x="164460" y="164460"/>
                </a:lnTo>
                <a:cubicBezTo>
                  <a:pt x="170525" y="164460"/>
                  <a:pt x="175424" y="159561"/>
                  <a:pt x="175424" y="153496"/>
                </a:cubicBezTo>
                <a:cubicBezTo>
                  <a:pt x="175424" y="147432"/>
                  <a:pt x="170525" y="142532"/>
                  <a:pt x="164460" y="142532"/>
                </a:cubicBezTo>
                <a:lnTo>
                  <a:pt x="27410" y="142532"/>
                </a:lnTo>
                <a:cubicBezTo>
                  <a:pt x="24395" y="142532"/>
                  <a:pt x="21928" y="140065"/>
                  <a:pt x="21928" y="137050"/>
                </a:cubicBezTo>
                <a:lnTo>
                  <a:pt x="21928" y="21928"/>
                </a:lnTo>
                <a:close/>
                <a:moveTo>
                  <a:pt x="161240" y="51599"/>
                </a:moveTo>
                <a:cubicBezTo>
                  <a:pt x="165523" y="47317"/>
                  <a:pt x="165523" y="40361"/>
                  <a:pt x="161240" y="36079"/>
                </a:cubicBezTo>
                <a:cubicBezTo>
                  <a:pt x="156957" y="31796"/>
                  <a:pt x="150002" y="31796"/>
                  <a:pt x="145719" y="36079"/>
                </a:cubicBezTo>
                <a:lnTo>
                  <a:pt x="109640" y="72191"/>
                </a:lnTo>
                <a:lnTo>
                  <a:pt x="89974" y="52559"/>
                </a:lnTo>
                <a:cubicBezTo>
                  <a:pt x="85691" y="48276"/>
                  <a:pt x="78735" y="48276"/>
                  <a:pt x="74453" y="52559"/>
                </a:cubicBezTo>
                <a:lnTo>
                  <a:pt x="41561" y="85451"/>
                </a:lnTo>
                <a:cubicBezTo>
                  <a:pt x="37278" y="89734"/>
                  <a:pt x="37278" y="96689"/>
                  <a:pt x="41561" y="100972"/>
                </a:cubicBezTo>
                <a:cubicBezTo>
                  <a:pt x="45843" y="105255"/>
                  <a:pt x="52799" y="105255"/>
                  <a:pt x="57081" y="100972"/>
                </a:cubicBezTo>
                <a:lnTo>
                  <a:pt x="82230" y="75823"/>
                </a:lnTo>
                <a:lnTo>
                  <a:pt x="101897" y="95490"/>
                </a:lnTo>
                <a:cubicBezTo>
                  <a:pt x="106180" y="99773"/>
                  <a:pt x="113135" y="99773"/>
                  <a:pt x="117418" y="95490"/>
                </a:cubicBezTo>
                <a:lnTo>
                  <a:pt x="161274" y="51634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3" name="Text 20"/>
          <p:cNvSpPr/>
          <p:nvPr/>
        </p:nvSpPr>
        <p:spPr>
          <a:xfrm>
            <a:off x="5426536" y="1508650"/>
            <a:ext cx="6332823" cy="24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实际利率与纳斯达克指数相关性</a:t>
            </a:r>
            <a:endParaRPr lang="en-US" sz="1600" dirty="0"/>
          </a:p>
        </p:txBody>
      </p:sp>
      <p:pic>
        <p:nvPicPr>
          <p:cNvPr id="24" name="Image 1" descr="https://kimi-img.moonshot.cn/pub/slides/26-02-10-14:18:39-d65crfv6rtpekg633ft0.png"/>
          <p:cNvPicPr>
            <a:picLocks noChangeAspect="1"/>
          </p:cNvPicPr>
          <p:nvPr/>
        </p:nvPicPr>
        <p:blipFill>
          <a:blip r:embed="rId4"/>
          <a:srcRect t="30" b="30"/>
          <a:stretch/>
        </p:blipFill>
        <p:spPr>
          <a:xfrm>
            <a:off x="5207256" y="1859499"/>
            <a:ext cx="5876719" cy="3333065"/>
          </a:xfrm>
          <a:prstGeom prst="roundRect">
            <a:avLst>
              <a:gd name="adj" fmla="val 0"/>
            </a:avLst>
          </a:prstGeom>
        </p:spPr>
      </p:pic>
      <p:sp>
        <p:nvSpPr>
          <p:cNvPr id="25" name="Shape 21"/>
          <p:cNvSpPr/>
          <p:nvPr/>
        </p:nvSpPr>
        <p:spPr>
          <a:xfrm>
            <a:off x="368391" y="5543413"/>
            <a:ext cx="3692685" cy="763096"/>
          </a:xfrm>
          <a:custGeom>
            <a:avLst/>
            <a:gdLst/>
            <a:ahLst/>
            <a:cxnLst/>
            <a:rect l="l" t="t" r="r" b="b"/>
            <a:pathLst>
              <a:path w="3692685" h="763096">
                <a:moveTo>
                  <a:pt x="35085" y="0"/>
                </a:moveTo>
                <a:lnTo>
                  <a:pt x="3622518" y="0"/>
                </a:lnTo>
                <a:cubicBezTo>
                  <a:pt x="3661270" y="0"/>
                  <a:pt x="3692685" y="31415"/>
                  <a:pt x="3692685" y="70167"/>
                </a:cubicBezTo>
                <a:lnTo>
                  <a:pt x="3692685" y="692930"/>
                </a:lnTo>
                <a:cubicBezTo>
                  <a:pt x="3692685" y="731682"/>
                  <a:pt x="3661270" y="763096"/>
                  <a:pt x="3622518" y="763096"/>
                </a:cubicBezTo>
                <a:lnTo>
                  <a:pt x="35085" y="763096"/>
                </a:lnTo>
                <a:cubicBezTo>
                  <a:pt x="15708" y="763096"/>
                  <a:pt x="0" y="747388"/>
                  <a:pt x="0" y="728012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68391" y="5543413"/>
            <a:ext cx="35085" cy="763096"/>
          </a:xfrm>
          <a:custGeom>
            <a:avLst/>
            <a:gdLst/>
            <a:ahLst/>
            <a:cxnLst/>
            <a:rect l="l" t="t" r="r" b="b"/>
            <a:pathLst>
              <a:path w="35085" h="763096">
                <a:moveTo>
                  <a:pt x="35085" y="0"/>
                </a:moveTo>
                <a:lnTo>
                  <a:pt x="35085" y="0"/>
                </a:lnTo>
                <a:lnTo>
                  <a:pt x="35085" y="763096"/>
                </a:lnTo>
                <a:lnTo>
                  <a:pt x="35085" y="763096"/>
                </a:lnTo>
                <a:cubicBezTo>
                  <a:pt x="15708" y="763096"/>
                  <a:pt x="0" y="747388"/>
                  <a:pt x="0" y="728012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7" name="Shape 23"/>
          <p:cNvSpPr/>
          <p:nvPr/>
        </p:nvSpPr>
        <p:spPr>
          <a:xfrm>
            <a:off x="567937" y="5710066"/>
            <a:ext cx="118412" cy="157882"/>
          </a:xfrm>
          <a:custGeom>
            <a:avLst/>
            <a:gdLst/>
            <a:ahLst/>
            <a:cxnLst/>
            <a:rect l="l" t="t" r="r" b="b"/>
            <a:pathLst>
              <a:path w="118412" h="157882">
                <a:moveTo>
                  <a:pt x="52237" y="154983"/>
                </a:moveTo>
                <a:cubicBezTo>
                  <a:pt x="56091" y="158838"/>
                  <a:pt x="62351" y="158838"/>
                  <a:pt x="66206" y="154983"/>
                </a:cubicBezTo>
                <a:lnTo>
                  <a:pt x="115544" y="105645"/>
                </a:lnTo>
                <a:cubicBezTo>
                  <a:pt x="119398" y="101791"/>
                  <a:pt x="119398" y="95531"/>
                  <a:pt x="115544" y="91676"/>
                </a:cubicBezTo>
                <a:cubicBezTo>
                  <a:pt x="111689" y="87822"/>
                  <a:pt x="105429" y="87822"/>
                  <a:pt x="101575" y="91676"/>
                </a:cubicBezTo>
                <a:lnTo>
                  <a:pt x="69073" y="124178"/>
                </a:lnTo>
                <a:lnTo>
                  <a:pt x="69073" y="9868"/>
                </a:lnTo>
                <a:cubicBezTo>
                  <a:pt x="69073" y="4410"/>
                  <a:pt x="64664" y="0"/>
                  <a:pt x="59206" y="0"/>
                </a:cubicBezTo>
                <a:cubicBezTo>
                  <a:pt x="53748" y="0"/>
                  <a:pt x="49338" y="4410"/>
                  <a:pt x="49338" y="9868"/>
                </a:cubicBezTo>
                <a:lnTo>
                  <a:pt x="49338" y="124178"/>
                </a:lnTo>
                <a:lnTo>
                  <a:pt x="16837" y="91676"/>
                </a:lnTo>
                <a:cubicBezTo>
                  <a:pt x="12982" y="87822"/>
                  <a:pt x="6722" y="87822"/>
                  <a:pt x="2868" y="91676"/>
                </a:cubicBezTo>
                <a:cubicBezTo>
                  <a:pt x="-987" y="95531"/>
                  <a:pt x="-987" y="101791"/>
                  <a:pt x="2868" y="105645"/>
                </a:cubicBezTo>
                <a:lnTo>
                  <a:pt x="52206" y="154983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8" name="Text 24"/>
          <p:cNvSpPr/>
          <p:nvPr/>
        </p:nvSpPr>
        <p:spPr>
          <a:xfrm>
            <a:off x="793796" y="5683753"/>
            <a:ext cx="91220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实际利率下行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526273" y="5964432"/>
            <a:ext cx="3455862" cy="20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7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科技股估值扩张，成长股领涨，Mag 7表现优异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4257552" y="5543413"/>
            <a:ext cx="3692685" cy="763096"/>
          </a:xfrm>
          <a:custGeom>
            <a:avLst/>
            <a:gdLst/>
            <a:ahLst/>
            <a:cxnLst/>
            <a:rect l="l" t="t" r="r" b="b"/>
            <a:pathLst>
              <a:path w="3692685" h="763096">
                <a:moveTo>
                  <a:pt x="35085" y="0"/>
                </a:moveTo>
                <a:lnTo>
                  <a:pt x="3622518" y="0"/>
                </a:lnTo>
                <a:cubicBezTo>
                  <a:pt x="3661270" y="0"/>
                  <a:pt x="3692685" y="31415"/>
                  <a:pt x="3692685" y="70167"/>
                </a:cubicBezTo>
                <a:lnTo>
                  <a:pt x="3692685" y="692930"/>
                </a:lnTo>
                <a:cubicBezTo>
                  <a:pt x="3692685" y="731682"/>
                  <a:pt x="3661270" y="763096"/>
                  <a:pt x="3622518" y="763096"/>
                </a:cubicBezTo>
                <a:lnTo>
                  <a:pt x="35085" y="763096"/>
                </a:lnTo>
                <a:cubicBezTo>
                  <a:pt x="15708" y="763096"/>
                  <a:pt x="0" y="747388"/>
                  <a:pt x="0" y="728012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257552" y="5543413"/>
            <a:ext cx="35085" cy="763096"/>
          </a:xfrm>
          <a:custGeom>
            <a:avLst/>
            <a:gdLst/>
            <a:ahLst/>
            <a:cxnLst/>
            <a:rect l="l" t="t" r="r" b="b"/>
            <a:pathLst>
              <a:path w="35085" h="763096">
                <a:moveTo>
                  <a:pt x="35085" y="0"/>
                </a:moveTo>
                <a:lnTo>
                  <a:pt x="35085" y="0"/>
                </a:lnTo>
                <a:lnTo>
                  <a:pt x="35085" y="763096"/>
                </a:lnTo>
                <a:lnTo>
                  <a:pt x="35085" y="763096"/>
                </a:lnTo>
                <a:cubicBezTo>
                  <a:pt x="15708" y="763096"/>
                  <a:pt x="0" y="747388"/>
                  <a:pt x="0" y="728012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32" name="Shape 28"/>
          <p:cNvSpPr/>
          <p:nvPr/>
        </p:nvSpPr>
        <p:spPr>
          <a:xfrm>
            <a:off x="4457097" y="5710066"/>
            <a:ext cx="118412" cy="157882"/>
          </a:xfrm>
          <a:custGeom>
            <a:avLst/>
            <a:gdLst/>
            <a:ahLst/>
            <a:cxnLst/>
            <a:rect l="l" t="t" r="r" b="b"/>
            <a:pathLst>
              <a:path w="118412" h="157882">
                <a:moveTo>
                  <a:pt x="66175" y="5366"/>
                </a:moveTo>
                <a:cubicBezTo>
                  <a:pt x="62320" y="1511"/>
                  <a:pt x="56060" y="1511"/>
                  <a:pt x="52206" y="5366"/>
                </a:cubicBezTo>
                <a:lnTo>
                  <a:pt x="2868" y="54704"/>
                </a:lnTo>
                <a:cubicBezTo>
                  <a:pt x="-987" y="58558"/>
                  <a:pt x="-987" y="64818"/>
                  <a:pt x="2868" y="68673"/>
                </a:cubicBezTo>
                <a:cubicBezTo>
                  <a:pt x="6722" y="72527"/>
                  <a:pt x="12982" y="72527"/>
                  <a:pt x="16837" y="68673"/>
                </a:cubicBezTo>
                <a:lnTo>
                  <a:pt x="49338" y="36171"/>
                </a:lnTo>
                <a:lnTo>
                  <a:pt x="49338" y="150481"/>
                </a:lnTo>
                <a:cubicBezTo>
                  <a:pt x="49338" y="155939"/>
                  <a:pt x="53748" y="160349"/>
                  <a:pt x="59206" y="160349"/>
                </a:cubicBezTo>
                <a:cubicBezTo>
                  <a:pt x="64664" y="160349"/>
                  <a:pt x="69073" y="155939"/>
                  <a:pt x="69073" y="150481"/>
                </a:cubicBezTo>
                <a:lnTo>
                  <a:pt x="69073" y="36171"/>
                </a:lnTo>
                <a:lnTo>
                  <a:pt x="101575" y="68673"/>
                </a:lnTo>
                <a:cubicBezTo>
                  <a:pt x="105429" y="72527"/>
                  <a:pt x="111689" y="72527"/>
                  <a:pt x="115544" y="68673"/>
                </a:cubicBezTo>
                <a:cubicBezTo>
                  <a:pt x="119398" y="64818"/>
                  <a:pt x="119398" y="58558"/>
                  <a:pt x="115544" y="54704"/>
                </a:cubicBezTo>
                <a:lnTo>
                  <a:pt x="66206" y="5366"/>
                </a:ln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33" name="Text 29"/>
          <p:cNvSpPr/>
          <p:nvPr/>
        </p:nvSpPr>
        <p:spPr>
          <a:xfrm>
            <a:off x="4682956" y="5683753"/>
            <a:ext cx="912207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实际利率上行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4415434" y="5964432"/>
            <a:ext cx="3455862" cy="20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7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科技股估值压缩，价值股相对抗跌，市场风格切换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8146712" y="5543413"/>
            <a:ext cx="3692685" cy="763096"/>
          </a:xfrm>
          <a:custGeom>
            <a:avLst/>
            <a:gdLst/>
            <a:ahLst/>
            <a:cxnLst/>
            <a:rect l="l" t="t" r="r" b="b"/>
            <a:pathLst>
              <a:path w="3692685" h="763096">
                <a:moveTo>
                  <a:pt x="35085" y="0"/>
                </a:moveTo>
                <a:lnTo>
                  <a:pt x="3622518" y="0"/>
                </a:lnTo>
                <a:cubicBezTo>
                  <a:pt x="3661270" y="0"/>
                  <a:pt x="3692685" y="31415"/>
                  <a:pt x="3692685" y="70167"/>
                </a:cubicBezTo>
                <a:lnTo>
                  <a:pt x="3692685" y="692930"/>
                </a:lnTo>
                <a:cubicBezTo>
                  <a:pt x="3692685" y="731682"/>
                  <a:pt x="3661270" y="763096"/>
                  <a:pt x="3622518" y="763096"/>
                </a:cubicBezTo>
                <a:lnTo>
                  <a:pt x="35085" y="763096"/>
                </a:lnTo>
                <a:cubicBezTo>
                  <a:pt x="15708" y="763096"/>
                  <a:pt x="0" y="747388"/>
                  <a:pt x="0" y="728012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627" dist="35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8146712" y="5543413"/>
            <a:ext cx="35085" cy="763096"/>
          </a:xfrm>
          <a:custGeom>
            <a:avLst/>
            <a:gdLst/>
            <a:ahLst/>
            <a:cxnLst/>
            <a:rect l="l" t="t" r="r" b="b"/>
            <a:pathLst>
              <a:path w="35085" h="763096">
                <a:moveTo>
                  <a:pt x="35085" y="0"/>
                </a:moveTo>
                <a:lnTo>
                  <a:pt x="35085" y="0"/>
                </a:lnTo>
                <a:lnTo>
                  <a:pt x="35085" y="763096"/>
                </a:lnTo>
                <a:lnTo>
                  <a:pt x="35085" y="763096"/>
                </a:lnTo>
                <a:cubicBezTo>
                  <a:pt x="15708" y="763096"/>
                  <a:pt x="0" y="747388"/>
                  <a:pt x="0" y="728012"/>
                </a:cubicBezTo>
                <a:lnTo>
                  <a:pt x="0" y="35085"/>
                </a:lnTo>
                <a:cubicBezTo>
                  <a:pt x="0" y="15721"/>
                  <a:pt x="15721" y="0"/>
                  <a:pt x="35085" y="0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37" name="Shape 33"/>
          <p:cNvSpPr/>
          <p:nvPr/>
        </p:nvSpPr>
        <p:spPr>
          <a:xfrm>
            <a:off x="8306787" y="5710066"/>
            <a:ext cx="197353" cy="157882"/>
          </a:xfrm>
          <a:custGeom>
            <a:avLst/>
            <a:gdLst/>
            <a:ahLst/>
            <a:cxnLst/>
            <a:rect l="l" t="t" r="r" b="b"/>
            <a:pathLst>
              <a:path w="197353" h="157882">
                <a:moveTo>
                  <a:pt x="118412" y="9868"/>
                </a:moveTo>
                <a:lnTo>
                  <a:pt x="157882" y="9868"/>
                </a:lnTo>
                <a:cubicBezTo>
                  <a:pt x="163340" y="9868"/>
                  <a:pt x="167750" y="14277"/>
                  <a:pt x="167750" y="19735"/>
                </a:cubicBezTo>
                <a:cubicBezTo>
                  <a:pt x="167750" y="25193"/>
                  <a:pt x="163340" y="29603"/>
                  <a:pt x="157882" y="29603"/>
                </a:cubicBezTo>
                <a:lnTo>
                  <a:pt x="122852" y="29603"/>
                </a:lnTo>
                <a:cubicBezTo>
                  <a:pt x="121248" y="37559"/>
                  <a:pt x="115790" y="44127"/>
                  <a:pt x="108544" y="47272"/>
                </a:cubicBezTo>
                <a:lnTo>
                  <a:pt x="108544" y="138147"/>
                </a:lnTo>
                <a:lnTo>
                  <a:pt x="157882" y="138147"/>
                </a:lnTo>
                <a:cubicBezTo>
                  <a:pt x="163340" y="138147"/>
                  <a:pt x="167750" y="142556"/>
                  <a:pt x="167750" y="148014"/>
                </a:cubicBezTo>
                <a:cubicBezTo>
                  <a:pt x="167750" y="153472"/>
                  <a:pt x="163340" y="157882"/>
                  <a:pt x="157882" y="157882"/>
                </a:cubicBezTo>
                <a:lnTo>
                  <a:pt x="39471" y="157882"/>
                </a:lnTo>
                <a:cubicBezTo>
                  <a:pt x="34012" y="157882"/>
                  <a:pt x="29603" y="153472"/>
                  <a:pt x="29603" y="148014"/>
                </a:cubicBezTo>
                <a:cubicBezTo>
                  <a:pt x="29603" y="142556"/>
                  <a:pt x="34012" y="138147"/>
                  <a:pt x="39471" y="138147"/>
                </a:cubicBezTo>
                <a:lnTo>
                  <a:pt x="88809" y="138147"/>
                </a:lnTo>
                <a:lnTo>
                  <a:pt x="88809" y="47272"/>
                </a:lnTo>
                <a:cubicBezTo>
                  <a:pt x="81562" y="44096"/>
                  <a:pt x="76104" y="37528"/>
                  <a:pt x="74501" y="29603"/>
                </a:cubicBezTo>
                <a:lnTo>
                  <a:pt x="39471" y="29603"/>
                </a:lnTo>
                <a:cubicBezTo>
                  <a:pt x="34012" y="29603"/>
                  <a:pt x="29603" y="25193"/>
                  <a:pt x="29603" y="19735"/>
                </a:cubicBezTo>
                <a:cubicBezTo>
                  <a:pt x="29603" y="14277"/>
                  <a:pt x="34012" y="9868"/>
                  <a:pt x="39471" y="9868"/>
                </a:cubicBezTo>
                <a:lnTo>
                  <a:pt x="78941" y="9868"/>
                </a:lnTo>
                <a:cubicBezTo>
                  <a:pt x="83443" y="3885"/>
                  <a:pt x="90597" y="0"/>
                  <a:pt x="98676" y="0"/>
                </a:cubicBezTo>
                <a:cubicBezTo>
                  <a:pt x="106755" y="0"/>
                  <a:pt x="113909" y="3885"/>
                  <a:pt x="118412" y="9868"/>
                </a:cubicBezTo>
                <a:close/>
                <a:moveTo>
                  <a:pt x="135557" y="98676"/>
                </a:moveTo>
                <a:lnTo>
                  <a:pt x="180208" y="98676"/>
                </a:lnTo>
                <a:lnTo>
                  <a:pt x="157882" y="60378"/>
                </a:lnTo>
                <a:lnTo>
                  <a:pt x="135557" y="98676"/>
                </a:lnTo>
                <a:close/>
                <a:moveTo>
                  <a:pt x="157882" y="128279"/>
                </a:moveTo>
                <a:cubicBezTo>
                  <a:pt x="138486" y="128279"/>
                  <a:pt x="122359" y="117795"/>
                  <a:pt x="119028" y="103949"/>
                </a:cubicBezTo>
                <a:cubicBezTo>
                  <a:pt x="118226" y="100557"/>
                  <a:pt x="119337" y="97073"/>
                  <a:pt x="121094" y="94051"/>
                </a:cubicBezTo>
                <a:lnTo>
                  <a:pt x="150450" y="43726"/>
                </a:lnTo>
                <a:cubicBezTo>
                  <a:pt x="151992" y="41074"/>
                  <a:pt x="154829" y="39471"/>
                  <a:pt x="157882" y="39471"/>
                </a:cubicBezTo>
                <a:cubicBezTo>
                  <a:pt x="160935" y="39471"/>
                  <a:pt x="163772" y="41105"/>
                  <a:pt x="165314" y="43726"/>
                </a:cubicBezTo>
                <a:lnTo>
                  <a:pt x="194670" y="94051"/>
                </a:lnTo>
                <a:cubicBezTo>
                  <a:pt x="196427" y="97073"/>
                  <a:pt x="197538" y="100557"/>
                  <a:pt x="196736" y="103949"/>
                </a:cubicBezTo>
                <a:cubicBezTo>
                  <a:pt x="193405" y="117764"/>
                  <a:pt x="177278" y="128279"/>
                  <a:pt x="157882" y="128279"/>
                </a:cubicBezTo>
                <a:close/>
                <a:moveTo>
                  <a:pt x="39100" y="60378"/>
                </a:moveTo>
                <a:lnTo>
                  <a:pt x="16775" y="98676"/>
                </a:lnTo>
                <a:lnTo>
                  <a:pt x="61457" y="98676"/>
                </a:lnTo>
                <a:lnTo>
                  <a:pt x="39100" y="60378"/>
                </a:lnTo>
                <a:close/>
                <a:moveTo>
                  <a:pt x="278" y="103949"/>
                </a:moveTo>
                <a:cubicBezTo>
                  <a:pt x="-524" y="100557"/>
                  <a:pt x="586" y="97073"/>
                  <a:pt x="2344" y="94051"/>
                </a:cubicBezTo>
                <a:lnTo>
                  <a:pt x="31700" y="43726"/>
                </a:lnTo>
                <a:cubicBezTo>
                  <a:pt x="33242" y="41074"/>
                  <a:pt x="36079" y="39471"/>
                  <a:pt x="39131" y="39471"/>
                </a:cubicBezTo>
                <a:cubicBezTo>
                  <a:pt x="42184" y="39471"/>
                  <a:pt x="45021" y="41105"/>
                  <a:pt x="46563" y="43726"/>
                </a:cubicBezTo>
                <a:lnTo>
                  <a:pt x="75919" y="94051"/>
                </a:lnTo>
                <a:cubicBezTo>
                  <a:pt x="77677" y="97073"/>
                  <a:pt x="78787" y="100557"/>
                  <a:pt x="77985" y="103949"/>
                </a:cubicBezTo>
                <a:cubicBezTo>
                  <a:pt x="74655" y="117764"/>
                  <a:pt x="58527" y="128279"/>
                  <a:pt x="39131" y="128279"/>
                </a:cubicBezTo>
                <a:cubicBezTo>
                  <a:pt x="19735" y="128279"/>
                  <a:pt x="3608" y="117795"/>
                  <a:pt x="278" y="103949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38" name="Text 34"/>
          <p:cNvSpPr/>
          <p:nvPr/>
        </p:nvSpPr>
        <p:spPr>
          <a:xfrm>
            <a:off x="8572116" y="5683753"/>
            <a:ext cx="631528" cy="21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5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监控阈值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8304594" y="5964432"/>
            <a:ext cx="3455862" cy="201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7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实际利率维持在</a:t>
            </a:r>
            <a:r>
              <a:rPr lang="en-US" sz="967" b="1" dirty="0">
                <a:solidFill>
                  <a:srgbClr val="7C1D56"/>
                </a:solidFill>
                <a:highlight>
                  <a:srgbClr val="A95EAF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0.5%-0.75% </a:t>
            </a:r>
            <a:r>
              <a:rPr lang="en-US" sz="967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正值区间属于适度限制性水平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pic>
        <p:nvPicPr>
          <p:cNvPr id="3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4757" y="364757"/>
            <a:ext cx="1153543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kern="0" spc="57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TREASURY GENERAL ACCOUNT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4757" y="656562"/>
            <a:ext cx="11626627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TGA账户：流动性的"蓄水池"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4757" y="1130746"/>
            <a:ext cx="875417" cy="36476"/>
          </a:xfrm>
          <a:custGeom>
            <a:avLst/>
            <a:gdLst/>
            <a:ahLst/>
            <a:cxnLst/>
            <a:rect l="l" t="t" r="r" b="b"/>
            <a:pathLst>
              <a:path w="875417" h="36476">
                <a:moveTo>
                  <a:pt x="0" y="0"/>
                </a:moveTo>
                <a:lnTo>
                  <a:pt x="875417" y="0"/>
                </a:lnTo>
                <a:lnTo>
                  <a:pt x="875417" y="36476"/>
                </a:lnTo>
                <a:lnTo>
                  <a:pt x="0" y="3647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364757" y="1349601"/>
            <a:ext cx="5617257" cy="1887617"/>
          </a:xfrm>
          <a:custGeom>
            <a:avLst/>
            <a:gdLst/>
            <a:ahLst/>
            <a:cxnLst/>
            <a:rect l="l" t="t" r="r" b="b"/>
            <a:pathLst>
              <a:path w="5617257" h="1887617">
                <a:moveTo>
                  <a:pt x="109425" y="0"/>
                </a:moveTo>
                <a:lnTo>
                  <a:pt x="5507831" y="0"/>
                </a:lnTo>
                <a:cubicBezTo>
                  <a:pt x="5568265" y="0"/>
                  <a:pt x="5617257" y="48991"/>
                  <a:pt x="5617257" y="109425"/>
                </a:cubicBezTo>
                <a:lnTo>
                  <a:pt x="5617257" y="1778192"/>
                </a:lnTo>
                <a:cubicBezTo>
                  <a:pt x="5617257" y="1838626"/>
                  <a:pt x="5568265" y="1887617"/>
                  <a:pt x="5507831" y="1887617"/>
                </a:cubicBezTo>
                <a:lnTo>
                  <a:pt x="109425" y="1887617"/>
                </a:lnTo>
                <a:cubicBezTo>
                  <a:pt x="48991" y="1887617"/>
                  <a:pt x="0" y="1838626"/>
                  <a:pt x="0" y="1778192"/>
                </a:cubicBezTo>
                <a:lnTo>
                  <a:pt x="0" y="109425"/>
                </a:lnTo>
                <a:cubicBezTo>
                  <a:pt x="0" y="48991"/>
                  <a:pt x="48991" y="0"/>
                  <a:pt x="10942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714" dist="3647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7135" y="1531979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9" name="Shape 6"/>
          <p:cNvSpPr/>
          <p:nvPr/>
        </p:nvSpPr>
        <p:spPr>
          <a:xfrm>
            <a:off x="649723" y="1632287"/>
            <a:ext cx="164141" cy="164141"/>
          </a:xfrm>
          <a:custGeom>
            <a:avLst/>
            <a:gdLst/>
            <a:ahLst/>
            <a:cxnLst/>
            <a:rect l="l" t="t" r="r" b="b"/>
            <a:pathLst>
              <a:path w="164141" h="164141">
                <a:moveTo>
                  <a:pt x="20518" y="10259"/>
                </a:moveTo>
                <a:cubicBezTo>
                  <a:pt x="9201" y="10259"/>
                  <a:pt x="0" y="19460"/>
                  <a:pt x="0" y="30776"/>
                </a:cubicBezTo>
                <a:lnTo>
                  <a:pt x="0" y="123105"/>
                </a:lnTo>
                <a:cubicBezTo>
                  <a:pt x="0" y="134422"/>
                  <a:pt x="9201" y="143623"/>
                  <a:pt x="20518" y="143623"/>
                </a:cubicBezTo>
                <a:lnTo>
                  <a:pt x="143623" y="143623"/>
                </a:lnTo>
                <a:cubicBezTo>
                  <a:pt x="154940" y="143623"/>
                  <a:pt x="164141" y="134422"/>
                  <a:pt x="164141" y="123105"/>
                </a:cubicBezTo>
                <a:lnTo>
                  <a:pt x="164141" y="61553"/>
                </a:lnTo>
                <a:cubicBezTo>
                  <a:pt x="164141" y="50236"/>
                  <a:pt x="154940" y="41035"/>
                  <a:pt x="143623" y="41035"/>
                </a:cubicBezTo>
                <a:lnTo>
                  <a:pt x="23082" y="41035"/>
                </a:lnTo>
                <a:cubicBezTo>
                  <a:pt x="18818" y="41035"/>
                  <a:pt x="15388" y="37605"/>
                  <a:pt x="15388" y="33341"/>
                </a:cubicBezTo>
                <a:cubicBezTo>
                  <a:pt x="15388" y="29077"/>
                  <a:pt x="18818" y="25647"/>
                  <a:pt x="23082" y="25647"/>
                </a:cubicBezTo>
                <a:lnTo>
                  <a:pt x="146188" y="25647"/>
                </a:lnTo>
                <a:cubicBezTo>
                  <a:pt x="150452" y="25647"/>
                  <a:pt x="153882" y="22217"/>
                  <a:pt x="153882" y="17953"/>
                </a:cubicBezTo>
                <a:cubicBezTo>
                  <a:pt x="153882" y="13689"/>
                  <a:pt x="150452" y="10259"/>
                  <a:pt x="146188" y="10259"/>
                </a:cubicBezTo>
                <a:lnTo>
                  <a:pt x="20518" y="10259"/>
                </a:lnTo>
                <a:close/>
                <a:moveTo>
                  <a:pt x="133364" y="82070"/>
                </a:moveTo>
                <a:cubicBezTo>
                  <a:pt x="139026" y="82070"/>
                  <a:pt x="143623" y="86667"/>
                  <a:pt x="143623" y="92329"/>
                </a:cubicBezTo>
                <a:cubicBezTo>
                  <a:pt x="143623" y="97991"/>
                  <a:pt x="139026" y="102588"/>
                  <a:pt x="133364" y="102588"/>
                </a:cubicBezTo>
                <a:cubicBezTo>
                  <a:pt x="127702" y="102588"/>
                  <a:pt x="123105" y="97991"/>
                  <a:pt x="123105" y="92329"/>
                </a:cubicBezTo>
                <a:cubicBezTo>
                  <a:pt x="123105" y="86667"/>
                  <a:pt x="127702" y="82070"/>
                  <a:pt x="133364" y="820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21319" y="1586693"/>
            <a:ext cx="1176341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TGA是什么？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7135" y="2042639"/>
            <a:ext cx="5325451" cy="474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b="1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TGA（Treasury General Account）</a:t>
            </a:r>
            <a:r>
              <a:rPr lang="en-US" sz="1149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是财政部在美联储的银行账户，是美联储资产负债表负债端的核心项目。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7135" y="2626250"/>
            <a:ext cx="5252500" cy="428589"/>
          </a:xfrm>
          <a:custGeom>
            <a:avLst/>
            <a:gdLst/>
            <a:ahLst/>
            <a:cxnLst/>
            <a:rect l="l" t="t" r="r" b="b"/>
            <a:pathLst>
              <a:path w="5252500" h="428589">
                <a:moveTo>
                  <a:pt x="72950" y="0"/>
                </a:moveTo>
                <a:lnTo>
                  <a:pt x="5179549" y="0"/>
                </a:lnTo>
                <a:cubicBezTo>
                  <a:pt x="5219839" y="0"/>
                  <a:pt x="5252500" y="32661"/>
                  <a:pt x="5252500" y="72950"/>
                </a:cubicBezTo>
                <a:lnTo>
                  <a:pt x="5252500" y="355639"/>
                </a:lnTo>
                <a:cubicBezTo>
                  <a:pt x="5252500" y="395928"/>
                  <a:pt x="5219839" y="428589"/>
                  <a:pt x="5179549" y="428589"/>
                </a:cubicBezTo>
                <a:lnTo>
                  <a:pt x="72950" y="428589"/>
                </a:lnTo>
                <a:cubicBezTo>
                  <a:pt x="32661" y="428589"/>
                  <a:pt x="0" y="395928"/>
                  <a:pt x="0" y="355639"/>
                </a:cubicBezTo>
                <a:lnTo>
                  <a:pt x="0" y="72950"/>
                </a:lnTo>
                <a:cubicBezTo>
                  <a:pt x="0" y="32688"/>
                  <a:pt x="32688" y="0"/>
                  <a:pt x="72950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74800" y="2764859"/>
            <a:ext cx="127665" cy="127665"/>
          </a:xfrm>
          <a:custGeom>
            <a:avLst/>
            <a:gdLst/>
            <a:ahLst/>
            <a:cxnLst/>
            <a:rect l="l" t="t" r="r" b="b"/>
            <a:pathLst>
              <a:path w="127665" h="127665">
                <a:moveTo>
                  <a:pt x="63832" y="127665"/>
                </a:moveTo>
                <a:cubicBezTo>
                  <a:pt x="99063" y="127665"/>
                  <a:pt x="127665" y="99063"/>
                  <a:pt x="127665" y="63832"/>
                </a:cubicBezTo>
                <a:cubicBezTo>
                  <a:pt x="127665" y="28602"/>
                  <a:pt x="99063" y="0"/>
                  <a:pt x="63832" y="0"/>
                </a:cubicBezTo>
                <a:cubicBezTo>
                  <a:pt x="28602" y="0"/>
                  <a:pt x="0" y="28602"/>
                  <a:pt x="0" y="63832"/>
                </a:cubicBezTo>
                <a:cubicBezTo>
                  <a:pt x="0" y="99063"/>
                  <a:pt x="28602" y="127665"/>
                  <a:pt x="63832" y="127665"/>
                </a:cubicBezTo>
                <a:close/>
                <a:moveTo>
                  <a:pt x="55853" y="39895"/>
                </a:moveTo>
                <a:cubicBezTo>
                  <a:pt x="55853" y="35492"/>
                  <a:pt x="59429" y="31916"/>
                  <a:pt x="63832" y="31916"/>
                </a:cubicBezTo>
                <a:cubicBezTo>
                  <a:pt x="68236" y="31916"/>
                  <a:pt x="71812" y="35492"/>
                  <a:pt x="71812" y="39895"/>
                </a:cubicBezTo>
                <a:cubicBezTo>
                  <a:pt x="71812" y="44299"/>
                  <a:pt x="68236" y="47874"/>
                  <a:pt x="63832" y="47874"/>
                </a:cubicBezTo>
                <a:cubicBezTo>
                  <a:pt x="59429" y="47874"/>
                  <a:pt x="55853" y="44299"/>
                  <a:pt x="55853" y="39895"/>
                </a:cubicBezTo>
                <a:close/>
                <a:moveTo>
                  <a:pt x="53859" y="55853"/>
                </a:moveTo>
                <a:lnTo>
                  <a:pt x="65827" y="55853"/>
                </a:lnTo>
                <a:cubicBezTo>
                  <a:pt x="69144" y="55853"/>
                  <a:pt x="71812" y="58521"/>
                  <a:pt x="71812" y="61838"/>
                </a:cubicBezTo>
                <a:lnTo>
                  <a:pt x="71812" y="83780"/>
                </a:lnTo>
                <a:lnTo>
                  <a:pt x="73806" y="83780"/>
                </a:lnTo>
                <a:cubicBezTo>
                  <a:pt x="77123" y="83780"/>
                  <a:pt x="79791" y="86448"/>
                  <a:pt x="79791" y="89764"/>
                </a:cubicBezTo>
                <a:cubicBezTo>
                  <a:pt x="79791" y="93081"/>
                  <a:pt x="77123" y="95749"/>
                  <a:pt x="73806" y="95749"/>
                </a:cubicBezTo>
                <a:lnTo>
                  <a:pt x="53859" y="95749"/>
                </a:lnTo>
                <a:cubicBezTo>
                  <a:pt x="50542" y="95749"/>
                  <a:pt x="47874" y="93081"/>
                  <a:pt x="47874" y="89764"/>
                </a:cubicBezTo>
                <a:cubicBezTo>
                  <a:pt x="47874" y="86448"/>
                  <a:pt x="50542" y="83780"/>
                  <a:pt x="53859" y="83780"/>
                </a:cubicBezTo>
                <a:lnTo>
                  <a:pt x="59843" y="83780"/>
                </a:lnTo>
                <a:lnTo>
                  <a:pt x="59843" y="67822"/>
                </a:lnTo>
                <a:lnTo>
                  <a:pt x="53859" y="67822"/>
                </a:lnTo>
                <a:cubicBezTo>
                  <a:pt x="50542" y="67822"/>
                  <a:pt x="47874" y="65154"/>
                  <a:pt x="47874" y="61838"/>
                </a:cubicBezTo>
                <a:cubicBezTo>
                  <a:pt x="47874" y="58521"/>
                  <a:pt x="50542" y="55853"/>
                  <a:pt x="53859" y="55853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4" name="Text 11"/>
          <p:cNvSpPr/>
          <p:nvPr/>
        </p:nvSpPr>
        <p:spPr>
          <a:xfrm>
            <a:off x="873084" y="2735677"/>
            <a:ext cx="4880956" cy="209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类比理解：</a:t>
            </a:r>
            <a:r>
              <a:rPr lang="en-US" sz="100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将TGA视为金融体系中的</a:t>
            </a:r>
            <a:r>
              <a:rPr lang="en-US" sz="1005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"巨型浴缸"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64757" y="3417316"/>
            <a:ext cx="5617257" cy="1896736"/>
          </a:xfrm>
          <a:custGeom>
            <a:avLst/>
            <a:gdLst/>
            <a:ahLst/>
            <a:cxnLst/>
            <a:rect l="l" t="t" r="r" b="b"/>
            <a:pathLst>
              <a:path w="5617257" h="1896736">
                <a:moveTo>
                  <a:pt x="109423" y="0"/>
                </a:moveTo>
                <a:lnTo>
                  <a:pt x="5507834" y="0"/>
                </a:lnTo>
                <a:cubicBezTo>
                  <a:pt x="5568226" y="0"/>
                  <a:pt x="5617257" y="49031"/>
                  <a:pt x="5617257" y="109423"/>
                </a:cubicBezTo>
                <a:lnTo>
                  <a:pt x="5617257" y="1787313"/>
                </a:lnTo>
                <a:cubicBezTo>
                  <a:pt x="5617257" y="1847705"/>
                  <a:pt x="5568226" y="1896736"/>
                  <a:pt x="5507834" y="1896736"/>
                </a:cubicBezTo>
                <a:lnTo>
                  <a:pt x="109423" y="1896736"/>
                </a:lnTo>
                <a:cubicBezTo>
                  <a:pt x="49031" y="1896736"/>
                  <a:pt x="0" y="1847705"/>
                  <a:pt x="0" y="1787313"/>
                </a:cubicBezTo>
                <a:lnTo>
                  <a:pt x="0" y="109423"/>
                </a:lnTo>
                <a:cubicBezTo>
                  <a:pt x="0" y="49031"/>
                  <a:pt x="49031" y="0"/>
                  <a:pt x="109423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2700000" scaled="1"/>
          </a:gradFill>
          <a:ln/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7135" y="3599695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49723" y="3700003"/>
            <a:ext cx="164141" cy="164141"/>
          </a:xfrm>
          <a:custGeom>
            <a:avLst/>
            <a:gdLst/>
            <a:ahLst/>
            <a:cxnLst/>
            <a:rect l="l" t="t" r="r" b="b"/>
            <a:pathLst>
              <a:path w="164141" h="164141">
                <a:moveTo>
                  <a:pt x="161127" y="48280"/>
                </a:moveTo>
                <a:lnTo>
                  <a:pt x="130351" y="79057"/>
                </a:lnTo>
                <a:cubicBezTo>
                  <a:pt x="127401" y="82006"/>
                  <a:pt x="123009" y="82872"/>
                  <a:pt x="119162" y="81269"/>
                </a:cubicBezTo>
                <a:cubicBezTo>
                  <a:pt x="115315" y="79666"/>
                  <a:pt x="112847" y="75947"/>
                  <a:pt x="112847" y="71812"/>
                </a:cubicBezTo>
                <a:lnTo>
                  <a:pt x="112847" y="51294"/>
                </a:lnTo>
                <a:lnTo>
                  <a:pt x="10259" y="51294"/>
                </a:lnTo>
                <a:cubicBezTo>
                  <a:pt x="4584" y="51294"/>
                  <a:pt x="0" y="46710"/>
                  <a:pt x="0" y="41035"/>
                </a:cubicBezTo>
                <a:cubicBezTo>
                  <a:pt x="0" y="35361"/>
                  <a:pt x="4584" y="30776"/>
                  <a:pt x="10259" y="30776"/>
                </a:cubicBezTo>
                <a:lnTo>
                  <a:pt x="112847" y="30776"/>
                </a:lnTo>
                <a:lnTo>
                  <a:pt x="112847" y="10259"/>
                </a:lnTo>
                <a:cubicBezTo>
                  <a:pt x="112847" y="6123"/>
                  <a:pt x="115347" y="2372"/>
                  <a:pt x="119194" y="769"/>
                </a:cubicBezTo>
                <a:cubicBezTo>
                  <a:pt x="123041" y="-834"/>
                  <a:pt x="127433" y="64"/>
                  <a:pt x="130383" y="2981"/>
                </a:cubicBezTo>
                <a:lnTo>
                  <a:pt x="161159" y="33758"/>
                </a:lnTo>
                <a:cubicBezTo>
                  <a:pt x="165166" y="37765"/>
                  <a:pt x="165166" y="44273"/>
                  <a:pt x="161159" y="48280"/>
                </a:cubicBezTo>
                <a:close/>
                <a:moveTo>
                  <a:pt x="33758" y="161127"/>
                </a:moveTo>
                <a:lnTo>
                  <a:pt x="2981" y="130351"/>
                </a:lnTo>
                <a:cubicBezTo>
                  <a:pt x="-1026" y="126343"/>
                  <a:pt x="-1026" y="119835"/>
                  <a:pt x="2981" y="115828"/>
                </a:cubicBezTo>
                <a:lnTo>
                  <a:pt x="33758" y="85052"/>
                </a:lnTo>
                <a:cubicBezTo>
                  <a:pt x="36707" y="82102"/>
                  <a:pt x="41099" y="81237"/>
                  <a:pt x="44946" y="82840"/>
                </a:cubicBezTo>
                <a:cubicBezTo>
                  <a:pt x="48793" y="84443"/>
                  <a:pt x="51294" y="88194"/>
                  <a:pt x="51294" y="92329"/>
                </a:cubicBezTo>
                <a:lnTo>
                  <a:pt x="51294" y="112847"/>
                </a:lnTo>
                <a:lnTo>
                  <a:pt x="153882" y="112847"/>
                </a:lnTo>
                <a:cubicBezTo>
                  <a:pt x="159556" y="112847"/>
                  <a:pt x="164141" y="117431"/>
                  <a:pt x="164141" y="123105"/>
                </a:cubicBezTo>
                <a:cubicBezTo>
                  <a:pt x="164141" y="128780"/>
                  <a:pt x="159556" y="133364"/>
                  <a:pt x="153882" y="133364"/>
                </a:cubicBezTo>
                <a:lnTo>
                  <a:pt x="51294" y="133364"/>
                </a:lnTo>
                <a:lnTo>
                  <a:pt x="51294" y="153882"/>
                </a:lnTo>
                <a:cubicBezTo>
                  <a:pt x="51294" y="158017"/>
                  <a:pt x="48793" y="161768"/>
                  <a:pt x="44946" y="163371"/>
                </a:cubicBezTo>
                <a:cubicBezTo>
                  <a:pt x="41099" y="164974"/>
                  <a:pt x="36707" y="164076"/>
                  <a:pt x="33758" y="1611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1021319" y="3654408"/>
            <a:ext cx="1732595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与银行准备金的关系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7135" y="4110355"/>
            <a:ext cx="5325451" cy="237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TGA与银行体系的流动性（准备金）成</a:t>
            </a:r>
            <a:r>
              <a:rPr lang="en-US" sz="114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反比</a:t>
            </a:r>
            <a:r>
              <a:rPr lang="en-US" sz="114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关系：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50783" y="4460521"/>
            <a:ext cx="2569712" cy="663858"/>
          </a:xfrm>
          <a:custGeom>
            <a:avLst/>
            <a:gdLst/>
            <a:ahLst/>
            <a:cxnLst/>
            <a:rect l="l" t="t" r="r" b="b"/>
            <a:pathLst>
              <a:path w="2569712" h="663858">
                <a:moveTo>
                  <a:pt x="72951" y="0"/>
                </a:moveTo>
                <a:lnTo>
                  <a:pt x="2496761" y="0"/>
                </a:lnTo>
                <a:cubicBezTo>
                  <a:pt x="2537024" y="0"/>
                  <a:pt x="2569712" y="32688"/>
                  <a:pt x="2569712" y="72951"/>
                </a:cubicBezTo>
                <a:lnTo>
                  <a:pt x="2569712" y="590906"/>
                </a:lnTo>
                <a:cubicBezTo>
                  <a:pt x="2569712" y="631169"/>
                  <a:pt x="2537024" y="663858"/>
                  <a:pt x="2496761" y="663858"/>
                </a:cubicBezTo>
                <a:lnTo>
                  <a:pt x="72951" y="663858"/>
                </a:lnTo>
                <a:cubicBezTo>
                  <a:pt x="32688" y="663858"/>
                  <a:pt x="0" y="631169"/>
                  <a:pt x="0" y="5909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0333" y="4602776"/>
            <a:ext cx="109427" cy="145903"/>
          </a:xfrm>
          <a:custGeom>
            <a:avLst/>
            <a:gdLst/>
            <a:ahLst/>
            <a:cxnLst/>
            <a:rect l="l" t="t" r="r" b="b"/>
            <a:pathLst>
              <a:path w="109427" h="145903">
                <a:moveTo>
                  <a:pt x="61154" y="4958"/>
                </a:moveTo>
                <a:cubicBezTo>
                  <a:pt x="57592" y="1396"/>
                  <a:pt x="51807" y="1396"/>
                  <a:pt x="48245" y="4958"/>
                </a:cubicBezTo>
                <a:lnTo>
                  <a:pt x="2650" y="50553"/>
                </a:lnTo>
                <a:cubicBezTo>
                  <a:pt x="-912" y="54115"/>
                  <a:pt x="-912" y="59900"/>
                  <a:pt x="2650" y="63462"/>
                </a:cubicBezTo>
                <a:cubicBezTo>
                  <a:pt x="6212" y="67024"/>
                  <a:pt x="11997" y="67024"/>
                  <a:pt x="15559" y="63462"/>
                </a:cubicBezTo>
                <a:lnTo>
                  <a:pt x="45595" y="33427"/>
                </a:lnTo>
                <a:lnTo>
                  <a:pt x="45595" y="139064"/>
                </a:lnTo>
                <a:cubicBezTo>
                  <a:pt x="45595" y="144107"/>
                  <a:pt x="49670" y="148182"/>
                  <a:pt x="54714" y="148182"/>
                </a:cubicBezTo>
                <a:cubicBezTo>
                  <a:pt x="59757" y="148182"/>
                  <a:pt x="63832" y="144107"/>
                  <a:pt x="63832" y="139064"/>
                </a:cubicBezTo>
                <a:lnTo>
                  <a:pt x="63832" y="33427"/>
                </a:lnTo>
                <a:lnTo>
                  <a:pt x="93868" y="63462"/>
                </a:lnTo>
                <a:cubicBezTo>
                  <a:pt x="97430" y="67024"/>
                  <a:pt x="103215" y="67024"/>
                  <a:pt x="106777" y="63462"/>
                </a:cubicBezTo>
                <a:cubicBezTo>
                  <a:pt x="110339" y="59900"/>
                  <a:pt x="110339" y="54115"/>
                  <a:pt x="106777" y="50553"/>
                </a:cubicBezTo>
                <a:lnTo>
                  <a:pt x="61182" y="495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898617" y="4573598"/>
            <a:ext cx="218175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TGA↑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3858" y="4828928"/>
            <a:ext cx="240739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准备金↓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233684" y="4460521"/>
            <a:ext cx="2569712" cy="663858"/>
          </a:xfrm>
          <a:custGeom>
            <a:avLst/>
            <a:gdLst/>
            <a:ahLst/>
            <a:cxnLst/>
            <a:rect l="l" t="t" r="r" b="b"/>
            <a:pathLst>
              <a:path w="2569712" h="663858">
                <a:moveTo>
                  <a:pt x="72951" y="0"/>
                </a:moveTo>
                <a:lnTo>
                  <a:pt x="2496761" y="0"/>
                </a:lnTo>
                <a:cubicBezTo>
                  <a:pt x="2537024" y="0"/>
                  <a:pt x="2569712" y="32688"/>
                  <a:pt x="2569712" y="72951"/>
                </a:cubicBezTo>
                <a:lnTo>
                  <a:pt x="2569712" y="590906"/>
                </a:lnTo>
                <a:cubicBezTo>
                  <a:pt x="2569712" y="631169"/>
                  <a:pt x="2537024" y="663858"/>
                  <a:pt x="2496761" y="663858"/>
                </a:cubicBezTo>
                <a:lnTo>
                  <a:pt x="72951" y="663858"/>
                </a:lnTo>
                <a:cubicBezTo>
                  <a:pt x="32688" y="663858"/>
                  <a:pt x="0" y="631169"/>
                  <a:pt x="0" y="5909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83235" y="4602776"/>
            <a:ext cx="109427" cy="145903"/>
          </a:xfrm>
          <a:custGeom>
            <a:avLst/>
            <a:gdLst/>
            <a:ahLst/>
            <a:cxnLst/>
            <a:rect l="l" t="t" r="r" b="b"/>
            <a:pathLst>
              <a:path w="109427" h="145903">
                <a:moveTo>
                  <a:pt x="48273" y="143224"/>
                </a:moveTo>
                <a:cubicBezTo>
                  <a:pt x="51835" y="146786"/>
                  <a:pt x="57620" y="146786"/>
                  <a:pt x="61182" y="143224"/>
                </a:cubicBezTo>
                <a:lnTo>
                  <a:pt x="106777" y="97629"/>
                </a:lnTo>
                <a:cubicBezTo>
                  <a:pt x="110339" y="94067"/>
                  <a:pt x="110339" y="88283"/>
                  <a:pt x="106777" y="84720"/>
                </a:cubicBezTo>
                <a:cubicBezTo>
                  <a:pt x="103215" y="81158"/>
                  <a:pt x="97430" y="81158"/>
                  <a:pt x="93868" y="84720"/>
                </a:cubicBezTo>
                <a:lnTo>
                  <a:pt x="63832" y="114756"/>
                </a:lnTo>
                <a:lnTo>
                  <a:pt x="63832" y="9119"/>
                </a:lnTo>
                <a:cubicBezTo>
                  <a:pt x="63832" y="4075"/>
                  <a:pt x="59757" y="0"/>
                  <a:pt x="54714" y="0"/>
                </a:cubicBezTo>
                <a:cubicBezTo>
                  <a:pt x="49670" y="0"/>
                  <a:pt x="45595" y="4075"/>
                  <a:pt x="45595" y="9119"/>
                </a:cubicBezTo>
                <a:lnTo>
                  <a:pt x="45595" y="114756"/>
                </a:lnTo>
                <a:lnTo>
                  <a:pt x="15559" y="84720"/>
                </a:lnTo>
                <a:cubicBezTo>
                  <a:pt x="11997" y="81158"/>
                  <a:pt x="6212" y="81158"/>
                  <a:pt x="2650" y="84720"/>
                </a:cubicBezTo>
                <a:cubicBezTo>
                  <a:pt x="-912" y="88283"/>
                  <a:pt x="-912" y="94067"/>
                  <a:pt x="2650" y="97629"/>
                </a:cubicBezTo>
                <a:lnTo>
                  <a:pt x="48245" y="14322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518" y="4573598"/>
            <a:ext cx="218175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TGA↓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346759" y="4828928"/>
            <a:ext cx="240739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准备金↑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223095" y="1349601"/>
            <a:ext cx="5599019" cy="1914974"/>
          </a:xfrm>
          <a:custGeom>
            <a:avLst/>
            <a:gdLst/>
            <a:ahLst/>
            <a:cxnLst/>
            <a:rect l="l" t="t" r="r" b="b"/>
            <a:pathLst>
              <a:path w="5599019" h="1914974">
                <a:moveTo>
                  <a:pt x="36476" y="0"/>
                </a:moveTo>
                <a:lnTo>
                  <a:pt x="5489597" y="0"/>
                </a:lnTo>
                <a:cubicBezTo>
                  <a:pt x="5550029" y="0"/>
                  <a:pt x="5599019" y="48990"/>
                  <a:pt x="5599019" y="109422"/>
                </a:cubicBezTo>
                <a:lnTo>
                  <a:pt x="5599019" y="1805552"/>
                </a:lnTo>
                <a:cubicBezTo>
                  <a:pt x="5599019" y="1865984"/>
                  <a:pt x="5550029" y="1914974"/>
                  <a:pt x="5489597" y="1914974"/>
                </a:cubicBezTo>
                <a:lnTo>
                  <a:pt x="36476" y="1914974"/>
                </a:lnTo>
                <a:cubicBezTo>
                  <a:pt x="16331" y="1914974"/>
                  <a:pt x="0" y="1898643"/>
                  <a:pt x="0" y="1878498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714" dist="3647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223095" y="1349601"/>
            <a:ext cx="36476" cy="1914974"/>
          </a:xfrm>
          <a:custGeom>
            <a:avLst/>
            <a:gdLst/>
            <a:ahLst/>
            <a:cxnLst/>
            <a:rect l="l" t="t" r="r" b="b"/>
            <a:pathLst>
              <a:path w="36476" h="1914974">
                <a:moveTo>
                  <a:pt x="36476" y="0"/>
                </a:moveTo>
                <a:lnTo>
                  <a:pt x="36476" y="0"/>
                </a:lnTo>
                <a:lnTo>
                  <a:pt x="36476" y="1914974"/>
                </a:lnTo>
                <a:lnTo>
                  <a:pt x="36476" y="1914974"/>
                </a:lnTo>
                <a:cubicBezTo>
                  <a:pt x="16331" y="1914974"/>
                  <a:pt x="0" y="1898643"/>
                  <a:pt x="0" y="1878498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30" name="Shape 27"/>
          <p:cNvSpPr/>
          <p:nvPr/>
        </p:nvSpPr>
        <p:spPr>
          <a:xfrm>
            <a:off x="6423711" y="1531979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31" name="Shape 28"/>
          <p:cNvSpPr/>
          <p:nvPr/>
        </p:nvSpPr>
        <p:spPr>
          <a:xfrm>
            <a:off x="6526299" y="1632287"/>
            <a:ext cx="164141" cy="164141"/>
          </a:xfrm>
          <a:custGeom>
            <a:avLst/>
            <a:gdLst/>
            <a:ahLst/>
            <a:cxnLst/>
            <a:rect l="l" t="t" r="r" b="b"/>
            <a:pathLst>
              <a:path w="164141" h="164141">
                <a:moveTo>
                  <a:pt x="146188" y="71812"/>
                </a:moveTo>
                <a:lnTo>
                  <a:pt x="100023" y="71812"/>
                </a:lnTo>
                <a:cubicBezTo>
                  <a:pt x="95759" y="71812"/>
                  <a:pt x="92329" y="68381"/>
                  <a:pt x="92329" y="64117"/>
                </a:cubicBezTo>
                <a:lnTo>
                  <a:pt x="92329" y="17953"/>
                </a:lnTo>
                <a:cubicBezTo>
                  <a:pt x="92329" y="14843"/>
                  <a:pt x="94189" y="12022"/>
                  <a:pt x="97074" y="10836"/>
                </a:cubicBezTo>
                <a:cubicBezTo>
                  <a:pt x="99959" y="9650"/>
                  <a:pt x="103261" y="10323"/>
                  <a:pt x="105473" y="12503"/>
                </a:cubicBezTo>
                <a:lnTo>
                  <a:pt x="118297" y="25326"/>
                </a:lnTo>
                <a:lnTo>
                  <a:pt x="141828" y="1795"/>
                </a:lnTo>
                <a:cubicBezTo>
                  <a:pt x="142982" y="641"/>
                  <a:pt x="144553" y="0"/>
                  <a:pt x="146188" y="0"/>
                </a:cubicBezTo>
                <a:cubicBezTo>
                  <a:pt x="147823" y="0"/>
                  <a:pt x="149394" y="641"/>
                  <a:pt x="150580" y="1827"/>
                </a:cubicBezTo>
                <a:lnTo>
                  <a:pt x="162345" y="13593"/>
                </a:lnTo>
                <a:cubicBezTo>
                  <a:pt x="163499" y="14747"/>
                  <a:pt x="164141" y="16318"/>
                  <a:pt x="164141" y="17953"/>
                </a:cubicBezTo>
                <a:cubicBezTo>
                  <a:pt x="164141" y="19588"/>
                  <a:pt x="163499" y="21159"/>
                  <a:pt x="162313" y="22345"/>
                </a:cubicBezTo>
                <a:lnTo>
                  <a:pt x="138814" y="45844"/>
                </a:lnTo>
                <a:lnTo>
                  <a:pt x="151638" y="58667"/>
                </a:lnTo>
                <a:cubicBezTo>
                  <a:pt x="153850" y="60879"/>
                  <a:pt x="154491" y="64182"/>
                  <a:pt x="153305" y="67067"/>
                </a:cubicBezTo>
                <a:cubicBezTo>
                  <a:pt x="152119" y="69952"/>
                  <a:pt x="149297" y="71812"/>
                  <a:pt x="146188" y="71812"/>
                </a:cubicBezTo>
                <a:close/>
                <a:moveTo>
                  <a:pt x="146188" y="92329"/>
                </a:moveTo>
                <a:cubicBezTo>
                  <a:pt x="149297" y="92329"/>
                  <a:pt x="152119" y="94189"/>
                  <a:pt x="153305" y="97074"/>
                </a:cubicBezTo>
                <a:cubicBezTo>
                  <a:pt x="154491" y="99959"/>
                  <a:pt x="153850" y="103261"/>
                  <a:pt x="151638" y="105473"/>
                </a:cubicBezTo>
                <a:lnTo>
                  <a:pt x="138814" y="118297"/>
                </a:lnTo>
                <a:lnTo>
                  <a:pt x="162345" y="141828"/>
                </a:lnTo>
                <a:cubicBezTo>
                  <a:pt x="163499" y="142982"/>
                  <a:pt x="164173" y="144553"/>
                  <a:pt x="164173" y="146220"/>
                </a:cubicBezTo>
                <a:cubicBezTo>
                  <a:pt x="164173" y="147887"/>
                  <a:pt x="163531" y="149426"/>
                  <a:pt x="162345" y="150612"/>
                </a:cubicBezTo>
                <a:lnTo>
                  <a:pt x="150580" y="162377"/>
                </a:lnTo>
                <a:cubicBezTo>
                  <a:pt x="149394" y="163499"/>
                  <a:pt x="147823" y="164141"/>
                  <a:pt x="146188" y="164141"/>
                </a:cubicBezTo>
                <a:cubicBezTo>
                  <a:pt x="144553" y="164141"/>
                  <a:pt x="142982" y="163499"/>
                  <a:pt x="141796" y="162313"/>
                </a:cubicBezTo>
                <a:lnTo>
                  <a:pt x="118297" y="138814"/>
                </a:lnTo>
                <a:lnTo>
                  <a:pt x="105473" y="151638"/>
                </a:lnTo>
                <a:cubicBezTo>
                  <a:pt x="103261" y="153850"/>
                  <a:pt x="99959" y="154491"/>
                  <a:pt x="97074" y="153305"/>
                </a:cubicBezTo>
                <a:cubicBezTo>
                  <a:pt x="94189" y="152119"/>
                  <a:pt x="92329" y="149297"/>
                  <a:pt x="92329" y="146188"/>
                </a:cubicBezTo>
                <a:lnTo>
                  <a:pt x="92329" y="100023"/>
                </a:lnTo>
                <a:cubicBezTo>
                  <a:pt x="92329" y="95759"/>
                  <a:pt x="95759" y="92329"/>
                  <a:pt x="100023" y="92329"/>
                </a:cubicBezTo>
                <a:lnTo>
                  <a:pt x="146188" y="92329"/>
                </a:lnTo>
                <a:close/>
                <a:moveTo>
                  <a:pt x="64117" y="92329"/>
                </a:moveTo>
                <a:cubicBezTo>
                  <a:pt x="68381" y="92329"/>
                  <a:pt x="71812" y="95759"/>
                  <a:pt x="71812" y="100023"/>
                </a:cubicBezTo>
                <a:lnTo>
                  <a:pt x="71812" y="146188"/>
                </a:lnTo>
                <a:cubicBezTo>
                  <a:pt x="71812" y="149297"/>
                  <a:pt x="69952" y="152119"/>
                  <a:pt x="67067" y="153305"/>
                </a:cubicBezTo>
                <a:cubicBezTo>
                  <a:pt x="64182" y="154491"/>
                  <a:pt x="60879" y="153850"/>
                  <a:pt x="58667" y="151638"/>
                </a:cubicBezTo>
                <a:lnTo>
                  <a:pt x="45844" y="138814"/>
                </a:lnTo>
                <a:lnTo>
                  <a:pt x="22313" y="162345"/>
                </a:lnTo>
                <a:cubicBezTo>
                  <a:pt x="21159" y="163499"/>
                  <a:pt x="19588" y="164141"/>
                  <a:pt x="17953" y="164141"/>
                </a:cubicBezTo>
                <a:cubicBezTo>
                  <a:pt x="16318" y="164141"/>
                  <a:pt x="14747" y="163499"/>
                  <a:pt x="13561" y="162313"/>
                </a:cubicBezTo>
                <a:lnTo>
                  <a:pt x="1827" y="150580"/>
                </a:lnTo>
                <a:cubicBezTo>
                  <a:pt x="641" y="149394"/>
                  <a:pt x="0" y="147823"/>
                  <a:pt x="0" y="146188"/>
                </a:cubicBezTo>
                <a:cubicBezTo>
                  <a:pt x="0" y="144553"/>
                  <a:pt x="641" y="142982"/>
                  <a:pt x="1827" y="141796"/>
                </a:cubicBezTo>
                <a:lnTo>
                  <a:pt x="25326" y="118297"/>
                </a:lnTo>
                <a:lnTo>
                  <a:pt x="12503" y="105473"/>
                </a:lnTo>
                <a:cubicBezTo>
                  <a:pt x="10291" y="103261"/>
                  <a:pt x="9650" y="99959"/>
                  <a:pt x="10836" y="97074"/>
                </a:cubicBezTo>
                <a:cubicBezTo>
                  <a:pt x="12022" y="94189"/>
                  <a:pt x="14843" y="92329"/>
                  <a:pt x="17953" y="92329"/>
                </a:cubicBezTo>
                <a:lnTo>
                  <a:pt x="64117" y="92329"/>
                </a:lnTo>
                <a:close/>
                <a:moveTo>
                  <a:pt x="17953" y="71812"/>
                </a:moveTo>
                <a:cubicBezTo>
                  <a:pt x="14843" y="71812"/>
                  <a:pt x="12022" y="69952"/>
                  <a:pt x="10836" y="67067"/>
                </a:cubicBezTo>
                <a:cubicBezTo>
                  <a:pt x="9650" y="64182"/>
                  <a:pt x="10323" y="60879"/>
                  <a:pt x="12503" y="58667"/>
                </a:cubicBezTo>
                <a:lnTo>
                  <a:pt x="25326" y="45844"/>
                </a:lnTo>
                <a:lnTo>
                  <a:pt x="1827" y="22345"/>
                </a:lnTo>
                <a:cubicBezTo>
                  <a:pt x="641" y="21159"/>
                  <a:pt x="0" y="19588"/>
                  <a:pt x="0" y="17953"/>
                </a:cubicBezTo>
                <a:cubicBezTo>
                  <a:pt x="0" y="16318"/>
                  <a:pt x="641" y="14747"/>
                  <a:pt x="1827" y="13561"/>
                </a:cubicBezTo>
                <a:lnTo>
                  <a:pt x="13561" y="1827"/>
                </a:lnTo>
                <a:cubicBezTo>
                  <a:pt x="14747" y="641"/>
                  <a:pt x="16318" y="0"/>
                  <a:pt x="17953" y="0"/>
                </a:cubicBezTo>
                <a:cubicBezTo>
                  <a:pt x="19588" y="0"/>
                  <a:pt x="21159" y="641"/>
                  <a:pt x="22345" y="1827"/>
                </a:cubicBezTo>
                <a:lnTo>
                  <a:pt x="45844" y="25326"/>
                </a:lnTo>
                <a:lnTo>
                  <a:pt x="58667" y="12503"/>
                </a:lnTo>
                <a:cubicBezTo>
                  <a:pt x="60879" y="10291"/>
                  <a:pt x="64182" y="9650"/>
                  <a:pt x="67067" y="10836"/>
                </a:cubicBezTo>
                <a:cubicBezTo>
                  <a:pt x="69952" y="12022"/>
                  <a:pt x="71812" y="14843"/>
                  <a:pt x="71812" y="17953"/>
                </a:cubicBezTo>
                <a:lnTo>
                  <a:pt x="71812" y="64117"/>
                </a:lnTo>
                <a:cubicBezTo>
                  <a:pt x="71812" y="68381"/>
                  <a:pt x="68381" y="71812"/>
                  <a:pt x="64117" y="71812"/>
                </a:cubicBezTo>
                <a:lnTo>
                  <a:pt x="17953" y="718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6897895" y="1586693"/>
            <a:ext cx="820703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收缩效应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23711" y="2042639"/>
            <a:ext cx="5288975" cy="237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当财政部</a:t>
            </a:r>
            <a:r>
              <a:rPr lang="en-US" sz="1149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大规模发债筹资</a:t>
            </a:r>
            <a:r>
              <a:rPr lang="en-US" sz="1149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（TGA余额上升）时：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441949" y="2425634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43224" y="79392"/>
                </a:moveTo>
                <a:cubicBezTo>
                  <a:pt x="146786" y="75830"/>
                  <a:pt x="146786" y="70045"/>
                  <a:pt x="143224" y="66483"/>
                </a:cubicBezTo>
                <a:lnTo>
                  <a:pt x="97629" y="20888"/>
                </a:lnTo>
                <a:cubicBezTo>
                  <a:pt x="94067" y="17326"/>
                  <a:pt x="88283" y="17326"/>
                  <a:pt x="84720" y="20888"/>
                </a:cubicBezTo>
                <a:cubicBezTo>
                  <a:pt x="81158" y="24450"/>
                  <a:pt x="81158" y="30235"/>
                  <a:pt x="84720" y="33797"/>
                </a:cubicBezTo>
                <a:lnTo>
                  <a:pt x="114756" y="63832"/>
                </a:lnTo>
                <a:lnTo>
                  <a:pt x="9119" y="63832"/>
                </a:lnTo>
                <a:cubicBezTo>
                  <a:pt x="4075" y="63832"/>
                  <a:pt x="0" y="67907"/>
                  <a:pt x="0" y="72951"/>
                </a:cubicBezTo>
                <a:cubicBezTo>
                  <a:pt x="0" y="77995"/>
                  <a:pt x="4075" y="82070"/>
                  <a:pt x="9119" y="82070"/>
                </a:cubicBezTo>
                <a:lnTo>
                  <a:pt x="114756" y="82070"/>
                </a:lnTo>
                <a:lnTo>
                  <a:pt x="84720" y="112106"/>
                </a:lnTo>
                <a:cubicBezTo>
                  <a:pt x="81158" y="115668"/>
                  <a:pt x="81158" y="121453"/>
                  <a:pt x="84720" y="125015"/>
                </a:cubicBezTo>
                <a:cubicBezTo>
                  <a:pt x="88283" y="128577"/>
                  <a:pt x="94067" y="128577"/>
                  <a:pt x="97629" y="125015"/>
                </a:cubicBezTo>
                <a:lnTo>
                  <a:pt x="143224" y="79420"/>
                </a:ln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35" name="Text 32"/>
          <p:cNvSpPr/>
          <p:nvPr/>
        </p:nvSpPr>
        <p:spPr>
          <a:xfrm>
            <a:off x="6679041" y="2389158"/>
            <a:ext cx="134048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资金从市场流入财政部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441949" y="2680963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43224" y="79392"/>
                </a:moveTo>
                <a:cubicBezTo>
                  <a:pt x="146786" y="75830"/>
                  <a:pt x="146786" y="70045"/>
                  <a:pt x="143224" y="66483"/>
                </a:cubicBezTo>
                <a:lnTo>
                  <a:pt x="97629" y="20888"/>
                </a:lnTo>
                <a:cubicBezTo>
                  <a:pt x="94067" y="17326"/>
                  <a:pt x="88283" y="17326"/>
                  <a:pt x="84720" y="20888"/>
                </a:cubicBezTo>
                <a:cubicBezTo>
                  <a:pt x="81158" y="24450"/>
                  <a:pt x="81158" y="30235"/>
                  <a:pt x="84720" y="33797"/>
                </a:cubicBezTo>
                <a:lnTo>
                  <a:pt x="114756" y="63832"/>
                </a:lnTo>
                <a:lnTo>
                  <a:pt x="9119" y="63832"/>
                </a:lnTo>
                <a:cubicBezTo>
                  <a:pt x="4075" y="63832"/>
                  <a:pt x="0" y="67907"/>
                  <a:pt x="0" y="72951"/>
                </a:cubicBezTo>
                <a:cubicBezTo>
                  <a:pt x="0" y="77995"/>
                  <a:pt x="4075" y="82070"/>
                  <a:pt x="9119" y="82070"/>
                </a:cubicBezTo>
                <a:lnTo>
                  <a:pt x="114756" y="82070"/>
                </a:lnTo>
                <a:lnTo>
                  <a:pt x="84720" y="112106"/>
                </a:lnTo>
                <a:cubicBezTo>
                  <a:pt x="81158" y="115668"/>
                  <a:pt x="81158" y="121453"/>
                  <a:pt x="84720" y="125015"/>
                </a:cubicBezTo>
                <a:cubicBezTo>
                  <a:pt x="88283" y="128577"/>
                  <a:pt x="94067" y="128577"/>
                  <a:pt x="97629" y="125015"/>
                </a:cubicBezTo>
                <a:lnTo>
                  <a:pt x="143224" y="79420"/>
                </a:ln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37" name="Text 34"/>
          <p:cNvSpPr/>
          <p:nvPr/>
        </p:nvSpPr>
        <p:spPr>
          <a:xfrm>
            <a:off x="6679041" y="2644488"/>
            <a:ext cx="95748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市场流动性收紧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441949" y="2936293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43224" y="79392"/>
                </a:moveTo>
                <a:cubicBezTo>
                  <a:pt x="146786" y="75830"/>
                  <a:pt x="146786" y="70045"/>
                  <a:pt x="143224" y="66483"/>
                </a:cubicBezTo>
                <a:lnTo>
                  <a:pt x="97629" y="20888"/>
                </a:lnTo>
                <a:cubicBezTo>
                  <a:pt x="94067" y="17326"/>
                  <a:pt x="88283" y="17326"/>
                  <a:pt x="84720" y="20888"/>
                </a:cubicBezTo>
                <a:cubicBezTo>
                  <a:pt x="81158" y="24450"/>
                  <a:pt x="81158" y="30235"/>
                  <a:pt x="84720" y="33797"/>
                </a:cubicBezTo>
                <a:lnTo>
                  <a:pt x="114756" y="63832"/>
                </a:lnTo>
                <a:lnTo>
                  <a:pt x="9119" y="63832"/>
                </a:lnTo>
                <a:cubicBezTo>
                  <a:pt x="4075" y="63832"/>
                  <a:pt x="0" y="67907"/>
                  <a:pt x="0" y="72951"/>
                </a:cubicBezTo>
                <a:cubicBezTo>
                  <a:pt x="0" y="77995"/>
                  <a:pt x="4075" y="82070"/>
                  <a:pt x="9119" y="82070"/>
                </a:cubicBezTo>
                <a:lnTo>
                  <a:pt x="114756" y="82070"/>
                </a:lnTo>
                <a:lnTo>
                  <a:pt x="84720" y="112106"/>
                </a:lnTo>
                <a:cubicBezTo>
                  <a:pt x="81158" y="115668"/>
                  <a:pt x="81158" y="121453"/>
                  <a:pt x="84720" y="125015"/>
                </a:cubicBezTo>
                <a:cubicBezTo>
                  <a:pt x="88283" y="128577"/>
                  <a:pt x="94067" y="128577"/>
                  <a:pt x="97629" y="125015"/>
                </a:cubicBezTo>
                <a:lnTo>
                  <a:pt x="143224" y="79420"/>
                </a:ln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39" name="Text 36"/>
          <p:cNvSpPr/>
          <p:nvPr/>
        </p:nvSpPr>
        <p:spPr>
          <a:xfrm>
            <a:off x="6679041" y="2907115"/>
            <a:ext cx="1066230" cy="167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压制标普500指数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223095" y="3446953"/>
            <a:ext cx="5599019" cy="1914974"/>
          </a:xfrm>
          <a:custGeom>
            <a:avLst/>
            <a:gdLst/>
            <a:ahLst/>
            <a:cxnLst/>
            <a:rect l="l" t="t" r="r" b="b"/>
            <a:pathLst>
              <a:path w="5599019" h="1914974">
                <a:moveTo>
                  <a:pt x="36476" y="0"/>
                </a:moveTo>
                <a:lnTo>
                  <a:pt x="5489597" y="0"/>
                </a:lnTo>
                <a:cubicBezTo>
                  <a:pt x="5550029" y="0"/>
                  <a:pt x="5599019" y="48990"/>
                  <a:pt x="5599019" y="109422"/>
                </a:cubicBezTo>
                <a:lnTo>
                  <a:pt x="5599019" y="1805552"/>
                </a:lnTo>
                <a:cubicBezTo>
                  <a:pt x="5599019" y="1865984"/>
                  <a:pt x="5550029" y="1914974"/>
                  <a:pt x="5489597" y="1914974"/>
                </a:cubicBezTo>
                <a:lnTo>
                  <a:pt x="36476" y="1914974"/>
                </a:lnTo>
                <a:cubicBezTo>
                  <a:pt x="16331" y="1914974"/>
                  <a:pt x="0" y="1898643"/>
                  <a:pt x="0" y="1878498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4714" dist="3647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223095" y="3446953"/>
            <a:ext cx="36476" cy="1914974"/>
          </a:xfrm>
          <a:custGeom>
            <a:avLst/>
            <a:gdLst/>
            <a:ahLst/>
            <a:cxnLst/>
            <a:rect l="l" t="t" r="r" b="b"/>
            <a:pathLst>
              <a:path w="36476" h="1914974">
                <a:moveTo>
                  <a:pt x="36476" y="0"/>
                </a:moveTo>
                <a:lnTo>
                  <a:pt x="36476" y="0"/>
                </a:lnTo>
                <a:lnTo>
                  <a:pt x="36476" y="1914974"/>
                </a:lnTo>
                <a:lnTo>
                  <a:pt x="36476" y="1914974"/>
                </a:lnTo>
                <a:cubicBezTo>
                  <a:pt x="16331" y="1914974"/>
                  <a:pt x="0" y="1898643"/>
                  <a:pt x="0" y="1878498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42" name="Shape 39"/>
          <p:cNvSpPr/>
          <p:nvPr/>
        </p:nvSpPr>
        <p:spPr>
          <a:xfrm>
            <a:off x="6423711" y="3629331"/>
            <a:ext cx="364757" cy="364757"/>
          </a:xfrm>
          <a:custGeom>
            <a:avLst/>
            <a:gdLst/>
            <a:ahLst/>
            <a:cxnLst/>
            <a:rect l="l" t="t" r="r" b="b"/>
            <a:pathLst>
              <a:path w="364757" h="364757">
                <a:moveTo>
                  <a:pt x="72951" y="0"/>
                </a:moveTo>
                <a:lnTo>
                  <a:pt x="291806" y="0"/>
                </a:lnTo>
                <a:cubicBezTo>
                  <a:pt x="332095" y="0"/>
                  <a:pt x="364757" y="32661"/>
                  <a:pt x="364757" y="72951"/>
                </a:cubicBezTo>
                <a:lnTo>
                  <a:pt x="364757" y="291806"/>
                </a:lnTo>
                <a:cubicBezTo>
                  <a:pt x="364757" y="332095"/>
                  <a:pt x="332095" y="364757"/>
                  <a:pt x="291806" y="364757"/>
                </a:cubicBezTo>
                <a:lnTo>
                  <a:pt x="72951" y="364757"/>
                </a:lnTo>
                <a:cubicBezTo>
                  <a:pt x="32661" y="364757"/>
                  <a:pt x="0" y="332095"/>
                  <a:pt x="0" y="291806"/>
                </a:cubicBezTo>
                <a:lnTo>
                  <a:pt x="0" y="72951"/>
                </a:lnTo>
                <a:cubicBezTo>
                  <a:pt x="0" y="32661"/>
                  <a:pt x="32661" y="0"/>
                  <a:pt x="72951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43" name="Shape 40"/>
          <p:cNvSpPr/>
          <p:nvPr/>
        </p:nvSpPr>
        <p:spPr>
          <a:xfrm>
            <a:off x="6536558" y="3729639"/>
            <a:ext cx="143623" cy="164141"/>
          </a:xfrm>
          <a:custGeom>
            <a:avLst/>
            <a:gdLst/>
            <a:ahLst/>
            <a:cxnLst/>
            <a:rect l="l" t="t" r="r" b="b"/>
            <a:pathLst>
              <a:path w="143623" h="164141">
                <a:moveTo>
                  <a:pt x="53859" y="10259"/>
                </a:moveTo>
                <a:lnTo>
                  <a:pt x="7694" y="10259"/>
                </a:lnTo>
                <a:cubicBezTo>
                  <a:pt x="3430" y="10259"/>
                  <a:pt x="0" y="13689"/>
                  <a:pt x="0" y="17953"/>
                </a:cubicBezTo>
                <a:lnTo>
                  <a:pt x="0" y="64117"/>
                </a:lnTo>
                <a:cubicBezTo>
                  <a:pt x="0" y="67227"/>
                  <a:pt x="1859" y="70048"/>
                  <a:pt x="4745" y="71234"/>
                </a:cubicBezTo>
                <a:cubicBezTo>
                  <a:pt x="7630" y="72421"/>
                  <a:pt x="10932" y="71747"/>
                  <a:pt x="13144" y="69567"/>
                </a:cubicBezTo>
                <a:lnTo>
                  <a:pt x="25968" y="56744"/>
                </a:lnTo>
                <a:lnTo>
                  <a:pt x="51294" y="82070"/>
                </a:lnTo>
                <a:lnTo>
                  <a:pt x="25968" y="107397"/>
                </a:lnTo>
                <a:lnTo>
                  <a:pt x="13144" y="94573"/>
                </a:lnTo>
                <a:cubicBezTo>
                  <a:pt x="10932" y="92361"/>
                  <a:pt x="7630" y="91720"/>
                  <a:pt x="4745" y="92906"/>
                </a:cubicBezTo>
                <a:cubicBezTo>
                  <a:pt x="1859" y="94092"/>
                  <a:pt x="0" y="96913"/>
                  <a:pt x="0" y="100023"/>
                </a:cubicBezTo>
                <a:lnTo>
                  <a:pt x="0" y="146188"/>
                </a:lnTo>
                <a:cubicBezTo>
                  <a:pt x="0" y="150452"/>
                  <a:pt x="3430" y="153882"/>
                  <a:pt x="7694" y="153882"/>
                </a:cubicBezTo>
                <a:lnTo>
                  <a:pt x="53859" y="153882"/>
                </a:lnTo>
                <a:cubicBezTo>
                  <a:pt x="56968" y="153882"/>
                  <a:pt x="59790" y="152022"/>
                  <a:pt x="60976" y="149137"/>
                </a:cubicBezTo>
                <a:cubicBezTo>
                  <a:pt x="62162" y="146252"/>
                  <a:pt x="61521" y="142950"/>
                  <a:pt x="59309" y="140738"/>
                </a:cubicBezTo>
                <a:lnTo>
                  <a:pt x="46485" y="127914"/>
                </a:lnTo>
                <a:lnTo>
                  <a:pt x="71812" y="102588"/>
                </a:lnTo>
                <a:lnTo>
                  <a:pt x="97138" y="127914"/>
                </a:lnTo>
                <a:lnTo>
                  <a:pt x="84314" y="140738"/>
                </a:lnTo>
                <a:cubicBezTo>
                  <a:pt x="82102" y="142950"/>
                  <a:pt x="81461" y="146252"/>
                  <a:pt x="82647" y="149137"/>
                </a:cubicBezTo>
                <a:cubicBezTo>
                  <a:pt x="83834" y="152022"/>
                  <a:pt x="86655" y="153882"/>
                  <a:pt x="89764" y="153882"/>
                </a:cubicBezTo>
                <a:lnTo>
                  <a:pt x="135929" y="153882"/>
                </a:lnTo>
                <a:cubicBezTo>
                  <a:pt x="140193" y="153882"/>
                  <a:pt x="143623" y="150452"/>
                  <a:pt x="143623" y="146188"/>
                </a:cubicBezTo>
                <a:lnTo>
                  <a:pt x="143623" y="100023"/>
                </a:lnTo>
                <a:cubicBezTo>
                  <a:pt x="143623" y="96913"/>
                  <a:pt x="141764" y="94092"/>
                  <a:pt x="138878" y="92906"/>
                </a:cubicBezTo>
                <a:cubicBezTo>
                  <a:pt x="135993" y="91720"/>
                  <a:pt x="132691" y="92361"/>
                  <a:pt x="130479" y="94573"/>
                </a:cubicBezTo>
                <a:lnTo>
                  <a:pt x="117655" y="107397"/>
                </a:lnTo>
                <a:lnTo>
                  <a:pt x="92329" y="82070"/>
                </a:lnTo>
                <a:lnTo>
                  <a:pt x="117655" y="56744"/>
                </a:lnTo>
                <a:lnTo>
                  <a:pt x="130479" y="69567"/>
                </a:lnTo>
                <a:cubicBezTo>
                  <a:pt x="132691" y="71779"/>
                  <a:pt x="135993" y="72421"/>
                  <a:pt x="138878" y="71234"/>
                </a:cubicBezTo>
                <a:cubicBezTo>
                  <a:pt x="141764" y="70048"/>
                  <a:pt x="143623" y="67227"/>
                  <a:pt x="143623" y="64117"/>
                </a:cubicBezTo>
                <a:lnTo>
                  <a:pt x="143623" y="17953"/>
                </a:lnTo>
                <a:cubicBezTo>
                  <a:pt x="143623" y="13689"/>
                  <a:pt x="140193" y="10259"/>
                  <a:pt x="135929" y="10259"/>
                </a:cubicBezTo>
                <a:lnTo>
                  <a:pt x="89764" y="10259"/>
                </a:lnTo>
                <a:cubicBezTo>
                  <a:pt x="86655" y="10259"/>
                  <a:pt x="83834" y="12118"/>
                  <a:pt x="82647" y="15003"/>
                </a:cubicBezTo>
                <a:cubicBezTo>
                  <a:pt x="81461" y="17889"/>
                  <a:pt x="82134" y="21191"/>
                  <a:pt x="84314" y="23403"/>
                </a:cubicBezTo>
                <a:lnTo>
                  <a:pt x="97138" y="36226"/>
                </a:lnTo>
                <a:lnTo>
                  <a:pt x="71812" y="61553"/>
                </a:lnTo>
                <a:lnTo>
                  <a:pt x="46485" y="36226"/>
                </a:lnTo>
                <a:lnTo>
                  <a:pt x="59309" y="23403"/>
                </a:lnTo>
                <a:cubicBezTo>
                  <a:pt x="61521" y="21191"/>
                  <a:pt x="62162" y="17889"/>
                  <a:pt x="60976" y="15003"/>
                </a:cubicBezTo>
                <a:cubicBezTo>
                  <a:pt x="59790" y="12118"/>
                  <a:pt x="56968" y="10259"/>
                  <a:pt x="53859" y="102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6897895" y="3684045"/>
            <a:ext cx="820703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释放效应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423711" y="4139991"/>
            <a:ext cx="5288975" cy="237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当政府</a:t>
            </a:r>
            <a:r>
              <a:rPr lang="en-US" sz="1149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增加支出</a:t>
            </a:r>
            <a:r>
              <a:rPr lang="en-US" sz="1149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（TGA余额下降）时：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441949" y="4522986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43224" y="79392"/>
                </a:moveTo>
                <a:cubicBezTo>
                  <a:pt x="146786" y="75830"/>
                  <a:pt x="146786" y="70045"/>
                  <a:pt x="143224" y="66483"/>
                </a:cubicBezTo>
                <a:lnTo>
                  <a:pt x="97629" y="20888"/>
                </a:lnTo>
                <a:cubicBezTo>
                  <a:pt x="94067" y="17326"/>
                  <a:pt x="88283" y="17326"/>
                  <a:pt x="84720" y="20888"/>
                </a:cubicBezTo>
                <a:cubicBezTo>
                  <a:pt x="81158" y="24450"/>
                  <a:pt x="81158" y="30235"/>
                  <a:pt x="84720" y="33797"/>
                </a:cubicBezTo>
                <a:lnTo>
                  <a:pt x="114756" y="63832"/>
                </a:lnTo>
                <a:lnTo>
                  <a:pt x="9119" y="63832"/>
                </a:lnTo>
                <a:cubicBezTo>
                  <a:pt x="4075" y="63832"/>
                  <a:pt x="0" y="67907"/>
                  <a:pt x="0" y="72951"/>
                </a:cubicBezTo>
                <a:cubicBezTo>
                  <a:pt x="0" y="77995"/>
                  <a:pt x="4075" y="82070"/>
                  <a:pt x="9119" y="82070"/>
                </a:cubicBezTo>
                <a:lnTo>
                  <a:pt x="114756" y="82070"/>
                </a:lnTo>
                <a:lnTo>
                  <a:pt x="84720" y="112106"/>
                </a:lnTo>
                <a:cubicBezTo>
                  <a:pt x="81158" y="115668"/>
                  <a:pt x="81158" y="121453"/>
                  <a:pt x="84720" y="125015"/>
                </a:cubicBezTo>
                <a:cubicBezTo>
                  <a:pt x="88283" y="128577"/>
                  <a:pt x="94067" y="128577"/>
                  <a:pt x="97629" y="125015"/>
                </a:cubicBezTo>
                <a:lnTo>
                  <a:pt x="143224" y="79420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47" name="Text 44"/>
          <p:cNvSpPr/>
          <p:nvPr/>
        </p:nvSpPr>
        <p:spPr>
          <a:xfrm>
            <a:off x="6679041" y="4486510"/>
            <a:ext cx="108515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资金回流银行体系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441949" y="4778316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43224" y="79392"/>
                </a:moveTo>
                <a:cubicBezTo>
                  <a:pt x="146786" y="75830"/>
                  <a:pt x="146786" y="70045"/>
                  <a:pt x="143224" y="66483"/>
                </a:cubicBezTo>
                <a:lnTo>
                  <a:pt x="97629" y="20888"/>
                </a:lnTo>
                <a:cubicBezTo>
                  <a:pt x="94067" y="17326"/>
                  <a:pt x="88283" y="17326"/>
                  <a:pt x="84720" y="20888"/>
                </a:cubicBezTo>
                <a:cubicBezTo>
                  <a:pt x="81158" y="24450"/>
                  <a:pt x="81158" y="30235"/>
                  <a:pt x="84720" y="33797"/>
                </a:cubicBezTo>
                <a:lnTo>
                  <a:pt x="114756" y="63832"/>
                </a:lnTo>
                <a:lnTo>
                  <a:pt x="9119" y="63832"/>
                </a:lnTo>
                <a:cubicBezTo>
                  <a:pt x="4075" y="63832"/>
                  <a:pt x="0" y="67907"/>
                  <a:pt x="0" y="72951"/>
                </a:cubicBezTo>
                <a:cubicBezTo>
                  <a:pt x="0" y="77995"/>
                  <a:pt x="4075" y="82070"/>
                  <a:pt x="9119" y="82070"/>
                </a:cubicBezTo>
                <a:lnTo>
                  <a:pt x="114756" y="82070"/>
                </a:lnTo>
                <a:lnTo>
                  <a:pt x="84720" y="112106"/>
                </a:lnTo>
                <a:cubicBezTo>
                  <a:pt x="81158" y="115668"/>
                  <a:pt x="81158" y="121453"/>
                  <a:pt x="84720" y="125015"/>
                </a:cubicBezTo>
                <a:cubicBezTo>
                  <a:pt x="88283" y="128577"/>
                  <a:pt x="94067" y="128577"/>
                  <a:pt x="97629" y="125015"/>
                </a:cubicBezTo>
                <a:lnTo>
                  <a:pt x="143224" y="79420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49" name="Text 46"/>
          <p:cNvSpPr/>
          <p:nvPr/>
        </p:nvSpPr>
        <p:spPr>
          <a:xfrm>
            <a:off x="6679041" y="4741840"/>
            <a:ext cx="103955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相当于变相"放水"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441949" y="5033645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43224" y="79392"/>
                </a:moveTo>
                <a:cubicBezTo>
                  <a:pt x="146786" y="75830"/>
                  <a:pt x="146786" y="70045"/>
                  <a:pt x="143224" y="66483"/>
                </a:cubicBezTo>
                <a:lnTo>
                  <a:pt x="97629" y="20888"/>
                </a:lnTo>
                <a:cubicBezTo>
                  <a:pt x="94067" y="17326"/>
                  <a:pt x="88283" y="17326"/>
                  <a:pt x="84720" y="20888"/>
                </a:cubicBezTo>
                <a:cubicBezTo>
                  <a:pt x="81158" y="24450"/>
                  <a:pt x="81158" y="30235"/>
                  <a:pt x="84720" y="33797"/>
                </a:cubicBezTo>
                <a:lnTo>
                  <a:pt x="114756" y="63832"/>
                </a:lnTo>
                <a:lnTo>
                  <a:pt x="9119" y="63832"/>
                </a:lnTo>
                <a:cubicBezTo>
                  <a:pt x="4075" y="63832"/>
                  <a:pt x="0" y="67907"/>
                  <a:pt x="0" y="72951"/>
                </a:cubicBezTo>
                <a:cubicBezTo>
                  <a:pt x="0" y="77995"/>
                  <a:pt x="4075" y="82070"/>
                  <a:pt x="9119" y="82070"/>
                </a:cubicBezTo>
                <a:lnTo>
                  <a:pt x="114756" y="82070"/>
                </a:lnTo>
                <a:lnTo>
                  <a:pt x="84720" y="112106"/>
                </a:lnTo>
                <a:cubicBezTo>
                  <a:pt x="81158" y="115668"/>
                  <a:pt x="81158" y="121453"/>
                  <a:pt x="84720" y="125015"/>
                </a:cubicBezTo>
                <a:cubicBezTo>
                  <a:pt x="88283" y="128577"/>
                  <a:pt x="94067" y="128577"/>
                  <a:pt x="97629" y="125015"/>
                </a:cubicBezTo>
                <a:lnTo>
                  <a:pt x="143224" y="79420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51" name="Text 48"/>
          <p:cNvSpPr/>
          <p:nvPr/>
        </p:nvSpPr>
        <p:spPr>
          <a:xfrm>
            <a:off x="6679041" y="5004468"/>
            <a:ext cx="829822" cy="167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推升风险资产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364757" y="5544305"/>
            <a:ext cx="11462486" cy="948368"/>
          </a:xfrm>
          <a:custGeom>
            <a:avLst/>
            <a:gdLst/>
            <a:ahLst/>
            <a:cxnLst/>
            <a:rect l="l" t="t" r="r" b="b"/>
            <a:pathLst>
              <a:path w="11462486" h="948368">
                <a:moveTo>
                  <a:pt x="109423" y="0"/>
                </a:moveTo>
                <a:lnTo>
                  <a:pt x="11353063" y="0"/>
                </a:lnTo>
                <a:cubicBezTo>
                  <a:pt x="11413455" y="0"/>
                  <a:pt x="11462486" y="49031"/>
                  <a:pt x="11462486" y="109423"/>
                </a:cubicBezTo>
                <a:lnTo>
                  <a:pt x="11462486" y="838945"/>
                </a:lnTo>
                <a:cubicBezTo>
                  <a:pt x="11462486" y="899337"/>
                  <a:pt x="11413455" y="948368"/>
                  <a:pt x="11353063" y="948368"/>
                </a:cubicBezTo>
                <a:lnTo>
                  <a:pt x="109423" y="948368"/>
                </a:lnTo>
                <a:cubicBezTo>
                  <a:pt x="49031" y="948368"/>
                  <a:pt x="0" y="899337"/>
                  <a:pt x="0" y="838945"/>
                </a:cubicBezTo>
                <a:lnTo>
                  <a:pt x="0" y="109423"/>
                </a:lnTo>
                <a:cubicBezTo>
                  <a:pt x="0" y="49031"/>
                  <a:pt x="49031" y="0"/>
                  <a:pt x="109423" y="0"/>
                </a:cubicBezTo>
                <a:close/>
              </a:path>
            </a:pathLst>
          </a:custGeom>
          <a:gradFill flip="none" rotWithShape="1">
            <a:gsLst>
              <a:gs pos="0">
                <a:srgbClr val="7C1D56"/>
              </a:gs>
              <a:gs pos="100000">
                <a:srgbClr val="A95EAF"/>
              </a:gs>
            </a:gsLst>
            <a:lin ang="0" scaled="1"/>
          </a:gradFill>
          <a:ln/>
          <a:effectLst>
            <a:outerShdw blurRad="136784" dist="9118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547135" y="5799635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109427" y="0"/>
                </a:moveTo>
                <a:lnTo>
                  <a:pt x="328281" y="0"/>
                </a:lnTo>
                <a:cubicBezTo>
                  <a:pt x="388676" y="0"/>
                  <a:pt x="437708" y="49033"/>
                  <a:pt x="437708" y="109427"/>
                </a:cubicBezTo>
                <a:lnTo>
                  <a:pt x="437708" y="328281"/>
                </a:lnTo>
                <a:cubicBezTo>
                  <a:pt x="437708" y="388716"/>
                  <a:pt x="388716" y="437708"/>
                  <a:pt x="328281" y="437708"/>
                </a:cubicBezTo>
                <a:lnTo>
                  <a:pt x="109427" y="437708"/>
                </a:lnTo>
                <a:cubicBezTo>
                  <a:pt x="49033" y="437708"/>
                  <a:pt x="0" y="388676"/>
                  <a:pt x="0" y="328281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56562" y="5909062"/>
            <a:ext cx="218854" cy="218854"/>
          </a:xfrm>
          <a:custGeom>
            <a:avLst/>
            <a:gdLst/>
            <a:ahLst/>
            <a:cxnLst/>
            <a:rect l="l" t="t" r="r" b="b"/>
            <a:pathLst>
              <a:path w="218854" h="218854">
                <a:moveTo>
                  <a:pt x="191497" y="109427"/>
                </a:moveTo>
                <a:cubicBezTo>
                  <a:pt x="191497" y="64131"/>
                  <a:pt x="154723" y="27357"/>
                  <a:pt x="109427" y="27357"/>
                </a:cubicBezTo>
                <a:cubicBezTo>
                  <a:pt x="64131" y="27357"/>
                  <a:pt x="27357" y="64131"/>
                  <a:pt x="27357" y="109427"/>
                </a:cubicBezTo>
                <a:cubicBezTo>
                  <a:pt x="27357" y="154723"/>
                  <a:pt x="64131" y="191497"/>
                  <a:pt x="109427" y="191497"/>
                </a:cubicBezTo>
                <a:cubicBezTo>
                  <a:pt x="154723" y="191497"/>
                  <a:pt x="191497" y="154723"/>
                  <a:pt x="191497" y="109427"/>
                </a:cubicBezTo>
                <a:close/>
                <a:moveTo>
                  <a:pt x="0" y="109427"/>
                </a:moveTo>
                <a:cubicBezTo>
                  <a:pt x="0" y="49033"/>
                  <a:pt x="49033" y="0"/>
                  <a:pt x="109427" y="0"/>
                </a:cubicBezTo>
                <a:cubicBezTo>
                  <a:pt x="169822" y="0"/>
                  <a:pt x="218854" y="49033"/>
                  <a:pt x="218854" y="109427"/>
                </a:cubicBezTo>
                <a:cubicBezTo>
                  <a:pt x="218854" y="169822"/>
                  <a:pt x="169822" y="218854"/>
                  <a:pt x="109427" y="218854"/>
                </a:cubicBezTo>
                <a:cubicBezTo>
                  <a:pt x="49033" y="218854"/>
                  <a:pt x="0" y="169822"/>
                  <a:pt x="0" y="109427"/>
                </a:cubicBezTo>
                <a:close/>
                <a:moveTo>
                  <a:pt x="109427" y="143623"/>
                </a:moveTo>
                <a:cubicBezTo>
                  <a:pt x="128300" y="143623"/>
                  <a:pt x="143623" y="128300"/>
                  <a:pt x="143623" y="109427"/>
                </a:cubicBezTo>
                <a:cubicBezTo>
                  <a:pt x="143623" y="90554"/>
                  <a:pt x="128300" y="75231"/>
                  <a:pt x="109427" y="75231"/>
                </a:cubicBezTo>
                <a:cubicBezTo>
                  <a:pt x="90554" y="75231"/>
                  <a:pt x="75231" y="90554"/>
                  <a:pt x="75231" y="109427"/>
                </a:cubicBezTo>
                <a:cubicBezTo>
                  <a:pt x="75231" y="128300"/>
                  <a:pt x="90554" y="143623"/>
                  <a:pt x="109427" y="143623"/>
                </a:cubicBezTo>
                <a:close/>
                <a:moveTo>
                  <a:pt x="109427" y="47874"/>
                </a:moveTo>
                <a:cubicBezTo>
                  <a:pt x="143399" y="47874"/>
                  <a:pt x="170980" y="75455"/>
                  <a:pt x="170980" y="109427"/>
                </a:cubicBezTo>
                <a:cubicBezTo>
                  <a:pt x="170980" y="143399"/>
                  <a:pt x="143399" y="170980"/>
                  <a:pt x="109427" y="170980"/>
                </a:cubicBezTo>
                <a:cubicBezTo>
                  <a:pt x="75455" y="170980"/>
                  <a:pt x="47874" y="143399"/>
                  <a:pt x="47874" y="109427"/>
                </a:cubicBezTo>
                <a:cubicBezTo>
                  <a:pt x="47874" y="75455"/>
                  <a:pt x="75455" y="47874"/>
                  <a:pt x="109427" y="47874"/>
                </a:cubicBezTo>
                <a:close/>
                <a:moveTo>
                  <a:pt x="95749" y="109427"/>
                </a:moveTo>
                <a:cubicBezTo>
                  <a:pt x="95749" y="101878"/>
                  <a:pt x="101878" y="95749"/>
                  <a:pt x="109427" y="95749"/>
                </a:cubicBezTo>
                <a:cubicBezTo>
                  <a:pt x="116976" y="95749"/>
                  <a:pt x="123105" y="101878"/>
                  <a:pt x="123105" y="109427"/>
                </a:cubicBezTo>
                <a:cubicBezTo>
                  <a:pt x="123105" y="116976"/>
                  <a:pt x="116976" y="123105"/>
                  <a:pt x="109427" y="123105"/>
                </a:cubicBezTo>
                <a:cubicBezTo>
                  <a:pt x="101878" y="123105"/>
                  <a:pt x="95749" y="116976"/>
                  <a:pt x="95749" y="10942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1130746" y="5735803"/>
            <a:ext cx="950191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2026年监控点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130746" y="6064084"/>
            <a:ext cx="9483680" cy="237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关注季度末财政部的</a:t>
            </a:r>
            <a:r>
              <a:rPr lang="en-US" sz="114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目标余额（8500亿美金）</a:t>
            </a:r>
            <a:r>
              <a:rPr lang="en-US" sz="114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。如果TGA高位回落且逆回购（RRP）垫底，这往往是</a:t>
            </a:r>
            <a:r>
              <a:rPr lang="en-US" sz="114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美股的一波潜在涨幅</a:t>
            </a:r>
            <a:r>
              <a:rPr lang="en-US" sz="1149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10654778" y="5726684"/>
            <a:ext cx="102131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目标余额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10604624" y="5945538"/>
            <a:ext cx="1121628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8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8500</a:t>
            </a:r>
            <a:r>
              <a:rPr lang="en-US" sz="1436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pic>
        <p:nvPicPr>
          <p:cNvPr id="3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2116" y="352116"/>
            <a:ext cx="11558192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kern="0" spc="55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MAGNIFICENT SEVEN PERFORMANCE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52116" y="633808"/>
            <a:ext cx="11646221" cy="35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5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Mag 7业绩成色：从"增长驱动"到"回报驱动"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52116" y="1091558"/>
            <a:ext cx="845077" cy="35212"/>
          </a:xfrm>
          <a:custGeom>
            <a:avLst/>
            <a:gdLst/>
            <a:ahLst/>
            <a:cxnLst/>
            <a:rect l="l" t="t" r="r" b="b"/>
            <a:pathLst>
              <a:path w="845077" h="35212">
                <a:moveTo>
                  <a:pt x="0" y="0"/>
                </a:moveTo>
                <a:lnTo>
                  <a:pt x="845077" y="0"/>
                </a:lnTo>
                <a:lnTo>
                  <a:pt x="845077" y="35212"/>
                </a:lnTo>
                <a:lnTo>
                  <a:pt x="0" y="3521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352116" y="1302827"/>
            <a:ext cx="7596892" cy="2024664"/>
          </a:xfrm>
          <a:custGeom>
            <a:avLst/>
            <a:gdLst/>
            <a:ahLst/>
            <a:cxnLst/>
            <a:rect l="l" t="t" r="r" b="b"/>
            <a:pathLst>
              <a:path w="7596892" h="2024664">
                <a:moveTo>
                  <a:pt x="105627" y="0"/>
                </a:moveTo>
                <a:lnTo>
                  <a:pt x="7491266" y="0"/>
                </a:lnTo>
                <a:cubicBezTo>
                  <a:pt x="7549602" y="0"/>
                  <a:pt x="7596892" y="47291"/>
                  <a:pt x="7596892" y="105627"/>
                </a:cubicBezTo>
                <a:lnTo>
                  <a:pt x="7596892" y="1919038"/>
                </a:lnTo>
                <a:cubicBezTo>
                  <a:pt x="7596892" y="1977374"/>
                  <a:pt x="7549602" y="2024664"/>
                  <a:pt x="7491266" y="2024664"/>
                </a:cubicBezTo>
                <a:lnTo>
                  <a:pt x="105627" y="2024664"/>
                </a:lnTo>
                <a:cubicBezTo>
                  <a:pt x="47291" y="2024664"/>
                  <a:pt x="0" y="1977374"/>
                  <a:pt x="0" y="1919038"/>
                </a:cubicBezTo>
                <a:lnTo>
                  <a:pt x="0" y="105627"/>
                </a:lnTo>
                <a:cubicBezTo>
                  <a:pt x="0" y="47291"/>
                  <a:pt x="47291" y="0"/>
                  <a:pt x="10562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817" dist="352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28173" y="1478885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70423" y="0"/>
                </a:moveTo>
                <a:lnTo>
                  <a:pt x="281692" y="0"/>
                </a:lnTo>
                <a:cubicBezTo>
                  <a:pt x="320586" y="0"/>
                  <a:pt x="352116" y="31529"/>
                  <a:pt x="352116" y="70423"/>
                </a:cubicBezTo>
                <a:lnTo>
                  <a:pt x="352116" y="281692"/>
                </a:lnTo>
                <a:cubicBezTo>
                  <a:pt x="352116" y="320586"/>
                  <a:pt x="320586" y="352116"/>
                  <a:pt x="281692" y="352116"/>
                </a:cubicBezTo>
                <a:lnTo>
                  <a:pt x="70423" y="352116"/>
                </a:lnTo>
                <a:cubicBezTo>
                  <a:pt x="31529" y="352116"/>
                  <a:pt x="0" y="320586"/>
                  <a:pt x="0" y="281692"/>
                </a:cubicBezTo>
                <a:lnTo>
                  <a:pt x="0" y="70423"/>
                </a:lnTo>
                <a:cubicBezTo>
                  <a:pt x="0" y="31556"/>
                  <a:pt x="31556" y="0"/>
                  <a:pt x="70423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9" name="Shape 6"/>
          <p:cNvSpPr/>
          <p:nvPr/>
        </p:nvSpPr>
        <p:spPr>
          <a:xfrm>
            <a:off x="627206" y="1575717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>
                <a:moveTo>
                  <a:pt x="37137" y="17331"/>
                </a:moveTo>
                <a:cubicBezTo>
                  <a:pt x="37137" y="7768"/>
                  <a:pt x="44905" y="0"/>
                  <a:pt x="54468" y="0"/>
                </a:cubicBezTo>
                <a:lnTo>
                  <a:pt x="61895" y="0"/>
                </a:lnTo>
                <a:cubicBezTo>
                  <a:pt x="67373" y="0"/>
                  <a:pt x="71799" y="4426"/>
                  <a:pt x="71799" y="9903"/>
                </a:cubicBezTo>
                <a:lnTo>
                  <a:pt x="71799" y="148549"/>
                </a:lnTo>
                <a:cubicBezTo>
                  <a:pt x="71799" y="154026"/>
                  <a:pt x="67373" y="158452"/>
                  <a:pt x="61895" y="158452"/>
                </a:cubicBezTo>
                <a:lnTo>
                  <a:pt x="51992" y="158452"/>
                </a:lnTo>
                <a:cubicBezTo>
                  <a:pt x="42770" y="158452"/>
                  <a:pt x="35002" y="152139"/>
                  <a:pt x="32805" y="143597"/>
                </a:cubicBezTo>
                <a:cubicBezTo>
                  <a:pt x="32588" y="143597"/>
                  <a:pt x="32402" y="143597"/>
                  <a:pt x="32186" y="143597"/>
                </a:cubicBezTo>
                <a:cubicBezTo>
                  <a:pt x="18507" y="143597"/>
                  <a:pt x="7427" y="132518"/>
                  <a:pt x="7427" y="118839"/>
                </a:cubicBezTo>
                <a:cubicBezTo>
                  <a:pt x="7427" y="113268"/>
                  <a:pt x="9284" y="108131"/>
                  <a:pt x="12379" y="103984"/>
                </a:cubicBezTo>
                <a:cubicBezTo>
                  <a:pt x="6375" y="99466"/>
                  <a:pt x="2476" y="92286"/>
                  <a:pt x="2476" y="84178"/>
                </a:cubicBezTo>
                <a:cubicBezTo>
                  <a:pt x="2476" y="74615"/>
                  <a:pt x="7923" y="66290"/>
                  <a:pt x="15845" y="62174"/>
                </a:cubicBezTo>
                <a:cubicBezTo>
                  <a:pt x="13648" y="58460"/>
                  <a:pt x="12379" y="54127"/>
                  <a:pt x="12379" y="49516"/>
                </a:cubicBezTo>
                <a:cubicBezTo>
                  <a:pt x="12379" y="35837"/>
                  <a:pt x="23458" y="24758"/>
                  <a:pt x="37137" y="24758"/>
                </a:cubicBezTo>
                <a:lnTo>
                  <a:pt x="37137" y="17331"/>
                </a:lnTo>
                <a:close/>
                <a:moveTo>
                  <a:pt x="121315" y="17331"/>
                </a:moveTo>
                <a:lnTo>
                  <a:pt x="121315" y="24758"/>
                </a:lnTo>
                <a:cubicBezTo>
                  <a:pt x="134994" y="24758"/>
                  <a:pt x="146073" y="35837"/>
                  <a:pt x="146073" y="49516"/>
                </a:cubicBezTo>
                <a:cubicBezTo>
                  <a:pt x="146073" y="54158"/>
                  <a:pt x="144804" y="58491"/>
                  <a:pt x="142607" y="62174"/>
                </a:cubicBezTo>
                <a:cubicBezTo>
                  <a:pt x="150560" y="66290"/>
                  <a:pt x="155976" y="74584"/>
                  <a:pt x="155976" y="84178"/>
                </a:cubicBezTo>
                <a:cubicBezTo>
                  <a:pt x="155976" y="92286"/>
                  <a:pt x="152077" y="99466"/>
                  <a:pt x="146073" y="103984"/>
                </a:cubicBezTo>
                <a:cubicBezTo>
                  <a:pt x="149168" y="108131"/>
                  <a:pt x="151025" y="113268"/>
                  <a:pt x="151025" y="118839"/>
                </a:cubicBezTo>
                <a:cubicBezTo>
                  <a:pt x="151025" y="132518"/>
                  <a:pt x="139945" y="143597"/>
                  <a:pt x="126266" y="143597"/>
                </a:cubicBezTo>
                <a:cubicBezTo>
                  <a:pt x="126050" y="143597"/>
                  <a:pt x="125864" y="143597"/>
                  <a:pt x="125647" y="143597"/>
                </a:cubicBezTo>
                <a:cubicBezTo>
                  <a:pt x="123450" y="152139"/>
                  <a:pt x="115682" y="158452"/>
                  <a:pt x="106460" y="158452"/>
                </a:cubicBezTo>
                <a:lnTo>
                  <a:pt x="96557" y="158452"/>
                </a:lnTo>
                <a:cubicBezTo>
                  <a:pt x="91079" y="158452"/>
                  <a:pt x="86653" y="154026"/>
                  <a:pt x="86653" y="148549"/>
                </a:cubicBezTo>
                <a:lnTo>
                  <a:pt x="86653" y="9903"/>
                </a:lnTo>
                <a:cubicBezTo>
                  <a:pt x="86653" y="4426"/>
                  <a:pt x="91079" y="0"/>
                  <a:pt x="96557" y="0"/>
                </a:cubicBezTo>
                <a:lnTo>
                  <a:pt x="103984" y="0"/>
                </a:lnTo>
                <a:cubicBezTo>
                  <a:pt x="113547" y="0"/>
                  <a:pt x="121315" y="7768"/>
                  <a:pt x="121315" y="173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85923" y="1531703"/>
            <a:ext cx="233276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AI资本开支的回报率（ROI）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28173" y="1971847"/>
            <a:ext cx="7315200" cy="228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b="1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2026年关键问题：</a:t>
            </a:r>
            <a:r>
              <a:rPr lang="en-US" sz="1109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AI投入是否真正转化为</a:t>
            </a:r>
            <a:r>
              <a:rPr lang="en-US" sz="1109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利润增长</a:t>
            </a:r>
            <a:r>
              <a:rPr lang="en-US" sz="1109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，而非仅仅是营收增长？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28173" y="2306357"/>
            <a:ext cx="2341568" cy="845077"/>
          </a:xfrm>
          <a:custGeom>
            <a:avLst/>
            <a:gdLst/>
            <a:ahLst/>
            <a:cxnLst/>
            <a:rect l="l" t="t" r="r" b="b"/>
            <a:pathLst>
              <a:path w="2341568" h="845077">
                <a:moveTo>
                  <a:pt x="70420" y="0"/>
                </a:moveTo>
                <a:lnTo>
                  <a:pt x="2271148" y="0"/>
                </a:lnTo>
                <a:cubicBezTo>
                  <a:pt x="2310040" y="0"/>
                  <a:pt x="2341568" y="31528"/>
                  <a:pt x="2341568" y="70420"/>
                </a:cubicBezTo>
                <a:lnTo>
                  <a:pt x="2341568" y="774657"/>
                </a:lnTo>
                <a:cubicBezTo>
                  <a:pt x="2341568" y="813549"/>
                  <a:pt x="2310040" y="845077"/>
                  <a:pt x="2271148" y="845077"/>
                </a:cubicBezTo>
                <a:lnTo>
                  <a:pt x="70420" y="845077"/>
                </a:lnTo>
                <a:cubicBezTo>
                  <a:pt x="31528" y="845077"/>
                  <a:pt x="0" y="813549"/>
                  <a:pt x="0" y="774657"/>
                </a:cubicBezTo>
                <a:lnTo>
                  <a:pt x="0" y="70420"/>
                </a:lnTo>
                <a:cubicBezTo>
                  <a:pt x="0" y="31528"/>
                  <a:pt x="31528" y="0"/>
                  <a:pt x="70420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608288" y="2411991"/>
            <a:ext cx="184861" cy="211269"/>
          </a:xfrm>
          <a:custGeom>
            <a:avLst/>
            <a:gdLst/>
            <a:ahLst/>
            <a:cxnLst/>
            <a:rect l="l" t="t" r="r" b="b"/>
            <a:pathLst>
              <a:path w="184861" h="211269">
                <a:moveTo>
                  <a:pt x="0" y="13204"/>
                </a:moveTo>
                <a:lnTo>
                  <a:pt x="88552" y="13204"/>
                </a:lnTo>
                <a:lnTo>
                  <a:pt x="88552" y="101756"/>
                </a:lnTo>
                <a:lnTo>
                  <a:pt x="0" y="101756"/>
                </a:lnTo>
                <a:lnTo>
                  <a:pt x="0" y="13204"/>
                </a:lnTo>
                <a:close/>
                <a:moveTo>
                  <a:pt x="96309" y="13204"/>
                </a:moveTo>
                <a:lnTo>
                  <a:pt x="184861" y="13204"/>
                </a:lnTo>
                <a:lnTo>
                  <a:pt x="184861" y="101756"/>
                </a:lnTo>
                <a:lnTo>
                  <a:pt x="96309" y="101756"/>
                </a:lnTo>
                <a:lnTo>
                  <a:pt x="96309" y="13204"/>
                </a:lnTo>
                <a:close/>
                <a:moveTo>
                  <a:pt x="0" y="109513"/>
                </a:moveTo>
                <a:lnTo>
                  <a:pt x="88552" y="109513"/>
                </a:lnTo>
                <a:lnTo>
                  <a:pt x="88552" y="198065"/>
                </a:lnTo>
                <a:lnTo>
                  <a:pt x="0" y="198065"/>
                </a:lnTo>
                <a:lnTo>
                  <a:pt x="0" y="109513"/>
                </a:lnTo>
                <a:close/>
                <a:moveTo>
                  <a:pt x="96309" y="109513"/>
                </a:moveTo>
                <a:lnTo>
                  <a:pt x="184861" y="109513"/>
                </a:lnTo>
                <a:lnTo>
                  <a:pt x="184861" y="198065"/>
                </a:lnTo>
                <a:lnTo>
                  <a:pt x="96309" y="198065"/>
                </a:lnTo>
                <a:lnTo>
                  <a:pt x="96309" y="109513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4" name="Text 11"/>
          <p:cNvSpPr/>
          <p:nvPr/>
        </p:nvSpPr>
        <p:spPr>
          <a:xfrm>
            <a:off x="602998" y="2693684"/>
            <a:ext cx="219191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Microsoft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7399" y="2904953"/>
            <a:ext cx="2183116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2" dirty="0">
                <a:solidFill>
                  <a:srgbClr val="3C354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Azure AI收入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979007" y="2306357"/>
            <a:ext cx="2341568" cy="845077"/>
          </a:xfrm>
          <a:custGeom>
            <a:avLst/>
            <a:gdLst/>
            <a:ahLst/>
            <a:cxnLst/>
            <a:rect l="l" t="t" r="r" b="b"/>
            <a:pathLst>
              <a:path w="2341568" h="845077">
                <a:moveTo>
                  <a:pt x="70420" y="0"/>
                </a:moveTo>
                <a:lnTo>
                  <a:pt x="2271148" y="0"/>
                </a:lnTo>
                <a:cubicBezTo>
                  <a:pt x="2310040" y="0"/>
                  <a:pt x="2341568" y="31528"/>
                  <a:pt x="2341568" y="70420"/>
                </a:cubicBezTo>
                <a:lnTo>
                  <a:pt x="2341568" y="774657"/>
                </a:lnTo>
                <a:cubicBezTo>
                  <a:pt x="2341568" y="813549"/>
                  <a:pt x="2310040" y="845077"/>
                  <a:pt x="2271148" y="845077"/>
                </a:cubicBezTo>
                <a:lnTo>
                  <a:pt x="70420" y="845077"/>
                </a:lnTo>
                <a:cubicBezTo>
                  <a:pt x="31528" y="845077"/>
                  <a:pt x="0" y="813549"/>
                  <a:pt x="0" y="774657"/>
                </a:cubicBezTo>
                <a:lnTo>
                  <a:pt x="0" y="70420"/>
                </a:lnTo>
                <a:cubicBezTo>
                  <a:pt x="0" y="31528"/>
                  <a:pt x="31528" y="0"/>
                  <a:pt x="70420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045918" y="2411991"/>
            <a:ext cx="211269" cy="211269"/>
          </a:xfrm>
          <a:custGeom>
            <a:avLst/>
            <a:gdLst/>
            <a:ahLst/>
            <a:cxnLst/>
            <a:rect l="l" t="t" r="r" b="b"/>
            <a:pathLst>
              <a:path w="211269" h="211269">
                <a:moveTo>
                  <a:pt x="206318" y="108028"/>
                </a:moveTo>
                <a:cubicBezTo>
                  <a:pt x="206318" y="166416"/>
                  <a:pt x="166333" y="207968"/>
                  <a:pt x="107285" y="207968"/>
                </a:cubicBezTo>
                <a:cubicBezTo>
                  <a:pt x="50672" y="207968"/>
                  <a:pt x="4952" y="162248"/>
                  <a:pt x="4952" y="105635"/>
                </a:cubicBezTo>
                <a:cubicBezTo>
                  <a:pt x="4952" y="49021"/>
                  <a:pt x="50672" y="3301"/>
                  <a:pt x="107285" y="3301"/>
                </a:cubicBezTo>
                <a:cubicBezTo>
                  <a:pt x="134849" y="3301"/>
                  <a:pt x="158039" y="13411"/>
                  <a:pt x="175906" y="30081"/>
                </a:cubicBezTo>
                <a:lnTo>
                  <a:pt x="148054" y="56861"/>
                </a:lnTo>
                <a:cubicBezTo>
                  <a:pt x="111618" y="21705"/>
                  <a:pt x="43863" y="48113"/>
                  <a:pt x="43863" y="105635"/>
                </a:cubicBezTo>
                <a:cubicBezTo>
                  <a:pt x="43863" y="141328"/>
                  <a:pt x="72376" y="170253"/>
                  <a:pt x="107285" y="170253"/>
                </a:cubicBezTo>
                <a:cubicBezTo>
                  <a:pt x="147806" y="170253"/>
                  <a:pt x="162991" y="141204"/>
                  <a:pt x="165384" y="126143"/>
                </a:cubicBezTo>
                <a:lnTo>
                  <a:pt x="107285" y="126143"/>
                </a:lnTo>
                <a:lnTo>
                  <a:pt x="107285" y="90945"/>
                </a:lnTo>
                <a:lnTo>
                  <a:pt x="204708" y="90945"/>
                </a:lnTo>
                <a:cubicBezTo>
                  <a:pt x="205657" y="96185"/>
                  <a:pt x="206318" y="101219"/>
                  <a:pt x="206318" y="108028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8" name="Text 15"/>
          <p:cNvSpPr/>
          <p:nvPr/>
        </p:nvSpPr>
        <p:spPr>
          <a:xfrm>
            <a:off x="3053832" y="2693684"/>
            <a:ext cx="219191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058233" y="2904953"/>
            <a:ext cx="2183116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2" dirty="0">
                <a:solidFill>
                  <a:srgbClr val="3C354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Cloud AI贡献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429842" y="2306357"/>
            <a:ext cx="2341568" cy="845077"/>
          </a:xfrm>
          <a:custGeom>
            <a:avLst/>
            <a:gdLst/>
            <a:ahLst/>
            <a:cxnLst/>
            <a:rect l="l" t="t" r="r" b="b"/>
            <a:pathLst>
              <a:path w="2341568" h="845077">
                <a:moveTo>
                  <a:pt x="70420" y="0"/>
                </a:moveTo>
                <a:lnTo>
                  <a:pt x="2271148" y="0"/>
                </a:lnTo>
                <a:cubicBezTo>
                  <a:pt x="2310040" y="0"/>
                  <a:pt x="2341568" y="31528"/>
                  <a:pt x="2341568" y="70420"/>
                </a:cubicBezTo>
                <a:lnTo>
                  <a:pt x="2341568" y="774657"/>
                </a:lnTo>
                <a:cubicBezTo>
                  <a:pt x="2341568" y="813549"/>
                  <a:pt x="2310040" y="845077"/>
                  <a:pt x="2271148" y="845077"/>
                </a:cubicBezTo>
                <a:lnTo>
                  <a:pt x="70420" y="845077"/>
                </a:lnTo>
                <a:cubicBezTo>
                  <a:pt x="31528" y="845077"/>
                  <a:pt x="0" y="813549"/>
                  <a:pt x="0" y="774657"/>
                </a:cubicBezTo>
                <a:lnTo>
                  <a:pt x="0" y="70420"/>
                </a:lnTo>
                <a:cubicBezTo>
                  <a:pt x="0" y="31528"/>
                  <a:pt x="31528" y="0"/>
                  <a:pt x="70420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470453" y="2411991"/>
            <a:ext cx="264087" cy="211269"/>
          </a:xfrm>
          <a:custGeom>
            <a:avLst/>
            <a:gdLst/>
            <a:ahLst/>
            <a:cxnLst/>
            <a:rect l="l" t="t" r="r" b="b"/>
            <a:pathLst>
              <a:path w="264087" h="211269">
                <a:moveTo>
                  <a:pt x="74439" y="83765"/>
                </a:moveTo>
                <a:cubicBezTo>
                  <a:pt x="74151" y="93091"/>
                  <a:pt x="78813" y="97258"/>
                  <a:pt x="78937" y="99858"/>
                </a:cubicBezTo>
                <a:cubicBezTo>
                  <a:pt x="78896" y="100394"/>
                  <a:pt x="78690" y="100889"/>
                  <a:pt x="78401" y="101343"/>
                </a:cubicBezTo>
                <a:cubicBezTo>
                  <a:pt x="78112" y="101797"/>
                  <a:pt x="77699" y="102169"/>
                  <a:pt x="77245" y="102416"/>
                </a:cubicBezTo>
                <a:lnTo>
                  <a:pt x="71964" y="106130"/>
                </a:lnTo>
                <a:cubicBezTo>
                  <a:pt x="71262" y="106625"/>
                  <a:pt x="70478" y="106873"/>
                  <a:pt x="69653" y="106914"/>
                </a:cubicBezTo>
                <a:cubicBezTo>
                  <a:pt x="69488" y="106914"/>
                  <a:pt x="66269" y="107657"/>
                  <a:pt x="61194" y="96350"/>
                </a:cubicBezTo>
                <a:cubicBezTo>
                  <a:pt x="58099" y="100229"/>
                  <a:pt x="54179" y="103324"/>
                  <a:pt x="49681" y="105428"/>
                </a:cubicBezTo>
                <a:cubicBezTo>
                  <a:pt x="45184" y="107533"/>
                  <a:pt x="40314" y="108606"/>
                  <a:pt x="35363" y="108523"/>
                </a:cubicBezTo>
                <a:cubicBezTo>
                  <a:pt x="28637" y="108894"/>
                  <a:pt x="10440" y="104727"/>
                  <a:pt x="11389" y="85333"/>
                </a:cubicBezTo>
                <a:cubicBezTo>
                  <a:pt x="10729" y="69529"/>
                  <a:pt x="25460" y="59708"/>
                  <a:pt x="40645" y="60575"/>
                </a:cubicBezTo>
                <a:cubicBezTo>
                  <a:pt x="43574" y="60575"/>
                  <a:pt x="49558" y="60740"/>
                  <a:pt x="60038" y="63174"/>
                </a:cubicBezTo>
                <a:lnTo>
                  <a:pt x="60038" y="56737"/>
                </a:lnTo>
                <a:cubicBezTo>
                  <a:pt x="61153" y="45803"/>
                  <a:pt x="53973" y="37344"/>
                  <a:pt x="41552" y="38623"/>
                </a:cubicBezTo>
                <a:cubicBezTo>
                  <a:pt x="40562" y="38623"/>
                  <a:pt x="33547" y="38416"/>
                  <a:pt x="22654" y="42790"/>
                </a:cubicBezTo>
                <a:cubicBezTo>
                  <a:pt x="19600" y="44193"/>
                  <a:pt x="19229" y="43946"/>
                  <a:pt x="18197" y="43946"/>
                </a:cubicBezTo>
                <a:cubicBezTo>
                  <a:pt x="15144" y="43946"/>
                  <a:pt x="16382" y="35074"/>
                  <a:pt x="17001" y="33960"/>
                </a:cubicBezTo>
                <a:cubicBezTo>
                  <a:pt x="19146" y="31319"/>
                  <a:pt x="31814" y="26367"/>
                  <a:pt x="44193" y="26450"/>
                </a:cubicBezTo>
                <a:cubicBezTo>
                  <a:pt x="52487" y="25707"/>
                  <a:pt x="60740" y="28266"/>
                  <a:pt x="67177" y="33589"/>
                </a:cubicBezTo>
                <a:cubicBezTo>
                  <a:pt x="69777" y="36518"/>
                  <a:pt x="71799" y="39943"/>
                  <a:pt x="73036" y="43657"/>
                </a:cubicBezTo>
                <a:cubicBezTo>
                  <a:pt x="74274" y="47371"/>
                  <a:pt x="74770" y="51291"/>
                  <a:pt x="74481" y="55211"/>
                </a:cubicBezTo>
                <a:lnTo>
                  <a:pt x="74481" y="83806"/>
                </a:lnTo>
                <a:close/>
                <a:moveTo>
                  <a:pt x="38788" y="97134"/>
                </a:moveTo>
                <a:cubicBezTo>
                  <a:pt x="52157" y="96928"/>
                  <a:pt x="57851" y="88882"/>
                  <a:pt x="59131" y="84549"/>
                </a:cubicBezTo>
                <a:cubicBezTo>
                  <a:pt x="60162" y="80381"/>
                  <a:pt x="59997" y="77782"/>
                  <a:pt x="59997" y="73243"/>
                </a:cubicBezTo>
                <a:cubicBezTo>
                  <a:pt x="55995" y="72294"/>
                  <a:pt x="50259" y="71221"/>
                  <a:pt x="43657" y="71221"/>
                </a:cubicBezTo>
                <a:cubicBezTo>
                  <a:pt x="37385" y="70767"/>
                  <a:pt x="25996" y="73532"/>
                  <a:pt x="26450" y="84549"/>
                </a:cubicBezTo>
                <a:cubicBezTo>
                  <a:pt x="25955" y="91481"/>
                  <a:pt x="31030" y="97506"/>
                  <a:pt x="38829" y="97134"/>
                </a:cubicBezTo>
                <a:close/>
                <a:moveTo>
                  <a:pt x="109307" y="106666"/>
                </a:moveTo>
                <a:cubicBezTo>
                  <a:pt x="106047" y="106955"/>
                  <a:pt x="104562" y="104644"/>
                  <a:pt x="104067" y="102375"/>
                </a:cubicBezTo>
                <a:lnTo>
                  <a:pt x="83517" y="34414"/>
                </a:lnTo>
                <a:cubicBezTo>
                  <a:pt x="83105" y="33258"/>
                  <a:pt x="82857" y="32103"/>
                  <a:pt x="82733" y="30865"/>
                </a:cubicBezTo>
                <a:cubicBezTo>
                  <a:pt x="82651" y="30370"/>
                  <a:pt x="82775" y="29875"/>
                  <a:pt x="83064" y="29462"/>
                </a:cubicBezTo>
                <a:cubicBezTo>
                  <a:pt x="83352" y="29050"/>
                  <a:pt x="83806" y="28802"/>
                  <a:pt x="84301" y="28719"/>
                </a:cubicBezTo>
                <a:cubicBezTo>
                  <a:pt x="84384" y="28719"/>
                  <a:pt x="83435" y="28719"/>
                  <a:pt x="93462" y="28719"/>
                </a:cubicBezTo>
                <a:cubicBezTo>
                  <a:pt x="97093" y="28348"/>
                  <a:pt x="98248" y="31195"/>
                  <a:pt x="98661" y="33011"/>
                </a:cubicBezTo>
                <a:lnTo>
                  <a:pt x="113433" y="91110"/>
                </a:lnTo>
                <a:lnTo>
                  <a:pt x="127133" y="33011"/>
                </a:lnTo>
                <a:cubicBezTo>
                  <a:pt x="127339" y="31690"/>
                  <a:pt x="128330" y="28431"/>
                  <a:pt x="132415" y="28802"/>
                </a:cubicBezTo>
                <a:lnTo>
                  <a:pt x="139512" y="28802"/>
                </a:lnTo>
                <a:cubicBezTo>
                  <a:pt x="140420" y="28719"/>
                  <a:pt x="144092" y="28596"/>
                  <a:pt x="144752" y="33093"/>
                </a:cubicBezTo>
                <a:lnTo>
                  <a:pt x="158493" y="91894"/>
                </a:lnTo>
                <a:lnTo>
                  <a:pt x="173719" y="33052"/>
                </a:lnTo>
                <a:cubicBezTo>
                  <a:pt x="173926" y="32144"/>
                  <a:pt x="174834" y="28348"/>
                  <a:pt x="178960" y="28761"/>
                </a:cubicBezTo>
                <a:lnTo>
                  <a:pt x="187089" y="28761"/>
                </a:lnTo>
                <a:cubicBezTo>
                  <a:pt x="187460" y="28719"/>
                  <a:pt x="189647" y="28431"/>
                  <a:pt x="189276" y="32309"/>
                </a:cubicBezTo>
                <a:cubicBezTo>
                  <a:pt x="189111" y="33052"/>
                  <a:pt x="190679" y="27894"/>
                  <a:pt x="167489" y="102416"/>
                </a:cubicBezTo>
                <a:cubicBezTo>
                  <a:pt x="167035" y="104686"/>
                  <a:pt x="165508" y="106996"/>
                  <a:pt x="162248" y="106708"/>
                </a:cubicBezTo>
                <a:lnTo>
                  <a:pt x="154532" y="106708"/>
                </a:lnTo>
                <a:cubicBezTo>
                  <a:pt x="150034" y="107203"/>
                  <a:pt x="149374" y="102705"/>
                  <a:pt x="149291" y="102292"/>
                </a:cubicBezTo>
                <a:lnTo>
                  <a:pt x="135592" y="45720"/>
                </a:lnTo>
                <a:lnTo>
                  <a:pt x="122058" y="102251"/>
                </a:lnTo>
                <a:cubicBezTo>
                  <a:pt x="121975" y="102705"/>
                  <a:pt x="121356" y="107161"/>
                  <a:pt x="116817" y="106666"/>
                </a:cubicBezTo>
                <a:lnTo>
                  <a:pt x="109266" y="106666"/>
                </a:lnTo>
                <a:lnTo>
                  <a:pt x="109266" y="106666"/>
                </a:lnTo>
                <a:close/>
                <a:moveTo>
                  <a:pt x="222163" y="108977"/>
                </a:moveTo>
                <a:cubicBezTo>
                  <a:pt x="219728" y="108977"/>
                  <a:pt x="208175" y="108853"/>
                  <a:pt x="198478" y="103902"/>
                </a:cubicBezTo>
                <a:cubicBezTo>
                  <a:pt x="197529" y="103489"/>
                  <a:pt x="196703" y="102829"/>
                  <a:pt x="196126" y="101921"/>
                </a:cubicBezTo>
                <a:cubicBezTo>
                  <a:pt x="195548" y="101013"/>
                  <a:pt x="195259" y="100023"/>
                  <a:pt x="195259" y="98991"/>
                </a:cubicBezTo>
                <a:lnTo>
                  <a:pt x="195259" y="94576"/>
                </a:lnTo>
                <a:cubicBezTo>
                  <a:pt x="195259" y="91069"/>
                  <a:pt x="197817" y="91729"/>
                  <a:pt x="198890" y="92141"/>
                </a:cubicBezTo>
                <a:cubicBezTo>
                  <a:pt x="203017" y="93833"/>
                  <a:pt x="205699" y="95071"/>
                  <a:pt x="210774" y="96103"/>
                </a:cubicBezTo>
                <a:cubicBezTo>
                  <a:pt x="225918" y="99198"/>
                  <a:pt x="232561" y="95154"/>
                  <a:pt x="234171" y="94246"/>
                </a:cubicBezTo>
                <a:cubicBezTo>
                  <a:pt x="239617" y="91027"/>
                  <a:pt x="240030" y="83641"/>
                  <a:pt x="236358" y="79845"/>
                </a:cubicBezTo>
                <a:cubicBezTo>
                  <a:pt x="232025" y="76214"/>
                  <a:pt x="229962" y="76090"/>
                  <a:pt x="214447" y="71180"/>
                </a:cubicBezTo>
                <a:cubicBezTo>
                  <a:pt x="212548" y="70643"/>
                  <a:pt x="196414" y="65568"/>
                  <a:pt x="196373" y="49558"/>
                </a:cubicBezTo>
                <a:cubicBezTo>
                  <a:pt x="196126" y="37921"/>
                  <a:pt x="206689" y="26367"/>
                  <a:pt x="225051" y="26450"/>
                </a:cubicBezTo>
                <a:cubicBezTo>
                  <a:pt x="230292" y="26450"/>
                  <a:pt x="244198" y="28142"/>
                  <a:pt x="247994" y="32887"/>
                </a:cubicBezTo>
                <a:cubicBezTo>
                  <a:pt x="248572" y="33754"/>
                  <a:pt x="248819" y="34785"/>
                  <a:pt x="248778" y="35775"/>
                </a:cubicBezTo>
                <a:lnTo>
                  <a:pt x="248778" y="39943"/>
                </a:lnTo>
                <a:cubicBezTo>
                  <a:pt x="248778" y="41759"/>
                  <a:pt x="248118" y="42708"/>
                  <a:pt x="246756" y="42708"/>
                </a:cubicBezTo>
                <a:cubicBezTo>
                  <a:pt x="243579" y="42336"/>
                  <a:pt x="237926" y="38086"/>
                  <a:pt x="226454" y="38251"/>
                </a:cubicBezTo>
                <a:cubicBezTo>
                  <a:pt x="223607" y="38086"/>
                  <a:pt x="209990" y="38623"/>
                  <a:pt x="210609" y="48567"/>
                </a:cubicBezTo>
                <a:cubicBezTo>
                  <a:pt x="210444" y="56407"/>
                  <a:pt x="221585" y="59337"/>
                  <a:pt x="222864" y="59667"/>
                </a:cubicBezTo>
                <a:cubicBezTo>
                  <a:pt x="237926" y="64206"/>
                  <a:pt x="242918" y="64949"/>
                  <a:pt x="248902" y="71881"/>
                </a:cubicBezTo>
                <a:cubicBezTo>
                  <a:pt x="255958" y="81042"/>
                  <a:pt x="252161" y="91811"/>
                  <a:pt x="250676" y="94741"/>
                </a:cubicBezTo>
                <a:cubicBezTo>
                  <a:pt x="242795" y="110215"/>
                  <a:pt x="222452" y="108936"/>
                  <a:pt x="222080" y="108936"/>
                </a:cubicBezTo>
                <a:close/>
                <a:moveTo>
                  <a:pt x="238751" y="152262"/>
                </a:moveTo>
                <a:cubicBezTo>
                  <a:pt x="209866" y="173596"/>
                  <a:pt x="167901" y="184943"/>
                  <a:pt x="132085" y="184943"/>
                </a:cubicBezTo>
                <a:cubicBezTo>
                  <a:pt x="83765" y="185273"/>
                  <a:pt x="37055" y="167489"/>
                  <a:pt x="1155" y="135138"/>
                </a:cubicBezTo>
                <a:cubicBezTo>
                  <a:pt x="-1527" y="132704"/>
                  <a:pt x="825" y="129361"/>
                  <a:pt x="4126" y="131218"/>
                </a:cubicBezTo>
                <a:cubicBezTo>
                  <a:pt x="43946" y="153996"/>
                  <a:pt x="89005" y="165962"/>
                  <a:pt x="134891" y="165921"/>
                </a:cubicBezTo>
                <a:cubicBezTo>
                  <a:pt x="169139" y="165756"/>
                  <a:pt x="203017" y="158782"/>
                  <a:pt x="234583" y="145495"/>
                </a:cubicBezTo>
                <a:cubicBezTo>
                  <a:pt x="239452" y="143432"/>
                  <a:pt x="243579" y="148714"/>
                  <a:pt x="238751" y="152262"/>
                </a:cubicBezTo>
                <a:close/>
                <a:moveTo>
                  <a:pt x="250800" y="138522"/>
                </a:moveTo>
                <a:cubicBezTo>
                  <a:pt x="247086" y="133776"/>
                  <a:pt x="226331" y="136293"/>
                  <a:pt x="217046" y="137408"/>
                </a:cubicBezTo>
                <a:cubicBezTo>
                  <a:pt x="214240" y="137738"/>
                  <a:pt x="213786" y="135303"/>
                  <a:pt x="216303" y="133488"/>
                </a:cubicBezTo>
                <a:cubicBezTo>
                  <a:pt x="232850" y="121851"/>
                  <a:pt x="260002" y="125194"/>
                  <a:pt x="263096" y="129114"/>
                </a:cubicBezTo>
                <a:cubicBezTo>
                  <a:pt x="266191" y="133034"/>
                  <a:pt x="262230" y="160226"/>
                  <a:pt x="246756" y="173224"/>
                </a:cubicBezTo>
                <a:cubicBezTo>
                  <a:pt x="244363" y="175246"/>
                  <a:pt x="242093" y="174173"/>
                  <a:pt x="243166" y="171533"/>
                </a:cubicBezTo>
                <a:cubicBezTo>
                  <a:pt x="246632" y="162743"/>
                  <a:pt x="254472" y="143267"/>
                  <a:pt x="250759" y="138522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2" name="Text 19"/>
          <p:cNvSpPr/>
          <p:nvPr/>
        </p:nvSpPr>
        <p:spPr>
          <a:xfrm>
            <a:off x="5504666" y="2693684"/>
            <a:ext cx="219191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AWS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09068" y="2904953"/>
            <a:ext cx="2183116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2" dirty="0">
                <a:solidFill>
                  <a:srgbClr val="3C354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AI服务盈利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52116" y="3468230"/>
            <a:ext cx="7596892" cy="1663746"/>
          </a:xfrm>
          <a:custGeom>
            <a:avLst/>
            <a:gdLst/>
            <a:ahLst/>
            <a:cxnLst/>
            <a:rect l="l" t="t" r="r" b="b"/>
            <a:pathLst>
              <a:path w="7596892" h="1663746">
                <a:moveTo>
                  <a:pt x="105631" y="0"/>
                </a:moveTo>
                <a:lnTo>
                  <a:pt x="7491261" y="0"/>
                </a:lnTo>
                <a:cubicBezTo>
                  <a:pt x="7549600" y="0"/>
                  <a:pt x="7596892" y="47293"/>
                  <a:pt x="7596892" y="105631"/>
                </a:cubicBezTo>
                <a:lnTo>
                  <a:pt x="7596892" y="1558115"/>
                </a:lnTo>
                <a:cubicBezTo>
                  <a:pt x="7596892" y="1616453"/>
                  <a:pt x="7549600" y="1663746"/>
                  <a:pt x="7491261" y="1663746"/>
                </a:cubicBezTo>
                <a:lnTo>
                  <a:pt x="105631" y="1663746"/>
                </a:lnTo>
                <a:cubicBezTo>
                  <a:pt x="47293" y="1663746"/>
                  <a:pt x="0" y="1616453"/>
                  <a:pt x="0" y="1558115"/>
                </a:cubicBezTo>
                <a:lnTo>
                  <a:pt x="0" y="105631"/>
                </a:lnTo>
                <a:cubicBezTo>
                  <a:pt x="0" y="47332"/>
                  <a:pt x="47332" y="0"/>
                  <a:pt x="10563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817" dist="352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28173" y="3644288"/>
            <a:ext cx="352116" cy="352116"/>
          </a:xfrm>
          <a:custGeom>
            <a:avLst/>
            <a:gdLst/>
            <a:ahLst/>
            <a:cxnLst/>
            <a:rect l="l" t="t" r="r" b="b"/>
            <a:pathLst>
              <a:path w="352116" h="352116">
                <a:moveTo>
                  <a:pt x="70423" y="0"/>
                </a:moveTo>
                <a:lnTo>
                  <a:pt x="281692" y="0"/>
                </a:lnTo>
                <a:cubicBezTo>
                  <a:pt x="320586" y="0"/>
                  <a:pt x="352116" y="31529"/>
                  <a:pt x="352116" y="70423"/>
                </a:cubicBezTo>
                <a:lnTo>
                  <a:pt x="352116" y="281692"/>
                </a:lnTo>
                <a:cubicBezTo>
                  <a:pt x="352116" y="320586"/>
                  <a:pt x="320586" y="352116"/>
                  <a:pt x="281692" y="352116"/>
                </a:cubicBezTo>
                <a:lnTo>
                  <a:pt x="70423" y="352116"/>
                </a:lnTo>
                <a:cubicBezTo>
                  <a:pt x="31529" y="352116"/>
                  <a:pt x="0" y="320586"/>
                  <a:pt x="0" y="281692"/>
                </a:cubicBezTo>
                <a:lnTo>
                  <a:pt x="0" y="70423"/>
                </a:lnTo>
                <a:cubicBezTo>
                  <a:pt x="0" y="31556"/>
                  <a:pt x="31556" y="0"/>
                  <a:pt x="70423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26" name="Shape 23"/>
          <p:cNvSpPr/>
          <p:nvPr/>
        </p:nvSpPr>
        <p:spPr>
          <a:xfrm>
            <a:off x="617303" y="3741120"/>
            <a:ext cx="178258" cy="158452"/>
          </a:xfrm>
          <a:custGeom>
            <a:avLst/>
            <a:gdLst/>
            <a:ahLst/>
            <a:cxnLst/>
            <a:rect l="l" t="t" r="r" b="b"/>
            <a:pathLst>
              <a:path w="178258" h="158452">
                <a:moveTo>
                  <a:pt x="89129" y="-4952"/>
                </a:moveTo>
                <a:cubicBezTo>
                  <a:pt x="94607" y="-4952"/>
                  <a:pt x="99032" y="-526"/>
                  <a:pt x="99032" y="4952"/>
                </a:cubicBezTo>
                <a:lnTo>
                  <a:pt x="99032" y="10615"/>
                </a:lnTo>
                <a:cubicBezTo>
                  <a:pt x="129392" y="14948"/>
                  <a:pt x="153408" y="38963"/>
                  <a:pt x="157740" y="69323"/>
                </a:cubicBezTo>
                <a:lnTo>
                  <a:pt x="163404" y="69323"/>
                </a:lnTo>
                <a:cubicBezTo>
                  <a:pt x="168881" y="69323"/>
                  <a:pt x="173307" y="73748"/>
                  <a:pt x="173307" y="79226"/>
                </a:cubicBezTo>
                <a:cubicBezTo>
                  <a:pt x="173307" y="84704"/>
                  <a:pt x="168881" y="89129"/>
                  <a:pt x="163404" y="89129"/>
                </a:cubicBezTo>
                <a:lnTo>
                  <a:pt x="157740" y="89129"/>
                </a:lnTo>
                <a:cubicBezTo>
                  <a:pt x="153408" y="119489"/>
                  <a:pt x="129392" y="143504"/>
                  <a:pt x="99032" y="147837"/>
                </a:cubicBezTo>
                <a:lnTo>
                  <a:pt x="99032" y="153500"/>
                </a:lnTo>
                <a:cubicBezTo>
                  <a:pt x="99032" y="158978"/>
                  <a:pt x="94607" y="163404"/>
                  <a:pt x="89129" y="163404"/>
                </a:cubicBezTo>
                <a:cubicBezTo>
                  <a:pt x="83652" y="163404"/>
                  <a:pt x="79226" y="158978"/>
                  <a:pt x="79226" y="153500"/>
                </a:cubicBezTo>
                <a:lnTo>
                  <a:pt x="79226" y="147837"/>
                </a:lnTo>
                <a:cubicBezTo>
                  <a:pt x="48866" y="143504"/>
                  <a:pt x="24851" y="119489"/>
                  <a:pt x="20518" y="89129"/>
                </a:cubicBezTo>
                <a:lnTo>
                  <a:pt x="14855" y="89129"/>
                </a:lnTo>
                <a:cubicBezTo>
                  <a:pt x="9377" y="89129"/>
                  <a:pt x="4952" y="84704"/>
                  <a:pt x="4952" y="79226"/>
                </a:cubicBezTo>
                <a:cubicBezTo>
                  <a:pt x="4952" y="73748"/>
                  <a:pt x="9377" y="69323"/>
                  <a:pt x="14855" y="69323"/>
                </a:cubicBezTo>
                <a:lnTo>
                  <a:pt x="20518" y="69323"/>
                </a:lnTo>
                <a:cubicBezTo>
                  <a:pt x="24851" y="38963"/>
                  <a:pt x="48866" y="14948"/>
                  <a:pt x="79226" y="10615"/>
                </a:cubicBezTo>
                <a:lnTo>
                  <a:pt x="79226" y="4952"/>
                </a:lnTo>
                <a:cubicBezTo>
                  <a:pt x="79226" y="-526"/>
                  <a:pt x="83652" y="-4952"/>
                  <a:pt x="89129" y="-4952"/>
                </a:cubicBezTo>
                <a:close/>
                <a:moveTo>
                  <a:pt x="40603" y="89129"/>
                </a:moveTo>
                <a:cubicBezTo>
                  <a:pt x="44534" y="108533"/>
                  <a:pt x="59822" y="123822"/>
                  <a:pt x="79226" y="127752"/>
                </a:cubicBezTo>
                <a:lnTo>
                  <a:pt x="79226" y="123791"/>
                </a:lnTo>
                <a:cubicBezTo>
                  <a:pt x="79226" y="118313"/>
                  <a:pt x="83652" y="113887"/>
                  <a:pt x="89129" y="113887"/>
                </a:cubicBezTo>
                <a:cubicBezTo>
                  <a:pt x="94607" y="113887"/>
                  <a:pt x="99032" y="118313"/>
                  <a:pt x="99032" y="123791"/>
                </a:cubicBezTo>
                <a:lnTo>
                  <a:pt x="99032" y="127752"/>
                </a:lnTo>
                <a:cubicBezTo>
                  <a:pt x="118437" y="123822"/>
                  <a:pt x="133725" y="108533"/>
                  <a:pt x="137655" y="89129"/>
                </a:cubicBezTo>
                <a:lnTo>
                  <a:pt x="133694" y="89129"/>
                </a:lnTo>
                <a:cubicBezTo>
                  <a:pt x="128216" y="89129"/>
                  <a:pt x="123791" y="84704"/>
                  <a:pt x="123791" y="79226"/>
                </a:cubicBezTo>
                <a:cubicBezTo>
                  <a:pt x="123791" y="73748"/>
                  <a:pt x="128216" y="69323"/>
                  <a:pt x="133694" y="69323"/>
                </a:cubicBezTo>
                <a:lnTo>
                  <a:pt x="137655" y="69323"/>
                </a:lnTo>
                <a:cubicBezTo>
                  <a:pt x="133725" y="49919"/>
                  <a:pt x="118437" y="34630"/>
                  <a:pt x="99032" y="30700"/>
                </a:cubicBezTo>
                <a:lnTo>
                  <a:pt x="99032" y="34661"/>
                </a:lnTo>
                <a:cubicBezTo>
                  <a:pt x="99032" y="40139"/>
                  <a:pt x="94607" y="44565"/>
                  <a:pt x="89129" y="44565"/>
                </a:cubicBezTo>
                <a:cubicBezTo>
                  <a:pt x="83652" y="44565"/>
                  <a:pt x="79226" y="40139"/>
                  <a:pt x="79226" y="34661"/>
                </a:cubicBezTo>
                <a:lnTo>
                  <a:pt x="79226" y="30700"/>
                </a:lnTo>
                <a:cubicBezTo>
                  <a:pt x="59822" y="34630"/>
                  <a:pt x="44534" y="49919"/>
                  <a:pt x="40603" y="69323"/>
                </a:cubicBezTo>
                <a:lnTo>
                  <a:pt x="44565" y="69323"/>
                </a:lnTo>
                <a:cubicBezTo>
                  <a:pt x="50042" y="69323"/>
                  <a:pt x="54468" y="73748"/>
                  <a:pt x="54468" y="79226"/>
                </a:cubicBezTo>
                <a:cubicBezTo>
                  <a:pt x="54468" y="84704"/>
                  <a:pt x="50042" y="89129"/>
                  <a:pt x="44565" y="89129"/>
                </a:cubicBezTo>
                <a:lnTo>
                  <a:pt x="40603" y="89129"/>
                </a:lnTo>
                <a:close/>
                <a:moveTo>
                  <a:pt x="89129" y="64371"/>
                </a:moveTo>
                <a:cubicBezTo>
                  <a:pt x="97328" y="64371"/>
                  <a:pt x="103984" y="71027"/>
                  <a:pt x="103984" y="79226"/>
                </a:cubicBezTo>
                <a:cubicBezTo>
                  <a:pt x="103984" y="87425"/>
                  <a:pt x="97328" y="94081"/>
                  <a:pt x="89129" y="94081"/>
                </a:cubicBezTo>
                <a:cubicBezTo>
                  <a:pt x="80931" y="94081"/>
                  <a:pt x="74274" y="87425"/>
                  <a:pt x="74274" y="79226"/>
                </a:cubicBezTo>
                <a:cubicBezTo>
                  <a:pt x="74274" y="71027"/>
                  <a:pt x="80931" y="64371"/>
                  <a:pt x="89129" y="6437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985923" y="3697106"/>
            <a:ext cx="1954241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业绩指引（Guidance）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28173" y="4137250"/>
            <a:ext cx="7315200" cy="228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相比过去的EPS增速，现在要看公司对未来两个季度的</a:t>
            </a:r>
            <a:r>
              <a:rPr lang="en-US" sz="1109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利润率（Margin）预测</a:t>
            </a:r>
            <a:r>
              <a:rPr lang="en-US" sz="1109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45779" y="4471760"/>
            <a:ext cx="7227171" cy="484159"/>
          </a:xfrm>
          <a:custGeom>
            <a:avLst/>
            <a:gdLst/>
            <a:ahLst/>
            <a:cxnLst/>
            <a:rect l="l" t="t" r="r" b="b"/>
            <a:pathLst>
              <a:path w="7227171" h="484159">
                <a:moveTo>
                  <a:pt x="35212" y="0"/>
                </a:moveTo>
                <a:lnTo>
                  <a:pt x="7156750" y="0"/>
                </a:lnTo>
                <a:cubicBezTo>
                  <a:pt x="7195643" y="0"/>
                  <a:pt x="7227171" y="31529"/>
                  <a:pt x="7227171" y="70421"/>
                </a:cubicBezTo>
                <a:lnTo>
                  <a:pt x="7227171" y="413738"/>
                </a:lnTo>
                <a:cubicBezTo>
                  <a:pt x="7227171" y="452630"/>
                  <a:pt x="7195643" y="484159"/>
                  <a:pt x="7156750" y="484159"/>
                </a:cubicBezTo>
                <a:lnTo>
                  <a:pt x="35212" y="484159"/>
                </a:lnTo>
                <a:cubicBezTo>
                  <a:pt x="15765" y="484159"/>
                  <a:pt x="0" y="468394"/>
                  <a:pt x="0" y="448947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gradFill flip="none" rotWithShape="1">
            <a:gsLst>
              <a:gs pos="0">
                <a:srgbClr val="7C1D56">
                  <a:alpha val="10000"/>
                </a:srgbClr>
              </a:gs>
              <a:gs pos="100000">
                <a:srgbClr val="A95EAF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0" name="Shape 27"/>
          <p:cNvSpPr/>
          <p:nvPr/>
        </p:nvSpPr>
        <p:spPr>
          <a:xfrm>
            <a:off x="545779" y="4471760"/>
            <a:ext cx="35212" cy="484159"/>
          </a:xfrm>
          <a:custGeom>
            <a:avLst/>
            <a:gdLst/>
            <a:ahLst/>
            <a:cxnLst/>
            <a:rect l="l" t="t" r="r" b="b"/>
            <a:pathLst>
              <a:path w="35212" h="484159">
                <a:moveTo>
                  <a:pt x="35212" y="0"/>
                </a:moveTo>
                <a:lnTo>
                  <a:pt x="35212" y="0"/>
                </a:lnTo>
                <a:lnTo>
                  <a:pt x="35212" y="484159"/>
                </a:lnTo>
                <a:lnTo>
                  <a:pt x="35212" y="484159"/>
                </a:lnTo>
                <a:cubicBezTo>
                  <a:pt x="15765" y="484159"/>
                  <a:pt x="0" y="468394"/>
                  <a:pt x="0" y="448947"/>
                </a:cubicBezTo>
                <a:lnTo>
                  <a:pt x="0" y="35212"/>
                </a:lnTo>
                <a:cubicBezTo>
                  <a:pt x="0" y="15778"/>
                  <a:pt x="15778" y="0"/>
                  <a:pt x="35212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31" name="Shape 28"/>
          <p:cNvSpPr/>
          <p:nvPr/>
        </p:nvSpPr>
        <p:spPr>
          <a:xfrm>
            <a:off x="721837" y="4640773"/>
            <a:ext cx="123240" cy="123240"/>
          </a:xfrm>
          <a:custGeom>
            <a:avLst/>
            <a:gdLst/>
            <a:ahLst/>
            <a:cxnLst/>
            <a:rect l="l" t="t" r="r" b="b"/>
            <a:pathLst>
              <a:path w="123240" h="123240">
                <a:moveTo>
                  <a:pt x="61620" y="0"/>
                </a:moveTo>
                <a:cubicBezTo>
                  <a:pt x="65159" y="0"/>
                  <a:pt x="68408" y="1950"/>
                  <a:pt x="70093" y="5055"/>
                </a:cubicBezTo>
                <a:lnTo>
                  <a:pt x="122085" y="101336"/>
                </a:lnTo>
                <a:cubicBezTo>
                  <a:pt x="123698" y="104321"/>
                  <a:pt x="123626" y="107932"/>
                  <a:pt x="121892" y="110844"/>
                </a:cubicBezTo>
                <a:cubicBezTo>
                  <a:pt x="120159" y="113757"/>
                  <a:pt x="117006" y="115538"/>
                  <a:pt x="113612" y="115538"/>
                </a:cubicBezTo>
                <a:lnTo>
                  <a:pt x="9628" y="115538"/>
                </a:lnTo>
                <a:cubicBezTo>
                  <a:pt x="6234" y="115538"/>
                  <a:pt x="3105" y="113757"/>
                  <a:pt x="1348" y="110844"/>
                </a:cubicBezTo>
                <a:cubicBezTo>
                  <a:pt x="-409" y="107932"/>
                  <a:pt x="-457" y="104321"/>
                  <a:pt x="1155" y="101336"/>
                </a:cubicBezTo>
                <a:lnTo>
                  <a:pt x="53147" y="5055"/>
                </a:lnTo>
                <a:cubicBezTo>
                  <a:pt x="54832" y="1950"/>
                  <a:pt x="58082" y="0"/>
                  <a:pt x="61620" y="0"/>
                </a:cubicBezTo>
                <a:close/>
                <a:moveTo>
                  <a:pt x="61620" y="40438"/>
                </a:moveTo>
                <a:cubicBezTo>
                  <a:pt x="58419" y="40438"/>
                  <a:pt x="55843" y="43014"/>
                  <a:pt x="55843" y="46215"/>
                </a:cubicBezTo>
                <a:lnTo>
                  <a:pt x="55843" y="73174"/>
                </a:lnTo>
                <a:cubicBezTo>
                  <a:pt x="55843" y="76375"/>
                  <a:pt x="58419" y="78951"/>
                  <a:pt x="61620" y="78951"/>
                </a:cubicBezTo>
                <a:cubicBezTo>
                  <a:pt x="64822" y="78951"/>
                  <a:pt x="67397" y="76375"/>
                  <a:pt x="67397" y="73174"/>
                </a:cubicBezTo>
                <a:lnTo>
                  <a:pt x="67397" y="46215"/>
                </a:lnTo>
                <a:cubicBezTo>
                  <a:pt x="67397" y="43014"/>
                  <a:pt x="64822" y="40438"/>
                  <a:pt x="61620" y="40438"/>
                </a:cubicBezTo>
                <a:close/>
                <a:moveTo>
                  <a:pt x="68047" y="92430"/>
                </a:moveTo>
                <a:cubicBezTo>
                  <a:pt x="68193" y="90045"/>
                  <a:pt x="67004" y="87775"/>
                  <a:pt x="64959" y="86538"/>
                </a:cubicBezTo>
                <a:cubicBezTo>
                  <a:pt x="62914" y="85301"/>
                  <a:pt x="60351" y="85301"/>
                  <a:pt x="58306" y="86538"/>
                </a:cubicBezTo>
                <a:cubicBezTo>
                  <a:pt x="56261" y="87775"/>
                  <a:pt x="55071" y="90045"/>
                  <a:pt x="55217" y="92430"/>
                </a:cubicBezTo>
                <a:cubicBezTo>
                  <a:pt x="55071" y="94816"/>
                  <a:pt x="56261" y="97086"/>
                  <a:pt x="58306" y="98323"/>
                </a:cubicBezTo>
                <a:cubicBezTo>
                  <a:pt x="60351" y="99559"/>
                  <a:pt x="62914" y="99559"/>
                  <a:pt x="64959" y="98323"/>
                </a:cubicBezTo>
                <a:cubicBezTo>
                  <a:pt x="67004" y="97086"/>
                  <a:pt x="68193" y="94816"/>
                  <a:pt x="68047" y="9243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32" name="Text 29"/>
          <p:cNvSpPr/>
          <p:nvPr/>
        </p:nvSpPr>
        <p:spPr>
          <a:xfrm>
            <a:off x="911496" y="4612606"/>
            <a:ext cx="6782228" cy="202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风险信号：</a:t>
            </a:r>
            <a:r>
              <a:rPr lang="en-US" sz="97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</a:t>
            </a:r>
            <a:r>
              <a:rPr lang="en-US" sz="970" b="1" dirty="0">
                <a:solidFill>
                  <a:srgbClr val="3C3542"/>
                </a:solidFill>
                <a:highlight>
                  <a:srgbClr val="7C1D56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成本增速超过营收增速 </a:t>
            </a:r>
            <a:r>
              <a:rPr lang="en-US" sz="97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，市场会迅速杀估值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127266" y="1302827"/>
            <a:ext cx="3714819" cy="3512352"/>
          </a:xfrm>
          <a:custGeom>
            <a:avLst/>
            <a:gdLst/>
            <a:ahLst/>
            <a:cxnLst/>
            <a:rect l="l" t="t" r="r" b="b"/>
            <a:pathLst>
              <a:path w="3714819" h="3512352">
                <a:moveTo>
                  <a:pt x="105652" y="0"/>
                </a:moveTo>
                <a:lnTo>
                  <a:pt x="3609167" y="0"/>
                </a:lnTo>
                <a:cubicBezTo>
                  <a:pt x="3667517" y="0"/>
                  <a:pt x="3714819" y="47302"/>
                  <a:pt x="3714819" y="105652"/>
                </a:cubicBezTo>
                <a:lnTo>
                  <a:pt x="3714819" y="3406701"/>
                </a:lnTo>
                <a:cubicBezTo>
                  <a:pt x="3714819" y="3465051"/>
                  <a:pt x="3667517" y="3512352"/>
                  <a:pt x="3609167" y="3512352"/>
                </a:cubicBezTo>
                <a:lnTo>
                  <a:pt x="105652" y="3512352"/>
                </a:lnTo>
                <a:cubicBezTo>
                  <a:pt x="47302" y="3512352"/>
                  <a:pt x="0" y="3465051"/>
                  <a:pt x="0" y="3406701"/>
                </a:cubicBezTo>
                <a:lnTo>
                  <a:pt x="0" y="105652"/>
                </a:lnTo>
                <a:cubicBezTo>
                  <a:pt x="0" y="47341"/>
                  <a:pt x="47341" y="0"/>
                  <a:pt x="105652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2700000" scaled="1"/>
          </a:gradFill>
          <a:ln/>
          <a:effectLst>
            <a:outerShdw blurRad="132043" dist="8802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303324" y="1478885"/>
            <a:ext cx="3450732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2026年盈利预期对比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306845" y="1869733"/>
            <a:ext cx="3352140" cy="1063389"/>
          </a:xfrm>
          <a:custGeom>
            <a:avLst/>
            <a:gdLst/>
            <a:ahLst/>
            <a:cxnLst/>
            <a:rect l="l" t="t" r="r" b="b"/>
            <a:pathLst>
              <a:path w="3352140" h="1063389">
                <a:moveTo>
                  <a:pt x="70428" y="0"/>
                </a:moveTo>
                <a:lnTo>
                  <a:pt x="3281712" y="0"/>
                </a:lnTo>
                <a:cubicBezTo>
                  <a:pt x="3320608" y="0"/>
                  <a:pt x="3352140" y="31532"/>
                  <a:pt x="3352140" y="70428"/>
                </a:cubicBezTo>
                <a:lnTo>
                  <a:pt x="3352140" y="992961"/>
                </a:lnTo>
                <a:cubicBezTo>
                  <a:pt x="3352140" y="1031857"/>
                  <a:pt x="3320608" y="1063389"/>
                  <a:pt x="3281712" y="1063389"/>
                </a:cubicBezTo>
                <a:lnTo>
                  <a:pt x="70428" y="1063389"/>
                </a:lnTo>
                <a:cubicBezTo>
                  <a:pt x="31532" y="1063389"/>
                  <a:pt x="0" y="1031857"/>
                  <a:pt x="0" y="992961"/>
                </a:cubicBezTo>
                <a:lnTo>
                  <a:pt x="0" y="70428"/>
                </a:lnTo>
                <a:cubicBezTo>
                  <a:pt x="0" y="31558"/>
                  <a:pt x="31558" y="0"/>
                  <a:pt x="7042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451213" y="2014103"/>
            <a:ext cx="3125025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 7整体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451213" y="2260584"/>
            <a:ext cx="3221857" cy="35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24%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451213" y="2647911"/>
            <a:ext cx="3116222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盈利增长率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306845" y="3080900"/>
            <a:ext cx="3352140" cy="1063389"/>
          </a:xfrm>
          <a:custGeom>
            <a:avLst/>
            <a:gdLst/>
            <a:ahLst/>
            <a:cxnLst/>
            <a:rect l="l" t="t" r="r" b="b"/>
            <a:pathLst>
              <a:path w="3352140" h="1063389">
                <a:moveTo>
                  <a:pt x="70428" y="0"/>
                </a:moveTo>
                <a:lnTo>
                  <a:pt x="3281712" y="0"/>
                </a:lnTo>
                <a:cubicBezTo>
                  <a:pt x="3320608" y="0"/>
                  <a:pt x="3352140" y="31532"/>
                  <a:pt x="3352140" y="70428"/>
                </a:cubicBezTo>
                <a:lnTo>
                  <a:pt x="3352140" y="992961"/>
                </a:lnTo>
                <a:cubicBezTo>
                  <a:pt x="3352140" y="1031857"/>
                  <a:pt x="3320608" y="1063389"/>
                  <a:pt x="3281712" y="1063389"/>
                </a:cubicBezTo>
                <a:lnTo>
                  <a:pt x="70428" y="1063389"/>
                </a:lnTo>
                <a:cubicBezTo>
                  <a:pt x="31532" y="1063389"/>
                  <a:pt x="0" y="1031857"/>
                  <a:pt x="0" y="992961"/>
                </a:cubicBezTo>
                <a:lnTo>
                  <a:pt x="0" y="70428"/>
                </a:lnTo>
                <a:cubicBezTo>
                  <a:pt x="0" y="31558"/>
                  <a:pt x="31558" y="0"/>
                  <a:pt x="7042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51213" y="3225270"/>
            <a:ext cx="3125025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标普500其余493家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451213" y="3471751"/>
            <a:ext cx="3221857" cy="35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12.5%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451213" y="3859078"/>
            <a:ext cx="3116222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盈利增长率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303324" y="4292071"/>
            <a:ext cx="3362703" cy="7042"/>
          </a:xfrm>
          <a:custGeom>
            <a:avLst/>
            <a:gdLst/>
            <a:ahLst/>
            <a:cxnLst/>
            <a:rect l="l" t="t" r="r" b="b"/>
            <a:pathLst>
              <a:path w="3362703" h="7042">
                <a:moveTo>
                  <a:pt x="0" y="0"/>
                </a:moveTo>
                <a:lnTo>
                  <a:pt x="3362703" y="0"/>
                </a:lnTo>
                <a:lnTo>
                  <a:pt x="3362703" y="7042"/>
                </a:lnTo>
                <a:lnTo>
                  <a:pt x="0" y="704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8320930" y="4464607"/>
            <a:ext cx="123240" cy="123240"/>
          </a:xfrm>
          <a:custGeom>
            <a:avLst/>
            <a:gdLst/>
            <a:ahLst/>
            <a:cxnLst/>
            <a:rect l="l" t="t" r="r" b="b"/>
            <a:pathLst>
              <a:path w="123240" h="123240">
                <a:moveTo>
                  <a:pt x="7703" y="7703"/>
                </a:moveTo>
                <a:cubicBezTo>
                  <a:pt x="11963" y="7703"/>
                  <a:pt x="15405" y="11145"/>
                  <a:pt x="15405" y="15405"/>
                </a:cubicBezTo>
                <a:lnTo>
                  <a:pt x="15405" y="96282"/>
                </a:lnTo>
                <a:cubicBezTo>
                  <a:pt x="15405" y="98400"/>
                  <a:pt x="17138" y="100133"/>
                  <a:pt x="19256" y="100133"/>
                </a:cubicBezTo>
                <a:lnTo>
                  <a:pt x="115538" y="100133"/>
                </a:lnTo>
                <a:cubicBezTo>
                  <a:pt x="119798" y="100133"/>
                  <a:pt x="123240" y="103575"/>
                  <a:pt x="123240" y="107835"/>
                </a:cubicBezTo>
                <a:cubicBezTo>
                  <a:pt x="123240" y="112096"/>
                  <a:pt x="119798" y="115538"/>
                  <a:pt x="115538" y="115538"/>
                </a:cubicBezTo>
                <a:lnTo>
                  <a:pt x="19256" y="115538"/>
                </a:lnTo>
                <a:cubicBezTo>
                  <a:pt x="8617" y="115538"/>
                  <a:pt x="0" y="106921"/>
                  <a:pt x="0" y="96282"/>
                </a:cubicBezTo>
                <a:lnTo>
                  <a:pt x="0" y="15405"/>
                </a:lnTo>
                <a:cubicBezTo>
                  <a:pt x="0" y="11145"/>
                  <a:pt x="3442" y="7703"/>
                  <a:pt x="7703" y="7703"/>
                </a:cubicBezTo>
                <a:close/>
                <a:moveTo>
                  <a:pt x="30810" y="23108"/>
                </a:moveTo>
                <a:cubicBezTo>
                  <a:pt x="30810" y="18847"/>
                  <a:pt x="34252" y="15405"/>
                  <a:pt x="38513" y="15405"/>
                </a:cubicBezTo>
                <a:lnTo>
                  <a:pt x="84728" y="15405"/>
                </a:lnTo>
                <a:cubicBezTo>
                  <a:pt x="88988" y="15405"/>
                  <a:pt x="92430" y="18847"/>
                  <a:pt x="92430" y="23108"/>
                </a:cubicBezTo>
                <a:cubicBezTo>
                  <a:pt x="92430" y="27368"/>
                  <a:pt x="88988" y="30810"/>
                  <a:pt x="84728" y="30810"/>
                </a:cubicBezTo>
                <a:lnTo>
                  <a:pt x="38513" y="30810"/>
                </a:lnTo>
                <a:cubicBezTo>
                  <a:pt x="34252" y="30810"/>
                  <a:pt x="30810" y="27368"/>
                  <a:pt x="30810" y="23108"/>
                </a:cubicBezTo>
                <a:close/>
                <a:moveTo>
                  <a:pt x="38513" y="42364"/>
                </a:moveTo>
                <a:lnTo>
                  <a:pt x="69323" y="42364"/>
                </a:lnTo>
                <a:cubicBezTo>
                  <a:pt x="73583" y="42364"/>
                  <a:pt x="77025" y="45806"/>
                  <a:pt x="77025" y="50066"/>
                </a:cubicBezTo>
                <a:cubicBezTo>
                  <a:pt x="77025" y="54327"/>
                  <a:pt x="73583" y="57769"/>
                  <a:pt x="69323" y="57769"/>
                </a:cubicBezTo>
                <a:lnTo>
                  <a:pt x="38513" y="57769"/>
                </a:lnTo>
                <a:cubicBezTo>
                  <a:pt x="34252" y="57769"/>
                  <a:pt x="30810" y="54327"/>
                  <a:pt x="30810" y="50066"/>
                </a:cubicBezTo>
                <a:cubicBezTo>
                  <a:pt x="30810" y="45806"/>
                  <a:pt x="34252" y="42364"/>
                  <a:pt x="38513" y="42364"/>
                </a:cubicBezTo>
                <a:close/>
                <a:moveTo>
                  <a:pt x="38513" y="69323"/>
                </a:moveTo>
                <a:lnTo>
                  <a:pt x="100133" y="69323"/>
                </a:lnTo>
                <a:cubicBezTo>
                  <a:pt x="104393" y="69323"/>
                  <a:pt x="107835" y="72765"/>
                  <a:pt x="107835" y="77025"/>
                </a:cubicBezTo>
                <a:cubicBezTo>
                  <a:pt x="107835" y="81286"/>
                  <a:pt x="104393" y="84728"/>
                  <a:pt x="100133" y="84728"/>
                </a:cubicBezTo>
                <a:lnTo>
                  <a:pt x="38513" y="84728"/>
                </a:lnTo>
                <a:cubicBezTo>
                  <a:pt x="34252" y="84728"/>
                  <a:pt x="30810" y="81286"/>
                  <a:pt x="30810" y="77025"/>
                </a:cubicBezTo>
                <a:cubicBezTo>
                  <a:pt x="30810" y="72765"/>
                  <a:pt x="34252" y="69323"/>
                  <a:pt x="38513" y="6932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8510589" y="4436436"/>
            <a:ext cx="3217058" cy="202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 7增速是大盘的</a:t>
            </a:r>
            <a:r>
              <a:rPr lang="en-US" sz="97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近2倍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127266" y="4953606"/>
            <a:ext cx="3714819" cy="1549308"/>
          </a:xfrm>
          <a:custGeom>
            <a:avLst/>
            <a:gdLst/>
            <a:ahLst/>
            <a:cxnLst/>
            <a:rect l="l" t="t" r="r" b="b"/>
            <a:pathLst>
              <a:path w="3714819" h="1549308">
                <a:moveTo>
                  <a:pt x="105632" y="0"/>
                </a:moveTo>
                <a:lnTo>
                  <a:pt x="3609187" y="0"/>
                </a:lnTo>
                <a:cubicBezTo>
                  <a:pt x="3667526" y="0"/>
                  <a:pt x="3714819" y="47293"/>
                  <a:pt x="3714819" y="105632"/>
                </a:cubicBezTo>
                <a:lnTo>
                  <a:pt x="3714819" y="1443676"/>
                </a:lnTo>
                <a:cubicBezTo>
                  <a:pt x="3714819" y="1502015"/>
                  <a:pt x="3667526" y="1549308"/>
                  <a:pt x="3609187" y="1549308"/>
                </a:cubicBezTo>
                <a:lnTo>
                  <a:pt x="105632" y="1549308"/>
                </a:lnTo>
                <a:cubicBezTo>
                  <a:pt x="47293" y="1549308"/>
                  <a:pt x="0" y="1502015"/>
                  <a:pt x="0" y="1443676"/>
                </a:cubicBezTo>
                <a:lnTo>
                  <a:pt x="0" y="105632"/>
                </a:lnTo>
                <a:cubicBezTo>
                  <a:pt x="0" y="47332"/>
                  <a:pt x="47332" y="0"/>
                  <a:pt x="10563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2817" dist="3521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8268113" y="5094452"/>
            <a:ext cx="3512352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8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关键观察指标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8285718" y="5472976"/>
            <a:ext cx="123240" cy="123240"/>
          </a:xfrm>
          <a:custGeom>
            <a:avLst/>
            <a:gdLst/>
            <a:ahLst/>
            <a:cxnLst/>
            <a:rect l="l" t="t" r="r" b="b"/>
            <a:pathLst>
              <a:path w="123240" h="123240">
                <a:moveTo>
                  <a:pt x="61620" y="123240"/>
                </a:moveTo>
                <a:cubicBezTo>
                  <a:pt x="95629" y="123240"/>
                  <a:pt x="123240" y="95629"/>
                  <a:pt x="123240" y="61620"/>
                </a:cubicBezTo>
                <a:cubicBezTo>
                  <a:pt x="123240" y="27611"/>
                  <a:pt x="95629" y="0"/>
                  <a:pt x="61620" y="0"/>
                </a:cubicBezTo>
                <a:cubicBezTo>
                  <a:pt x="27611" y="0"/>
                  <a:pt x="0" y="27611"/>
                  <a:pt x="0" y="61620"/>
                </a:cubicBezTo>
                <a:cubicBezTo>
                  <a:pt x="0" y="95629"/>
                  <a:pt x="27611" y="123240"/>
                  <a:pt x="61620" y="123240"/>
                </a:cubicBezTo>
                <a:close/>
                <a:moveTo>
                  <a:pt x="81936" y="51198"/>
                </a:moveTo>
                <a:lnTo>
                  <a:pt x="62679" y="82008"/>
                </a:lnTo>
                <a:cubicBezTo>
                  <a:pt x="61668" y="83621"/>
                  <a:pt x="59935" y="84632"/>
                  <a:pt x="58034" y="84728"/>
                </a:cubicBezTo>
                <a:cubicBezTo>
                  <a:pt x="56132" y="84824"/>
                  <a:pt x="54303" y="83958"/>
                  <a:pt x="53172" y="82417"/>
                </a:cubicBezTo>
                <a:lnTo>
                  <a:pt x="41618" y="67012"/>
                </a:lnTo>
                <a:cubicBezTo>
                  <a:pt x="39692" y="64461"/>
                  <a:pt x="40222" y="60850"/>
                  <a:pt x="42773" y="58924"/>
                </a:cubicBezTo>
                <a:cubicBezTo>
                  <a:pt x="45325" y="56999"/>
                  <a:pt x="48935" y="57528"/>
                  <a:pt x="50861" y="60080"/>
                </a:cubicBezTo>
                <a:lnTo>
                  <a:pt x="57360" y="68745"/>
                </a:lnTo>
                <a:lnTo>
                  <a:pt x="72139" y="45084"/>
                </a:lnTo>
                <a:cubicBezTo>
                  <a:pt x="73824" y="42388"/>
                  <a:pt x="77386" y="41546"/>
                  <a:pt x="80106" y="43255"/>
                </a:cubicBezTo>
                <a:cubicBezTo>
                  <a:pt x="82826" y="44964"/>
                  <a:pt x="83645" y="48502"/>
                  <a:pt x="81936" y="51222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49" name="Text 46"/>
          <p:cNvSpPr/>
          <p:nvPr/>
        </p:nvSpPr>
        <p:spPr>
          <a:xfrm>
            <a:off x="8492586" y="5446568"/>
            <a:ext cx="915500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AI业务营收占比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285718" y="5719457"/>
            <a:ext cx="123240" cy="123240"/>
          </a:xfrm>
          <a:custGeom>
            <a:avLst/>
            <a:gdLst/>
            <a:ahLst/>
            <a:cxnLst/>
            <a:rect l="l" t="t" r="r" b="b"/>
            <a:pathLst>
              <a:path w="123240" h="123240">
                <a:moveTo>
                  <a:pt x="61620" y="123240"/>
                </a:moveTo>
                <a:cubicBezTo>
                  <a:pt x="95629" y="123240"/>
                  <a:pt x="123240" y="95629"/>
                  <a:pt x="123240" y="61620"/>
                </a:cubicBezTo>
                <a:cubicBezTo>
                  <a:pt x="123240" y="27611"/>
                  <a:pt x="95629" y="0"/>
                  <a:pt x="61620" y="0"/>
                </a:cubicBezTo>
                <a:cubicBezTo>
                  <a:pt x="27611" y="0"/>
                  <a:pt x="0" y="27611"/>
                  <a:pt x="0" y="61620"/>
                </a:cubicBezTo>
                <a:cubicBezTo>
                  <a:pt x="0" y="95629"/>
                  <a:pt x="27611" y="123240"/>
                  <a:pt x="61620" y="123240"/>
                </a:cubicBezTo>
                <a:close/>
                <a:moveTo>
                  <a:pt x="81936" y="51198"/>
                </a:moveTo>
                <a:lnTo>
                  <a:pt x="62679" y="82008"/>
                </a:lnTo>
                <a:cubicBezTo>
                  <a:pt x="61668" y="83621"/>
                  <a:pt x="59935" y="84632"/>
                  <a:pt x="58034" y="84728"/>
                </a:cubicBezTo>
                <a:cubicBezTo>
                  <a:pt x="56132" y="84824"/>
                  <a:pt x="54303" y="83958"/>
                  <a:pt x="53172" y="82417"/>
                </a:cubicBezTo>
                <a:lnTo>
                  <a:pt x="41618" y="67012"/>
                </a:lnTo>
                <a:cubicBezTo>
                  <a:pt x="39692" y="64461"/>
                  <a:pt x="40222" y="60850"/>
                  <a:pt x="42773" y="58924"/>
                </a:cubicBezTo>
                <a:cubicBezTo>
                  <a:pt x="45325" y="56999"/>
                  <a:pt x="48935" y="57528"/>
                  <a:pt x="50861" y="60080"/>
                </a:cubicBezTo>
                <a:lnTo>
                  <a:pt x="57360" y="68745"/>
                </a:lnTo>
                <a:lnTo>
                  <a:pt x="72139" y="45084"/>
                </a:lnTo>
                <a:cubicBezTo>
                  <a:pt x="73824" y="42388"/>
                  <a:pt x="77386" y="41546"/>
                  <a:pt x="80106" y="43255"/>
                </a:cubicBezTo>
                <a:cubicBezTo>
                  <a:pt x="82826" y="44964"/>
                  <a:pt x="83645" y="48502"/>
                  <a:pt x="81936" y="51222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51" name="Text 48"/>
          <p:cNvSpPr/>
          <p:nvPr/>
        </p:nvSpPr>
        <p:spPr>
          <a:xfrm>
            <a:off x="8492586" y="5693049"/>
            <a:ext cx="968318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资本开支/营收比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285718" y="5965938"/>
            <a:ext cx="123240" cy="123240"/>
          </a:xfrm>
          <a:custGeom>
            <a:avLst/>
            <a:gdLst/>
            <a:ahLst/>
            <a:cxnLst/>
            <a:rect l="l" t="t" r="r" b="b"/>
            <a:pathLst>
              <a:path w="123240" h="123240">
                <a:moveTo>
                  <a:pt x="61620" y="123240"/>
                </a:moveTo>
                <a:cubicBezTo>
                  <a:pt x="95629" y="123240"/>
                  <a:pt x="123240" y="95629"/>
                  <a:pt x="123240" y="61620"/>
                </a:cubicBezTo>
                <a:cubicBezTo>
                  <a:pt x="123240" y="27611"/>
                  <a:pt x="95629" y="0"/>
                  <a:pt x="61620" y="0"/>
                </a:cubicBezTo>
                <a:cubicBezTo>
                  <a:pt x="27611" y="0"/>
                  <a:pt x="0" y="27611"/>
                  <a:pt x="0" y="61620"/>
                </a:cubicBezTo>
                <a:cubicBezTo>
                  <a:pt x="0" y="95629"/>
                  <a:pt x="27611" y="123240"/>
                  <a:pt x="61620" y="123240"/>
                </a:cubicBezTo>
                <a:close/>
                <a:moveTo>
                  <a:pt x="81936" y="51198"/>
                </a:moveTo>
                <a:lnTo>
                  <a:pt x="62679" y="82008"/>
                </a:lnTo>
                <a:cubicBezTo>
                  <a:pt x="61668" y="83621"/>
                  <a:pt x="59935" y="84632"/>
                  <a:pt x="58034" y="84728"/>
                </a:cubicBezTo>
                <a:cubicBezTo>
                  <a:pt x="56132" y="84824"/>
                  <a:pt x="54303" y="83958"/>
                  <a:pt x="53172" y="82417"/>
                </a:cubicBezTo>
                <a:lnTo>
                  <a:pt x="41618" y="67012"/>
                </a:lnTo>
                <a:cubicBezTo>
                  <a:pt x="39692" y="64461"/>
                  <a:pt x="40222" y="60850"/>
                  <a:pt x="42773" y="58924"/>
                </a:cubicBezTo>
                <a:cubicBezTo>
                  <a:pt x="45325" y="56999"/>
                  <a:pt x="48935" y="57528"/>
                  <a:pt x="50861" y="60080"/>
                </a:cubicBezTo>
                <a:lnTo>
                  <a:pt x="57360" y="68745"/>
                </a:lnTo>
                <a:lnTo>
                  <a:pt x="72139" y="45084"/>
                </a:lnTo>
                <a:cubicBezTo>
                  <a:pt x="73824" y="42388"/>
                  <a:pt x="77386" y="41546"/>
                  <a:pt x="80106" y="43255"/>
                </a:cubicBezTo>
                <a:cubicBezTo>
                  <a:pt x="82826" y="44964"/>
                  <a:pt x="83645" y="48502"/>
                  <a:pt x="81936" y="51222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53" name="Text 50"/>
          <p:cNvSpPr/>
          <p:nvPr/>
        </p:nvSpPr>
        <p:spPr>
          <a:xfrm>
            <a:off x="8492586" y="5939530"/>
            <a:ext cx="924303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经营利润率变化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285718" y="6212419"/>
            <a:ext cx="123240" cy="123240"/>
          </a:xfrm>
          <a:custGeom>
            <a:avLst/>
            <a:gdLst/>
            <a:ahLst/>
            <a:cxnLst/>
            <a:rect l="l" t="t" r="r" b="b"/>
            <a:pathLst>
              <a:path w="123240" h="123240">
                <a:moveTo>
                  <a:pt x="61620" y="123240"/>
                </a:moveTo>
                <a:cubicBezTo>
                  <a:pt x="95629" y="123240"/>
                  <a:pt x="123240" y="95629"/>
                  <a:pt x="123240" y="61620"/>
                </a:cubicBezTo>
                <a:cubicBezTo>
                  <a:pt x="123240" y="27611"/>
                  <a:pt x="95629" y="0"/>
                  <a:pt x="61620" y="0"/>
                </a:cubicBezTo>
                <a:cubicBezTo>
                  <a:pt x="27611" y="0"/>
                  <a:pt x="0" y="27611"/>
                  <a:pt x="0" y="61620"/>
                </a:cubicBezTo>
                <a:cubicBezTo>
                  <a:pt x="0" y="95629"/>
                  <a:pt x="27611" y="123240"/>
                  <a:pt x="61620" y="123240"/>
                </a:cubicBezTo>
                <a:close/>
                <a:moveTo>
                  <a:pt x="81936" y="51198"/>
                </a:moveTo>
                <a:lnTo>
                  <a:pt x="62679" y="82008"/>
                </a:lnTo>
                <a:cubicBezTo>
                  <a:pt x="61668" y="83621"/>
                  <a:pt x="59935" y="84632"/>
                  <a:pt x="58034" y="84728"/>
                </a:cubicBezTo>
                <a:cubicBezTo>
                  <a:pt x="56132" y="84824"/>
                  <a:pt x="54303" y="83958"/>
                  <a:pt x="53172" y="82417"/>
                </a:cubicBezTo>
                <a:lnTo>
                  <a:pt x="41618" y="67012"/>
                </a:lnTo>
                <a:cubicBezTo>
                  <a:pt x="39692" y="64461"/>
                  <a:pt x="40222" y="60850"/>
                  <a:pt x="42773" y="58924"/>
                </a:cubicBezTo>
                <a:cubicBezTo>
                  <a:pt x="45325" y="56999"/>
                  <a:pt x="48935" y="57528"/>
                  <a:pt x="50861" y="60080"/>
                </a:cubicBezTo>
                <a:lnTo>
                  <a:pt x="57360" y="68745"/>
                </a:lnTo>
                <a:lnTo>
                  <a:pt x="72139" y="45084"/>
                </a:lnTo>
                <a:cubicBezTo>
                  <a:pt x="73824" y="42388"/>
                  <a:pt x="77386" y="41546"/>
                  <a:pt x="80106" y="43255"/>
                </a:cubicBezTo>
                <a:cubicBezTo>
                  <a:pt x="82826" y="44964"/>
                  <a:pt x="83645" y="48502"/>
                  <a:pt x="81936" y="51222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55" name="Text 52"/>
          <p:cNvSpPr/>
          <p:nvPr/>
        </p:nvSpPr>
        <p:spPr>
          <a:xfrm>
            <a:off x="8492586" y="6186010"/>
            <a:ext cx="924303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自由现金流增长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pic>
        <p:nvPicPr>
          <p:cNvPr id="3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6677" y="366677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kern="0" spc="58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PRICE ACTION ANALYSIS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66677" y="660018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财报后的市场反应：价格行动分析框架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6677" y="1136698"/>
            <a:ext cx="880024" cy="36668"/>
          </a:xfrm>
          <a:custGeom>
            <a:avLst/>
            <a:gdLst/>
            <a:ahLst/>
            <a:cxnLst/>
            <a:rect l="l" t="t" r="r" b="b"/>
            <a:pathLst>
              <a:path w="880024" h="36668">
                <a:moveTo>
                  <a:pt x="0" y="0"/>
                </a:moveTo>
                <a:lnTo>
                  <a:pt x="880024" y="0"/>
                </a:lnTo>
                <a:lnTo>
                  <a:pt x="880024" y="36668"/>
                </a:lnTo>
                <a:lnTo>
                  <a:pt x="0" y="3666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66677" y="1320036"/>
            <a:ext cx="11531982" cy="23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这是判断</a:t>
            </a:r>
            <a:r>
              <a:rPr lang="en-US" sz="1155" b="1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"牛熊转换"</a:t>
            </a:r>
            <a:r>
              <a:rPr lang="en-US" sz="115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最敏感的信号体系，通过价格行为而非基本面本身来判断市场情绪转折点。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6677" y="1723380"/>
            <a:ext cx="5637654" cy="2860078"/>
          </a:xfrm>
          <a:custGeom>
            <a:avLst/>
            <a:gdLst/>
            <a:ahLst/>
            <a:cxnLst/>
            <a:rect l="l" t="t" r="r" b="b"/>
            <a:pathLst>
              <a:path w="5637654" h="2860078">
                <a:moveTo>
                  <a:pt x="36668" y="0"/>
                </a:moveTo>
                <a:lnTo>
                  <a:pt x="5600986" y="0"/>
                </a:lnTo>
                <a:cubicBezTo>
                  <a:pt x="5621237" y="0"/>
                  <a:pt x="5637654" y="16417"/>
                  <a:pt x="5637654" y="36668"/>
                </a:cubicBezTo>
                <a:lnTo>
                  <a:pt x="5637654" y="2750080"/>
                </a:lnTo>
                <a:cubicBezTo>
                  <a:pt x="5637654" y="2810830"/>
                  <a:pt x="5588406" y="2860078"/>
                  <a:pt x="5527656" y="2860078"/>
                </a:cubicBezTo>
                <a:lnTo>
                  <a:pt x="109999" y="2860078"/>
                </a:lnTo>
                <a:cubicBezTo>
                  <a:pt x="49248" y="2860078"/>
                  <a:pt x="0" y="2810830"/>
                  <a:pt x="0" y="2750080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002" dist="3666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6677" y="1723380"/>
            <a:ext cx="5637654" cy="36668"/>
          </a:xfrm>
          <a:custGeom>
            <a:avLst/>
            <a:gdLst/>
            <a:ahLst/>
            <a:cxnLst/>
            <a:rect l="l" t="t" r="r" b="b"/>
            <a:pathLst>
              <a:path w="5637654" h="36668">
                <a:moveTo>
                  <a:pt x="36668" y="0"/>
                </a:moveTo>
                <a:lnTo>
                  <a:pt x="5600986" y="0"/>
                </a:lnTo>
                <a:cubicBezTo>
                  <a:pt x="5621237" y="0"/>
                  <a:pt x="5637654" y="16417"/>
                  <a:pt x="5637654" y="36668"/>
                </a:cubicBezTo>
                <a:lnTo>
                  <a:pt x="5637654" y="36668"/>
                </a:lnTo>
                <a:lnTo>
                  <a:pt x="0" y="36668"/>
                </a:ln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10" name="Shape 7"/>
          <p:cNvSpPr/>
          <p:nvPr/>
        </p:nvSpPr>
        <p:spPr>
          <a:xfrm>
            <a:off x="550015" y="1943275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110003" y="0"/>
                </a:moveTo>
                <a:lnTo>
                  <a:pt x="330009" y="0"/>
                </a:lnTo>
                <a:cubicBezTo>
                  <a:pt x="390721" y="0"/>
                  <a:pt x="440012" y="49291"/>
                  <a:pt x="440012" y="110003"/>
                </a:cubicBezTo>
                <a:lnTo>
                  <a:pt x="440012" y="330009"/>
                </a:lnTo>
                <a:cubicBezTo>
                  <a:pt x="440012" y="390721"/>
                  <a:pt x="390721" y="440012"/>
                  <a:pt x="330009" y="440012"/>
                </a:cubicBezTo>
                <a:lnTo>
                  <a:pt x="110003" y="440012"/>
                </a:lnTo>
                <a:cubicBezTo>
                  <a:pt x="49291" y="440012"/>
                  <a:pt x="0" y="390721"/>
                  <a:pt x="0" y="330009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11" name="Shape 8"/>
          <p:cNvSpPr/>
          <p:nvPr/>
        </p:nvSpPr>
        <p:spPr>
          <a:xfrm>
            <a:off x="701269" y="2071611"/>
            <a:ext cx="137504" cy="183338"/>
          </a:xfrm>
          <a:custGeom>
            <a:avLst/>
            <a:gdLst/>
            <a:ahLst/>
            <a:cxnLst/>
            <a:rect l="l" t="t" r="r" b="b"/>
            <a:pathLst>
              <a:path w="137504" h="183338">
                <a:moveTo>
                  <a:pt x="60659" y="179972"/>
                </a:moveTo>
                <a:cubicBezTo>
                  <a:pt x="65135" y="184448"/>
                  <a:pt x="72404" y="184448"/>
                  <a:pt x="76880" y="179972"/>
                </a:cubicBezTo>
                <a:lnTo>
                  <a:pt x="134174" y="122679"/>
                </a:lnTo>
                <a:cubicBezTo>
                  <a:pt x="138650" y="118203"/>
                  <a:pt x="138650" y="110934"/>
                  <a:pt x="134174" y="106458"/>
                </a:cubicBezTo>
                <a:cubicBezTo>
                  <a:pt x="129698" y="101982"/>
                  <a:pt x="122428" y="101982"/>
                  <a:pt x="117952" y="106458"/>
                </a:cubicBezTo>
                <a:lnTo>
                  <a:pt x="80211" y="144200"/>
                </a:lnTo>
                <a:lnTo>
                  <a:pt x="80211" y="11459"/>
                </a:lnTo>
                <a:cubicBezTo>
                  <a:pt x="80211" y="5121"/>
                  <a:pt x="75090" y="0"/>
                  <a:pt x="68752" y="0"/>
                </a:cubicBezTo>
                <a:cubicBezTo>
                  <a:pt x="62414" y="0"/>
                  <a:pt x="57293" y="5121"/>
                  <a:pt x="57293" y="11459"/>
                </a:cubicBezTo>
                <a:lnTo>
                  <a:pt x="57293" y="144200"/>
                </a:lnTo>
                <a:lnTo>
                  <a:pt x="19551" y="106458"/>
                </a:lnTo>
                <a:cubicBezTo>
                  <a:pt x="15075" y="101982"/>
                  <a:pt x="7806" y="101982"/>
                  <a:pt x="3330" y="106458"/>
                </a:cubicBezTo>
                <a:cubicBezTo>
                  <a:pt x="-1146" y="110934"/>
                  <a:pt x="-1146" y="118203"/>
                  <a:pt x="3330" y="122679"/>
                </a:cubicBezTo>
                <a:lnTo>
                  <a:pt x="60623" y="1799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00030" y="1925053"/>
            <a:ext cx="1640878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利好不涨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00030" y="2218282"/>
            <a:ext cx="159504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7C1D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Good News, Bad Reaction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50015" y="2548291"/>
            <a:ext cx="5344313" cy="23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如果一家公司</a:t>
            </a:r>
            <a:r>
              <a:rPr lang="en-US" sz="1155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财报远超预期且指引乐观</a:t>
            </a:r>
            <a:r>
              <a:rPr lang="en-US" sz="115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，股价却</a:t>
            </a:r>
            <a:r>
              <a:rPr lang="en-US" sz="1155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冲高回落或收跌</a:t>
            </a:r>
            <a:r>
              <a:rPr lang="en-US" sz="115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50015" y="2896634"/>
            <a:ext cx="5270977" cy="990027"/>
          </a:xfrm>
          <a:custGeom>
            <a:avLst/>
            <a:gdLst/>
            <a:ahLst/>
            <a:cxnLst/>
            <a:rect l="l" t="t" r="r" b="b"/>
            <a:pathLst>
              <a:path w="5270977" h="990027">
                <a:moveTo>
                  <a:pt x="73331" y="0"/>
                </a:moveTo>
                <a:lnTo>
                  <a:pt x="5197646" y="0"/>
                </a:lnTo>
                <a:cubicBezTo>
                  <a:pt x="5238146" y="0"/>
                  <a:pt x="5270977" y="32832"/>
                  <a:pt x="5270977" y="73331"/>
                </a:cubicBezTo>
                <a:lnTo>
                  <a:pt x="5270977" y="916696"/>
                </a:lnTo>
                <a:cubicBezTo>
                  <a:pt x="5270977" y="957196"/>
                  <a:pt x="5238146" y="990027"/>
                  <a:pt x="5197646" y="990027"/>
                </a:cubicBezTo>
                <a:lnTo>
                  <a:pt x="73331" y="990027"/>
                </a:lnTo>
                <a:cubicBezTo>
                  <a:pt x="32832" y="990027"/>
                  <a:pt x="0" y="957196"/>
                  <a:pt x="0" y="916696"/>
                </a:cubicBezTo>
                <a:lnTo>
                  <a:pt x="0" y="73331"/>
                </a:lnTo>
                <a:cubicBezTo>
                  <a:pt x="0" y="32859"/>
                  <a:pt x="32859" y="0"/>
                  <a:pt x="73331" y="0"/>
                </a:cubicBezTo>
                <a:close/>
              </a:path>
            </a:pathLst>
          </a:custGeom>
          <a:solidFill>
            <a:srgbClr val="7C1D56">
              <a:alpha val="1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15020" y="3079972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146671"/>
                </a:moveTo>
                <a:cubicBezTo>
                  <a:pt x="113810" y="146671"/>
                  <a:pt x="146671" y="113810"/>
                  <a:pt x="146671" y="73335"/>
                </a:cubicBezTo>
                <a:cubicBezTo>
                  <a:pt x="146671" y="32860"/>
                  <a:pt x="113810" y="0"/>
                  <a:pt x="73335" y="0"/>
                </a:cubicBezTo>
                <a:cubicBezTo>
                  <a:pt x="32860" y="0"/>
                  <a:pt x="0" y="32860"/>
                  <a:pt x="0" y="73335"/>
                </a:cubicBezTo>
                <a:cubicBezTo>
                  <a:pt x="0" y="113810"/>
                  <a:pt x="32860" y="146671"/>
                  <a:pt x="73335" y="146671"/>
                </a:cubicBezTo>
                <a:close/>
                <a:moveTo>
                  <a:pt x="47840" y="47840"/>
                </a:moveTo>
                <a:cubicBezTo>
                  <a:pt x="50533" y="45147"/>
                  <a:pt x="54887" y="45147"/>
                  <a:pt x="57551" y="47840"/>
                </a:cubicBezTo>
                <a:lnTo>
                  <a:pt x="73307" y="63595"/>
                </a:lnTo>
                <a:lnTo>
                  <a:pt x="89062" y="47840"/>
                </a:lnTo>
                <a:cubicBezTo>
                  <a:pt x="91755" y="45147"/>
                  <a:pt x="96109" y="45147"/>
                  <a:pt x="98774" y="47840"/>
                </a:cubicBezTo>
                <a:cubicBezTo>
                  <a:pt x="101438" y="50533"/>
                  <a:pt x="101466" y="54887"/>
                  <a:pt x="98774" y="57551"/>
                </a:cubicBezTo>
                <a:lnTo>
                  <a:pt x="83018" y="73307"/>
                </a:lnTo>
                <a:lnTo>
                  <a:pt x="98774" y="89062"/>
                </a:lnTo>
                <a:cubicBezTo>
                  <a:pt x="101466" y="91755"/>
                  <a:pt x="101466" y="96109"/>
                  <a:pt x="98774" y="98774"/>
                </a:cubicBezTo>
                <a:cubicBezTo>
                  <a:pt x="96081" y="101438"/>
                  <a:pt x="91726" y="101466"/>
                  <a:pt x="89062" y="98774"/>
                </a:cubicBezTo>
                <a:lnTo>
                  <a:pt x="73307" y="83018"/>
                </a:lnTo>
                <a:lnTo>
                  <a:pt x="57551" y="98774"/>
                </a:lnTo>
                <a:cubicBezTo>
                  <a:pt x="54858" y="101466"/>
                  <a:pt x="50504" y="101466"/>
                  <a:pt x="47840" y="98774"/>
                </a:cubicBezTo>
                <a:cubicBezTo>
                  <a:pt x="45176" y="96081"/>
                  <a:pt x="45147" y="91726"/>
                  <a:pt x="47840" y="89062"/>
                </a:cubicBezTo>
                <a:lnTo>
                  <a:pt x="63595" y="73307"/>
                </a:lnTo>
                <a:lnTo>
                  <a:pt x="47840" y="57551"/>
                </a:lnTo>
                <a:cubicBezTo>
                  <a:pt x="45147" y="54858"/>
                  <a:pt x="45147" y="50504"/>
                  <a:pt x="47840" y="4784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17" name="Text 14"/>
          <p:cNvSpPr/>
          <p:nvPr/>
        </p:nvSpPr>
        <p:spPr>
          <a:xfrm>
            <a:off x="953359" y="3043305"/>
            <a:ext cx="1219200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通常意味着</a:t>
            </a:r>
            <a:r>
              <a:rPr lang="en-US" sz="1011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利好出尽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15020" y="3336646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146671"/>
                </a:moveTo>
                <a:cubicBezTo>
                  <a:pt x="113810" y="146671"/>
                  <a:pt x="146671" y="113810"/>
                  <a:pt x="146671" y="73335"/>
                </a:cubicBezTo>
                <a:cubicBezTo>
                  <a:pt x="146671" y="32860"/>
                  <a:pt x="113810" y="0"/>
                  <a:pt x="73335" y="0"/>
                </a:cubicBezTo>
                <a:cubicBezTo>
                  <a:pt x="32860" y="0"/>
                  <a:pt x="0" y="32860"/>
                  <a:pt x="0" y="73335"/>
                </a:cubicBezTo>
                <a:cubicBezTo>
                  <a:pt x="0" y="113810"/>
                  <a:pt x="32860" y="146671"/>
                  <a:pt x="73335" y="146671"/>
                </a:cubicBezTo>
                <a:close/>
                <a:moveTo>
                  <a:pt x="47840" y="47840"/>
                </a:moveTo>
                <a:cubicBezTo>
                  <a:pt x="50533" y="45147"/>
                  <a:pt x="54887" y="45147"/>
                  <a:pt x="57551" y="47840"/>
                </a:cubicBezTo>
                <a:lnTo>
                  <a:pt x="73307" y="63595"/>
                </a:lnTo>
                <a:lnTo>
                  <a:pt x="89062" y="47840"/>
                </a:lnTo>
                <a:cubicBezTo>
                  <a:pt x="91755" y="45147"/>
                  <a:pt x="96109" y="45147"/>
                  <a:pt x="98774" y="47840"/>
                </a:cubicBezTo>
                <a:cubicBezTo>
                  <a:pt x="101438" y="50533"/>
                  <a:pt x="101466" y="54887"/>
                  <a:pt x="98774" y="57551"/>
                </a:cubicBezTo>
                <a:lnTo>
                  <a:pt x="83018" y="73307"/>
                </a:lnTo>
                <a:lnTo>
                  <a:pt x="98774" y="89062"/>
                </a:lnTo>
                <a:cubicBezTo>
                  <a:pt x="101466" y="91755"/>
                  <a:pt x="101466" y="96109"/>
                  <a:pt x="98774" y="98774"/>
                </a:cubicBezTo>
                <a:cubicBezTo>
                  <a:pt x="96081" y="101438"/>
                  <a:pt x="91726" y="101466"/>
                  <a:pt x="89062" y="98774"/>
                </a:cubicBezTo>
                <a:lnTo>
                  <a:pt x="73307" y="83018"/>
                </a:lnTo>
                <a:lnTo>
                  <a:pt x="57551" y="98774"/>
                </a:lnTo>
                <a:cubicBezTo>
                  <a:pt x="54858" y="101466"/>
                  <a:pt x="50504" y="101466"/>
                  <a:pt x="47840" y="98774"/>
                </a:cubicBezTo>
                <a:cubicBezTo>
                  <a:pt x="45176" y="96081"/>
                  <a:pt x="45147" y="91726"/>
                  <a:pt x="47840" y="89062"/>
                </a:cubicBezTo>
                <a:lnTo>
                  <a:pt x="63595" y="73307"/>
                </a:lnTo>
                <a:lnTo>
                  <a:pt x="47840" y="57551"/>
                </a:lnTo>
                <a:cubicBezTo>
                  <a:pt x="45147" y="54858"/>
                  <a:pt x="45147" y="50504"/>
                  <a:pt x="47840" y="4784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19" name="Text 16"/>
          <p:cNvSpPr/>
          <p:nvPr/>
        </p:nvSpPr>
        <p:spPr>
          <a:xfrm>
            <a:off x="953359" y="3299978"/>
            <a:ext cx="134753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市场情绪可能</a:t>
            </a:r>
            <a:r>
              <a:rPr lang="en-US" sz="1011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已经见顶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15020" y="3593320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146671"/>
                </a:moveTo>
                <a:cubicBezTo>
                  <a:pt x="113810" y="146671"/>
                  <a:pt x="146671" y="113810"/>
                  <a:pt x="146671" y="73335"/>
                </a:cubicBezTo>
                <a:cubicBezTo>
                  <a:pt x="146671" y="32860"/>
                  <a:pt x="113810" y="0"/>
                  <a:pt x="73335" y="0"/>
                </a:cubicBezTo>
                <a:cubicBezTo>
                  <a:pt x="32860" y="0"/>
                  <a:pt x="0" y="32860"/>
                  <a:pt x="0" y="73335"/>
                </a:cubicBezTo>
                <a:cubicBezTo>
                  <a:pt x="0" y="113810"/>
                  <a:pt x="32860" y="146671"/>
                  <a:pt x="73335" y="146671"/>
                </a:cubicBezTo>
                <a:close/>
                <a:moveTo>
                  <a:pt x="47840" y="47840"/>
                </a:moveTo>
                <a:cubicBezTo>
                  <a:pt x="50533" y="45147"/>
                  <a:pt x="54887" y="45147"/>
                  <a:pt x="57551" y="47840"/>
                </a:cubicBezTo>
                <a:lnTo>
                  <a:pt x="73307" y="63595"/>
                </a:lnTo>
                <a:lnTo>
                  <a:pt x="89062" y="47840"/>
                </a:lnTo>
                <a:cubicBezTo>
                  <a:pt x="91755" y="45147"/>
                  <a:pt x="96109" y="45147"/>
                  <a:pt x="98774" y="47840"/>
                </a:cubicBezTo>
                <a:cubicBezTo>
                  <a:pt x="101438" y="50533"/>
                  <a:pt x="101466" y="54887"/>
                  <a:pt x="98774" y="57551"/>
                </a:cubicBezTo>
                <a:lnTo>
                  <a:pt x="83018" y="73307"/>
                </a:lnTo>
                <a:lnTo>
                  <a:pt x="98774" y="89062"/>
                </a:lnTo>
                <a:cubicBezTo>
                  <a:pt x="101466" y="91755"/>
                  <a:pt x="101466" y="96109"/>
                  <a:pt x="98774" y="98774"/>
                </a:cubicBezTo>
                <a:cubicBezTo>
                  <a:pt x="96081" y="101438"/>
                  <a:pt x="91726" y="101466"/>
                  <a:pt x="89062" y="98774"/>
                </a:cubicBezTo>
                <a:lnTo>
                  <a:pt x="73307" y="83018"/>
                </a:lnTo>
                <a:lnTo>
                  <a:pt x="57551" y="98774"/>
                </a:lnTo>
                <a:cubicBezTo>
                  <a:pt x="54858" y="101466"/>
                  <a:pt x="50504" y="101466"/>
                  <a:pt x="47840" y="98774"/>
                </a:cubicBezTo>
                <a:cubicBezTo>
                  <a:pt x="45176" y="96081"/>
                  <a:pt x="45147" y="91726"/>
                  <a:pt x="47840" y="89062"/>
                </a:cubicBezTo>
                <a:lnTo>
                  <a:pt x="63595" y="73307"/>
                </a:lnTo>
                <a:lnTo>
                  <a:pt x="47840" y="57551"/>
                </a:lnTo>
                <a:cubicBezTo>
                  <a:pt x="45147" y="54858"/>
                  <a:pt x="45147" y="50504"/>
                  <a:pt x="47840" y="4784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21" name="Text 18"/>
          <p:cNvSpPr/>
          <p:nvPr/>
        </p:nvSpPr>
        <p:spPr>
          <a:xfrm>
            <a:off x="953359" y="3556652"/>
            <a:ext cx="1219200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主力资金借利好</a:t>
            </a:r>
            <a:r>
              <a:rPr lang="en-US" sz="1011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出货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68349" y="3996664"/>
            <a:ext cx="5252644" cy="403344"/>
          </a:xfrm>
          <a:custGeom>
            <a:avLst/>
            <a:gdLst/>
            <a:ahLst/>
            <a:cxnLst/>
            <a:rect l="l" t="t" r="r" b="b"/>
            <a:pathLst>
              <a:path w="5252644" h="403344">
                <a:moveTo>
                  <a:pt x="36668" y="0"/>
                </a:moveTo>
                <a:lnTo>
                  <a:pt x="5179308" y="0"/>
                </a:lnTo>
                <a:cubicBezTo>
                  <a:pt x="5219810" y="0"/>
                  <a:pt x="5252644" y="32834"/>
                  <a:pt x="5252644" y="73336"/>
                </a:cubicBezTo>
                <a:lnTo>
                  <a:pt x="5252644" y="330008"/>
                </a:lnTo>
                <a:cubicBezTo>
                  <a:pt x="5252644" y="370511"/>
                  <a:pt x="5219810" y="403344"/>
                  <a:pt x="5179308" y="403344"/>
                </a:cubicBezTo>
                <a:lnTo>
                  <a:pt x="36668" y="403344"/>
                </a:lnTo>
                <a:cubicBezTo>
                  <a:pt x="16430" y="403344"/>
                  <a:pt x="0" y="386914"/>
                  <a:pt x="0" y="366677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7C1D56">
              <a:alpha val="5098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568349" y="3996664"/>
            <a:ext cx="36668" cy="403344"/>
          </a:xfrm>
          <a:custGeom>
            <a:avLst/>
            <a:gdLst/>
            <a:ahLst/>
            <a:cxnLst/>
            <a:rect l="l" t="t" r="r" b="b"/>
            <a:pathLst>
              <a:path w="36668" h="403344">
                <a:moveTo>
                  <a:pt x="36668" y="0"/>
                </a:moveTo>
                <a:lnTo>
                  <a:pt x="36668" y="0"/>
                </a:lnTo>
                <a:lnTo>
                  <a:pt x="36668" y="403344"/>
                </a:lnTo>
                <a:lnTo>
                  <a:pt x="36668" y="403344"/>
                </a:lnTo>
                <a:cubicBezTo>
                  <a:pt x="16430" y="403344"/>
                  <a:pt x="0" y="386914"/>
                  <a:pt x="0" y="366677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24" name="Shape 21"/>
          <p:cNvSpPr/>
          <p:nvPr/>
        </p:nvSpPr>
        <p:spPr>
          <a:xfrm>
            <a:off x="731062" y="4128667"/>
            <a:ext cx="96253" cy="128337"/>
          </a:xfrm>
          <a:custGeom>
            <a:avLst/>
            <a:gdLst/>
            <a:ahLst/>
            <a:cxnLst/>
            <a:rect l="l" t="t" r="r" b="b"/>
            <a:pathLst>
              <a:path w="96253" h="128337">
                <a:moveTo>
                  <a:pt x="73418" y="96253"/>
                </a:moveTo>
                <a:cubicBezTo>
                  <a:pt x="75248" y="90663"/>
                  <a:pt x="78907" y="85600"/>
                  <a:pt x="83043" y="81238"/>
                </a:cubicBezTo>
                <a:cubicBezTo>
                  <a:pt x="91239" y="72616"/>
                  <a:pt x="96253" y="60960"/>
                  <a:pt x="96253" y="48126"/>
                </a:cubicBezTo>
                <a:cubicBezTo>
                  <a:pt x="96253" y="21557"/>
                  <a:pt x="74696" y="0"/>
                  <a:pt x="48126" y="0"/>
                </a:cubicBezTo>
                <a:cubicBezTo>
                  <a:pt x="21557" y="0"/>
                  <a:pt x="0" y="21557"/>
                  <a:pt x="0" y="48126"/>
                </a:cubicBezTo>
                <a:cubicBezTo>
                  <a:pt x="0" y="60960"/>
                  <a:pt x="5013" y="72616"/>
                  <a:pt x="13210" y="81238"/>
                </a:cubicBezTo>
                <a:cubicBezTo>
                  <a:pt x="17346" y="85600"/>
                  <a:pt x="21030" y="90663"/>
                  <a:pt x="22835" y="96253"/>
                </a:cubicBezTo>
                <a:lnTo>
                  <a:pt x="73393" y="96253"/>
                </a:lnTo>
                <a:close/>
                <a:moveTo>
                  <a:pt x="72189" y="108284"/>
                </a:moveTo>
                <a:lnTo>
                  <a:pt x="24063" y="108284"/>
                </a:lnTo>
                <a:lnTo>
                  <a:pt x="24063" y="112295"/>
                </a:lnTo>
                <a:cubicBezTo>
                  <a:pt x="24063" y="123374"/>
                  <a:pt x="33037" y="132347"/>
                  <a:pt x="44116" y="132347"/>
                </a:cubicBezTo>
                <a:lnTo>
                  <a:pt x="52137" y="132347"/>
                </a:lnTo>
                <a:cubicBezTo>
                  <a:pt x="63216" y="132347"/>
                  <a:pt x="72189" y="123374"/>
                  <a:pt x="72189" y="112295"/>
                </a:cubicBezTo>
                <a:lnTo>
                  <a:pt x="72189" y="108284"/>
                </a:lnTo>
                <a:close/>
                <a:moveTo>
                  <a:pt x="46121" y="28074"/>
                </a:moveTo>
                <a:cubicBezTo>
                  <a:pt x="36145" y="28074"/>
                  <a:pt x="28074" y="36145"/>
                  <a:pt x="28074" y="46121"/>
                </a:cubicBezTo>
                <a:cubicBezTo>
                  <a:pt x="28074" y="49455"/>
                  <a:pt x="25392" y="52137"/>
                  <a:pt x="22058" y="52137"/>
                </a:cubicBezTo>
                <a:cubicBezTo>
                  <a:pt x="18724" y="52137"/>
                  <a:pt x="16042" y="49455"/>
                  <a:pt x="16042" y="46121"/>
                </a:cubicBezTo>
                <a:cubicBezTo>
                  <a:pt x="16042" y="29502"/>
                  <a:pt x="29502" y="16042"/>
                  <a:pt x="46121" y="16042"/>
                </a:cubicBezTo>
                <a:cubicBezTo>
                  <a:pt x="49455" y="16042"/>
                  <a:pt x="52137" y="18724"/>
                  <a:pt x="52137" y="22058"/>
                </a:cubicBezTo>
                <a:cubicBezTo>
                  <a:pt x="52137" y="25392"/>
                  <a:pt x="49455" y="28074"/>
                  <a:pt x="46121" y="28074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25" name="Text 22"/>
          <p:cNvSpPr/>
          <p:nvPr/>
        </p:nvSpPr>
        <p:spPr>
          <a:xfrm>
            <a:off x="914624" y="4106667"/>
            <a:ext cx="486053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案例特征：</a:t>
            </a:r>
            <a:r>
              <a:rPr lang="en-US" sz="101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散户看到利好追高买入，机构趁机兑现利润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86638" y="1723380"/>
            <a:ext cx="5637654" cy="2860078"/>
          </a:xfrm>
          <a:custGeom>
            <a:avLst/>
            <a:gdLst/>
            <a:ahLst/>
            <a:cxnLst/>
            <a:rect l="l" t="t" r="r" b="b"/>
            <a:pathLst>
              <a:path w="5637654" h="2860078">
                <a:moveTo>
                  <a:pt x="36668" y="0"/>
                </a:moveTo>
                <a:lnTo>
                  <a:pt x="5600986" y="0"/>
                </a:lnTo>
                <a:cubicBezTo>
                  <a:pt x="5621237" y="0"/>
                  <a:pt x="5637654" y="16417"/>
                  <a:pt x="5637654" y="36668"/>
                </a:cubicBezTo>
                <a:lnTo>
                  <a:pt x="5637654" y="2750080"/>
                </a:lnTo>
                <a:cubicBezTo>
                  <a:pt x="5637654" y="2810830"/>
                  <a:pt x="5588406" y="2860078"/>
                  <a:pt x="5527656" y="2860078"/>
                </a:cubicBezTo>
                <a:lnTo>
                  <a:pt x="109999" y="2860078"/>
                </a:lnTo>
                <a:cubicBezTo>
                  <a:pt x="49248" y="2860078"/>
                  <a:pt x="0" y="2810830"/>
                  <a:pt x="0" y="2750080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55002" dist="3666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86638" y="1723380"/>
            <a:ext cx="5637654" cy="36668"/>
          </a:xfrm>
          <a:custGeom>
            <a:avLst/>
            <a:gdLst/>
            <a:ahLst/>
            <a:cxnLst/>
            <a:rect l="l" t="t" r="r" b="b"/>
            <a:pathLst>
              <a:path w="5637654" h="36668">
                <a:moveTo>
                  <a:pt x="36668" y="0"/>
                </a:moveTo>
                <a:lnTo>
                  <a:pt x="5600986" y="0"/>
                </a:lnTo>
                <a:cubicBezTo>
                  <a:pt x="5621237" y="0"/>
                  <a:pt x="5637654" y="16417"/>
                  <a:pt x="5637654" y="36668"/>
                </a:cubicBezTo>
                <a:lnTo>
                  <a:pt x="5637654" y="36668"/>
                </a:lnTo>
                <a:lnTo>
                  <a:pt x="0" y="36668"/>
                </a:ln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8" name="Shape 25"/>
          <p:cNvSpPr/>
          <p:nvPr/>
        </p:nvSpPr>
        <p:spPr>
          <a:xfrm>
            <a:off x="6369976" y="1943275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110003" y="0"/>
                </a:moveTo>
                <a:lnTo>
                  <a:pt x="330009" y="0"/>
                </a:lnTo>
                <a:cubicBezTo>
                  <a:pt x="390721" y="0"/>
                  <a:pt x="440012" y="49291"/>
                  <a:pt x="440012" y="110003"/>
                </a:cubicBezTo>
                <a:lnTo>
                  <a:pt x="440012" y="330009"/>
                </a:lnTo>
                <a:cubicBezTo>
                  <a:pt x="440012" y="390721"/>
                  <a:pt x="390721" y="440012"/>
                  <a:pt x="330009" y="440012"/>
                </a:cubicBezTo>
                <a:lnTo>
                  <a:pt x="110003" y="440012"/>
                </a:lnTo>
                <a:cubicBezTo>
                  <a:pt x="49291" y="440012"/>
                  <a:pt x="0" y="390721"/>
                  <a:pt x="0" y="330009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9" name="Shape 26"/>
          <p:cNvSpPr/>
          <p:nvPr/>
        </p:nvSpPr>
        <p:spPr>
          <a:xfrm>
            <a:off x="6521230" y="2071611"/>
            <a:ext cx="137504" cy="183338"/>
          </a:xfrm>
          <a:custGeom>
            <a:avLst/>
            <a:gdLst/>
            <a:ahLst/>
            <a:cxnLst/>
            <a:rect l="l" t="t" r="r" b="b"/>
            <a:pathLst>
              <a:path w="137504" h="183338">
                <a:moveTo>
                  <a:pt x="76845" y="6231"/>
                </a:moveTo>
                <a:cubicBezTo>
                  <a:pt x="72369" y="1755"/>
                  <a:pt x="65099" y="1755"/>
                  <a:pt x="60623" y="6231"/>
                </a:cubicBezTo>
                <a:lnTo>
                  <a:pt x="3330" y="63524"/>
                </a:lnTo>
                <a:cubicBezTo>
                  <a:pt x="-1146" y="68000"/>
                  <a:pt x="-1146" y="75269"/>
                  <a:pt x="3330" y="79745"/>
                </a:cubicBezTo>
                <a:cubicBezTo>
                  <a:pt x="7806" y="84221"/>
                  <a:pt x="15075" y="84221"/>
                  <a:pt x="19551" y="79745"/>
                </a:cubicBezTo>
                <a:lnTo>
                  <a:pt x="57293" y="42003"/>
                </a:lnTo>
                <a:lnTo>
                  <a:pt x="57293" y="174744"/>
                </a:lnTo>
                <a:cubicBezTo>
                  <a:pt x="57293" y="181082"/>
                  <a:pt x="62414" y="186203"/>
                  <a:pt x="68752" y="186203"/>
                </a:cubicBezTo>
                <a:cubicBezTo>
                  <a:pt x="75090" y="186203"/>
                  <a:pt x="80211" y="181082"/>
                  <a:pt x="80211" y="174744"/>
                </a:cubicBezTo>
                <a:lnTo>
                  <a:pt x="80211" y="42003"/>
                </a:lnTo>
                <a:lnTo>
                  <a:pt x="117952" y="79745"/>
                </a:lnTo>
                <a:cubicBezTo>
                  <a:pt x="122428" y="84221"/>
                  <a:pt x="129698" y="84221"/>
                  <a:pt x="134174" y="79745"/>
                </a:cubicBezTo>
                <a:cubicBezTo>
                  <a:pt x="138650" y="75269"/>
                  <a:pt x="138650" y="68000"/>
                  <a:pt x="134174" y="63524"/>
                </a:cubicBezTo>
                <a:lnTo>
                  <a:pt x="76880" y="623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6919991" y="1925053"/>
            <a:ext cx="1640878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利空不跌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919991" y="2218282"/>
            <a:ext cx="159504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Bad News, Good Reaction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6369976" y="2548291"/>
            <a:ext cx="5344313" cy="23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如果一家</a:t>
            </a:r>
            <a:r>
              <a:rPr lang="en-US" sz="1155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业绩爆雷</a:t>
            </a:r>
            <a:r>
              <a:rPr lang="en-US" sz="115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但股价</a:t>
            </a:r>
            <a:r>
              <a:rPr lang="en-US" sz="1155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拒绝破位</a:t>
            </a:r>
            <a:r>
              <a:rPr lang="en-US" sz="1155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，甚至反弹：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69976" y="2896634"/>
            <a:ext cx="5270977" cy="990027"/>
          </a:xfrm>
          <a:custGeom>
            <a:avLst/>
            <a:gdLst/>
            <a:ahLst/>
            <a:cxnLst/>
            <a:rect l="l" t="t" r="r" b="b"/>
            <a:pathLst>
              <a:path w="5270977" h="990027">
                <a:moveTo>
                  <a:pt x="73331" y="0"/>
                </a:moveTo>
                <a:lnTo>
                  <a:pt x="5197646" y="0"/>
                </a:lnTo>
                <a:cubicBezTo>
                  <a:pt x="5238146" y="0"/>
                  <a:pt x="5270977" y="32832"/>
                  <a:pt x="5270977" y="73331"/>
                </a:cubicBezTo>
                <a:lnTo>
                  <a:pt x="5270977" y="916696"/>
                </a:lnTo>
                <a:cubicBezTo>
                  <a:pt x="5270977" y="957196"/>
                  <a:pt x="5238146" y="990027"/>
                  <a:pt x="5197646" y="990027"/>
                </a:cubicBezTo>
                <a:lnTo>
                  <a:pt x="73331" y="990027"/>
                </a:lnTo>
                <a:cubicBezTo>
                  <a:pt x="32832" y="990027"/>
                  <a:pt x="0" y="957196"/>
                  <a:pt x="0" y="916696"/>
                </a:cubicBezTo>
                <a:lnTo>
                  <a:pt x="0" y="73331"/>
                </a:lnTo>
                <a:cubicBezTo>
                  <a:pt x="0" y="32859"/>
                  <a:pt x="32859" y="0"/>
                  <a:pt x="73331" y="0"/>
                </a:cubicBezTo>
                <a:close/>
              </a:path>
            </a:pathLst>
          </a:custGeom>
          <a:solidFill>
            <a:srgbClr val="8F5C9A">
              <a:alpha val="10196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534981" y="3079972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146671"/>
                </a:moveTo>
                <a:cubicBezTo>
                  <a:pt x="113810" y="146671"/>
                  <a:pt x="146671" y="113810"/>
                  <a:pt x="146671" y="73335"/>
                </a:cubicBezTo>
                <a:cubicBezTo>
                  <a:pt x="146671" y="32860"/>
                  <a:pt x="113810" y="0"/>
                  <a:pt x="73335" y="0"/>
                </a:cubicBezTo>
                <a:cubicBezTo>
                  <a:pt x="32860" y="0"/>
                  <a:pt x="0" y="32860"/>
                  <a:pt x="0" y="73335"/>
                </a:cubicBezTo>
                <a:cubicBezTo>
                  <a:pt x="0" y="113810"/>
                  <a:pt x="32860" y="146671"/>
                  <a:pt x="73335" y="146671"/>
                </a:cubicBezTo>
                <a:close/>
                <a:moveTo>
                  <a:pt x="97513" y="60931"/>
                </a:moveTo>
                <a:lnTo>
                  <a:pt x="74596" y="97599"/>
                </a:lnTo>
                <a:cubicBezTo>
                  <a:pt x="73393" y="99518"/>
                  <a:pt x="71330" y="100722"/>
                  <a:pt x="69067" y="100836"/>
                </a:cubicBezTo>
                <a:cubicBezTo>
                  <a:pt x="66804" y="100951"/>
                  <a:pt x="64627" y="99919"/>
                  <a:pt x="63280" y="98086"/>
                </a:cubicBezTo>
                <a:lnTo>
                  <a:pt x="49530" y="79752"/>
                </a:lnTo>
                <a:cubicBezTo>
                  <a:pt x="47238" y="76716"/>
                  <a:pt x="47868" y="72419"/>
                  <a:pt x="50905" y="70127"/>
                </a:cubicBezTo>
                <a:cubicBezTo>
                  <a:pt x="53942" y="67835"/>
                  <a:pt x="58239" y="68465"/>
                  <a:pt x="60530" y="71502"/>
                </a:cubicBezTo>
                <a:lnTo>
                  <a:pt x="68265" y="81815"/>
                </a:lnTo>
                <a:lnTo>
                  <a:pt x="85854" y="53655"/>
                </a:lnTo>
                <a:cubicBezTo>
                  <a:pt x="87859" y="50447"/>
                  <a:pt x="92099" y="49444"/>
                  <a:pt x="95336" y="51478"/>
                </a:cubicBezTo>
                <a:cubicBezTo>
                  <a:pt x="98573" y="53512"/>
                  <a:pt x="99547" y="57723"/>
                  <a:pt x="97513" y="6096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35" name="Text 32"/>
          <p:cNvSpPr/>
          <p:nvPr/>
        </p:nvSpPr>
        <p:spPr>
          <a:xfrm>
            <a:off x="6773321" y="3043305"/>
            <a:ext cx="962526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说明</a:t>
            </a:r>
            <a:r>
              <a:rPr lang="en-US" sz="1011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抛压已枯竭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534981" y="3336646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146671"/>
                </a:moveTo>
                <a:cubicBezTo>
                  <a:pt x="113810" y="146671"/>
                  <a:pt x="146671" y="113810"/>
                  <a:pt x="146671" y="73335"/>
                </a:cubicBezTo>
                <a:cubicBezTo>
                  <a:pt x="146671" y="32860"/>
                  <a:pt x="113810" y="0"/>
                  <a:pt x="73335" y="0"/>
                </a:cubicBezTo>
                <a:cubicBezTo>
                  <a:pt x="32860" y="0"/>
                  <a:pt x="0" y="32860"/>
                  <a:pt x="0" y="73335"/>
                </a:cubicBezTo>
                <a:cubicBezTo>
                  <a:pt x="0" y="113810"/>
                  <a:pt x="32860" y="146671"/>
                  <a:pt x="73335" y="146671"/>
                </a:cubicBezTo>
                <a:close/>
                <a:moveTo>
                  <a:pt x="97513" y="60931"/>
                </a:moveTo>
                <a:lnTo>
                  <a:pt x="74596" y="97599"/>
                </a:lnTo>
                <a:cubicBezTo>
                  <a:pt x="73393" y="99518"/>
                  <a:pt x="71330" y="100722"/>
                  <a:pt x="69067" y="100836"/>
                </a:cubicBezTo>
                <a:cubicBezTo>
                  <a:pt x="66804" y="100951"/>
                  <a:pt x="64627" y="99919"/>
                  <a:pt x="63280" y="98086"/>
                </a:cubicBezTo>
                <a:lnTo>
                  <a:pt x="49530" y="79752"/>
                </a:lnTo>
                <a:cubicBezTo>
                  <a:pt x="47238" y="76716"/>
                  <a:pt x="47868" y="72419"/>
                  <a:pt x="50905" y="70127"/>
                </a:cubicBezTo>
                <a:cubicBezTo>
                  <a:pt x="53942" y="67835"/>
                  <a:pt x="58239" y="68465"/>
                  <a:pt x="60530" y="71502"/>
                </a:cubicBezTo>
                <a:lnTo>
                  <a:pt x="68265" y="81815"/>
                </a:lnTo>
                <a:lnTo>
                  <a:pt x="85854" y="53655"/>
                </a:lnTo>
                <a:cubicBezTo>
                  <a:pt x="87859" y="50447"/>
                  <a:pt x="92099" y="49444"/>
                  <a:pt x="95336" y="51478"/>
                </a:cubicBezTo>
                <a:cubicBezTo>
                  <a:pt x="98573" y="53512"/>
                  <a:pt x="99547" y="57723"/>
                  <a:pt x="97513" y="6096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37" name="Text 34"/>
          <p:cNvSpPr/>
          <p:nvPr/>
        </p:nvSpPr>
        <p:spPr>
          <a:xfrm>
            <a:off x="6773321" y="3299978"/>
            <a:ext cx="1090863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市场底部</a:t>
            </a:r>
            <a:r>
              <a:rPr lang="en-US" sz="1011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正在形成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534981" y="3593320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146671"/>
                </a:moveTo>
                <a:cubicBezTo>
                  <a:pt x="113810" y="146671"/>
                  <a:pt x="146671" y="113810"/>
                  <a:pt x="146671" y="73335"/>
                </a:cubicBezTo>
                <a:cubicBezTo>
                  <a:pt x="146671" y="32860"/>
                  <a:pt x="113810" y="0"/>
                  <a:pt x="73335" y="0"/>
                </a:cubicBezTo>
                <a:cubicBezTo>
                  <a:pt x="32860" y="0"/>
                  <a:pt x="0" y="32860"/>
                  <a:pt x="0" y="73335"/>
                </a:cubicBezTo>
                <a:cubicBezTo>
                  <a:pt x="0" y="113810"/>
                  <a:pt x="32860" y="146671"/>
                  <a:pt x="73335" y="146671"/>
                </a:cubicBezTo>
                <a:close/>
                <a:moveTo>
                  <a:pt x="97513" y="60931"/>
                </a:moveTo>
                <a:lnTo>
                  <a:pt x="74596" y="97599"/>
                </a:lnTo>
                <a:cubicBezTo>
                  <a:pt x="73393" y="99518"/>
                  <a:pt x="71330" y="100722"/>
                  <a:pt x="69067" y="100836"/>
                </a:cubicBezTo>
                <a:cubicBezTo>
                  <a:pt x="66804" y="100951"/>
                  <a:pt x="64627" y="99919"/>
                  <a:pt x="63280" y="98086"/>
                </a:cubicBezTo>
                <a:lnTo>
                  <a:pt x="49530" y="79752"/>
                </a:lnTo>
                <a:cubicBezTo>
                  <a:pt x="47238" y="76716"/>
                  <a:pt x="47868" y="72419"/>
                  <a:pt x="50905" y="70127"/>
                </a:cubicBezTo>
                <a:cubicBezTo>
                  <a:pt x="53942" y="67835"/>
                  <a:pt x="58239" y="68465"/>
                  <a:pt x="60530" y="71502"/>
                </a:cubicBezTo>
                <a:lnTo>
                  <a:pt x="68265" y="81815"/>
                </a:lnTo>
                <a:lnTo>
                  <a:pt x="85854" y="53655"/>
                </a:lnTo>
                <a:cubicBezTo>
                  <a:pt x="87859" y="50447"/>
                  <a:pt x="92099" y="49444"/>
                  <a:pt x="95336" y="51478"/>
                </a:cubicBezTo>
                <a:cubicBezTo>
                  <a:pt x="98573" y="53512"/>
                  <a:pt x="99547" y="57723"/>
                  <a:pt x="97513" y="6096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39" name="Text 36"/>
          <p:cNvSpPr/>
          <p:nvPr/>
        </p:nvSpPr>
        <p:spPr>
          <a:xfrm>
            <a:off x="6773321" y="3556652"/>
            <a:ext cx="962526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机构在低位</a:t>
            </a:r>
            <a:r>
              <a:rPr lang="en-US" sz="1011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吸筹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6388310" y="3996664"/>
            <a:ext cx="5252644" cy="403344"/>
          </a:xfrm>
          <a:custGeom>
            <a:avLst/>
            <a:gdLst/>
            <a:ahLst/>
            <a:cxnLst/>
            <a:rect l="l" t="t" r="r" b="b"/>
            <a:pathLst>
              <a:path w="5252644" h="403344">
                <a:moveTo>
                  <a:pt x="36668" y="0"/>
                </a:moveTo>
                <a:lnTo>
                  <a:pt x="5179308" y="0"/>
                </a:lnTo>
                <a:cubicBezTo>
                  <a:pt x="5219810" y="0"/>
                  <a:pt x="5252644" y="32834"/>
                  <a:pt x="5252644" y="73336"/>
                </a:cubicBezTo>
                <a:lnTo>
                  <a:pt x="5252644" y="330008"/>
                </a:lnTo>
                <a:cubicBezTo>
                  <a:pt x="5252644" y="370511"/>
                  <a:pt x="5219810" y="403344"/>
                  <a:pt x="5179308" y="403344"/>
                </a:cubicBezTo>
                <a:lnTo>
                  <a:pt x="36668" y="403344"/>
                </a:lnTo>
                <a:cubicBezTo>
                  <a:pt x="16430" y="403344"/>
                  <a:pt x="0" y="386914"/>
                  <a:pt x="0" y="366677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8F5C9A">
              <a:alpha val="5098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6388310" y="3996664"/>
            <a:ext cx="36668" cy="403344"/>
          </a:xfrm>
          <a:custGeom>
            <a:avLst/>
            <a:gdLst/>
            <a:ahLst/>
            <a:cxnLst/>
            <a:rect l="l" t="t" r="r" b="b"/>
            <a:pathLst>
              <a:path w="36668" h="403344">
                <a:moveTo>
                  <a:pt x="36668" y="0"/>
                </a:moveTo>
                <a:lnTo>
                  <a:pt x="36668" y="0"/>
                </a:lnTo>
                <a:lnTo>
                  <a:pt x="36668" y="403344"/>
                </a:lnTo>
                <a:lnTo>
                  <a:pt x="36668" y="403344"/>
                </a:lnTo>
                <a:cubicBezTo>
                  <a:pt x="16430" y="403344"/>
                  <a:pt x="0" y="386914"/>
                  <a:pt x="0" y="366677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42" name="Shape 39"/>
          <p:cNvSpPr/>
          <p:nvPr/>
        </p:nvSpPr>
        <p:spPr>
          <a:xfrm>
            <a:off x="6551023" y="4128667"/>
            <a:ext cx="96253" cy="128337"/>
          </a:xfrm>
          <a:custGeom>
            <a:avLst/>
            <a:gdLst/>
            <a:ahLst/>
            <a:cxnLst/>
            <a:rect l="l" t="t" r="r" b="b"/>
            <a:pathLst>
              <a:path w="96253" h="128337">
                <a:moveTo>
                  <a:pt x="73418" y="96253"/>
                </a:moveTo>
                <a:cubicBezTo>
                  <a:pt x="75248" y="90663"/>
                  <a:pt x="78907" y="85600"/>
                  <a:pt x="83043" y="81238"/>
                </a:cubicBezTo>
                <a:cubicBezTo>
                  <a:pt x="91239" y="72616"/>
                  <a:pt x="96253" y="60960"/>
                  <a:pt x="96253" y="48126"/>
                </a:cubicBezTo>
                <a:cubicBezTo>
                  <a:pt x="96253" y="21557"/>
                  <a:pt x="74696" y="0"/>
                  <a:pt x="48126" y="0"/>
                </a:cubicBezTo>
                <a:cubicBezTo>
                  <a:pt x="21557" y="0"/>
                  <a:pt x="0" y="21557"/>
                  <a:pt x="0" y="48126"/>
                </a:cubicBezTo>
                <a:cubicBezTo>
                  <a:pt x="0" y="60960"/>
                  <a:pt x="5013" y="72616"/>
                  <a:pt x="13210" y="81238"/>
                </a:cubicBezTo>
                <a:cubicBezTo>
                  <a:pt x="17346" y="85600"/>
                  <a:pt x="21030" y="90663"/>
                  <a:pt x="22835" y="96253"/>
                </a:cubicBezTo>
                <a:lnTo>
                  <a:pt x="73393" y="96253"/>
                </a:lnTo>
                <a:close/>
                <a:moveTo>
                  <a:pt x="72189" y="108284"/>
                </a:moveTo>
                <a:lnTo>
                  <a:pt x="24063" y="108284"/>
                </a:lnTo>
                <a:lnTo>
                  <a:pt x="24063" y="112295"/>
                </a:lnTo>
                <a:cubicBezTo>
                  <a:pt x="24063" y="123374"/>
                  <a:pt x="33037" y="132347"/>
                  <a:pt x="44116" y="132347"/>
                </a:cubicBezTo>
                <a:lnTo>
                  <a:pt x="52137" y="132347"/>
                </a:lnTo>
                <a:cubicBezTo>
                  <a:pt x="63216" y="132347"/>
                  <a:pt x="72189" y="123374"/>
                  <a:pt x="72189" y="112295"/>
                </a:cubicBezTo>
                <a:lnTo>
                  <a:pt x="72189" y="108284"/>
                </a:lnTo>
                <a:close/>
                <a:moveTo>
                  <a:pt x="46121" y="28074"/>
                </a:moveTo>
                <a:cubicBezTo>
                  <a:pt x="36145" y="28074"/>
                  <a:pt x="28074" y="36145"/>
                  <a:pt x="28074" y="46121"/>
                </a:cubicBezTo>
                <a:cubicBezTo>
                  <a:pt x="28074" y="49455"/>
                  <a:pt x="25392" y="52137"/>
                  <a:pt x="22058" y="52137"/>
                </a:cubicBezTo>
                <a:cubicBezTo>
                  <a:pt x="18724" y="52137"/>
                  <a:pt x="16042" y="49455"/>
                  <a:pt x="16042" y="46121"/>
                </a:cubicBezTo>
                <a:cubicBezTo>
                  <a:pt x="16042" y="29502"/>
                  <a:pt x="29502" y="16042"/>
                  <a:pt x="46121" y="16042"/>
                </a:cubicBezTo>
                <a:cubicBezTo>
                  <a:pt x="49455" y="16042"/>
                  <a:pt x="52137" y="18724"/>
                  <a:pt x="52137" y="22058"/>
                </a:cubicBezTo>
                <a:cubicBezTo>
                  <a:pt x="52137" y="25392"/>
                  <a:pt x="49455" y="28074"/>
                  <a:pt x="46121" y="28074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43" name="Text 40"/>
          <p:cNvSpPr/>
          <p:nvPr/>
        </p:nvSpPr>
        <p:spPr>
          <a:xfrm>
            <a:off x="6734585" y="4106667"/>
            <a:ext cx="486053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案例特征：</a:t>
            </a:r>
            <a:r>
              <a:rPr lang="en-US" sz="101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散户被利空吓跑割肉，机构趁机低吸捡筹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366677" y="4730017"/>
            <a:ext cx="11458647" cy="1760048"/>
          </a:xfrm>
          <a:custGeom>
            <a:avLst/>
            <a:gdLst/>
            <a:ahLst/>
            <a:cxnLst/>
            <a:rect l="l" t="t" r="r" b="b"/>
            <a:pathLst>
              <a:path w="11458647" h="1760048">
                <a:moveTo>
                  <a:pt x="110003" y="0"/>
                </a:moveTo>
                <a:lnTo>
                  <a:pt x="11348644" y="0"/>
                </a:lnTo>
                <a:cubicBezTo>
                  <a:pt x="11409397" y="0"/>
                  <a:pt x="11458647" y="49250"/>
                  <a:pt x="11458647" y="110003"/>
                </a:cubicBezTo>
                <a:lnTo>
                  <a:pt x="11458647" y="1650045"/>
                </a:lnTo>
                <a:cubicBezTo>
                  <a:pt x="11458647" y="1710798"/>
                  <a:pt x="11409397" y="1760048"/>
                  <a:pt x="11348644" y="1760048"/>
                </a:cubicBezTo>
                <a:lnTo>
                  <a:pt x="110003" y="1760048"/>
                </a:lnTo>
                <a:cubicBezTo>
                  <a:pt x="49250" y="1760048"/>
                  <a:pt x="0" y="1710798"/>
                  <a:pt x="0" y="1650045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gradFill flip="none" rotWithShape="1">
            <a:gsLst>
              <a:gs pos="0">
                <a:srgbClr val="7C1D56"/>
              </a:gs>
              <a:gs pos="100000">
                <a:srgbClr val="A95EAF"/>
              </a:gs>
            </a:gsLst>
            <a:lin ang="0" scaled="1"/>
          </a:gradFill>
          <a:ln/>
          <a:effectLst>
            <a:outerShdw blurRad="137504" dist="9166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550015" y="4913356"/>
            <a:ext cx="440012" cy="440012"/>
          </a:xfrm>
          <a:custGeom>
            <a:avLst/>
            <a:gdLst/>
            <a:ahLst/>
            <a:cxnLst/>
            <a:rect l="l" t="t" r="r" b="b"/>
            <a:pathLst>
              <a:path w="440012" h="440012">
                <a:moveTo>
                  <a:pt x="110003" y="0"/>
                </a:moveTo>
                <a:lnTo>
                  <a:pt x="330009" y="0"/>
                </a:lnTo>
                <a:cubicBezTo>
                  <a:pt x="390721" y="0"/>
                  <a:pt x="440012" y="49291"/>
                  <a:pt x="440012" y="110003"/>
                </a:cubicBezTo>
                <a:lnTo>
                  <a:pt x="440012" y="330009"/>
                </a:lnTo>
                <a:cubicBezTo>
                  <a:pt x="440012" y="390721"/>
                  <a:pt x="390721" y="440012"/>
                  <a:pt x="330009" y="440012"/>
                </a:cubicBezTo>
                <a:lnTo>
                  <a:pt x="110003" y="440012"/>
                </a:lnTo>
                <a:cubicBezTo>
                  <a:pt x="49291" y="440012"/>
                  <a:pt x="0" y="390721"/>
                  <a:pt x="0" y="330009"/>
                </a:cubicBezTo>
                <a:lnTo>
                  <a:pt x="0" y="110003"/>
                </a:lnTo>
                <a:cubicBezTo>
                  <a:pt x="0" y="49291"/>
                  <a:pt x="49291" y="0"/>
                  <a:pt x="11000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60018" y="5023359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0" y="34376"/>
                </a:moveTo>
                <a:cubicBezTo>
                  <a:pt x="0" y="22989"/>
                  <a:pt x="9239" y="13750"/>
                  <a:pt x="20626" y="13750"/>
                </a:cubicBezTo>
                <a:lnTo>
                  <a:pt x="61877" y="13750"/>
                </a:lnTo>
                <a:cubicBezTo>
                  <a:pt x="73264" y="13750"/>
                  <a:pt x="82502" y="22989"/>
                  <a:pt x="82502" y="34376"/>
                </a:cubicBezTo>
                <a:lnTo>
                  <a:pt x="82502" y="41251"/>
                </a:lnTo>
                <a:lnTo>
                  <a:pt x="137504" y="41251"/>
                </a:lnTo>
                <a:lnTo>
                  <a:pt x="137504" y="34376"/>
                </a:lnTo>
                <a:cubicBezTo>
                  <a:pt x="137504" y="22989"/>
                  <a:pt x="146742" y="13750"/>
                  <a:pt x="158129" y="13750"/>
                </a:cubicBezTo>
                <a:lnTo>
                  <a:pt x="199380" y="13750"/>
                </a:lnTo>
                <a:cubicBezTo>
                  <a:pt x="210767" y="13750"/>
                  <a:pt x="220006" y="22989"/>
                  <a:pt x="220006" y="34376"/>
                </a:cubicBezTo>
                <a:lnTo>
                  <a:pt x="220006" y="75627"/>
                </a:lnTo>
                <a:cubicBezTo>
                  <a:pt x="220006" y="87014"/>
                  <a:pt x="210767" y="96253"/>
                  <a:pt x="199380" y="96253"/>
                </a:cubicBezTo>
                <a:lnTo>
                  <a:pt x="158129" y="96253"/>
                </a:lnTo>
                <a:cubicBezTo>
                  <a:pt x="146742" y="96253"/>
                  <a:pt x="137504" y="87014"/>
                  <a:pt x="137504" y="75627"/>
                </a:cubicBezTo>
                <a:lnTo>
                  <a:pt x="137504" y="68752"/>
                </a:lnTo>
                <a:lnTo>
                  <a:pt x="82502" y="68752"/>
                </a:lnTo>
                <a:lnTo>
                  <a:pt x="82502" y="75627"/>
                </a:lnTo>
                <a:cubicBezTo>
                  <a:pt x="82502" y="78764"/>
                  <a:pt x="81772" y="81772"/>
                  <a:pt x="80526" y="84436"/>
                </a:cubicBezTo>
                <a:lnTo>
                  <a:pt x="110003" y="123753"/>
                </a:lnTo>
                <a:lnTo>
                  <a:pt x="144379" y="123753"/>
                </a:lnTo>
                <a:cubicBezTo>
                  <a:pt x="155766" y="123753"/>
                  <a:pt x="165005" y="132992"/>
                  <a:pt x="165005" y="144379"/>
                </a:cubicBezTo>
                <a:lnTo>
                  <a:pt x="165005" y="185630"/>
                </a:lnTo>
                <a:cubicBezTo>
                  <a:pt x="165005" y="197017"/>
                  <a:pt x="155766" y="206256"/>
                  <a:pt x="144379" y="206256"/>
                </a:cubicBezTo>
                <a:lnTo>
                  <a:pt x="103128" y="206256"/>
                </a:lnTo>
                <a:cubicBezTo>
                  <a:pt x="91741" y="206256"/>
                  <a:pt x="82502" y="197017"/>
                  <a:pt x="82502" y="185630"/>
                </a:cubicBezTo>
                <a:lnTo>
                  <a:pt x="82502" y="144379"/>
                </a:lnTo>
                <a:cubicBezTo>
                  <a:pt x="82502" y="141242"/>
                  <a:pt x="83233" y="138234"/>
                  <a:pt x="84479" y="135570"/>
                </a:cubicBezTo>
                <a:lnTo>
                  <a:pt x="55002" y="96253"/>
                </a:lnTo>
                <a:lnTo>
                  <a:pt x="20626" y="96253"/>
                </a:lnTo>
                <a:cubicBezTo>
                  <a:pt x="9239" y="96253"/>
                  <a:pt x="0" y="87014"/>
                  <a:pt x="0" y="75627"/>
                </a:cubicBezTo>
                <a:lnTo>
                  <a:pt x="0" y="3437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1136698" y="4913356"/>
            <a:ext cx="10596956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4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权重股的传染性：板块联动性分析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136698" y="5280032"/>
            <a:ext cx="10578623" cy="23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关注</a:t>
            </a:r>
            <a:r>
              <a:rPr lang="en-US" sz="115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Nvidia</a:t>
            </a:r>
            <a:r>
              <a:rPr lang="en-US" sz="115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或</a:t>
            </a:r>
            <a:r>
              <a:rPr lang="en-US" sz="115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Apple</a:t>
            </a:r>
            <a:r>
              <a:rPr lang="en-US" sz="115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业绩公布后，半导体板块或消费电子链的整体联动性：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1140365" y="5632042"/>
            <a:ext cx="5168308" cy="667352"/>
          </a:xfrm>
          <a:custGeom>
            <a:avLst/>
            <a:gdLst/>
            <a:ahLst/>
            <a:cxnLst/>
            <a:rect l="l" t="t" r="r" b="b"/>
            <a:pathLst>
              <a:path w="5168308" h="667352">
                <a:moveTo>
                  <a:pt x="73335" y="0"/>
                </a:moveTo>
                <a:lnTo>
                  <a:pt x="5094973" y="0"/>
                </a:lnTo>
                <a:cubicBezTo>
                  <a:pt x="5135475" y="0"/>
                  <a:pt x="5168308" y="32833"/>
                  <a:pt x="5168308" y="73335"/>
                </a:cubicBezTo>
                <a:lnTo>
                  <a:pt x="5168308" y="594016"/>
                </a:lnTo>
                <a:cubicBezTo>
                  <a:pt x="5168308" y="634518"/>
                  <a:pt x="5135475" y="667352"/>
                  <a:pt x="5094973" y="667352"/>
                </a:cubicBezTo>
                <a:lnTo>
                  <a:pt x="73335" y="667352"/>
                </a:lnTo>
                <a:cubicBezTo>
                  <a:pt x="32860" y="667352"/>
                  <a:pt x="0" y="634491"/>
                  <a:pt x="0" y="594016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272368" y="5775046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146671"/>
                </a:moveTo>
                <a:cubicBezTo>
                  <a:pt x="113810" y="146671"/>
                  <a:pt x="146671" y="113810"/>
                  <a:pt x="146671" y="73335"/>
                </a:cubicBezTo>
                <a:cubicBezTo>
                  <a:pt x="146671" y="32860"/>
                  <a:pt x="113810" y="0"/>
                  <a:pt x="73335" y="0"/>
                </a:cubicBezTo>
                <a:cubicBezTo>
                  <a:pt x="32860" y="0"/>
                  <a:pt x="0" y="32860"/>
                  <a:pt x="0" y="73335"/>
                </a:cubicBezTo>
                <a:cubicBezTo>
                  <a:pt x="0" y="113810"/>
                  <a:pt x="32860" y="146671"/>
                  <a:pt x="73335" y="146671"/>
                </a:cubicBezTo>
                <a:close/>
                <a:moveTo>
                  <a:pt x="97513" y="60931"/>
                </a:moveTo>
                <a:lnTo>
                  <a:pt x="74596" y="97599"/>
                </a:lnTo>
                <a:cubicBezTo>
                  <a:pt x="73393" y="99518"/>
                  <a:pt x="71330" y="100722"/>
                  <a:pt x="69067" y="100836"/>
                </a:cubicBezTo>
                <a:cubicBezTo>
                  <a:pt x="66804" y="100951"/>
                  <a:pt x="64627" y="99919"/>
                  <a:pt x="63280" y="98086"/>
                </a:cubicBezTo>
                <a:lnTo>
                  <a:pt x="49530" y="79752"/>
                </a:lnTo>
                <a:cubicBezTo>
                  <a:pt x="47238" y="76716"/>
                  <a:pt x="47868" y="72419"/>
                  <a:pt x="50905" y="70127"/>
                </a:cubicBezTo>
                <a:cubicBezTo>
                  <a:pt x="53942" y="67835"/>
                  <a:pt x="58239" y="68465"/>
                  <a:pt x="60530" y="71502"/>
                </a:cubicBezTo>
                <a:lnTo>
                  <a:pt x="68265" y="81815"/>
                </a:lnTo>
                <a:lnTo>
                  <a:pt x="85854" y="53655"/>
                </a:lnTo>
                <a:cubicBezTo>
                  <a:pt x="87859" y="50447"/>
                  <a:pt x="92099" y="49444"/>
                  <a:pt x="95336" y="51478"/>
                </a:cubicBezTo>
                <a:cubicBezTo>
                  <a:pt x="98573" y="53512"/>
                  <a:pt x="99547" y="57723"/>
                  <a:pt x="97513" y="6096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1490306" y="5745710"/>
            <a:ext cx="477803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健康信号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254034" y="6002384"/>
            <a:ext cx="500513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龙头上涨带动板块普涨，市场广度良好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465312" y="5632042"/>
            <a:ext cx="5168308" cy="667352"/>
          </a:xfrm>
          <a:custGeom>
            <a:avLst/>
            <a:gdLst/>
            <a:ahLst/>
            <a:cxnLst/>
            <a:rect l="l" t="t" r="r" b="b"/>
            <a:pathLst>
              <a:path w="5168308" h="667352">
                <a:moveTo>
                  <a:pt x="73335" y="0"/>
                </a:moveTo>
                <a:lnTo>
                  <a:pt x="5094973" y="0"/>
                </a:lnTo>
                <a:cubicBezTo>
                  <a:pt x="5135475" y="0"/>
                  <a:pt x="5168308" y="32833"/>
                  <a:pt x="5168308" y="73335"/>
                </a:cubicBezTo>
                <a:lnTo>
                  <a:pt x="5168308" y="594016"/>
                </a:lnTo>
                <a:cubicBezTo>
                  <a:pt x="5168308" y="634518"/>
                  <a:pt x="5135475" y="667352"/>
                  <a:pt x="5094973" y="667352"/>
                </a:cubicBezTo>
                <a:lnTo>
                  <a:pt x="73335" y="667352"/>
                </a:lnTo>
                <a:cubicBezTo>
                  <a:pt x="32860" y="667352"/>
                  <a:pt x="0" y="634491"/>
                  <a:pt x="0" y="594016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597316" y="5775046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73335" y="0"/>
                </a:moveTo>
                <a:cubicBezTo>
                  <a:pt x="77546" y="0"/>
                  <a:pt x="81414" y="2320"/>
                  <a:pt x="83419" y="6016"/>
                </a:cubicBezTo>
                <a:lnTo>
                  <a:pt x="145296" y="120602"/>
                </a:lnTo>
                <a:cubicBezTo>
                  <a:pt x="147215" y="124154"/>
                  <a:pt x="147129" y="128451"/>
                  <a:pt x="145066" y="131918"/>
                </a:cubicBezTo>
                <a:cubicBezTo>
                  <a:pt x="143004" y="135384"/>
                  <a:pt x="139251" y="137504"/>
                  <a:pt x="135212" y="137504"/>
                </a:cubicBezTo>
                <a:lnTo>
                  <a:pt x="11459" y="137504"/>
                </a:lnTo>
                <a:cubicBezTo>
                  <a:pt x="7419" y="137504"/>
                  <a:pt x="3695" y="135384"/>
                  <a:pt x="1604" y="131918"/>
                </a:cubicBezTo>
                <a:cubicBezTo>
                  <a:pt x="-487" y="128451"/>
                  <a:pt x="-544" y="124154"/>
                  <a:pt x="1375" y="120602"/>
                </a:cubicBezTo>
                <a:lnTo>
                  <a:pt x="63252" y="6016"/>
                </a:lnTo>
                <a:cubicBezTo>
                  <a:pt x="65257" y="2320"/>
                  <a:pt x="69124" y="0"/>
                  <a:pt x="73335" y="0"/>
                </a:cubicBezTo>
                <a:close/>
                <a:moveTo>
                  <a:pt x="73335" y="48126"/>
                </a:moveTo>
                <a:cubicBezTo>
                  <a:pt x="69525" y="48126"/>
                  <a:pt x="66460" y="51192"/>
                  <a:pt x="66460" y="55002"/>
                </a:cubicBezTo>
                <a:lnTo>
                  <a:pt x="66460" y="87086"/>
                </a:lnTo>
                <a:cubicBezTo>
                  <a:pt x="66460" y="90896"/>
                  <a:pt x="69525" y="93961"/>
                  <a:pt x="73335" y="93961"/>
                </a:cubicBezTo>
                <a:cubicBezTo>
                  <a:pt x="77145" y="93961"/>
                  <a:pt x="80211" y="90896"/>
                  <a:pt x="80211" y="87086"/>
                </a:cubicBezTo>
                <a:lnTo>
                  <a:pt x="80211" y="55002"/>
                </a:lnTo>
                <a:cubicBezTo>
                  <a:pt x="80211" y="51192"/>
                  <a:pt x="77145" y="48126"/>
                  <a:pt x="73335" y="48126"/>
                </a:cubicBezTo>
                <a:close/>
                <a:moveTo>
                  <a:pt x="80984" y="110003"/>
                </a:moveTo>
                <a:cubicBezTo>
                  <a:pt x="81158" y="107164"/>
                  <a:pt x="79742" y="104463"/>
                  <a:pt x="77308" y="102991"/>
                </a:cubicBezTo>
                <a:cubicBezTo>
                  <a:pt x="74875" y="101518"/>
                  <a:pt x="71825" y="101518"/>
                  <a:pt x="69391" y="102991"/>
                </a:cubicBezTo>
                <a:cubicBezTo>
                  <a:pt x="66957" y="104463"/>
                  <a:pt x="65541" y="107164"/>
                  <a:pt x="65715" y="110003"/>
                </a:cubicBezTo>
                <a:cubicBezTo>
                  <a:pt x="65541" y="112842"/>
                  <a:pt x="66957" y="115543"/>
                  <a:pt x="69391" y="117015"/>
                </a:cubicBezTo>
                <a:cubicBezTo>
                  <a:pt x="71825" y="118488"/>
                  <a:pt x="74875" y="118488"/>
                  <a:pt x="77308" y="117015"/>
                </a:cubicBezTo>
                <a:cubicBezTo>
                  <a:pt x="79742" y="115543"/>
                  <a:pt x="81158" y="112842"/>
                  <a:pt x="80984" y="11000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6815254" y="5745710"/>
            <a:ext cx="477803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风险信号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6578982" y="6002384"/>
            <a:ext cx="5005137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"一枝独秀而众生凋零"，市场广度恶化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pic>
        <p:nvPicPr>
          <p:cNvPr id="3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3825" y="323825"/>
            <a:ext cx="11609116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kern="0" spc="51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RESONANCE &amp; DIVERGENCE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23825" y="582884"/>
            <a:ext cx="11690072" cy="323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95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流动性与基本面的共振与背离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3825" y="1003857"/>
            <a:ext cx="777179" cy="32382"/>
          </a:xfrm>
          <a:custGeom>
            <a:avLst/>
            <a:gdLst/>
            <a:ahLst/>
            <a:cxnLst/>
            <a:rect l="l" t="t" r="r" b="b"/>
            <a:pathLst>
              <a:path w="777179" h="32382">
                <a:moveTo>
                  <a:pt x="0" y="0"/>
                </a:moveTo>
                <a:lnTo>
                  <a:pt x="777179" y="0"/>
                </a:lnTo>
                <a:lnTo>
                  <a:pt x="777179" y="32382"/>
                </a:lnTo>
                <a:lnTo>
                  <a:pt x="0" y="3238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23825" y="1165769"/>
            <a:ext cx="11609116" cy="21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0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综合分析宏观流动性与微观基本面的交互作用，识别不同组合情景下的市场走势特征。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3825" y="1505785"/>
            <a:ext cx="5691219" cy="2185817"/>
          </a:xfrm>
          <a:custGeom>
            <a:avLst/>
            <a:gdLst/>
            <a:ahLst/>
            <a:cxnLst/>
            <a:rect l="l" t="t" r="r" b="b"/>
            <a:pathLst>
              <a:path w="5691219" h="2185817">
                <a:moveTo>
                  <a:pt x="97138" y="0"/>
                </a:moveTo>
                <a:lnTo>
                  <a:pt x="5594081" y="0"/>
                </a:lnTo>
                <a:cubicBezTo>
                  <a:pt x="5647729" y="0"/>
                  <a:pt x="5691219" y="43490"/>
                  <a:pt x="5691219" y="97138"/>
                </a:cubicBezTo>
                <a:lnTo>
                  <a:pt x="5691219" y="2088679"/>
                </a:lnTo>
                <a:cubicBezTo>
                  <a:pt x="5691219" y="2142327"/>
                  <a:pt x="5647729" y="2185817"/>
                  <a:pt x="5594081" y="2185817"/>
                </a:cubicBezTo>
                <a:lnTo>
                  <a:pt x="97138" y="2185817"/>
                </a:lnTo>
                <a:cubicBezTo>
                  <a:pt x="43490" y="2185817"/>
                  <a:pt x="0" y="2142327"/>
                  <a:pt x="0" y="2088679"/>
                </a:cubicBezTo>
                <a:lnTo>
                  <a:pt x="0" y="97138"/>
                </a:lnTo>
                <a:cubicBezTo>
                  <a:pt x="0" y="43490"/>
                  <a:pt x="43490" y="0"/>
                  <a:pt x="9713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574" dist="323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26215" y="1700080"/>
            <a:ext cx="121434" cy="161912"/>
          </a:xfrm>
          <a:custGeom>
            <a:avLst/>
            <a:gdLst/>
            <a:ahLst/>
            <a:cxnLst/>
            <a:rect l="l" t="t" r="r" b="b"/>
            <a:pathLst>
              <a:path w="121434" h="161912">
                <a:moveTo>
                  <a:pt x="79027" y="21125"/>
                </a:moveTo>
                <a:cubicBezTo>
                  <a:pt x="82316" y="16602"/>
                  <a:pt x="81304" y="10278"/>
                  <a:pt x="76782" y="6989"/>
                </a:cubicBezTo>
                <a:cubicBezTo>
                  <a:pt x="72260" y="3700"/>
                  <a:pt x="65935" y="4712"/>
                  <a:pt x="62646" y="9234"/>
                </a:cubicBezTo>
                <a:lnTo>
                  <a:pt x="29125" y="55310"/>
                </a:lnTo>
                <a:lnTo>
                  <a:pt x="17266" y="43451"/>
                </a:lnTo>
                <a:cubicBezTo>
                  <a:pt x="13313" y="39498"/>
                  <a:pt x="6894" y="39498"/>
                  <a:pt x="2941" y="43451"/>
                </a:cubicBezTo>
                <a:cubicBezTo>
                  <a:pt x="-1012" y="47404"/>
                  <a:pt x="-1012" y="53823"/>
                  <a:pt x="2941" y="57776"/>
                </a:cubicBezTo>
                <a:lnTo>
                  <a:pt x="23180" y="78015"/>
                </a:lnTo>
                <a:cubicBezTo>
                  <a:pt x="25267" y="80102"/>
                  <a:pt x="28177" y="81178"/>
                  <a:pt x="31118" y="80956"/>
                </a:cubicBezTo>
                <a:cubicBezTo>
                  <a:pt x="34059" y="80735"/>
                  <a:pt x="36778" y="79217"/>
                  <a:pt x="38517" y="76813"/>
                </a:cubicBezTo>
                <a:lnTo>
                  <a:pt x="78996" y="21156"/>
                </a:lnTo>
                <a:close/>
                <a:moveTo>
                  <a:pt x="119505" y="64132"/>
                </a:moveTo>
                <a:cubicBezTo>
                  <a:pt x="122794" y="59610"/>
                  <a:pt x="121782" y="53286"/>
                  <a:pt x="117260" y="49997"/>
                </a:cubicBezTo>
                <a:cubicBezTo>
                  <a:pt x="112738" y="46708"/>
                  <a:pt x="106413" y="47720"/>
                  <a:pt x="103124" y="52242"/>
                </a:cubicBezTo>
                <a:lnTo>
                  <a:pt x="49364" y="126146"/>
                </a:lnTo>
                <a:lnTo>
                  <a:pt x="27386" y="104168"/>
                </a:lnTo>
                <a:cubicBezTo>
                  <a:pt x="23433" y="100215"/>
                  <a:pt x="17013" y="100215"/>
                  <a:pt x="13061" y="104168"/>
                </a:cubicBezTo>
                <a:cubicBezTo>
                  <a:pt x="9108" y="108121"/>
                  <a:pt x="9108" y="114540"/>
                  <a:pt x="13061" y="118493"/>
                </a:cubicBezTo>
                <a:lnTo>
                  <a:pt x="43419" y="148852"/>
                </a:lnTo>
                <a:cubicBezTo>
                  <a:pt x="45506" y="150939"/>
                  <a:pt x="48416" y="152014"/>
                  <a:pt x="51357" y="151793"/>
                </a:cubicBezTo>
                <a:cubicBezTo>
                  <a:pt x="54298" y="151571"/>
                  <a:pt x="57017" y="150054"/>
                  <a:pt x="58756" y="147650"/>
                </a:cubicBezTo>
                <a:lnTo>
                  <a:pt x="119474" y="64164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0" name="Text 7"/>
          <p:cNvSpPr/>
          <p:nvPr/>
        </p:nvSpPr>
        <p:spPr>
          <a:xfrm>
            <a:off x="688127" y="1667697"/>
            <a:ext cx="5245960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共振情景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1928" y="2023904"/>
            <a:ext cx="5351203" cy="704319"/>
          </a:xfrm>
          <a:custGeom>
            <a:avLst/>
            <a:gdLst/>
            <a:ahLst/>
            <a:cxnLst/>
            <a:rect l="l" t="t" r="r" b="b"/>
            <a:pathLst>
              <a:path w="5351203" h="704319">
                <a:moveTo>
                  <a:pt x="32382" y="0"/>
                </a:moveTo>
                <a:lnTo>
                  <a:pt x="5286441" y="0"/>
                </a:lnTo>
                <a:cubicBezTo>
                  <a:pt x="5322208" y="0"/>
                  <a:pt x="5351203" y="28995"/>
                  <a:pt x="5351203" y="64762"/>
                </a:cubicBezTo>
                <a:lnTo>
                  <a:pt x="5351203" y="639557"/>
                </a:lnTo>
                <a:cubicBezTo>
                  <a:pt x="5351203" y="675324"/>
                  <a:pt x="5322208" y="704319"/>
                  <a:pt x="5286441" y="704319"/>
                </a:cubicBez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>
                  <a:alpha val="10000"/>
                </a:srgbClr>
              </a:gs>
              <a:gs pos="100000">
                <a:srgbClr val="A95EAF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12" name="Shape 9"/>
          <p:cNvSpPr/>
          <p:nvPr/>
        </p:nvSpPr>
        <p:spPr>
          <a:xfrm>
            <a:off x="501928" y="2023904"/>
            <a:ext cx="32382" cy="704319"/>
          </a:xfrm>
          <a:custGeom>
            <a:avLst/>
            <a:gdLst/>
            <a:ahLst/>
            <a:cxnLst/>
            <a:rect l="l" t="t" r="r" b="b"/>
            <a:pathLst>
              <a:path w="32382" h="704319">
                <a:moveTo>
                  <a:pt x="32382" y="0"/>
                </a:moveTo>
                <a:lnTo>
                  <a:pt x="32382" y="0"/>
                </a:lnTo>
                <a:lnTo>
                  <a:pt x="32382" y="704319"/>
                </a:ln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3" name="Shape 10"/>
          <p:cNvSpPr/>
          <p:nvPr/>
        </p:nvSpPr>
        <p:spPr>
          <a:xfrm>
            <a:off x="680032" y="2179342"/>
            <a:ext cx="97147" cy="129530"/>
          </a:xfrm>
          <a:custGeom>
            <a:avLst/>
            <a:gdLst/>
            <a:ahLst/>
            <a:cxnLst/>
            <a:rect l="l" t="t" r="r" b="b"/>
            <a:pathLst>
              <a:path w="97147" h="129530">
                <a:moveTo>
                  <a:pt x="54291" y="4402"/>
                </a:moveTo>
                <a:cubicBezTo>
                  <a:pt x="51129" y="1240"/>
                  <a:pt x="45993" y="1240"/>
                  <a:pt x="42831" y="4402"/>
                </a:cubicBezTo>
                <a:lnTo>
                  <a:pt x="2353" y="44880"/>
                </a:lnTo>
                <a:cubicBezTo>
                  <a:pt x="-810" y="48042"/>
                  <a:pt x="-810" y="53178"/>
                  <a:pt x="2353" y="56340"/>
                </a:cubicBezTo>
                <a:cubicBezTo>
                  <a:pt x="5515" y="59503"/>
                  <a:pt x="10651" y="59503"/>
                  <a:pt x="13813" y="56340"/>
                </a:cubicBezTo>
                <a:lnTo>
                  <a:pt x="40478" y="29675"/>
                </a:lnTo>
                <a:lnTo>
                  <a:pt x="40478" y="123458"/>
                </a:lnTo>
                <a:cubicBezTo>
                  <a:pt x="40478" y="127936"/>
                  <a:pt x="44096" y="131554"/>
                  <a:pt x="48574" y="131554"/>
                </a:cubicBezTo>
                <a:cubicBezTo>
                  <a:pt x="53052" y="131554"/>
                  <a:pt x="56669" y="127936"/>
                  <a:pt x="56669" y="123458"/>
                </a:cubicBezTo>
                <a:lnTo>
                  <a:pt x="56669" y="29675"/>
                </a:lnTo>
                <a:lnTo>
                  <a:pt x="83334" y="56340"/>
                </a:lnTo>
                <a:cubicBezTo>
                  <a:pt x="86497" y="59503"/>
                  <a:pt x="91632" y="59503"/>
                  <a:pt x="94795" y="56340"/>
                </a:cubicBezTo>
                <a:cubicBezTo>
                  <a:pt x="97957" y="53178"/>
                  <a:pt x="97957" y="48042"/>
                  <a:pt x="94795" y="44880"/>
                </a:cubicBezTo>
                <a:lnTo>
                  <a:pt x="54317" y="4402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4" name="Text 11"/>
          <p:cNvSpPr/>
          <p:nvPr/>
        </p:nvSpPr>
        <p:spPr>
          <a:xfrm>
            <a:off x="850846" y="2153434"/>
            <a:ext cx="4937520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流动性宽松 + 业绩超预期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7649" y="2412494"/>
            <a:ext cx="5132622" cy="18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TGA下降、降息预期叠加Mag 7业绩亮眼，市场进入</a:t>
            </a:r>
            <a:r>
              <a:rPr lang="en-US" sz="892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主升浪</a:t>
            </a: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，估值与盈利双击。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1928" y="2823347"/>
            <a:ext cx="5351203" cy="704319"/>
          </a:xfrm>
          <a:custGeom>
            <a:avLst/>
            <a:gdLst/>
            <a:ahLst/>
            <a:cxnLst/>
            <a:rect l="l" t="t" r="r" b="b"/>
            <a:pathLst>
              <a:path w="5351203" h="704319">
                <a:moveTo>
                  <a:pt x="32382" y="0"/>
                </a:moveTo>
                <a:lnTo>
                  <a:pt x="5286441" y="0"/>
                </a:lnTo>
                <a:cubicBezTo>
                  <a:pt x="5322208" y="0"/>
                  <a:pt x="5351203" y="28995"/>
                  <a:pt x="5351203" y="64762"/>
                </a:cubicBezTo>
                <a:lnTo>
                  <a:pt x="5351203" y="639557"/>
                </a:lnTo>
                <a:cubicBezTo>
                  <a:pt x="5351203" y="675324"/>
                  <a:pt x="5322208" y="704319"/>
                  <a:pt x="5286441" y="704319"/>
                </a:cubicBez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gradFill flip="none" rotWithShape="1">
            <a:gsLst>
              <a:gs pos="0">
                <a:srgbClr val="7C1D56">
                  <a:alpha val="10000"/>
                </a:srgbClr>
              </a:gs>
              <a:gs pos="100000">
                <a:srgbClr val="A95EAF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17" name="Shape 14"/>
          <p:cNvSpPr/>
          <p:nvPr/>
        </p:nvSpPr>
        <p:spPr>
          <a:xfrm>
            <a:off x="501928" y="2823347"/>
            <a:ext cx="32382" cy="704319"/>
          </a:xfrm>
          <a:custGeom>
            <a:avLst/>
            <a:gdLst/>
            <a:ahLst/>
            <a:cxnLst/>
            <a:rect l="l" t="t" r="r" b="b"/>
            <a:pathLst>
              <a:path w="32382" h="704319">
                <a:moveTo>
                  <a:pt x="32382" y="0"/>
                </a:moveTo>
                <a:lnTo>
                  <a:pt x="32382" y="0"/>
                </a:lnTo>
                <a:lnTo>
                  <a:pt x="32382" y="704319"/>
                </a:ln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18" name="Shape 15"/>
          <p:cNvSpPr/>
          <p:nvPr/>
        </p:nvSpPr>
        <p:spPr>
          <a:xfrm>
            <a:off x="680032" y="2978784"/>
            <a:ext cx="97147" cy="129530"/>
          </a:xfrm>
          <a:custGeom>
            <a:avLst/>
            <a:gdLst/>
            <a:ahLst/>
            <a:cxnLst/>
            <a:rect l="l" t="t" r="r" b="b"/>
            <a:pathLst>
              <a:path w="97147" h="129530">
                <a:moveTo>
                  <a:pt x="42856" y="127152"/>
                </a:moveTo>
                <a:cubicBezTo>
                  <a:pt x="46019" y="130314"/>
                  <a:pt x="51154" y="130314"/>
                  <a:pt x="54317" y="127152"/>
                </a:cubicBezTo>
                <a:lnTo>
                  <a:pt x="94795" y="86674"/>
                </a:lnTo>
                <a:cubicBezTo>
                  <a:pt x="97957" y="83511"/>
                  <a:pt x="97957" y="78376"/>
                  <a:pt x="94795" y="75213"/>
                </a:cubicBezTo>
                <a:cubicBezTo>
                  <a:pt x="91632" y="72051"/>
                  <a:pt x="86497" y="72051"/>
                  <a:pt x="83334" y="75213"/>
                </a:cubicBezTo>
                <a:lnTo>
                  <a:pt x="56669" y="101878"/>
                </a:lnTo>
                <a:lnTo>
                  <a:pt x="56669" y="8096"/>
                </a:lnTo>
                <a:cubicBezTo>
                  <a:pt x="56669" y="3618"/>
                  <a:pt x="53052" y="0"/>
                  <a:pt x="48574" y="0"/>
                </a:cubicBezTo>
                <a:cubicBezTo>
                  <a:pt x="44096" y="0"/>
                  <a:pt x="40478" y="3618"/>
                  <a:pt x="40478" y="8096"/>
                </a:cubicBezTo>
                <a:lnTo>
                  <a:pt x="40478" y="101878"/>
                </a:lnTo>
                <a:lnTo>
                  <a:pt x="13813" y="75213"/>
                </a:lnTo>
                <a:cubicBezTo>
                  <a:pt x="10651" y="72051"/>
                  <a:pt x="5515" y="72051"/>
                  <a:pt x="2353" y="75213"/>
                </a:cubicBezTo>
                <a:cubicBezTo>
                  <a:pt x="-810" y="78376"/>
                  <a:pt x="-810" y="83511"/>
                  <a:pt x="2353" y="86674"/>
                </a:cubicBezTo>
                <a:lnTo>
                  <a:pt x="42831" y="127152"/>
                </a:ln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19" name="Text 16"/>
          <p:cNvSpPr/>
          <p:nvPr/>
        </p:nvSpPr>
        <p:spPr>
          <a:xfrm>
            <a:off x="850846" y="2952876"/>
            <a:ext cx="4937520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流动性收紧 + 业绩miss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7649" y="3211936"/>
            <a:ext cx="5132622" cy="18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TGA上升、加息预期叠加业绩不及预期，市场面临</a:t>
            </a:r>
            <a:r>
              <a:rPr lang="en-US" sz="892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双杀风险</a:t>
            </a: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，估值与盈利双杀。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76046" y="1505785"/>
            <a:ext cx="5691219" cy="2185817"/>
          </a:xfrm>
          <a:custGeom>
            <a:avLst/>
            <a:gdLst/>
            <a:ahLst/>
            <a:cxnLst/>
            <a:rect l="l" t="t" r="r" b="b"/>
            <a:pathLst>
              <a:path w="5691219" h="2185817">
                <a:moveTo>
                  <a:pt x="97138" y="0"/>
                </a:moveTo>
                <a:lnTo>
                  <a:pt x="5594081" y="0"/>
                </a:lnTo>
                <a:cubicBezTo>
                  <a:pt x="5647729" y="0"/>
                  <a:pt x="5691219" y="43490"/>
                  <a:pt x="5691219" y="97138"/>
                </a:cubicBezTo>
                <a:lnTo>
                  <a:pt x="5691219" y="2088679"/>
                </a:lnTo>
                <a:cubicBezTo>
                  <a:pt x="5691219" y="2142327"/>
                  <a:pt x="5647729" y="2185817"/>
                  <a:pt x="5594081" y="2185817"/>
                </a:cubicBezTo>
                <a:lnTo>
                  <a:pt x="97138" y="2185817"/>
                </a:lnTo>
                <a:cubicBezTo>
                  <a:pt x="43490" y="2185817"/>
                  <a:pt x="0" y="2142327"/>
                  <a:pt x="0" y="2088679"/>
                </a:cubicBezTo>
                <a:lnTo>
                  <a:pt x="0" y="97138"/>
                </a:lnTo>
                <a:cubicBezTo>
                  <a:pt x="0" y="43490"/>
                  <a:pt x="43490" y="0"/>
                  <a:pt x="9713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574" dist="323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68316" y="1700080"/>
            <a:ext cx="141673" cy="161912"/>
          </a:xfrm>
          <a:custGeom>
            <a:avLst/>
            <a:gdLst/>
            <a:ahLst/>
            <a:cxnLst/>
            <a:rect l="l" t="t" r="r" b="b"/>
            <a:pathLst>
              <a:path w="141673" h="161912">
                <a:moveTo>
                  <a:pt x="119727" y="25868"/>
                </a:moveTo>
                <a:cubicBezTo>
                  <a:pt x="122826" y="21219"/>
                  <a:pt x="121561" y="14926"/>
                  <a:pt x="116912" y="11827"/>
                </a:cubicBezTo>
                <a:cubicBezTo>
                  <a:pt x="112263" y="8728"/>
                  <a:pt x="105970" y="9993"/>
                  <a:pt x="102871" y="14642"/>
                </a:cubicBezTo>
                <a:lnTo>
                  <a:pt x="85668" y="40478"/>
                </a:lnTo>
                <a:lnTo>
                  <a:pt x="10120" y="40478"/>
                </a:lnTo>
                <a:cubicBezTo>
                  <a:pt x="4522" y="40478"/>
                  <a:pt x="0" y="45000"/>
                  <a:pt x="0" y="50598"/>
                </a:cubicBezTo>
                <a:cubicBezTo>
                  <a:pt x="0" y="56195"/>
                  <a:pt x="4522" y="60717"/>
                  <a:pt x="10120" y="60717"/>
                </a:cubicBezTo>
                <a:lnTo>
                  <a:pt x="72165" y="60717"/>
                </a:lnTo>
                <a:lnTo>
                  <a:pt x="45190" y="101195"/>
                </a:lnTo>
                <a:lnTo>
                  <a:pt x="10120" y="101195"/>
                </a:lnTo>
                <a:cubicBezTo>
                  <a:pt x="4522" y="101195"/>
                  <a:pt x="0" y="105717"/>
                  <a:pt x="0" y="111315"/>
                </a:cubicBezTo>
                <a:cubicBezTo>
                  <a:pt x="0" y="116912"/>
                  <a:pt x="4522" y="121434"/>
                  <a:pt x="10120" y="121434"/>
                </a:cubicBezTo>
                <a:lnTo>
                  <a:pt x="31687" y="121434"/>
                </a:lnTo>
                <a:lnTo>
                  <a:pt x="21947" y="136044"/>
                </a:lnTo>
                <a:cubicBezTo>
                  <a:pt x="18848" y="140693"/>
                  <a:pt x="20113" y="146986"/>
                  <a:pt x="24761" y="150085"/>
                </a:cubicBezTo>
                <a:cubicBezTo>
                  <a:pt x="29410" y="153184"/>
                  <a:pt x="35703" y="151919"/>
                  <a:pt x="38802" y="147271"/>
                </a:cubicBezTo>
                <a:lnTo>
                  <a:pt x="56005" y="121434"/>
                </a:lnTo>
                <a:lnTo>
                  <a:pt x="131554" y="121434"/>
                </a:lnTo>
                <a:cubicBezTo>
                  <a:pt x="137151" y="121434"/>
                  <a:pt x="141673" y="116912"/>
                  <a:pt x="141673" y="111315"/>
                </a:cubicBezTo>
                <a:cubicBezTo>
                  <a:pt x="141673" y="105717"/>
                  <a:pt x="137151" y="101195"/>
                  <a:pt x="131554" y="101195"/>
                </a:cubicBezTo>
                <a:lnTo>
                  <a:pt x="69508" y="101195"/>
                </a:lnTo>
                <a:lnTo>
                  <a:pt x="96483" y="60717"/>
                </a:lnTo>
                <a:lnTo>
                  <a:pt x="131554" y="60717"/>
                </a:lnTo>
                <a:cubicBezTo>
                  <a:pt x="137151" y="60717"/>
                  <a:pt x="141673" y="56195"/>
                  <a:pt x="141673" y="50598"/>
                </a:cubicBezTo>
                <a:cubicBezTo>
                  <a:pt x="141673" y="45000"/>
                  <a:pt x="137151" y="40478"/>
                  <a:pt x="131554" y="40478"/>
                </a:cubicBezTo>
                <a:lnTo>
                  <a:pt x="109987" y="40478"/>
                </a:lnTo>
                <a:lnTo>
                  <a:pt x="119727" y="25868"/>
                </a:ln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23" name="Text 20"/>
          <p:cNvSpPr/>
          <p:nvPr/>
        </p:nvSpPr>
        <p:spPr>
          <a:xfrm>
            <a:off x="6540348" y="1667697"/>
            <a:ext cx="5245960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背离情景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54149" y="2023904"/>
            <a:ext cx="5351203" cy="704319"/>
          </a:xfrm>
          <a:custGeom>
            <a:avLst/>
            <a:gdLst/>
            <a:ahLst/>
            <a:cxnLst/>
            <a:rect l="l" t="t" r="r" b="b"/>
            <a:pathLst>
              <a:path w="5351203" h="704319">
                <a:moveTo>
                  <a:pt x="32382" y="0"/>
                </a:moveTo>
                <a:lnTo>
                  <a:pt x="5286441" y="0"/>
                </a:lnTo>
                <a:cubicBezTo>
                  <a:pt x="5322208" y="0"/>
                  <a:pt x="5351203" y="28995"/>
                  <a:pt x="5351203" y="64762"/>
                </a:cubicBezTo>
                <a:lnTo>
                  <a:pt x="5351203" y="639557"/>
                </a:lnTo>
                <a:cubicBezTo>
                  <a:pt x="5351203" y="675324"/>
                  <a:pt x="5322208" y="704319"/>
                  <a:pt x="5286441" y="704319"/>
                </a:cubicBez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gradFill flip="none" rotWithShape="1">
            <a:gsLst>
              <a:gs pos="0">
                <a:srgbClr val="A95EAF">
                  <a:alpha val="10000"/>
                </a:srgbClr>
              </a:gs>
              <a:gs pos="100000">
                <a:srgbClr val="8F5C9A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25" name="Shape 22"/>
          <p:cNvSpPr/>
          <p:nvPr/>
        </p:nvSpPr>
        <p:spPr>
          <a:xfrm>
            <a:off x="6354149" y="2023904"/>
            <a:ext cx="32382" cy="704319"/>
          </a:xfrm>
          <a:custGeom>
            <a:avLst/>
            <a:gdLst/>
            <a:ahLst/>
            <a:cxnLst/>
            <a:rect l="l" t="t" r="r" b="b"/>
            <a:pathLst>
              <a:path w="32382" h="704319">
                <a:moveTo>
                  <a:pt x="32382" y="0"/>
                </a:moveTo>
                <a:lnTo>
                  <a:pt x="32382" y="0"/>
                </a:lnTo>
                <a:lnTo>
                  <a:pt x="32382" y="704319"/>
                </a:ln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26" name="Shape 23"/>
          <p:cNvSpPr/>
          <p:nvPr/>
        </p:nvSpPr>
        <p:spPr>
          <a:xfrm>
            <a:off x="6516061" y="2179342"/>
            <a:ext cx="129530" cy="129530"/>
          </a:xfrm>
          <a:custGeom>
            <a:avLst/>
            <a:gdLst/>
            <a:ahLst/>
            <a:cxnLst/>
            <a:rect l="l" t="t" r="r" b="b"/>
            <a:pathLst>
              <a:path w="129530" h="129530">
                <a:moveTo>
                  <a:pt x="115363" y="56669"/>
                </a:moveTo>
                <a:lnTo>
                  <a:pt x="78932" y="56669"/>
                </a:lnTo>
                <a:cubicBezTo>
                  <a:pt x="75568" y="56669"/>
                  <a:pt x="72861" y="53962"/>
                  <a:pt x="72861" y="50598"/>
                </a:cubicBezTo>
                <a:lnTo>
                  <a:pt x="72861" y="14167"/>
                </a:lnTo>
                <a:cubicBezTo>
                  <a:pt x="72861" y="11713"/>
                  <a:pt x="74328" y="9487"/>
                  <a:pt x="76605" y="8551"/>
                </a:cubicBezTo>
                <a:cubicBezTo>
                  <a:pt x="78882" y="7615"/>
                  <a:pt x="81487" y="8146"/>
                  <a:pt x="83233" y="9867"/>
                </a:cubicBezTo>
                <a:lnTo>
                  <a:pt x="93353" y="19986"/>
                </a:lnTo>
                <a:lnTo>
                  <a:pt x="111922" y="1417"/>
                </a:lnTo>
                <a:cubicBezTo>
                  <a:pt x="112833" y="506"/>
                  <a:pt x="114072" y="0"/>
                  <a:pt x="115363" y="0"/>
                </a:cubicBezTo>
                <a:cubicBezTo>
                  <a:pt x="116653" y="0"/>
                  <a:pt x="117892" y="506"/>
                  <a:pt x="118828" y="1442"/>
                </a:cubicBezTo>
                <a:lnTo>
                  <a:pt x="128113" y="10727"/>
                </a:lnTo>
                <a:cubicBezTo>
                  <a:pt x="129024" y="11637"/>
                  <a:pt x="129530" y="12877"/>
                  <a:pt x="129530" y="14167"/>
                </a:cubicBezTo>
                <a:cubicBezTo>
                  <a:pt x="129530" y="15458"/>
                  <a:pt x="129024" y="16697"/>
                  <a:pt x="128088" y="17633"/>
                </a:cubicBezTo>
                <a:lnTo>
                  <a:pt x="109544" y="36177"/>
                </a:lnTo>
                <a:lnTo>
                  <a:pt x="119663" y="46297"/>
                </a:lnTo>
                <a:cubicBezTo>
                  <a:pt x="121409" y="48042"/>
                  <a:pt x="121915" y="50648"/>
                  <a:pt x="120979" y="52925"/>
                </a:cubicBezTo>
                <a:cubicBezTo>
                  <a:pt x="120043" y="55202"/>
                  <a:pt x="117817" y="56669"/>
                  <a:pt x="115363" y="56669"/>
                </a:cubicBezTo>
                <a:close/>
                <a:moveTo>
                  <a:pt x="115363" y="72861"/>
                </a:moveTo>
                <a:cubicBezTo>
                  <a:pt x="117817" y="72861"/>
                  <a:pt x="120043" y="74328"/>
                  <a:pt x="120979" y="76605"/>
                </a:cubicBezTo>
                <a:cubicBezTo>
                  <a:pt x="121915" y="78882"/>
                  <a:pt x="121409" y="81487"/>
                  <a:pt x="119663" y="83233"/>
                </a:cubicBezTo>
                <a:lnTo>
                  <a:pt x="109544" y="93353"/>
                </a:lnTo>
                <a:lnTo>
                  <a:pt x="128113" y="111922"/>
                </a:lnTo>
                <a:cubicBezTo>
                  <a:pt x="129024" y="112833"/>
                  <a:pt x="129555" y="114072"/>
                  <a:pt x="129555" y="115388"/>
                </a:cubicBezTo>
                <a:cubicBezTo>
                  <a:pt x="129555" y="116703"/>
                  <a:pt x="129049" y="117918"/>
                  <a:pt x="128113" y="118854"/>
                </a:cubicBezTo>
                <a:lnTo>
                  <a:pt x="118828" y="128138"/>
                </a:lnTo>
                <a:cubicBezTo>
                  <a:pt x="117892" y="129024"/>
                  <a:pt x="116653" y="129530"/>
                  <a:pt x="115363" y="129530"/>
                </a:cubicBezTo>
                <a:cubicBezTo>
                  <a:pt x="114072" y="129530"/>
                  <a:pt x="112833" y="129024"/>
                  <a:pt x="111897" y="128088"/>
                </a:cubicBezTo>
                <a:lnTo>
                  <a:pt x="93353" y="109544"/>
                </a:lnTo>
                <a:lnTo>
                  <a:pt x="83233" y="119663"/>
                </a:lnTo>
                <a:cubicBezTo>
                  <a:pt x="81487" y="121409"/>
                  <a:pt x="78882" y="121915"/>
                  <a:pt x="76605" y="120979"/>
                </a:cubicBezTo>
                <a:cubicBezTo>
                  <a:pt x="74328" y="120043"/>
                  <a:pt x="72861" y="117817"/>
                  <a:pt x="72861" y="115363"/>
                </a:cubicBezTo>
                <a:lnTo>
                  <a:pt x="72861" y="78932"/>
                </a:lnTo>
                <a:cubicBezTo>
                  <a:pt x="72861" y="75568"/>
                  <a:pt x="75568" y="72861"/>
                  <a:pt x="78932" y="72861"/>
                </a:cubicBezTo>
                <a:lnTo>
                  <a:pt x="115363" y="72861"/>
                </a:lnTo>
                <a:close/>
                <a:moveTo>
                  <a:pt x="50598" y="72861"/>
                </a:moveTo>
                <a:cubicBezTo>
                  <a:pt x="53962" y="72861"/>
                  <a:pt x="56669" y="75568"/>
                  <a:pt x="56669" y="78932"/>
                </a:cubicBezTo>
                <a:lnTo>
                  <a:pt x="56669" y="115363"/>
                </a:lnTo>
                <a:cubicBezTo>
                  <a:pt x="56669" y="117817"/>
                  <a:pt x="55202" y="120043"/>
                  <a:pt x="52925" y="120979"/>
                </a:cubicBezTo>
                <a:cubicBezTo>
                  <a:pt x="50648" y="121915"/>
                  <a:pt x="48042" y="121409"/>
                  <a:pt x="46297" y="119663"/>
                </a:cubicBezTo>
                <a:lnTo>
                  <a:pt x="36177" y="109544"/>
                </a:lnTo>
                <a:lnTo>
                  <a:pt x="17608" y="128113"/>
                </a:lnTo>
                <a:cubicBezTo>
                  <a:pt x="16697" y="129024"/>
                  <a:pt x="15458" y="129530"/>
                  <a:pt x="14167" y="129530"/>
                </a:cubicBezTo>
                <a:cubicBezTo>
                  <a:pt x="12877" y="129530"/>
                  <a:pt x="11637" y="129024"/>
                  <a:pt x="10701" y="128088"/>
                </a:cubicBezTo>
                <a:lnTo>
                  <a:pt x="1442" y="118828"/>
                </a:lnTo>
                <a:cubicBezTo>
                  <a:pt x="506" y="117892"/>
                  <a:pt x="0" y="116653"/>
                  <a:pt x="0" y="115363"/>
                </a:cubicBezTo>
                <a:cubicBezTo>
                  <a:pt x="0" y="114072"/>
                  <a:pt x="506" y="112833"/>
                  <a:pt x="1442" y="111897"/>
                </a:cubicBezTo>
                <a:lnTo>
                  <a:pt x="19986" y="93353"/>
                </a:lnTo>
                <a:lnTo>
                  <a:pt x="9867" y="83233"/>
                </a:lnTo>
                <a:cubicBezTo>
                  <a:pt x="8121" y="81487"/>
                  <a:pt x="7615" y="78882"/>
                  <a:pt x="8551" y="76605"/>
                </a:cubicBezTo>
                <a:cubicBezTo>
                  <a:pt x="9487" y="74328"/>
                  <a:pt x="11713" y="72861"/>
                  <a:pt x="14167" y="72861"/>
                </a:cubicBezTo>
                <a:lnTo>
                  <a:pt x="50598" y="72861"/>
                </a:lnTo>
                <a:close/>
                <a:moveTo>
                  <a:pt x="14167" y="56669"/>
                </a:moveTo>
                <a:cubicBezTo>
                  <a:pt x="11713" y="56669"/>
                  <a:pt x="9487" y="55202"/>
                  <a:pt x="8551" y="52925"/>
                </a:cubicBezTo>
                <a:cubicBezTo>
                  <a:pt x="7615" y="50648"/>
                  <a:pt x="8146" y="48042"/>
                  <a:pt x="9867" y="46297"/>
                </a:cubicBezTo>
                <a:lnTo>
                  <a:pt x="19986" y="36177"/>
                </a:lnTo>
                <a:lnTo>
                  <a:pt x="1442" y="17633"/>
                </a:lnTo>
                <a:cubicBezTo>
                  <a:pt x="506" y="16697"/>
                  <a:pt x="0" y="15458"/>
                  <a:pt x="0" y="14167"/>
                </a:cubicBezTo>
                <a:cubicBezTo>
                  <a:pt x="0" y="12877"/>
                  <a:pt x="506" y="11637"/>
                  <a:pt x="1442" y="10701"/>
                </a:cubicBezTo>
                <a:lnTo>
                  <a:pt x="10701" y="1442"/>
                </a:lnTo>
                <a:cubicBezTo>
                  <a:pt x="11637" y="506"/>
                  <a:pt x="12877" y="0"/>
                  <a:pt x="14167" y="0"/>
                </a:cubicBezTo>
                <a:cubicBezTo>
                  <a:pt x="15458" y="0"/>
                  <a:pt x="16697" y="506"/>
                  <a:pt x="17633" y="1442"/>
                </a:cubicBezTo>
                <a:lnTo>
                  <a:pt x="36177" y="19986"/>
                </a:lnTo>
                <a:lnTo>
                  <a:pt x="46297" y="9867"/>
                </a:lnTo>
                <a:cubicBezTo>
                  <a:pt x="48042" y="8121"/>
                  <a:pt x="50648" y="7615"/>
                  <a:pt x="52925" y="8551"/>
                </a:cubicBezTo>
                <a:cubicBezTo>
                  <a:pt x="55202" y="9487"/>
                  <a:pt x="56669" y="11713"/>
                  <a:pt x="56669" y="14167"/>
                </a:cubicBezTo>
                <a:lnTo>
                  <a:pt x="56669" y="50598"/>
                </a:lnTo>
                <a:cubicBezTo>
                  <a:pt x="56669" y="53962"/>
                  <a:pt x="53962" y="56669"/>
                  <a:pt x="50598" y="56669"/>
                </a:cubicBezTo>
                <a:lnTo>
                  <a:pt x="14167" y="56669"/>
                </a:ln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27" name="Text 24"/>
          <p:cNvSpPr/>
          <p:nvPr/>
        </p:nvSpPr>
        <p:spPr>
          <a:xfrm>
            <a:off x="6703067" y="2153434"/>
            <a:ext cx="4937520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流动性宽松 + 业绩miss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499870" y="2412494"/>
            <a:ext cx="5132622" cy="18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流动性支撑估值，但业绩疲软限制涨幅，市场呈现</a:t>
            </a:r>
            <a:r>
              <a:rPr lang="en-US" sz="892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震荡格局</a:t>
            </a: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，结构性行情为主。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54149" y="2823347"/>
            <a:ext cx="5351203" cy="704319"/>
          </a:xfrm>
          <a:custGeom>
            <a:avLst/>
            <a:gdLst/>
            <a:ahLst/>
            <a:cxnLst/>
            <a:rect l="l" t="t" r="r" b="b"/>
            <a:pathLst>
              <a:path w="5351203" h="704319">
                <a:moveTo>
                  <a:pt x="32382" y="0"/>
                </a:moveTo>
                <a:lnTo>
                  <a:pt x="5286441" y="0"/>
                </a:lnTo>
                <a:cubicBezTo>
                  <a:pt x="5322208" y="0"/>
                  <a:pt x="5351203" y="28995"/>
                  <a:pt x="5351203" y="64762"/>
                </a:cubicBezTo>
                <a:lnTo>
                  <a:pt x="5351203" y="639557"/>
                </a:lnTo>
                <a:cubicBezTo>
                  <a:pt x="5351203" y="675324"/>
                  <a:pt x="5322208" y="704319"/>
                  <a:pt x="5286441" y="704319"/>
                </a:cubicBez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>
                  <a:alpha val="10000"/>
                </a:srgbClr>
              </a:gs>
              <a:gs pos="100000">
                <a:srgbClr val="7C1D56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0" name="Shape 27"/>
          <p:cNvSpPr/>
          <p:nvPr/>
        </p:nvSpPr>
        <p:spPr>
          <a:xfrm>
            <a:off x="6354149" y="2823347"/>
            <a:ext cx="32382" cy="704319"/>
          </a:xfrm>
          <a:custGeom>
            <a:avLst/>
            <a:gdLst/>
            <a:ahLst/>
            <a:cxnLst/>
            <a:rect l="l" t="t" r="r" b="b"/>
            <a:pathLst>
              <a:path w="32382" h="704319">
                <a:moveTo>
                  <a:pt x="32382" y="0"/>
                </a:moveTo>
                <a:lnTo>
                  <a:pt x="32382" y="0"/>
                </a:lnTo>
                <a:lnTo>
                  <a:pt x="32382" y="704319"/>
                </a:lnTo>
                <a:lnTo>
                  <a:pt x="32382" y="704319"/>
                </a:lnTo>
                <a:cubicBezTo>
                  <a:pt x="14498" y="704319"/>
                  <a:pt x="0" y="689821"/>
                  <a:pt x="0" y="671936"/>
                </a:cubicBezTo>
                <a:lnTo>
                  <a:pt x="0" y="32382"/>
                </a:lnTo>
                <a:cubicBezTo>
                  <a:pt x="0" y="14498"/>
                  <a:pt x="14498" y="0"/>
                  <a:pt x="32382" y="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31" name="Shape 28"/>
          <p:cNvSpPr/>
          <p:nvPr/>
        </p:nvSpPr>
        <p:spPr>
          <a:xfrm>
            <a:off x="6524157" y="2978784"/>
            <a:ext cx="113339" cy="129530"/>
          </a:xfrm>
          <a:custGeom>
            <a:avLst/>
            <a:gdLst/>
            <a:ahLst/>
            <a:cxnLst/>
            <a:rect l="l" t="t" r="r" b="b"/>
            <a:pathLst>
              <a:path w="113339" h="129530">
                <a:moveTo>
                  <a:pt x="42502" y="8096"/>
                </a:moveTo>
                <a:lnTo>
                  <a:pt x="6072" y="8096"/>
                </a:lnTo>
                <a:cubicBezTo>
                  <a:pt x="2707" y="8096"/>
                  <a:pt x="0" y="10803"/>
                  <a:pt x="0" y="14167"/>
                </a:cubicBezTo>
                <a:lnTo>
                  <a:pt x="0" y="50598"/>
                </a:lnTo>
                <a:cubicBezTo>
                  <a:pt x="0" y="53052"/>
                  <a:pt x="1467" y="55278"/>
                  <a:pt x="3744" y="56214"/>
                </a:cubicBezTo>
                <a:cubicBezTo>
                  <a:pt x="6021" y="57150"/>
                  <a:pt x="8627" y="56619"/>
                  <a:pt x="10373" y="54898"/>
                </a:cubicBezTo>
                <a:lnTo>
                  <a:pt x="20492" y="44779"/>
                </a:lnTo>
                <a:lnTo>
                  <a:pt x="40478" y="64765"/>
                </a:lnTo>
                <a:lnTo>
                  <a:pt x="20492" y="84751"/>
                </a:lnTo>
                <a:lnTo>
                  <a:pt x="10373" y="74631"/>
                </a:lnTo>
                <a:cubicBezTo>
                  <a:pt x="8627" y="72886"/>
                  <a:pt x="6021" y="72380"/>
                  <a:pt x="3744" y="73316"/>
                </a:cubicBezTo>
                <a:cubicBezTo>
                  <a:pt x="1467" y="74252"/>
                  <a:pt x="0" y="76478"/>
                  <a:pt x="0" y="78932"/>
                </a:cubicBezTo>
                <a:lnTo>
                  <a:pt x="0" y="115363"/>
                </a:lnTo>
                <a:cubicBezTo>
                  <a:pt x="0" y="118727"/>
                  <a:pt x="2707" y="121434"/>
                  <a:pt x="6072" y="121434"/>
                </a:cubicBezTo>
                <a:lnTo>
                  <a:pt x="42502" y="121434"/>
                </a:lnTo>
                <a:cubicBezTo>
                  <a:pt x="44956" y="121434"/>
                  <a:pt x="47182" y="119967"/>
                  <a:pt x="48118" y="117690"/>
                </a:cubicBezTo>
                <a:cubicBezTo>
                  <a:pt x="49054" y="115413"/>
                  <a:pt x="48548" y="112807"/>
                  <a:pt x="46803" y="111062"/>
                </a:cubicBezTo>
                <a:lnTo>
                  <a:pt x="36683" y="100942"/>
                </a:lnTo>
                <a:lnTo>
                  <a:pt x="56669" y="80956"/>
                </a:lnTo>
                <a:lnTo>
                  <a:pt x="76655" y="100942"/>
                </a:lnTo>
                <a:lnTo>
                  <a:pt x="66536" y="111062"/>
                </a:lnTo>
                <a:cubicBezTo>
                  <a:pt x="64790" y="112807"/>
                  <a:pt x="64284" y="115413"/>
                  <a:pt x="65220" y="117690"/>
                </a:cubicBezTo>
                <a:cubicBezTo>
                  <a:pt x="66156" y="119967"/>
                  <a:pt x="68383" y="121434"/>
                  <a:pt x="70837" y="121434"/>
                </a:cubicBezTo>
                <a:lnTo>
                  <a:pt x="107267" y="121434"/>
                </a:lnTo>
                <a:cubicBezTo>
                  <a:pt x="110632" y="121434"/>
                  <a:pt x="113339" y="118727"/>
                  <a:pt x="113339" y="115363"/>
                </a:cubicBezTo>
                <a:lnTo>
                  <a:pt x="113339" y="78932"/>
                </a:lnTo>
                <a:cubicBezTo>
                  <a:pt x="113339" y="76478"/>
                  <a:pt x="111871" y="74252"/>
                  <a:pt x="109594" y="73316"/>
                </a:cubicBezTo>
                <a:cubicBezTo>
                  <a:pt x="107318" y="72380"/>
                  <a:pt x="104712" y="72886"/>
                  <a:pt x="102966" y="74631"/>
                </a:cubicBezTo>
                <a:lnTo>
                  <a:pt x="92847" y="84751"/>
                </a:lnTo>
                <a:lnTo>
                  <a:pt x="72861" y="64765"/>
                </a:lnTo>
                <a:lnTo>
                  <a:pt x="92847" y="44779"/>
                </a:lnTo>
                <a:lnTo>
                  <a:pt x="102966" y="54898"/>
                </a:lnTo>
                <a:cubicBezTo>
                  <a:pt x="104712" y="56644"/>
                  <a:pt x="107318" y="57150"/>
                  <a:pt x="109594" y="56214"/>
                </a:cubicBezTo>
                <a:cubicBezTo>
                  <a:pt x="111871" y="55278"/>
                  <a:pt x="113339" y="53052"/>
                  <a:pt x="113339" y="50598"/>
                </a:cubicBezTo>
                <a:lnTo>
                  <a:pt x="113339" y="14167"/>
                </a:lnTo>
                <a:cubicBezTo>
                  <a:pt x="113339" y="10803"/>
                  <a:pt x="110632" y="8096"/>
                  <a:pt x="107267" y="8096"/>
                </a:cubicBezTo>
                <a:lnTo>
                  <a:pt x="70837" y="8096"/>
                </a:lnTo>
                <a:cubicBezTo>
                  <a:pt x="68383" y="8096"/>
                  <a:pt x="66156" y="9563"/>
                  <a:pt x="65220" y="11840"/>
                </a:cubicBezTo>
                <a:cubicBezTo>
                  <a:pt x="64284" y="14117"/>
                  <a:pt x="64816" y="16723"/>
                  <a:pt x="66536" y="18468"/>
                </a:cubicBezTo>
                <a:lnTo>
                  <a:pt x="76655" y="28588"/>
                </a:lnTo>
                <a:lnTo>
                  <a:pt x="56669" y="48574"/>
                </a:lnTo>
                <a:lnTo>
                  <a:pt x="36683" y="28588"/>
                </a:lnTo>
                <a:lnTo>
                  <a:pt x="46803" y="18468"/>
                </a:lnTo>
                <a:cubicBezTo>
                  <a:pt x="48548" y="16723"/>
                  <a:pt x="49054" y="14117"/>
                  <a:pt x="48118" y="11840"/>
                </a:cubicBezTo>
                <a:cubicBezTo>
                  <a:pt x="47182" y="9563"/>
                  <a:pt x="44956" y="8096"/>
                  <a:pt x="42502" y="8096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32" name="Text 29"/>
          <p:cNvSpPr/>
          <p:nvPr/>
        </p:nvSpPr>
        <p:spPr>
          <a:xfrm>
            <a:off x="6703067" y="2952876"/>
            <a:ext cx="4937520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流动性收紧 + 业绩超预期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499870" y="3211936"/>
            <a:ext cx="5132622" cy="186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业绩支撑个别标的，但流动性压制整体估值，市场呈现</a:t>
            </a:r>
            <a:r>
              <a:rPr lang="en-US" sz="892" b="1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分化格局</a:t>
            </a:r>
            <a:r>
              <a:rPr lang="en-US" sz="892" dirty="0">
                <a:solidFill>
                  <a:srgbClr val="3C354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，精选个股为主。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323825" y="3817084"/>
            <a:ext cx="11544351" cy="2720127"/>
          </a:xfrm>
          <a:custGeom>
            <a:avLst/>
            <a:gdLst/>
            <a:ahLst/>
            <a:cxnLst/>
            <a:rect l="l" t="t" r="r" b="b"/>
            <a:pathLst>
              <a:path w="11544351" h="2720127">
                <a:moveTo>
                  <a:pt x="97136" y="0"/>
                </a:moveTo>
                <a:lnTo>
                  <a:pt x="11447215" y="0"/>
                </a:lnTo>
                <a:cubicBezTo>
                  <a:pt x="11500861" y="0"/>
                  <a:pt x="11544351" y="43489"/>
                  <a:pt x="11544351" y="97136"/>
                </a:cubicBezTo>
                <a:lnTo>
                  <a:pt x="11544351" y="2622992"/>
                </a:lnTo>
                <a:cubicBezTo>
                  <a:pt x="11544351" y="2676638"/>
                  <a:pt x="11500861" y="2720127"/>
                  <a:pt x="11447215" y="2720127"/>
                </a:cubicBezTo>
                <a:lnTo>
                  <a:pt x="97136" y="2720127"/>
                </a:lnTo>
                <a:cubicBezTo>
                  <a:pt x="43489" y="2720127"/>
                  <a:pt x="0" y="2676638"/>
                  <a:pt x="0" y="2622992"/>
                </a:cubicBezTo>
                <a:lnTo>
                  <a:pt x="0" y="97136"/>
                </a:lnTo>
                <a:cubicBezTo>
                  <a:pt x="0" y="43525"/>
                  <a:pt x="43525" y="0"/>
                  <a:pt x="9713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8574" dist="323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16096" y="4011378"/>
            <a:ext cx="141673" cy="161912"/>
          </a:xfrm>
          <a:custGeom>
            <a:avLst/>
            <a:gdLst/>
            <a:ahLst/>
            <a:cxnLst/>
            <a:rect l="l" t="t" r="r" b="b"/>
            <a:pathLst>
              <a:path w="141673" h="161912">
                <a:moveTo>
                  <a:pt x="121434" y="30359"/>
                </a:moveTo>
                <a:lnTo>
                  <a:pt x="121434" y="50598"/>
                </a:lnTo>
                <a:lnTo>
                  <a:pt x="101195" y="50598"/>
                </a:lnTo>
                <a:lnTo>
                  <a:pt x="101195" y="30359"/>
                </a:lnTo>
                <a:lnTo>
                  <a:pt x="121434" y="30359"/>
                </a:lnTo>
                <a:close/>
                <a:moveTo>
                  <a:pt x="121434" y="70837"/>
                </a:moveTo>
                <a:lnTo>
                  <a:pt x="121434" y="91076"/>
                </a:lnTo>
                <a:lnTo>
                  <a:pt x="101195" y="91076"/>
                </a:lnTo>
                <a:lnTo>
                  <a:pt x="101195" y="70837"/>
                </a:lnTo>
                <a:lnTo>
                  <a:pt x="121434" y="70837"/>
                </a:lnTo>
                <a:close/>
                <a:moveTo>
                  <a:pt x="121434" y="111315"/>
                </a:moveTo>
                <a:lnTo>
                  <a:pt x="121434" y="131554"/>
                </a:lnTo>
                <a:lnTo>
                  <a:pt x="101195" y="131554"/>
                </a:lnTo>
                <a:lnTo>
                  <a:pt x="101195" y="111315"/>
                </a:lnTo>
                <a:lnTo>
                  <a:pt x="121434" y="111315"/>
                </a:lnTo>
                <a:close/>
                <a:moveTo>
                  <a:pt x="80956" y="91076"/>
                </a:moveTo>
                <a:lnTo>
                  <a:pt x="60717" y="91076"/>
                </a:lnTo>
                <a:lnTo>
                  <a:pt x="60717" y="70837"/>
                </a:lnTo>
                <a:lnTo>
                  <a:pt x="80956" y="70837"/>
                </a:lnTo>
                <a:lnTo>
                  <a:pt x="80956" y="91076"/>
                </a:lnTo>
                <a:close/>
                <a:moveTo>
                  <a:pt x="60717" y="111315"/>
                </a:moveTo>
                <a:lnTo>
                  <a:pt x="80956" y="111315"/>
                </a:lnTo>
                <a:lnTo>
                  <a:pt x="80956" y="131554"/>
                </a:lnTo>
                <a:lnTo>
                  <a:pt x="60717" y="131554"/>
                </a:lnTo>
                <a:lnTo>
                  <a:pt x="60717" y="111315"/>
                </a:lnTo>
                <a:close/>
                <a:moveTo>
                  <a:pt x="40478" y="91076"/>
                </a:moveTo>
                <a:lnTo>
                  <a:pt x="20239" y="91076"/>
                </a:lnTo>
                <a:lnTo>
                  <a:pt x="20239" y="70837"/>
                </a:lnTo>
                <a:lnTo>
                  <a:pt x="40478" y="70837"/>
                </a:lnTo>
                <a:lnTo>
                  <a:pt x="40478" y="91076"/>
                </a:lnTo>
                <a:close/>
                <a:moveTo>
                  <a:pt x="20239" y="111315"/>
                </a:moveTo>
                <a:lnTo>
                  <a:pt x="40478" y="111315"/>
                </a:lnTo>
                <a:lnTo>
                  <a:pt x="40478" y="131554"/>
                </a:lnTo>
                <a:lnTo>
                  <a:pt x="20239" y="131554"/>
                </a:lnTo>
                <a:lnTo>
                  <a:pt x="20239" y="111315"/>
                </a:lnTo>
                <a:close/>
                <a:moveTo>
                  <a:pt x="20239" y="50598"/>
                </a:moveTo>
                <a:lnTo>
                  <a:pt x="20239" y="30359"/>
                </a:lnTo>
                <a:lnTo>
                  <a:pt x="40478" y="30359"/>
                </a:lnTo>
                <a:lnTo>
                  <a:pt x="40478" y="50598"/>
                </a:lnTo>
                <a:lnTo>
                  <a:pt x="20239" y="50598"/>
                </a:lnTo>
                <a:close/>
                <a:moveTo>
                  <a:pt x="60717" y="50598"/>
                </a:moveTo>
                <a:lnTo>
                  <a:pt x="60717" y="30359"/>
                </a:lnTo>
                <a:lnTo>
                  <a:pt x="80956" y="30359"/>
                </a:lnTo>
                <a:lnTo>
                  <a:pt x="80956" y="50598"/>
                </a:lnTo>
                <a:lnTo>
                  <a:pt x="60717" y="50598"/>
                </a:lnTo>
                <a:close/>
                <a:moveTo>
                  <a:pt x="20239" y="10120"/>
                </a:moveTo>
                <a:cubicBezTo>
                  <a:pt x="9076" y="10120"/>
                  <a:pt x="0" y="19195"/>
                  <a:pt x="0" y="30359"/>
                </a:cubicBezTo>
                <a:lnTo>
                  <a:pt x="0" y="131554"/>
                </a:lnTo>
                <a:cubicBezTo>
                  <a:pt x="0" y="142717"/>
                  <a:pt x="9076" y="151793"/>
                  <a:pt x="20239" y="151793"/>
                </a:cubicBezTo>
                <a:lnTo>
                  <a:pt x="121434" y="151793"/>
                </a:lnTo>
                <a:cubicBezTo>
                  <a:pt x="132597" y="151793"/>
                  <a:pt x="141673" y="142717"/>
                  <a:pt x="141673" y="131554"/>
                </a:cubicBezTo>
                <a:lnTo>
                  <a:pt x="141673" y="30359"/>
                </a:lnTo>
                <a:cubicBezTo>
                  <a:pt x="141673" y="19195"/>
                  <a:pt x="132597" y="10120"/>
                  <a:pt x="121434" y="10120"/>
                </a:cubicBezTo>
                <a:lnTo>
                  <a:pt x="20239" y="10120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36" name="Text 33"/>
          <p:cNvSpPr/>
          <p:nvPr/>
        </p:nvSpPr>
        <p:spPr>
          <a:xfrm>
            <a:off x="688127" y="3978996"/>
            <a:ext cx="11099092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75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市场走势预判矩阵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485737" y="4335203"/>
            <a:ext cx="3651124" cy="615267"/>
          </a:xfrm>
          <a:custGeom>
            <a:avLst/>
            <a:gdLst/>
            <a:ahLst/>
            <a:cxnLst/>
            <a:rect l="l" t="t" r="r" b="b"/>
            <a:pathLst>
              <a:path w="3651124" h="615267">
                <a:moveTo>
                  <a:pt x="64763" y="0"/>
                </a:moveTo>
                <a:lnTo>
                  <a:pt x="3586361" y="0"/>
                </a:lnTo>
                <a:cubicBezTo>
                  <a:pt x="3622128" y="0"/>
                  <a:pt x="3651124" y="28995"/>
                  <a:pt x="3651124" y="64763"/>
                </a:cubicBezTo>
                <a:lnTo>
                  <a:pt x="3651124" y="550504"/>
                </a:lnTo>
                <a:cubicBezTo>
                  <a:pt x="3651124" y="586272"/>
                  <a:pt x="3622128" y="615267"/>
                  <a:pt x="3586361" y="615267"/>
                </a:cubicBezTo>
                <a:lnTo>
                  <a:pt x="64763" y="615267"/>
                </a:lnTo>
                <a:cubicBezTo>
                  <a:pt x="28995" y="615267"/>
                  <a:pt x="0" y="586272"/>
                  <a:pt x="0" y="550504"/>
                </a:cubicBezTo>
                <a:lnTo>
                  <a:pt x="0" y="64763"/>
                </a:lnTo>
                <a:cubicBezTo>
                  <a:pt x="0" y="29019"/>
                  <a:pt x="29019" y="0"/>
                  <a:pt x="64763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554550" y="4432351"/>
            <a:ext cx="3513498" cy="16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92" dirty="0">
                <a:solidFill>
                  <a:srgbClr val="3C354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流动性 \ 业绩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50502" y="4659028"/>
            <a:ext cx="3521594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超预期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274891" y="4341680"/>
            <a:ext cx="3639790" cy="603933"/>
          </a:xfrm>
          <a:custGeom>
            <a:avLst/>
            <a:gdLst/>
            <a:ahLst/>
            <a:cxnLst/>
            <a:rect l="l" t="t" r="r" b="b"/>
            <a:pathLst>
              <a:path w="3639790" h="603933">
                <a:moveTo>
                  <a:pt x="64766" y="0"/>
                </a:moveTo>
                <a:lnTo>
                  <a:pt x="3575024" y="0"/>
                </a:lnTo>
                <a:cubicBezTo>
                  <a:pt x="3610793" y="0"/>
                  <a:pt x="3639790" y="28997"/>
                  <a:pt x="3639790" y="64766"/>
                </a:cubicBezTo>
                <a:lnTo>
                  <a:pt x="3639790" y="539167"/>
                </a:lnTo>
                <a:cubicBezTo>
                  <a:pt x="3639790" y="574936"/>
                  <a:pt x="3610793" y="603933"/>
                  <a:pt x="3575024" y="603933"/>
                </a:cubicBezTo>
                <a:lnTo>
                  <a:pt x="64766" y="603933"/>
                </a:lnTo>
                <a:cubicBezTo>
                  <a:pt x="28997" y="603933"/>
                  <a:pt x="0" y="574936"/>
                  <a:pt x="0" y="539167"/>
                </a:cubicBezTo>
                <a:lnTo>
                  <a:pt x="0" y="64766"/>
                </a:lnTo>
                <a:cubicBezTo>
                  <a:pt x="0" y="28997"/>
                  <a:pt x="28997" y="0"/>
                  <a:pt x="64766" y="0"/>
                </a:cubicBezTo>
                <a:close/>
              </a:path>
            </a:pathLst>
          </a:custGeom>
          <a:solidFill>
            <a:srgbClr val="8F5C9A">
              <a:alpha val="10196"/>
            </a:srgbClr>
          </a:solidFill>
          <a:ln w="20320">
            <a:solidFill>
              <a:srgbClr val="8F5C9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346133" y="4445304"/>
            <a:ext cx="3497307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宽松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4354228" y="4671982"/>
            <a:ext cx="3481116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TGA↓ 降息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8069003" y="4341680"/>
            <a:ext cx="3639790" cy="603933"/>
          </a:xfrm>
          <a:custGeom>
            <a:avLst/>
            <a:gdLst/>
            <a:ahLst/>
            <a:cxnLst/>
            <a:rect l="l" t="t" r="r" b="b"/>
            <a:pathLst>
              <a:path w="3639790" h="603933">
                <a:moveTo>
                  <a:pt x="64766" y="0"/>
                </a:moveTo>
                <a:lnTo>
                  <a:pt x="3575024" y="0"/>
                </a:lnTo>
                <a:cubicBezTo>
                  <a:pt x="3610793" y="0"/>
                  <a:pt x="3639790" y="28997"/>
                  <a:pt x="3639790" y="64766"/>
                </a:cubicBezTo>
                <a:lnTo>
                  <a:pt x="3639790" y="539167"/>
                </a:lnTo>
                <a:cubicBezTo>
                  <a:pt x="3639790" y="574936"/>
                  <a:pt x="3610793" y="603933"/>
                  <a:pt x="3575024" y="603933"/>
                </a:cubicBezTo>
                <a:lnTo>
                  <a:pt x="64766" y="603933"/>
                </a:lnTo>
                <a:cubicBezTo>
                  <a:pt x="28997" y="603933"/>
                  <a:pt x="0" y="574936"/>
                  <a:pt x="0" y="539167"/>
                </a:cubicBezTo>
                <a:lnTo>
                  <a:pt x="0" y="64766"/>
                </a:lnTo>
                <a:cubicBezTo>
                  <a:pt x="0" y="28997"/>
                  <a:pt x="28997" y="0"/>
                  <a:pt x="64766" y="0"/>
                </a:cubicBezTo>
                <a:close/>
              </a:path>
            </a:pathLst>
          </a:custGeom>
          <a:solidFill>
            <a:srgbClr val="7C1D56">
              <a:alpha val="10196"/>
            </a:srgbClr>
          </a:solidFill>
          <a:ln w="20320">
            <a:solidFill>
              <a:srgbClr val="7C1D5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28911" y="4445304"/>
            <a:ext cx="3497307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收紧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137006" y="4671982"/>
            <a:ext cx="3481116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7C1D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TGA↑ 加息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92214" y="5086476"/>
            <a:ext cx="3639790" cy="571551"/>
          </a:xfrm>
          <a:custGeom>
            <a:avLst/>
            <a:gdLst/>
            <a:ahLst/>
            <a:cxnLst/>
            <a:rect l="l" t="t" r="r" b="b"/>
            <a:pathLst>
              <a:path w="3639790" h="571551">
                <a:moveTo>
                  <a:pt x="64762" y="0"/>
                </a:moveTo>
                <a:lnTo>
                  <a:pt x="3575027" y="0"/>
                </a:lnTo>
                <a:cubicBezTo>
                  <a:pt x="3610795" y="0"/>
                  <a:pt x="3639790" y="28995"/>
                  <a:pt x="3639790" y="64762"/>
                </a:cubicBezTo>
                <a:lnTo>
                  <a:pt x="3639790" y="506788"/>
                </a:lnTo>
                <a:cubicBezTo>
                  <a:pt x="3639790" y="542555"/>
                  <a:pt x="3610795" y="571551"/>
                  <a:pt x="3575027" y="571551"/>
                </a:cubicBezTo>
                <a:lnTo>
                  <a:pt x="64762" y="571551"/>
                </a:lnTo>
                <a:cubicBezTo>
                  <a:pt x="28995" y="571551"/>
                  <a:pt x="0" y="542555"/>
                  <a:pt x="0" y="506788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8F5C9A">
              <a:alpha val="10196"/>
            </a:srgbClr>
          </a:solidFill>
          <a:ln w="20320">
            <a:solidFill>
              <a:srgbClr val="8F5C9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63455" y="5190101"/>
            <a:ext cx="3497307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超预期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571551" y="5416778"/>
            <a:ext cx="3481116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8F5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 7强劲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4268414" y="5080000"/>
            <a:ext cx="3651124" cy="582884"/>
          </a:xfrm>
          <a:custGeom>
            <a:avLst/>
            <a:gdLst/>
            <a:ahLst/>
            <a:cxnLst/>
            <a:rect l="l" t="t" r="r" b="b"/>
            <a:pathLst>
              <a:path w="3651124" h="582884">
                <a:moveTo>
                  <a:pt x="64764" y="0"/>
                </a:moveTo>
                <a:lnTo>
                  <a:pt x="3586359" y="0"/>
                </a:lnTo>
                <a:cubicBezTo>
                  <a:pt x="3622128" y="0"/>
                  <a:pt x="3651124" y="28996"/>
                  <a:pt x="3651124" y="64764"/>
                </a:cubicBezTo>
                <a:lnTo>
                  <a:pt x="3651124" y="518120"/>
                </a:lnTo>
                <a:cubicBezTo>
                  <a:pt x="3651124" y="553889"/>
                  <a:pt x="3622128" y="582884"/>
                  <a:pt x="3586359" y="582884"/>
                </a:cubicBezTo>
                <a:lnTo>
                  <a:pt x="64764" y="582884"/>
                </a:lnTo>
                <a:cubicBezTo>
                  <a:pt x="28996" y="582884"/>
                  <a:pt x="0" y="553889"/>
                  <a:pt x="0" y="518120"/>
                </a:cubicBezTo>
                <a:lnTo>
                  <a:pt x="0" y="64764"/>
                </a:lnTo>
                <a:cubicBezTo>
                  <a:pt x="0" y="29020"/>
                  <a:pt x="29020" y="0"/>
                  <a:pt x="64764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2700000" scaled="1"/>
          </a:gradFill>
          <a:ln/>
        </p:spPr>
      </p:sp>
      <p:sp>
        <p:nvSpPr>
          <p:cNvPr id="50" name="Text 47"/>
          <p:cNvSpPr/>
          <p:nvPr/>
        </p:nvSpPr>
        <p:spPr>
          <a:xfrm>
            <a:off x="4325084" y="5177147"/>
            <a:ext cx="3537785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主升浪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4341275" y="5436207"/>
            <a:ext cx="3505402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估值+盈利双击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057669" y="5086476"/>
            <a:ext cx="3639790" cy="571551"/>
          </a:xfrm>
          <a:custGeom>
            <a:avLst/>
            <a:gdLst/>
            <a:ahLst/>
            <a:cxnLst/>
            <a:rect l="l" t="t" r="r" b="b"/>
            <a:pathLst>
              <a:path w="3639790" h="571551">
                <a:moveTo>
                  <a:pt x="64762" y="0"/>
                </a:moveTo>
                <a:lnTo>
                  <a:pt x="3575027" y="0"/>
                </a:lnTo>
                <a:cubicBezTo>
                  <a:pt x="3610795" y="0"/>
                  <a:pt x="3639790" y="28995"/>
                  <a:pt x="3639790" y="64762"/>
                </a:cubicBezTo>
                <a:lnTo>
                  <a:pt x="3639790" y="506788"/>
                </a:lnTo>
                <a:cubicBezTo>
                  <a:pt x="3639790" y="542555"/>
                  <a:pt x="3610795" y="571551"/>
                  <a:pt x="3575027" y="571551"/>
                </a:cubicBezTo>
                <a:lnTo>
                  <a:pt x="64762" y="571551"/>
                </a:lnTo>
                <a:cubicBezTo>
                  <a:pt x="28995" y="571551"/>
                  <a:pt x="0" y="542555"/>
                  <a:pt x="0" y="506788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A95EAF">
              <a:alpha val="20000"/>
            </a:srgbClr>
          </a:solidFill>
          <a:ln w="20320">
            <a:solidFill>
              <a:srgbClr val="A95EA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128911" y="5190101"/>
            <a:ext cx="3497307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分化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8137006" y="5416778"/>
            <a:ext cx="3481116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个股精选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492214" y="5798792"/>
            <a:ext cx="3639790" cy="571551"/>
          </a:xfrm>
          <a:custGeom>
            <a:avLst/>
            <a:gdLst/>
            <a:ahLst/>
            <a:cxnLst/>
            <a:rect l="l" t="t" r="r" b="b"/>
            <a:pathLst>
              <a:path w="3639790" h="571551">
                <a:moveTo>
                  <a:pt x="64762" y="0"/>
                </a:moveTo>
                <a:lnTo>
                  <a:pt x="3575027" y="0"/>
                </a:lnTo>
                <a:cubicBezTo>
                  <a:pt x="3610795" y="0"/>
                  <a:pt x="3639790" y="28995"/>
                  <a:pt x="3639790" y="64762"/>
                </a:cubicBezTo>
                <a:lnTo>
                  <a:pt x="3639790" y="506788"/>
                </a:lnTo>
                <a:cubicBezTo>
                  <a:pt x="3639790" y="542555"/>
                  <a:pt x="3610795" y="571551"/>
                  <a:pt x="3575027" y="571551"/>
                </a:cubicBezTo>
                <a:lnTo>
                  <a:pt x="64762" y="571551"/>
                </a:lnTo>
                <a:cubicBezTo>
                  <a:pt x="28995" y="571551"/>
                  <a:pt x="0" y="542555"/>
                  <a:pt x="0" y="506788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7C1D56">
              <a:alpha val="10196"/>
            </a:srgbClr>
          </a:solidFill>
          <a:ln w="20320">
            <a:solidFill>
              <a:srgbClr val="7C1D56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63455" y="5902413"/>
            <a:ext cx="3497307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miss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571551" y="6129090"/>
            <a:ext cx="3481116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7C1D5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 7疲软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4274891" y="5798792"/>
            <a:ext cx="3639790" cy="571551"/>
          </a:xfrm>
          <a:custGeom>
            <a:avLst/>
            <a:gdLst/>
            <a:ahLst/>
            <a:cxnLst/>
            <a:rect l="l" t="t" r="r" b="b"/>
            <a:pathLst>
              <a:path w="3639790" h="571551">
                <a:moveTo>
                  <a:pt x="64762" y="0"/>
                </a:moveTo>
                <a:lnTo>
                  <a:pt x="3575027" y="0"/>
                </a:lnTo>
                <a:cubicBezTo>
                  <a:pt x="3610795" y="0"/>
                  <a:pt x="3639790" y="28995"/>
                  <a:pt x="3639790" y="64762"/>
                </a:cubicBezTo>
                <a:lnTo>
                  <a:pt x="3639790" y="506788"/>
                </a:lnTo>
                <a:cubicBezTo>
                  <a:pt x="3639790" y="542555"/>
                  <a:pt x="3610795" y="571551"/>
                  <a:pt x="3575027" y="571551"/>
                </a:cubicBezTo>
                <a:lnTo>
                  <a:pt x="64762" y="571551"/>
                </a:lnTo>
                <a:cubicBezTo>
                  <a:pt x="28995" y="571551"/>
                  <a:pt x="0" y="542555"/>
                  <a:pt x="0" y="506788"/>
                </a:cubicBezTo>
                <a:lnTo>
                  <a:pt x="0" y="64762"/>
                </a:lnTo>
                <a:cubicBezTo>
                  <a:pt x="0" y="29019"/>
                  <a:pt x="29019" y="0"/>
                  <a:pt x="64762" y="0"/>
                </a:cubicBezTo>
                <a:close/>
              </a:path>
            </a:pathLst>
          </a:custGeom>
          <a:solidFill>
            <a:srgbClr val="A95EAF">
              <a:alpha val="20000"/>
            </a:srgbClr>
          </a:solidFill>
          <a:ln w="20320">
            <a:solidFill>
              <a:srgbClr val="A95EA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346133" y="5902413"/>
            <a:ext cx="3497307" cy="1942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2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震荡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4354228" y="6129090"/>
            <a:ext cx="3481116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结构性行情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057669" y="5798792"/>
            <a:ext cx="3651124" cy="582884"/>
          </a:xfrm>
          <a:custGeom>
            <a:avLst/>
            <a:gdLst/>
            <a:ahLst/>
            <a:cxnLst/>
            <a:rect l="l" t="t" r="r" b="b"/>
            <a:pathLst>
              <a:path w="3651124" h="582884">
                <a:moveTo>
                  <a:pt x="64764" y="0"/>
                </a:moveTo>
                <a:lnTo>
                  <a:pt x="3586359" y="0"/>
                </a:lnTo>
                <a:cubicBezTo>
                  <a:pt x="3622128" y="0"/>
                  <a:pt x="3651124" y="28996"/>
                  <a:pt x="3651124" y="64764"/>
                </a:cubicBezTo>
                <a:lnTo>
                  <a:pt x="3651124" y="518120"/>
                </a:lnTo>
                <a:cubicBezTo>
                  <a:pt x="3651124" y="553889"/>
                  <a:pt x="3622128" y="582884"/>
                  <a:pt x="3586359" y="582884"/>
                </a:cubicBezTo>
                <a:lnTo>
                  <a:pt x="64764" y="582884"/>
                </a:lnTo>
                <a:cubicBezTo>
                  <a:pt x="28996" y="582884"/>
                  <a:pt x="0" y="553889"/>
                  <a:pt x="0" y="518120"/>
                </a:cubicBezTo>
                <a:lnTo>
                  <a:pt x="0" y="64764"/>
                </a:lnTo>
                <a:cubicBezTo>
                  <a:pt x="0" y="29020"/>
                  <a:pt x="29020" y="0"/>
                  <a:pt x="64764" y="0"/>
                </a:cubicBezTo>
                <a:close/>
              </a:path>
            </a:pathLst>
          </a:custGeom>
          <a:gradFill flip="none" rotWithShape="1">
            <a:gsLst>
              <a:gs pos="0">
                <a:srgbClr val="7C1D56"/>
              </a:gs>
              <a:gs pos="100000">
                <a:srgbClr val="A95EAF"/>
              </a:gs>
            </a:gsLst>
            <a:lin ang="2700000" scaled="1"/>
          </a:gradFill>
          <a:ln/>
        </p:spPr>
      </p:sp>
      <p:sp>
        <p:nvSpPr>
          <p:cNvPr id="62" name="Text 59"/>
          <p:cNvSpPr/>
          <p:nvPr/>
        </p:nvSpPr>
        <p:spPr>
          <a:xfrm>
            <a:off x="8107862" y="5889463"/>
            <a:ext cx="3537785" cy="22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75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双杀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8124053" y="6148523"/>
            <a:ext cx="3505402" cy="129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6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估值+盈利双杀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pic>
        <p:nvPicPr>
          <p:cNvPr id="3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A95E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MONITORING INDICATORS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2026年关键监控指标清单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0" scaled="1"/>
          </a:gradFill>
          <a:ln/>
        </p:spPr>
      </p:sp>
      <p:sp>
        <p:nvSpPr>
          <p:cNvPr id="7" name="Shape 4"/>
          <p:cNvSpPr/>
          <p:nvPr/>
        </p:nvSpPr>
        <p:spPr>
          <a:xfrm>
            <a:off x="317500" y="1143000"/>
            <a:ext cx="5683250" cy="4921250"/>
          </a:xfrm>
          <a:custGeom>
            <a:avLst/>
            <a:gdLst/>
            <a:ahLst/>
            <a:cxnLst/>
            <a:rect l="l" t="t" r="r" b="b"/>
            <a:pathLst>
              <a:path w="5683250" h="4921250">
                <a:moveTo>
                  <a:pt x="95226" y="0"/>
                </a:moveTo>
                <a:lnTo>
                  <a:pt x="5588024" y="0"/>
                </a:lnTo>
                <a:cubicBezTo>
                  <a:pt x="5640616" y="0"/>
                  <a:pt x="5683250" y="42634"/>
                  <a:pt x="5683250" y="95226"/>
                </a:cubicBezTo>
                <a:lnTo>
                  <a:pt x="5683250" y="4826024"/>
                </a:lnTo>
                <a:cubicBezTo>
                  <a:pt x="5683250" y="4878616"/>
                  <a:pt x="5640616" y="4921250"/>
                  <a:pt x="5588024" y="4921250"/>
                </a:cubicBezTo>
                <a:lnTo>
                  <a:pt x="95226" y="4921250"/>
                </a:lnTo>
                <a:cubicBezTo>
                  <a:pt x="42634" y="4921250"/>
                  <a:pt x="0" y="4878616"/>
                  <a:pt x="0" y="4826024"/>
                </a:cubicBezTo>
                <a:lnTo>
                  <a:pt x="0" y="95226"/>
                </a:lnTo>
                <a:cubicBezTo>
                  <a:pt x="0" y="42669"/>
                  <a:pt x="42669" y="0"/>
                  <a:pt x="952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6250" y="130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270000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587375" y="14128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7270" y="61919"/>
                </a:moveTo>
                <a:lnTo>
                  <a:pt x="26851" y="71500"/>
                </a:lnTo>
                <a:cubicBezTo>
                  <a:pt x="28711" y="73360"/>
                  <a:pt x="31223" y="74414"/>
                  <a:pt x="33858" y="74414"/>
                </a:cubicBezTo>
                <a:lnTo>
                  <a:pt x="40525" y="74414"/>
                </a:lnTo>
                <a:cubicBezTo>
                  <a:pt x="43160" y="74414"/>
                  <a:pt x="45672" y="75468"/>
                  <a:pt x="47532" y="77329"/>
                </a:cubicBezTo>
                <a:lnTo>
                  <a:pt x="56617" y="86413"/>
                </a:lnTo>
                <a:cubicBezTo>
                  <a:pt x="58477" y="88274"/>
                  <a:pt x="59531" y="90785"/>
                  <a:pt x="59531" y="93421"/>
                </a:cubicBezTo>
                <a:lnTo>
                  <a:pt x="59531" y="105048"/>
                </a:lnTo>
                <a:cubicBezTo>
                  <a:pt x="59531" y="107683"/>
                  <a:pt x="60585" y="110195"/>
                  <a:pt x="62446" y="112055"/>
                </a:cubicBezTo>
                <a:lnTo>
                  <a:pt x="66570" y="116179"/>
                </a:lnTo>
                <a:cubicBezTo>
                  <a:pt x="68430" y="118039"/>
                  <a:pt x="69484" y="120551"/>
                  <a:pt x="69484" y="123186"/>
                </a:cubicBezTo>
                <a:lnTo>
                  <a:pt x="69484" y="128984"/>
                </a:lnTo>
                <a:cubicBezTo>
                  <a:pt x="69484" y="134472"/>
                  <a:pt x="73918" y="138906"/>
                  <a:pt x="79406" y="138906"/>
                </a:cubicBezTo>
                <a:cubicBezTo>
                  <a:pt x="84894" y="138906"/>
                  <a:pt x="89328" y="134472"/>
                  <a:pt x="89328" y="128984"/>
                </a:cubicBezTo>
                <a:lnTo>
                  <a:pt x="89328" y="128147"/>
                </a:lnTo>
                <a:cubicBezTo>
                  <a:pt x="89328" y="125512"/>
                  <a:pt x="90382" y="123000"/>
                  <a:pt x="92242" y="121140"/>
                </a:cubicBezTo>
                <a:lnTo>
                  <a:pt x="106288" y="107094"/>
                </a:lnTo>
                <a:cubicBezTo>
                  <a:pt x="108148" y="105234"/>
                  <a:pt x="109203" y="102722"/>
                  <a:pt x="109203" y="100087"/>
                </a:cubicBezTo>
                <a:lnTo>
                  <a:pt x="109203" y="89328"/>
                </a:lnTo>
                <a:cubicBezTo>
                  <a:pt x="109203" y="83840"/>
                  <a:pt x="104769" y="79406"/>
                  <a:pt x="99281" y="79406"/>
                </a:cubicBezTo>
                <a:lnTo>
                  <a:pt x="73639" y="79406"/>
                </a:lnTo>
                <a:cubicBezTo>
                  <a:pt x="71003" y="79406"/>
                  <a:pt x="68492" y="78352"/>
                  <a:pt x="66632" y="76491"/>
                </a:cubicBezTo>
                <a:lnTo>
                  <a:pt x="61671" y="71531"/>
                </a:lnTo>
                <a:cubicBezTo>
                  <a:pt x="60368" y="70228"/>
                  <a:pt x="59624" y="68430"/>
                  <a:pt x="59624" y="66570"/>
                </a:cubicBezTo>
                <a:cubicBezTo>
                  <a:pt x="59624" y="62694"/>
                  <a:pt x="62756" y="59562"/>
                  <a:pt x="66632" y="59562"/>
                </a:cubicBezTo>
                <a:lnTo>
                  <a:pt x="77391" y="59562"/>
                </a:lnTo>
                <a:cubicBezTo>
                  <a:pt x="81266" y="59562"/>
                  <a:pt x="84398" y="56431"/>
                  <a:pt x="84398" y="52555"/>
                </a:cubicBezTo>
                <a:cubicBezTo>
                  <a:pt x="84398" y="50695"/>
                  <a:pt x="83654" y="48896"/>
                  <a:pt x="82352" y="47594"/>
                </a:cubicBezTo>
                <a:lnTo>
                  <a:pt x="76243" y="41486"/>
                </a:lnTo>
                <a:cubicBezTo>
                  <a:pt x="75034" y="40308"/>
                  <a:pt x="74414" y="38788"/>
                  <a:pt x="74414" y="37207"/>
                </a:cubicBezTo>
                <a:cubicBezTo>
                  <a:pt x="74414" y="35626"/>
                  <a:pt x="75034" y="34106"/>
                  <a:pt x="76181" y="32959"/>
                </a:cubicBezTo>
                <a:lnTo>
                  <a:pt x="81545" y="27595"/>
                </a:lnTo>
                <a:cubicBezTo>
                  <a:pt x="83344" y="25797"/>
                  <a:pt x="84367" y="23347"/>
                  <a:pt x="84367" y="20805"/>
                </a:cubicBezTo>
                <a:cubicBezTo>
                  <a:pt x="84367" y="18573"/>
                  <a:pt x="83623" y="16557"/>
                  <a:pt x="82383" y="14945"/>
                </a:cubicBezTo>
                <a:cubicBezTo>
                  <a:pt x="81390" y="14914"/>
                  <a:pt x="80398" y="14883"/>
                  <a:pt x="79406" y="14883"/>
                </a:cubicBezTo>
                <a:cubicBezTo>
                  <a:pt x="49826" y="14883"/>
                  <a:pt x="24929" y="34789"/>
                  <a:pt x="17301" y="61919"/>
                </a:cubicBezTo>
                <a:close/>
                <a:moveTo>
                  <a:pt x="143867" y="79375"/>
                </a:moveTo>
                <a:cubicBezTo>
                  <a:pt x="143867" y="68647"/>
                  <a:pt x="141263" y="58539"/>
                  <a:pt x="136612" y="49671"/>
                </a:cubicBezTo>
                <a:cubicBezTo>
                  <a:pt x="134627" y="49950"/>
                  <a:pt x="132674" y="50881"/>
                  <a:pt x="131062" y="52493"/>
                </a:cubicBezTo>
                <a:lnTo>
                  <a:pt x="126907" y="56648"/>
                </a:lnTo>
                <a:cubicBezTo>
                  <a:pt x="125047" y="58508"/>
                  <a:pt x="123992" y="61020"/>
                  <a:pt x="123992" y="63655"/>
                </a:cubicBezTo>
                <a:lnTo>
                  <a:pt x="123992" y="74414"/>
                </a:lnTo>
                <a:cubicBezTo>
                  <a:pt x="123992" y="79902"/>
                  <a:pt x="128426" y="84336"/>
                  <a:pt x="133914" y="84336"/>
                </a:cubicBezTo>
                <a:lnTo>
                  <a:pt x="141387" y="84336"/>
                </a:lnTo>
                <a:cubicBezTo>
                  <a:pt x="142162" y="84336"/>
                  <a:pt x="142937" y="84243"/>
                  <a:pt x="143650" y="84088"/>
                </a:cubicBezTo>
                <a:cubicBezTo>
                  <a:pt x="143774" y="82538"/>
                  <a:pt x="143805" y="80956"/>
                  <a:pt x="143805" y="79375"/>
                </a:cubicBezTo>
                <a:close/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52500" y="1365250"/>
            <a:ext cx="85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宏观层面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6250" y="18097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87375" y="1936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3" name="Text 10"/>
          <p:cNvSpPr/>
          <p:nvPr/>
        </p:nvSpPr>
        <p:spPr>
          <a:xfrm>
            <a:off x="793750" y="1905000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美联储点阵图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71500" y="21590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关注每季度更新的利率预测中值及分布离散度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76250" y="25082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95313" y="2635250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47625" y="31750"/>
                </a:moveTo>
                <a:cubicBezTo>
                  <a:pt x="47625" y="18608"/>
                  <a:pt x="36955" y="7938"/>
                  <a:pt x="23812" y="7938"/>
                </a:cubicBezTo>
                <a:cubicBezTo>
                  <a:pt x="10670" y="7938"/>
                  <a:pt x="0" y="18608"/>
                  <a:pt x="0" y="31750"/>
                </a:cubicBezTo>
                <a:cubicBezTo>
                  <a:pt x="0" y="44892"/>
                  <a:pt x="10670" y="55563"/>
                  <a:pt x="23812" y="55563"/>
                </a:cubicBezTo>
                <a:cubicBezTo>
                  <a:pt x="36955" y="55563"/>
                  <a:pt x="47625" y="44892"/>
                  <a:pt x="47625" y="31750"/>
                </a:cubicBezTo>
                <a:close/>
                <a:moveTo>
                  <a:pt x="111125" y="95250"/>
                </a:moveTo>
                <a:cubicBezTo>
                  <a:pt x="111125" y="82108"/>
                  <a:pt x="100455" y="71438"/>
                  <a:pt x="87313" y="71438"/>
                </a:cubicBezTo>
                <a:cubicBezTo>
                  <a:pt x="74170" y="71438"/>
                  <a:pt x="63500" y="82108"/>
                  <a:pt x="63500" y="95250"/>
                </a:cubicBezTo>
                <a:cubicBezTo>
                  <a:pt x="63500" y="108392"/>
                  <a:pt x="74170" y="119063"/>
                  <a:pt x="87313" y="119063"/>
                </a:cubicBezTo>
                <a:cubicBezTo>
                  <a:pt x="100455" y="119063"/>
                  <a:pt x="111125" y="108392"/>
                  <a:pt x="111125" y="95250"/>
                </a:cubicBezTo>
                <a:close/>
                <a:moveTo>
                  <a:pt x="108793" y="21481"/>
                </a:moveTo>
                <a:cubicBezTo>
                  <a:pt x="111894" y="18380"/>
                  <a:pt x="111894" y="13345"/>
                  <a:pt x="108793" y="10244"/>
                </a:cubicBezTo>
                <a:cubicBezTo>
                  <a:pt x="105693" y="7144"/>
                  <a:pt x="100657" y="7144"/>
                  <a:pt x="97557" y="10244"/>
                </a:cubicBezTo>
                <a:lnTo>
                  <a:pt x="2307" y="105494"/>
                </a:lnTo>
                <a:cubicBezTo>
                  <a:pt x="-794" y="108595"/>
                  <a:pt x="-794" y="113630"/>
                  <a:pt x="2307" y="116731"/>
                </a:cubicBezTo>
                <a:cubicBezTo>
                  <a:pt x="5407" y="119831"/>
                  <a:pt x="10443" y="119831"/>
                  <a:pt x="13543" y="116731"/>
                </a:cubicBezTo>
                <a:lnTo>
                  <a:pt x="108793" y="21481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17" name="Text 14"/>
          <p:cNvSpPr/>
          <p:nvPr/>
        </p:nvSpPr>
        <p:spPr>
          <a:xfrm>
            <a:off x="793750" y="2603500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联邦基金利率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71500" y="2857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实际利率走势与点阵图预测的偏离程度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76250" y="32067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87375" y="3333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7938"/>
                </a:moveTo>
                <a:cubicBezTo>
                  <a:pt x="7119" y="7938"/>
                  <a:pt x="0" y="15056"/>
                  <a:pt x="0" y="23812"/>
                </a:cubicBezTo>
                <a:lnTo>
                  <a:pt x="0" y="95250"/>
                </a:lnTo>
                <a:cubicBezTo>
                  <a:pt x="0" y="104006"/>
                  <a:pt x="7119" y="111125"/>
                  <a:pt x="15875" y="111125"/>
                </a:cubicBezTo>
                <a:lnTo>
                  <a:pt x="111125" y="111125"/>
                </a:lnTo>
                <a:cubicBezTo>
                  <a:pt x="119881" y="111125"/>
                  <a:pt x="127000" y="104006"/>
                  <a:pt x="127000" y="95250"/>
                </a:cubicBezTo>
                <a:lnTo>
                  <a:pt x="127000" y="47625"/>
                </a:lnTo>
                <a:cubicBezTo>
                  <a:pt x="127000" y="38869"/>
                  <a:pt x="119881" y="31750"/>
                  <a:pt x="111125" y="31750"/>
                </a:cubicBezTo>
                <a:lnTo>
                  <a:pt x="17859" y="31750"/>
                </a:lnTo>
                <a:cubicBezTo>
                  <a:pt x="14560" y="31750"/>
                  <a:pt x="11906" y="29096"/>
                  <a:pt x="11906" y="25797"/>
                </a:cubicBezTo>
                <a:cubicBezTo>
                  <a:pt x="11906" y="22498"/>
                  <a:pt x="14560" y="19844"/>
                  <a:pt x="17859" y="19844"/>
                </a:cubicBezTo>
                <a:lnTo>
                  <a:pt x="113109" y="19844"/>
                </a:lnTo>
                <a:cubicBezTo>
                  <a:pt x="116408" y="19844"/>
                  <a:pt x="119063" y="17190"/>
                  <a:pt x="119063" y="13891"/>
                </a:cubicBezTo>
                <a:cubicBezTo>
                  <a:pt x="119063" y="10592"/>
                  <a:pt x="116408" y="7938"/>
                  <a:pt x="113109" y="7938"/>
                </a:cubicBezTo>
                <a:lnTo>
                  <a:pt x="15875" y="7938"/>
                </a:lnTo>
                <a:close/>
                <a:moveTo>
                  <a:pt x="103188" y="63500"/>
                </a:moveTo>
                <a:cubicBezTo>
                  <a:pt x="107568" y="63500"/>
                  <a:pt x="111125" y="67057"/>
                  <a:pt x="111125" y="71438"/>
                </a:cubicBezTo>
                <a:cubicBezTo>
                  <a:pt x="111125" y="75818"/>
                  <a:pt x="107568" y="79375"/>
                  <a:pt x="103188" y="79375"/>
                </a:cubicBezTo>
                <a:cubicBezTo>
                  <a:pt x="98807" y="79375"/>
                  <a:pt x="95250" y="75818"/>
                  <a:pt x="95250" y="71438"/>
                </a:cubicBezTo>
                <a:cubicBezTo>
                  <a:pt x="95250" y="67057"/>
                  <a:pt x="98807" y="63500"/>
                  <a:pt x="103188" y="63500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1" name="Text 18"/>
          <p:cNvSpPr/>
          <p:nvPr/>
        </p:nvSpPr>
        <p:spPr>
          <a:xfrm>
            <a:off x="793750" y="3302000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TGA账户余额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71500" y="35560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季度末目标8500亿美金，关注高位回落信号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76250" y="39052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87375" y="4032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4641" y="0"/>
                  <a:pt x="65782" y="248"/>
                  <a:pt x="66824" y="719"/>
                </a:cubicBezTo>
                <a:lnTo>
                  <a:pt x="113556" y="20538"/>
                </a:lnTo>
                <a:cubicBezTo>
                  <a:pt x="119013" y="22845"/>
                  <a:pt x="123081" y="28228"/>
                  <a:pt x="123056" y="34727"/>
                </a:cubicBezTo>
                <a:cubicBezTo>
                  <a:pt x="122932" y="59333"/>
                  <a:pt x="112812" y="104353"/>
                  <a:pt x="70073" y="124817"/>
                </a:cubicBezTo>
                <a:cubicBezTo>
                  <a:pt x="65931" y="126802"/>
                  <a:pt x="61119" y="126802"/>
                  <a:pt x="56976" y="124817"/>
                </a:cubicBezTo>
                <a:cubicBezTo>
                  <a:pt x="14213" y="104353"/>
                  <a:pt x="4118" y="59333"/>
                  <a:pt x="3994" y="34727"/>
                </a:cubicBezTo>
                <a:cubicBezTo>
                  <a:pt x="3969" y="28228"/>
                  <a:pt x="8037" y="22845"/>
                  <a:pt x="13494" y="20538"/>
                </a:cubicBezTo>
                <a:lnTo>
                  <a:pt x="60201" y="719"/>
                </a:lnTo>
                <a:cubicBezTo>
                  <a:pt x="61243" y="248"/>
                  <a:pt x="62359" y="0"/>
                  <a:pt x="63500" y="0"/>
                </a:cubicBezTo>
                <a:close/>
                <a:moveTo>
                  <a:pt x="63500" y="16570"/>
                </a:moveTo>
                <a:lnTo>
                  <a:pt x="63500" y="110356"/>
                </a:lnTo>
                <a:cubicBezTo>
                  <a:pt x="97730" y="93787"/>
                  <a:pt x="106933" y="57076"/>
                  <a:pt x="107156" y="35099"/>
                </a:cubicBezTo>
                <a:lnTo>
                  <a:pt x="63500" y="16594"/>
                </a:lnTo>
                <a:lnTo>
                  <a:pt x="63500" y="16594"/>
                </a:ln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5" name="Text 22"/>
          <p:cNvSpPr/>
          <p:nvPr/>
        </p:nvSpPr>
        <p:spPr>
          <a:xfrm>
            <a:off x="793750" y="4000500"/>
            <a:ext cx="1087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10年期TIPS收益率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71500" y="4254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实际利率水平与科技股估值的联动关系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76250" y="46037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587375" y="4730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5875"/>
                </a:moveTo>
                <a:cubicBezTo>
                  <a:pt x="49411" y="15875"/>
                  <a:pt x="36736" y="22002"/>
                  <a:pt x="28004" y="31750"/>
                </a:cubicBezTo>
                <a:lnTo>
                  <a:pt x="39688" y="31750"/>
                </a:lnTo>
                <a:cubicBezTo>
                  <a:pt x="44078" y="31750"/>
                  <a:pt x="47625" y="35297"/>
                  <a:pt x="47625" y="39688"/>
                </a:cubicBezTo>
                <a:cubicBezTo>
                  <a:pt x="47625" y="44078"/>
                  <a:pt x="44078" y="47625"/>
                  <a:pt x="39688" y="47625"/>
                </a:cubicBezTo>
                <a:lnTo>
                  <a:pt x="7938" y="47625"/>
                </a:lnTo>
                <a:cubicBezTo>
                  <a:pt x="3547" y="47625"/>
                  <a:pt x="0" y="44078"/>
                  <a:pt x="0" y="39688"/>
                </a:cubicBezTo>
                <a:lnTo>
                  <a:pt x="0" y="7938"/>
                </a:lnTo>
                <a:cubicBezTo>
                  <a:pt x="0" y="3547"/>
                  <a:pt x="3547" y="0"/>
                  <a:pt x="7938" y="0"/>
                </a:cubicBezTo>
                <a:cubicBezTo>
                  <a:pt x="12328" y="0"/>
                  <a:pt x="15875" y="3547"/>
                  <a:pt x="15875" y="7938"/>
                </a:cubicBezTo>
                <a:lnTo>
                  <a:pt x="15875" y="21506"/>
                </a:lnTo>
                <a:cubicBezTo>
                  <a:pt x="27508" y="8334"/>
                  <a:pt x="44524" y="0"/>
                  <a:pt x="63500" y="0"/>
                </a:cubicBezTo>
                <a:cubicBezTo>
                  <a:pt x="98574" y="0"/>
                  <a:pt x="127000" y="28426"/>
                  <a:pt x="127000" y="63500"/>
                </a:cubicBezTo>
                <a:cubicBezTo>
                  <a:pt x="127000" y="98574"/>
                  <a:pt x="98574" y="127000"/>
                  <a:pt x="63500" y="127000"/>
                </a:cubicBezTo>
                <a:cubicBezTo>
                  <a:pt x="41920" y="127000"/>
                  <a:pt x="22845" y="116235"/>
                  <a:pt x="11385" y="99789"/>
                </a:cubicBezTo>
                <a:cubicBezTo>
                  <a:pt x="8880" y="96193"/>
                  <a:pt x="9748" y="91256"/>
                  <a:pt x="13345" y="88726"/>
                </a:cubicBezTo>
                <a:cubicBezTo>
                  <a:pt x="16942" y="86196"/>
                  <a:pt x="21878" y="87089"/>
                  <a:pt x="24408" y="90686"/>
                </a:cubicBezTo>
                <a:cubicBezTo>
                  <a:pt x="33040" y="103039"/>
                  <a:pt x="47327" y="111100"/>
                  <a:pt x="63500" y="111100"/>
                </a:cubicBezTo>
                <a:cubicBezTo>
                  <a:pt x="89793" y="111100"/>
                  <a:pt x="111125" y="89768"/>
                  <a:pt x="111125" y="63475"/>
                </a:cubicBezTo>
                <a:cubicBezTo>
                  <a:pt x="111125" y="37182"/>
                  <a:pt x="89793" y="15875"/>
                  <a:pt x="63500" y="15875"/>
                </a:cubicBezTo>
                <a:close/>
              </a:path>
            </a:pathLst>
          </a:custGeom>
          <a:solidFill>
            <a:srgbClr val="8F5C9A"/>
          </a:solidFill>
          <a:ln/>
        </p:spPr>
      </p:sp>
      <p:sp>
        <p:nvSpPr>
          <p:cNvPr id="29" name="Text 26"/>
          <p:cNvSpPr/>
          <p:nvPr/>
        </p:nvSpPr>
        <p:spPr>
          <a:xfrm>
            <a:off x="793750" y="4699000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逆回购（RRP）规模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71500" y="49530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与TGA配合观察流动性释放信号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91250" y="1143000"/>
            <a:ext cx="5683250" cy="4921250"/>
          </a:xfrm>
          <a:custGeom>
            <a:avLst/>
            <a:gdLst/>
            <a:ahLst/>
            <a:cxnLst/>
            <a:rect l="l" t="t" r="r" b="b"/>
            <a:pathLst>
              <a:path w="5683250" h="4921250">
                <a:moveTo>
                  <a:pt x="95226" y="0"/>
                </a:moveTo>
                <a:lnTo>
                  <a:pt x="5588024" y="0"/>
                </a:lnTo>
                <a:cubicBezTo>
                  <a:pt x="5640616" y="0"/>
                  <a:pt x="5683250" y="42634"/>
                  <a:pt x="5683250" y="95226"/>
                </a:cubicBezTo>
                <a:lnTo>
                  <a:pt x="5683250" y="4826024"/>
                </a:lnTo>
                <a:cubicBezTo>
                  <a:pt x="5683250" y="4878616"/>
                  <a:pt x="5640616" y="4921250"/>
                  <a:pt x="5588024" y="4921250"/>
                </a:cubicBezTo>
                <a:lnTo>
                  <a:pt x="95226" y="4921250"/>
                </a:lnTo>
                <a:cubicBezTo>
                  <a:pt x="42634" y="4921250"/>
                  <a:pt x="0" y="4878616"/>
                  <a:pt x="0" y="4826024"/>
                </a:cubicBezTo>
                <a:lnTo>
                  <a:pt x="0" y="95226"/>
                </a:lnTo>
                <a:cubicBezTo>
                  <a:pt x="0" y="42669"/>
                  <a:pt x="42669" y="0"/>
                  <a:pt x="9522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47625" dist="317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350000" y="1301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7C1D56"/>
              </a:gs>
              <a:gs pos="100000">
                <a:srgbClr val="A95EAF"/>
              </a:gs>
            </a:gsLst>
            <a:lin ang="2700000" scaled="1"/>
          </a:gradFill>
          <a:ln/>
        </p:spPr>
      </p:sp>
      <p:sp>
        <p:nvSpPr>
          <p:cNvPr id="33" name="Shape 30"/>
          <p:cNvSpPr/>
          <p:nvPr/>
        </p:nvSpPr>
        <p:spPr>
          <a:xfrm>
            <a:off x="6461125" y="141287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4570" y="7441"/>
                </a:moveTo>
                <a:cubicBezTo>
                  <a:pt x="54570" y="3318"/>
                  <a:pt x="51253" y="0"/>
                  <a:pt x="47129" y="0"/>
                </a:cubicBezTo>
                <a:cubicBezTo>
                  <a:pt x="43005" y="0"/>
                  <a:pt x="39688" y="3318"/>
                  <a:pt x="39688" y="7441"/>
                </a:cubicBezTo>
                <a:lnTo>
                  <a:pt x="39688" y="19844"/>
                </a:lnTo>
                <a:cubicBezTo>
                  <a:pt x="28742" y="19844"/>
                  <a:pt x="19844" y="28742"/>
                  <a:pt x="19844" y="39688"/>
                </a:cubicBezTo>
                <a:lnTo>
                  <a:pt x="7441" y="39688"/>
                </a:lnTo>
                <a:cubicBezTo>
                  <a:pt x="3318" y="39688"/>
                  <a:pt x="0" y="43005"/>
                  <a:pt x="0" y="47129"/>
                </a:cubicBezTo>
                <a:cubicBezTo>
                  <a:pt x="0" y="51253"/>
                  <a:pt x="3318" y="54570"/>
                  <a:pt x="7441" y="54570"/>
                </a:cubicBezTo>
                <a:lnTo>
                  <a:pt x="19844" y="54570"/>
                </a:lnTo>
                <a:lnTo>
                  <a:pt x="19844" y="71934"/>
                </a:lnTo>
                <a:lnTo>
                  <a:pt x="7441" y="71934"/>
                </a:lnTo>
                <a:cubicBezTo>
                  <a:pt x="3318" y="71934"/>
                  <a:pt x="0" y="75251"/>
                  <a:pt x="0" y="79375"/>
                </a:cubicBezTo>
                <a:cubicBezTo>
                  <a:pt x="0" y="83499"/>
                  <a:pt x="3318" y="86816"/>
                  <a:pt x="7441" y="86816"/>
                </a:cubicBezTo>
                <a:lnTo>
                  <a:pt x="19844" y="86816"/>
                </a:lnTo>
                <a:lnTo>
                  <a:pt x="19844" y="104180"/>
                </a:lnTo>
                <a:lnTo>
                  <a:pt x="7441" y="104180"/>
                </a:lnTo>
                <a:cubicBezTo>
                  <a:pt x="3318" y="104180"/>
                  <a:pt x="0" y="107497"/>
                  <a:pt x="0" y="111621"/>
                </a:cubicBezTo>
                <a:cubicBezTo>
                  <a:pt x="0" y="115745"/>
                  <a:pt x="3318" y="119062"/>
                  <a:pt x="7441" y="119062"/>
                </a:cubicBezTo>
                <a:lnTo>
                  <a:pt x="19844" y="119062"/>
                </a:lnTo>
                <a:cubicBezTo>
                  <a:pt x="19844" y="130008"/>
                  <a:pt x="28742" y="138906"/>
                  <a:pt x="39688" y="138906"/>
                </a:cubicBezTo>
                <a:lnTo>
                  <a:pt x="39688" y="151309"/>
                </a:lnTo>
                <a:cubicBezTo>
                  <a:pt x="39688" y="155432"/>
                  <a:pt x="43005" y="158750"/>
                  <a:pt x="47129" y="158750"/>
                </a:cubicBezTo>
                <a:cubicBezTo>
                  <a:pt x="51253" y="158750"/>
                  <a:pt x="54570" y="155432"/>
                  <a:pt x="54570" y="151309"/>
                </a:cubicBezTo>
                <a:lnTo>
                  <a:pt x="54570" y="138906"/>
                </a:lnTo>
                <a:lnTo>
                  <a:pt x="71934" y="138906"/>
                </a:lnTo>
                <a:lnTo>
                  <a:pt x="71934" y="151309"/>
                </a:lnTo>
                <a:cubicBezTo>
                  <a:pt x="71934" y="155432"/>
                  <a:pt x="75251" y="158750"/>
                  <a:pt x="79375" y="158750"/>
                </a:cubicBezTo>
                <a:cubicBezTo>
                  <a:pt x="83499" y="158750"/>
                  <a:pt x="86816" y="155432"/>
                  <a:pt x="86816" y="151309"/>
                </a:cubicBezTo>
                <a:lnTo>
                  <a:pt x="86816" y="138906"/>
                </a:lnTo>
                <a:lnTo>
                  <a:pt x="104180" y="138906"/>
                </a:lnTo>
                <a:lnTo>
                  <a:pt x="104180" y="151309"/>
                </a:lnTo>
                <a:cubicBezTo>
                  <a:pt x="104180" y="155432"/>
                  <a:pt x="107497" y="158750"/>
                  <a:pt x="111621" y="158750"/>
                </a:cubicBezTo>
                <a:cubicBezTo>
                  <a:pt x="115745" y="158750"/>
                  <a:pt x="119062" y="155432"/>
                  <a:pt x="119062" y="151309"/>
                </a:cubicBezTo>
                <a:lnTo>
                  <a:pt x="119062" y="138906"/>
                </a:lnTo>
                <a:cubicBezTo>
                  <a:pt x="130008" y="138906"/>
                  <a:pt x="138906" y="130008"/>
                  <a:pt x="138906" y="119062"/>
                </a:cubicBezTo>
                <a:lnTo>
                  <a:pt x="151309" y="119062"/>
                </a:lnTo>
                <a:cubicBezTo>
                  <a:pt x="155432" y="119062"/>
                  <a:pt x="158750" y="115745"/>
                  <a:pt x="158750" y="111621"/>
                </a:cubicBezTo>
                <a:cubicBezTo>
                  <a:pt x="158750" y="107497"/>
                  <a:pt x="155432" y="104180"/>
                  <a:pt x="151309" y="104180"/>
                </a:cubicBezTo>
                <a:lnTo>
                  <a:pt x="138906" y="104180"/>
                </a:lnTo>
                <a:lnTo>
                  <a:pt x="138906" y="86816"/>
                </a:lnTo>
                <a:lnTo>
                  <a:pt x="151309" y="86816"/>
                </a:lnTo>
                <a:cubicBezTo>
                  <a:pt x="155432" y="86816"/>
                  <a:pt x="158750" y="83499"/>
                  <a:pt x="158750" y="79375"/>
                </a:cubicBezTo>
                <a:cubicBezTo>
                  <a:pt x="158750" y="75251"/>
                  <a:pt x="155432" y="71934"/>
                  <a:pt x="151309" y="71934"/>
                </a:cubicBezTo>
                <a:lnTo>
                  <a:pt x="138906" y="71934"/>
                </a:lnTo>
                <a:lnTo>
                  <a:pt x="138906" y="54570"/>
                </a:lnTo>
                <a:lnTo>
                  <a:pt x="151309" y="54570"/>
                </a:lnTo>
                <a:cubicBezTo>
                  <a:pt x="155432" y="54570"/>
                  <a:pt x="158750" y="51253"/>
                  <a:pt x="158750" y="47129"/>
                </a:cubicBezTo>
                <a:cubicBezTo>
                  <a:pt x="158750" y="43005"/>
                  <a:pt x="155432" y="39688"/>
                  <a:pt x="151309" y="39688"/>
                </a:cubicBezTo>
                <a:lnTo>
                  <a:pt x="138906" y="39688"/>
                </a:lnTo>
                <a:cubicBezTo>
                  <a:pt x="138906" y="28742"/>
                  <a:pt x="130008" y="19844"/>
                  <a:pt x="119062" y="19844"/>
                </a:cubicBezTo>
                <a:lnTo>
                  <a:pt x="119062" y="7441"/>
                </a:lnTo>
                <a:cubicBezTo>
                  <a:pt x="119062" y="3318"/>
                  <a:pt x="115745" y="0"/>
                  <a:pt x="111621" y="0"/>
                </a:cubicBezTo>
                <a:cubicBezTo>
                  <a:pt x="107497" y="0"/>
                  <a:pt x="104180" y="3318"/>
                  <a:pt x="104180" y="7441"/>
                </a:cubicBezTo>
                <a:lnTo>
                  <a:pt x="104180" y="19844"/>
                </a:lnTo>
                <a:lnTo>
                  <a:pt x="86816" y="19844"/>
                </a:lnTo>
                <a:lnTo>
                  <a:pt x="86816" y="7441"/>
                </a:lnTo>
                <a:cubicBezTo>
                  <a:pt x="86816" y="3318"/>
                  <a:pt x="83499" y="0"/>
                  <a:pt x="79375" y="0"/>
                </a:cubicBezTo>
                <a:cubicBezTo>
                  <a:pt x="75251" y="0"/>
                  <a:pt x="71934" y="3318"/>
                  <a:pt x="71934" y="7441"/>
                </a:cubicBezTo>
                <a:lnTo>
                  <a:pt x="71934" y="19844"/>
                </a:lnTo>
                <a:lnTo>
                  <a:pt x="54570" y="19844"/>
                </a:lnTo>
                <a:lnTo>
                  <a:pt x="54570" y="7441"/>
                </a:lnTo>
                <a:close/>
                <a:moveTo>
                  <a:pt x="49609" y="39688"/>
                </a:moveTo>
                <a:lnTo>
                  <a:pt x="109141" y="39688"/>
                </a:lnTo>
                <a:cubicBezTo>
                  <a:pt x="114629" y="39688"/>
                  <a:pt x="119062" y="44121"/>
                  <a:pt x="119062" y="49609"/>
                </a:cubicBezTo>
                <a:lnTo>
                  <a:pt x="119062" y="109141"/>
                </a:lnTo>
                <a:cubicBezTo>
                  <a:pt x="119062" y="114629"/>
                  <a:pt x="114629" y="119062"/>
                  <a:pt x="109141" y="119062"/>
                </a:cubicBezTo>
                <a:lnTo>
                  <a:pt x="49609" y="119062"/>
                </a:lnTo>
                <a:cubicBezTo>
                  <a:pt x="44121" y="119062"/>
                  <a:pt x="39688" y="114629"/>
                  <a:pt x="39688" y="109141"/>
                </a:cubicBezTo>
                <a:lnTo>
                  <a:pt x="39688" y="49609"/>
                </a:lnTo>
                <a:cubicBezTo>
                  <a:pt x="39688" y="44121"/>
                  <a:pt x="44121" y="39688"/>
                  <a:pt x="49609" y="39688"/>
                </a:cubicBezTo>
                <a:close/>
                <a:moveTo>
                  <a:pt x="54570" y="54570"/>
                </a:moveTo>
                <a:lnTo>
                  <a:pt x="54570" y="104180"/>
                </a:lnTo>
                <a:lnTo>
                  <a:pt x="104180" y="104180"/>
                </a:lnTo>
                <a:lnTo>
                  <a:pt x="104180" y="54570"/>
                </a:lnTo>
                <a:lnTo>
                  <a:pt x="54570" y="5457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6826250" y="1365250"/>
            <a:ext cx="85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C3542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微观层面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350000" y="18097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6461125" y="1936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7938" y="7938"/>
                </a:moveTo>
                <a:cubicBezTo>
                  <a:pt x="12328" y="7938"/>
                  <a:pt x="15875" y="11485"/>
                  <a:pt x="15875" y="15875"/>
                </a:cubicBezTo>
                <a:lnTo>
                  <a:pt x="15875" y="99219"/>
                </a:lnTo>
                <a:cubicBezTo>
                  <a:pt x="15875" y="101402"/>
                  <a:pt x="17661" y="103188"/>
                  <a:pt x="19844" y="103188"/>
                </a:cubicBezTo>
                <a:lnTo>
                  <a:pt x="119063" y="103188"/>
                </a:lnTo>
                <a:cubicBezTo>
                  <a:pt x="123453" y="103188"/>
                  <a:pt x="127000" y="106735"/>
                  <a:pt x="127000" y="111125"/>
                </a:cubicBezTo>
                <a:cubicBezTo>
                  <a:pt x="127000" y="115515"/>
                  <a:pt x="123453" y="119063"/>
                  <a:pt x="119063" y="119063"/>
                </a:cubicBezTo>
                <a:lnTo>
                  <a:pt x="19844" y="119063"/>
                </a:lnTo>
                <a:cubicBezTo>
                  <a:pt x="8880" y="119063"/>
                  <a:pt x="0" y="110182"/>
                  <a:pt x="0" y="99219"/>
                </a:cubicBezTo>
                <a:lnTo>
                  <a:pt x="0" y="15875"/>
                </a:lnTo>
                <a:cubicBezTo>
                  <a:pt x="0" y="11485"/>
                  <a:pt x="3547" y="7938"/>
                  <a:pt x="7938" y="7938"/>
                </a:cubicBezTo>
                <a:close/>
                <a:moveTo>
                  <a:pt x="31750" y="23812"/>
                </a:moveTo>
                <a:cubicBezTo>
                  <a:pt x="31750" y="19422"/>
                  <a:pt x="35297" y="15875"/>
                  <a:pt x="39688" y="15875"/>
                </a:cubicBezTo>
                <a:lnTo>
                  <a:pt x="87313" y="15875"/>
                </a:lnTo>
                <a:cubicBezTo>
                  <a:pt x="91703" y="15875"/>
                  <a:pt x="95250" y="19422"/>
                  <a:pt x="95250" y="23812"/>
                </a:cubicBezTo>
                <a:cubicBezTo>
                  <a:pt x="95250" y="28203"/>
                  <a:pt x="91703" y="31750"/>
                  <a:pt x="87313" y="31750"/>
                </a:cubicBezTo>
                <a:lnTo>
                  <a:pt x="39688" y="31750"/>
                </a:lnTo>
                <a:cubicBezTo>
                  <a:pt x="35297" y="31750"/>
                  <a:pt x="31750" y="28203"/>
                  <a:pt x="31750" y="23812"/>
                </a:cubicBezTo>
                <a:close/>
                <a:moveTo>
                  <a:pt x="39688" y="43656"/>
                </a:moveTo>
                <a:lnTo>
                  <a:pt x="71438" y="43656"/>
                </a:lnTo>
                <a:cubicBezTo>
                  <a:pt x="75828" y="43656"/>
                  <a:pt x="79375" y="47203"/>
                  <a:pt x="79375" y="51594"/>
                </a:cubicBezTo>
                <a:cubicBezTo>
                  <a:pt x="79375" y="55984"/>
                  <a:pt x="75828" y="59531"/>
                  <a:pt x="71438" y="59531"/>
                </a:cubicBezTo>
                <a:lnTo>
                  <a:pt x="39688" y="59531"/>
                </a:lnTo>
                <a:cubicBezTo>
                  <a:pt x="35297" y="59531"/>
                  <a:pt x="31750" y="55984"/>
                  <a:pt x="31750" y="51594"/>
                </a:cubicBezTo>
                <a:cubicBezTo>
                  <a:pt x="31750" y="47203"/>
                  <a:pt x="35297" y="43656"/>
                  <a:pt x="39688" y="43656"/>
                </a:cubicBezTo>
                <a:close/>
                <a:moveTo>
                  <a:pt x="39688" y="71438"/>
                </a:moveTo>
                <a:lnTo>
                  <a:pt x="103188" y="71438"/>
                </a:lnTo>
                <a:cubicBezTo>
                  <a:pt x="107578" y="71438"/>
                  <a:pt x="111125" y="74985"/>
                  <a:pt x="111125" y="79375"/>
                </a:cubicBezTo>
                <a:cubicBezTo>
                  <a:pt x="111125" y="83765"/>
                  <a:pt x="107578" y="87313"/>
                  <a:pt x="103188" y="87313"/>
                </a:cubicBezTo>
                <a:lnTo>
                  <a:pt x="39688" y="87313"/>
                </a:lnTo>
                <a:cubicBezTo>
                  <a:pt x="35297" y="87313"/>
                  <a:pt x="31750" y="83765"/>
                  <a:pt x="31750" y="79375"/>
                </a:cubicBezTo>
                <a:cubicBezTo>
                  <a:pt x="31750" y="74985"/>
                  <a:pt x="35297" y="71438"/>
                  <a:pt x="39688" y="71438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37" name="Text 34"/>
          <p:cNvSpPr/>
          <p:nvPr/>
        </p:nvSpPr>
        <p:spPr>
          <a:xfrm>
            <a:off x="6667500" y="1905000"/>
            <a:ext cx="115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 7季度EPS增速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445250" y="21590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实际增速与预期的差异，以及边际变化趋势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350000" y="25082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6461125" y="2635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29766" y="13891"/>
                </a:moveTo>
                <a:cubicBezTo>
                  <a:pt x="29766" y="6226"/>
                  <a:pt x="35992" y="0"/>
                  <a:pt x="43656" y="0"/>
                </a:cubicBezTo>
                <a:lnTo>
                  <a:pt x="49609" y="0"/>
                </a:lnTo>
                <a:cubicBezTo>
                  <a:pt x="54000" y="0"/>
                  <a:pt x="57547" y="3547"/>
                  <a:pt x="57547" y="7938"/>
                </a:cubicBezTo>
                <a:lnTo>
                  <a:pt x="57547" y="119063"/>
                </a:lnTo>
                <a:cubicBezTo>
                  <a:pt x="57547" y="123453"/>
                  <a:pt x="54000" y="127000"/>
                  <a:pt x="49609" y="127000"/>
                </a:cubicBezTo>
                <a:lnTo>
                  <a:pt x="41672" y="127000"/>
                </a:lnTo>
                <a:cubicBezTo>
                  <a:pt x="34280" y="127000"/>
                  <a:pt x="28054" y="121940"/>
                  <a:pt x="26293" y="115094"/>
                </a:cubicBezTo>
                <a:cubicBezTo>
                  <a:pt x="26119" y="115094"/>
                  <a:pt x="25971" y="115094"/>
                  <a:pt x="25797" y="115094"/>
                </a:cubicBezTo>
                <a:cubicBezTo>
                  <a:pt x="14833" y="115094"/>
                  <a:pt x="5953" y="106214"/>
                  <a:pt x="5953" y="95250"/>
                </a:cubicBezTo>
                <a:cubicBezTo>
                  <a:pt x="5953" y="90785"/>
                  <a:pt x="7441" y="86668"/>
                  <a:pt x="9922" y="83344"/>
                </a:cubicBezTo>
                <a:cubicBezTo>
                  <a:pt x="5110" y="79722"/>
                  <a:pt x="1984" y="73968"/>
                  <a:pt x="1984" y="67469"/>
                </a:cubicBezTo>
                <a:cubicBezTo>
                  <a:pt x="1984" y="59804"/>
                  <a:pt x="6350" y="53132"/>
                  <a:pt x="12700" y="49833"/>
                </a:cubicBezTo>
                <a:cubicBezTo>
                  <a:pt x="10939" y="46856"/>
                  <a:pt x="9922" y="43383"/>
                  <a:pt x="9922" y="39688"/>
                </a:cubicBezTo>
                <a:cubicBezTo>
                  <a:pt x="9922" y="28724"/>
                  <a:pt x="18802" y="19844"/>
                  <a:pt x="29766" y="19844"/>
                </a:cubicBezTo>
                <a:lnTo>
                  <a:pt x="29766" y="13891"/>
                </a:lnTo>
                <a:close/>
                <a:moveTo>
                  <a:pt x="97234" y="13891"/>
                </a:moveTo>
                <a:lnTo>
                  <a:pt x="97234" y="19844"/>
                </a:lnTo>
                <a:cubicBezTo>
                  <a:pt x="108198" y="19844"/>
                  <a:pt x="117078" y="28724"/>
                  <a:pt x="117078" y="39688"/>
                </a:cubicBezTo>
                <a:cubicBezTo>
                  <a:pt x="117078" y="43408"/>
                  <a:pt x="116061" y="46881"/>
                  <a:pt x="114300" y="49833"/>
                </a:cubicBezTo>
                <a:cubicBezTo>
                  <a:pt x="120675" y="53132"/>
                  <a:pt x="125016" y="59779"/>
                  <a:pt x="125016" y="67469"/>
                </a:cubicBezTo>
                <a:cubicBezTo>
                  <a:pt x="125016" y="73968"/>
                  <a:pt x="121890" y="79722"/>
                  <a:pt x="117078" y="83344"/>
                </a:cubicBezTo>
                <a:cubicBezTo>
                  <a:pt x="119559" y="86668"/>
                  <a:pt x="121047" y="90785"/>
                  <a:pt x="121047" y="95250"/>
                </a:cubicBezTo>
                <a:cubicBezTo>
                  <a:pt x="121047" y="106214"/>
                  <a:pt x="112167" y="115094"/>
                  <a:pt x="101203" y="115094"/>
                </a:cubicBezTo>
                <a:cubicBezTo>
                  <a:pt x="101029" y="115094"/>
                  <a:pt x="100881" y="115094"/>
                  <a:pt x="100707" y="115094"/>
                </a:cubicBezTo>
                <a:cubicBezTo>
                  <a:pt x="98946" y="121940"/>
                  <a:pt x="92720" y="127000"/>
                  <a:pt x="85328" y="127000"/>
                </a:cubicBezTo>
                <a:lnTo>
                  <a:pt x="77391" y="127000"/>
                </a:lnTo>
                <a:cubicBezTo>
                  <a:pt x="73000" y="127000"/>
                  <a:pt x="69453" y="123453"/>
                  <a:pt x="69453" y="119063"/>
                </a:cubicBezTo>
                <a:lnTo>
                  <a:pt x="69453" y="7938"/>
                </a:lnTo>
                <a:cubicBezTo>
                  <a:pt x="69453" y="3547"/>
                  <a:pt x="73000" y="0"/>
                  <a:pt x="77391" y="0"/>
                </a:cubicBezTo>
                <a:lnTo>
                  <a:pt x="83344" y="0"/>
                </a:lnTo>
                <a:cubicBezTo>
                  <a:pt x="91008" y="0"/>
                  <a:pt x="97234" y="6226"/>
                  <a:pt x="97234" y="13891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41" name="Text 38"/>
          <p:cNvSpPr/>
          <p:nvPr/>
        </p:nvSpPr>
        <p:spPr>
          <a:xfrm>
            <a:off x="6667500" y="2603500"/>
            <a:ext cx="93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AI业务营收占比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445250" y="2857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AI投入转化为营收的实际效果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350000" y="32067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461125" y="3333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1750" y="23812"/>
                </a:moveTo>
                <a:lnTo>
                  <a:pt x="31750" y="19844"/>
                </a:lnTo>
                <a:cubicBezTo>
                  <a:pt x="31750" y="8880"/>
                  <a:pt x="53082" y="0"/>
                  <a:pt x="79375" y="0"/>
                </a:cubicBezTo>
                <a:cubicBezTo>
                  <a:pt x="105668" y="0"/>
                  <a:pt x="127000" y="8880"/>
                  <a:pt x="127000" y="19844"/>
                </a:cubicBezTo>
                <a:lnTo>
                  <a:pt x="127000" y="23812"/>
                </a:lnTo>
                <a:cubicBezTo>
                  <a:pt x="127000" y="31403"/>
                  <a:pt x="116756" y="38001"/>
                  <a:pt x="101699" y="41349"/>
                </a:cubicBezTo>
                <a:cubicBezTo>
                  <a:pt x="101104" y="40655"/>
                  <a:pt x="100484" y="39985"/>
                  <a:pt x="99864" y="39365"/>
                </a:cubicBezTo>
                <a:cubicBezTo>
                  <a:pt x="96019" y="35570"/>
                  <a:pt x="91058" y="32693"/>
                  <a:pt x="85874" y="30559"/>
                </a:cubicBezTo>
                <a:cubicBezTo>
                  <a:pt x="75481" y="26219"/>
                  <a:pt x="61937" y="23837"/>
                  <a:pt x="47625" y="23837"/>
                </a:cubicBezTo>
                <a:cubicBezTo>
                  <a:pt x="42193" y="23837"/>
                  <a:pt x="36885" y="24185"/>
                  <a:pt x="31800" y="24854"/>
                </a:cubicBezTo>
                <a:cubicBezTo>
                  <a:pt x="31750" y="24532"/>
                  <a:pt x="31750" y="24185"/>
                  <a:pt x="31750" y="23837"/>
                </a:cubicBezTo>
                <a:close/>
                <a:moveTo>
                  <a:pt x="107156" y="87561"/>
                </a:moveTo>
                <a:lnTo>
                  <a:pt x="107156" y="76101"/>
                </a:lnTo>
                <a:cubicBezTo>
                  <a:pt x="110902" y="75133"/>
                  <a:pt x="114424" y="73992"/>
                  <a:pt x="117624" y="72653"/>
                </a:cubicBezTo>
                <a:cubicBezTo>
                  <a:pt x="120898" y="71289"/>
                  <a:pt x="124098" y="69627"/>
                  <a:pt x="127000" y="67618"/>
                </a:cubicBezTo>
                <a:lnTo>
                  <a:pt x="127000" y="71438"/>
                </a:lnTo>
                <a:cubicBezTo>
                  <a:pt x="127000" y="78085"/>
                  <a:pt x="119187" y="83964"/>
                  <a:pt x="107156" y="87561"/>
                </a:cubicBezTo>
                <a:close/>
                <a:moveTo>
                  <a:pt x="107156" y="63748"/>
                </a:moveTo>
                <a:lnTo>
                  <a:pt x="107156" y="55563"/>
                </a:lnTo>
                <a:cubicBezTo>
                  <a:pt x="107156" y="54446"/>
                  <a:pt x="107057" y="53380"/>
                  <a:pt x="106908" y="52338"/>
                </a:cubicBezTo>
                <a:cubicBezTo>
                  <a:pt x="110753" y="51371"/>
                  <a:pt x="114350" y="50205"/>
                  <a:pt x="117624" y="48816"/>
                </a:cubicBezTo>
                <a:cubicBezTo>
                  <a:pt x="120898" y="47427"/>
                  <a:pt x="124098" y="45789"/>
                  <a:pt x="127000" y="43780"/>
                </a:cubicBezTo>
                <a:lnTo>
                  <a:pt x="127000" y="47600"/>
                </a:lnTo>
                <a:cubicBezTo>
                  <a:pt x="127000" y="54248"/>
                  <a:pt x="119187" y="60127"/>
                  <a:pt x="107156" y="63723"/>
                </a:cubicBezTo>
                <a:close/>
                <a:moveTo>
                  <a:pt x="0" y="59531"/>
                </a:moveTo>
                <a:lnTo>
                  <a:pt x="0" y="55563"/>
                </a:lnTo>
                <a:cubicBezTo>
                  <a:pt x="0" y="44599"/>
                  <a:pt x="21332" y="35719"/>
                  <a:pt x="47625" y="35719"/>
                </a:cubicBezTo>
                <a:cubicBezTo>
                  <a:pt x="73918" y="35719"/>
                  <a:pt x="95250" y="44599"/>
                  <a:pt x="95250" y="55563"/>
                </a:cubicBezTo>
                <a:lnTo>
                  <a:pt x="95250" y="59531"/>
                </a:lnTo>
                <a:cubicBezTo>
                  <a:pt x="95250" y="70495"/>
                  <a:pt x="73918" y="79375"/>
                  <a:pt x="47625" y="79375"/>
                </a:cubicBezTo>
                <a:cubicBezTo>
                  <a:pt x="21332" y="79375"/>
                  <a:pt x="0" y="70495"/>
                  <a:pt x="0" y="59531"/>
                </a:cubicBezTo>
                <a:close/>
                <a:moveTo>
                  <a:pt x="95250" y="83344"/>
                </a:moveTo>
                <a:cubicBezTo>
                  <a:pt x="95250" y="94307"/>
                  <a:pt x="73918" y="103188"/>
                  <a:pt x="47625" y="103188"/>
                </a:cubicBezTo>
                <a:cubicBezTo>
                  <a:pt x="21332" y="103188"/>
                  <a:pt x="0" y="94307"/>
                  <a:pt x="0" y="83344"/>
                </a:cubicBezTo>
                <a:lnTo>
                  <a:pt x="0" y="79524"/>
                </a:lnTo>
                <a:cubicBezTo>
                  <a:pt x="2877" y="81533"/>
                  <a:pt x="6077" y="83170"/>
                  <a:pt x="9376" y="84559"/>
                </a:cubicBezTo>
                <a:cubicBezTo>
                  <a:pt x="19769" y="88900"/>
                  <a:pt x="33313" y="91281"/>
                  <a:pt x="47625" y="91281"/>
                </a:cubicBezTo>
                <a:cubicBezTo>
                  <a:pt x="61937" y="91281"/>
                  <a:pt x="75481" y="88875"/>
                  <a:pt x="85874" y="84559"/>
                </a:cubicBezTo>
                <a:cubicBezTo>
                  <a:pt x="89148" y="83195"/>
                  <a:pt x="92348" y="81533"/>
                  <a:pt x="95250" y="79524"/>
                </a:cubicBezTo>
                <a:lnTo>
                  <a:pt x="95250" y="83344"/>
                </a:lnTo>
                <a:close/>
                <a:moveTo>
                  <a:pt x="95250" y="103336"/>
                </a:moveTo>
                <a:lnTo>
                  <a:pt x="95250" y="107156"/>
                </a:lnTo>
                <a:cubicBezTo>
                  <a:pt x="95250" y="118120"/>
                  <a:pt x="73918" y="127000"/>
                  <a:pt x="47625" y="127000"/>
                </a:cubicBezTo>
                <a:cubicBezTo>
                  <a:pt x="21332" y="127000"/>
                  <a:pt x="0" y="118120"/>
                  <a:pt x="0" y="107156"/>
                </a:cubicBezTo>
                <a:lnTo>
                  <a:pt x="0" y="103336"/>
                </a:lnTo>
                <a:cubicBezTo>
                  <a:pt x="2877" y="105346"/>
                  <a:pt x="6077" y="106983"/>
                  <a:pt x="9376" y="108372"/>
                </a:cubicBezTo>
                <a:cubicBezTo>
                  <a:pt x="19769" y="112713"/>
                  <a:pt x="33313" y="115094"/>
                  <a:pt x="47625" y="115094"/>
                </a:cubicBezTo>
                <a:cubicBezTo>
                  <a:pt x="61937" y="115094"/>
                  <a:pt x="75481" y="112688"/>
                  <a:pt x="85874" y="108372"/>
                </a:cubicBezTo>
                <a:cubicBezTo>
                  <a:pt x="89148" y="107007"/>
                  <a:pt x="92348" y="105346"/>
                  <a:pt x="95250" y="103336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45" name="Text 42"/>
          <p:cNvSpPr/>
          <p:nvPr/>
        </p:nvSpPr>
        <p:spPr>
          <a:xfrm>
            <a:off x="6667500" y="3302000"/>
            <a:ext cx="77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资本开支ROI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445250" y="35560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AI资本开支的回报率是否达到预期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50000" y="39052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453188" y="40322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1438" y="-3969"/>
                </a:moveTo>
                <a:cubicBezTo>
                  <a:pt x="75828" y="-3969"/>
                  <a:pt x="79375" y="-422"/>
                  <a:pt x="79375" y="3969"/>
                </a:cubicBezTo>
                <a:lnTo>
                  <a:pt x="79375" y="8508"/>
                </a:lnTo>
                <a:cubicBezTo>
                  <a:pt x="103708" y="11981"/>
                  <a:pt x="122957" y="31229"/>
                  <a:pt x="126429" y="55563"/>
                </a:cubicBezTo>
                <a:lnTo>
                  <a:pt x="130969" y="55563"/>
                </a:lnTo>
                <a:cubicBezTo>
                  <a:pt x="135359" y="55563"/>
                  <a:pt x="138906" y="59110"/>
                  <a:pt x="138906" y="63500"/>
                </a:cubicBezTo>
                <a:cubicBezTo>
                  <a:pt x="138906" y="67890"/>
                  <a:pt x="135359" y="71438"/>
                  <a:pt x="130969" y="71438"/>
                </a:cubicBezTo>
                <a:lnTo>
                  <a:pt x="126429" y="71438"/>
                </a:lnTo>
                <a:cubicBezTo>
                  <a:pt x="122957" y="95771"/>
                  <a:pt x="103708" y="115019"/>
                  <a:pt x="79375" y="118492"/>
                </a:cubicBezTo>
                <a:lnTo>
                  <a:pt x="79375" y="123031"/>
                </a:lnTo>
                <a:cubicBezTo>
                  <a:pt x="79375" y="127422"/>
                  <a:pt x="75828" y="130969"/>
                  <a:pt x="71438" y="130969"/>
                </a:cubicBezTo>
                <a:cubicBezTo>
                  <a:pt x="67047" y="130969"/>
                  <a:pt x="63500" y="127422"/>
                  <a:pt x="63500" y="123031"/>
                </a:cubicBezTo>
                <a:lnTo>
                  <a:pt x="63500" y="118492"/>
                </a:lnTo>
                <a:cubicBezTo>
                  <a:pt x="39167" y="115019"/>
                  <a:pt x="19918" y="95771"/>
                  <a:pt x="16446" y="71438"/>
                </a:cubicBezTo>
                <a:lnTo>
                  <a:pt x="11906" y="71438"/>
                </a:lnTo>
                <a:cubicBezTo>
                  <a:pt x="7516" y="71438"/>
                  <a:pt x="3969" y="67890"/>
                  <a:pt x="3969" y="63500"/>
                </a:cubicBezTo>
                <a:cubicBezTo>
                  <a:pt x="3969" y="59110"/>
                  <a:pt x="7516" y="55563"/>
                  <a:pt x="11906" y="55563"/>
                </a:cubicBezTo>
                <a:lnTo>
                  <a:pt x="16446" y="55563"/>
                </a:lnTo>
                <a:cubicBezTo>
                  <a:pt x="19918" y="31229"/>
                  <a:pt x="39167" y="11981"/>
                  <a:pt x="63500" y="8508"/>
                </a:cubicBezTo>
                <a:lnTo>
                  <a:pt x="63500" y="3969"/>
                </a:lnTo>
                <a:cubicBezTo>
                  <a:pt x="63500" y="-422"/>
                  <a:pt x="67047" y="-3969"/>
                  <a:pt x="71438" y="-3969"/>
                </a:cubicBezTo>
                <a:close/>
                <a:moveTo>
                  <a:pt x="32544" y="71438"/>
                </a:moveTo>
                <a:cubicBezTo>
                  <a:pt x="35694" y="86990"/>
                  <a:pt x="47947" y="99244"/>
                  <a:pt x="63500" y="102394"/>
                </a:cubicBezTo>
                <a:lnTo>
                  <a:pt x="63500" y="99219"/>
                </a:lnTo>
                <a:cubicBezTo>
                  <a:pt x="63500" y="94828"/>
                  <a:pt x="67047" y="91281"/>
                  <a:pt x="71438" y="91281"/>
                </a:cubicBezTo>
                <a:cubicBezTo>
                  <a:pt x="75828" y="91281"/>
                  <a:pt x="79375" y="94828"/>
                  <a:pt x="79375" y="99219"/>
                </a:cubicBezTo>
                <a:lnTo>
                  <a:pt x="79375" y="102394"/>
                </a:lnTo>
                <a:cubicBezTo>
                  <a:pt x="94928" y="99244"/>
                  <a:pt x="107181" y="86990"/>
                  <a:pt x="110331" y="71438"/>
                </a:cubicBezTo>
                <a:lnTo>
                  <a:pt x="107156" y="71438"/>
                </a:lnTo>
                <a:cubicBezTo>
                  <a:pt x="102766" y="71438"/>
                  <a:pt x="99219" y="67890"/>
                  <a:pt x="99219" y="63500"/>
                </a:cubicBezTo>
                <a:cubicBezTo>
                  <a:pt x="99219" y="59110"/>
                  <a:pt x="102766" y="55563"/>
                  <a:pt x="107156" y="55563"/>
                </a:cubicBezTo>
                <a:lnTo>
                  <a:pt x="110331" y="55563"/>
                </a:lnTo>
                <a:cubicBezTo>
                  <a:pt x="107181" y="40010"/>
                  <a:pt x="94928" y="27756"/>
                  <a:pt x="79375" y="24606"/>
                </a:cubicBezTo>
                <a:lnTo>
                  <a:pt x="79375" y="27781"/>
                </a:lnTo>
                <a:cubicBezTo>
                  <a:pt x="79375" y="32172"/>
                  <a:pt x="75828" y="35719"/>
                  <a:pt x="71438" y="35719"/>
                </a:cubicBezTo>
                <a:cubicBezTo>
                  <a:pt x="67047" y="35719"/>
                  <a:pt x="63500" y="32172"/>
                  <a:pt x="63500" y="27781"/>
                </a:cubicBezTo>
                <a:lnTo>
                  <a:pt x="63500" y="24606"/>
                </a:lnTo>
                <a:cubicBezTo>
                  <a:pt x="47947" y="27756"/>
                  <a:pt x="35694" y="40010"/>
                  <a:pt x="32544" y="55563"/>
                </a:cubicBezTo>
                <a:lnTo>
                  <a:pt x="35719" y="55563"/>
                </a:lnTo>
                <a:cubicBezTo>
                  <a:pt x="40109" y="55563"/>
                  <a:pt x="43656" y="59110"/>
                  <a:pt x="43656" y="63500"/>
                </a:cubicBezTo>
                <a:cubicBezTo>
                  <a:pt x="43656" y="67890"/>
                  <a:pt x="40109" y="71438"/>
                  <a:pt x="35719" y="71438"/>
                </a:cubicBezTo>
                <a:lnTo>
                  <a:pt x="32544" y="71438"/>
                </a:lnTo>
                <a:close/>
                <a:moveTo>
                  <a:pt x="71438" y="51594"/>
                </a:moveTo>
                <a:cubicBezTo>
                  <a:pt x="78009" y="51594"/>
                  <a:pt x="83344" y="56929"/>
                  <a:pt x="83344" y="63500"/>
                </a:cubicBezTo>
                <a:cubicBezTo>
                  <a:pt x="83344" y="70071"/>
                  <a:pt x="78009" y="75406"/>
                  <a:pt x="71438" y="75406"/>
                </a:cubicBezTo>
                <a:cubicBezTo>
                  <a:pt x="64866" y="75406"/>
                  <a:pt x="59531" y="70071"/>
                  <a:pt x="59531" y="63500"/>
                </a:cubicBezTo>
                <a:cubicBezTo>
                  <a:pt x="59531" y="56929"/>
                  <a:pt x="64866" y="51594"/>
                  <a:pt x="71438" y="51594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49" name="Text 46"/>
          <p:cNvSpPr/>
          <p:nvPr/>
        </p:nvSpPr>
        <p:spPr>
          <a:xfrm>
            <a:off x="6667500" y="4000500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业绩指引修正趋势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445250" y="4254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公司对未来季度利润率预测的调整方向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350000" y="46037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461125" y="47307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24668" y="37356"/>
                </a:moveTo>
                <a:lnTo>
                  <a:pt x="100856" y="61168"/>
                </a:lnTo>
                <a:cubicBezTo>
                  <a:pt x="98574" y="63450"/>
                  <a:pt x="95176" y="64120"/>
                  <a:pt x="92199" y="62880"/>
                </a:cubicBezTo>
                <a:cubicBezTo>
                  <a:pt x="89222" y="61640"/>
                  <a:pt x="87313" y="58762"/>
                  <a:pt x="87313" y="55563"/>
                </a:cubicBezTo>
                <a:lnTo>
                  <a:pt x="87313" y="39688"/>
                </a:lnTo>
                <a:lnTo>
                  <a:pt x="7938" y="39688"/>
                </a:lnTo>
                <a:cubicBezTo>
                  <a:pt x="3547" y="39688"/>
                  <a:pt x="0" y="36140"/>
                  <a:pt x="0" y="31750"/>
                </a:cubicBezTo>
                <a:cubicBezTo>
                  <a:pt x="0" y="27360"/>
                  <a:pt x="3547" y="23812"/>
                  <a:pt x="7938" y="23812"/>
                </a:cubicBezTo>
                <a:lnTo>
                  <a:pt x="87313" y="23812"/>
                </a:lnTo>
                <a:lnTo>
                  <a:pt x="87313" y="7938"/>
                </a:lnTo>
                <a:cubicBezTo>
                  <a:pt x="87313" y="4738"/>
                  <a:pt x="89247" y="1836"/>
                  <a:pt x="92224" y="595"/>
                </a:cubicBezTo>
                <a:cubicBezTo>
                  <a:pt x="95200" y="-645"/>
                  <a:pt x="98599" y="50"/>
                  <a:pt x="100881" y="2307"/>
                </a:cubicBezTo>
                <a:lnTo>
                  <a:pt x="124693" y="26119"/>
                </a:lnTo>
                <a:cubicBezTo>
                  <a:pt x="127794" y="29220"/>
                  <a:pt x="127794" y="34255"/>
                  <a:pt x="124693" y="37356"/>
                </a:cubicBezTo>
                <a:close/>
                <a:moveTo>
                  <a:pt x="26119" y="124668"/>
                </a:moveTo>
                <a:lnTo>
                  <a:pt x="2307" y="100856"/>
                </a:lnTo>
                <a:cubicBezTo>
                  <a:pt x="-794" y="97755"/>
                  <a:pt x="-794" y="92720"/>
                  <a:pt x="2307" y="89619"/>
                </a:cubicBezTo>
                <a:lnTo>
                  <a:pt x="26119" y="65807"/>
                </a:lnTo>
                <a:cubicBezTo>
                  <a:pt x="28401" y="63525"/>
                  <a:pt x="31800" y="62855"/>
                  <a:pt x="34776" y="64095"/>
                </a:cubicBezTo>
                <a:cubicBezTo>
                  <a:pt x="37753" y="65336"/>
                  <a:pt x="39688" y="68238"/>
                  <a:pt x="39688" y="71438"/>
                </a:cubicBezTo>
                <a:lnTo>
                  <a:pt x="39688" y="87313"/>
                </a:lnTo>
                <a:lnTo>
                  <a:pt x="119063" y="87313"/>
                </a:lnTo>
                <a:cubicBezTo>
                  <a:pt x="123453" y="87313"/>
                  <a:pt x="127000" y="90860"/>
                  <a:pt x="127000" y="95250"/>
                </a:cubicBezTo>
                <a:cubicBezTo>
                  <a:pt x="127000" y="99640"/>
                  <a:pt x="123453" y="103188"/>
                  <a:pt x="119063" y="103188"/>
                </a:cubicBezTo>
                <a:lnTo>
                  <a:pt x="39688" y="103188"/>
                </a:lnTo>
                <a:lnTo>
                  <a:pt x="39688" y="119063"/>
                </a:lnTo>
                <a:cubicBezTo>
                  <a:pt x="39688" y="122262"/>
                  <a:pt x="37753" y="125164"/>
                  <a:pt x="34776" y="126405"/>
                </a:cubicBezTo>
                <a:cubicBezTo>
                  <a:pt x="31800" y="127645"/>
                  <a:pt x="28401" y="126950"/>
                  <a:pt x="26119" y="124693"/>
                </a:cubicBez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53" name="Text 50"/>
          <p:cNvSpPr/>
          <p:nvPr/>
        </p:nvSpPr>
        <p:spPr>
          <a:xfrm>
            <a:off x="6667500" y="4699000"/>
            <a:ext cx="120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财报后股价反应模式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445250" y="49530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利好不涨与利空不跌的出现频率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350000" y="5302250"/>
            <a:ext cx="5365750" cy="603250"/>
          </a:xfrm>
          <a:custGeom>
            <a:avLst/>
            <a:gdLst/>
            <a:ahLst/>
            <a:cxnLst/>
            <a:rect l="l" t="t" r="r" b="b"/>
            <a:pathLst>
              <a:path w="5365750" h="603250">
                <a:moveTo>
                  <a:pt x="63498" y="0"/>
                </a:moveTo>
                <a:lnTo>
                  <a:pt x="5302252" y="0"/>
                </a:lnTo>
                <a:cubicBezTo>
                  <a:pt x="5337321" y="0"/>
                  <a:pt x="5365750" y="28429"/>
                  <a:pt x="5365750" y="63498"/>
                </a:cubicBezTo>
                <a:lnTo>
                  <a:pt x="5365750" y="539752"/>
                </a:lnTo>
                <a:cubicBezTo>
                  <a:pt x="5365750" y="574821"/>
                  <a:pt x="5337321" y="603250"/>
                  <a:pt x="5302252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D3B9D7">
              <a:alpha val="20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6461125" y="542925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0" y="19844"/>
                </a:moveTo>
                <a:cubicBezTo>
                  <a:pt x="0" y="13271"/>
                  <a:pt x="5333" y="7938"/>
                  <a:pt x="11906" y="7938"/>
                </a:cubicBezTo>
                <a:lnTo>
                  <a:pt x="35719" y="7938"/>
                </a:lnTo>
                <a:cubicBezTo>
                  <a:pt x="42292" y="7938"/>
                  <a:pt x="47625" y="13271"/>
                  <a:pt x="47625" y="19844"/>
                </a:cubicBezTo>
                <a:lnTo>
                  <a:pt x="47625" y="23812"/>
                </a:lnTo>
                <a:lnTo>
                  <a:pt x="79375" y="23812"/>
                </a:lnTo>
                <a:lnTo>
                  <a:pt x="79375" y="19844"/>
                </a:lnTo>
                <a:cubicBezTo>
                  <a:pt x="79375" y="13271"/>
                  <a:pt x="84708" y="7938"/>
                  <a:pt x="91281" y="7938"/>
                </a:cubicBezTo>
                <a:lnTo>
                  <a:pt x="115094" y="7938"/>
                </a:lnTo>
                <a:cubicBezTo>
                  <a:pt x="121667" y="7938"/>
                  <a:pt x="127000" y="13271"/>
                  <a:pt x="127000" y="19844"/>
                </a:cubicBezTo>
                <a:lnTo>
                  <a:pt x="127000" y="43656"/>
                </a:lnTo>
                <a:cubicBezTo>
                  <a:pt x="127000" y="50229"/>
                  <a:pt x="121667" y="55563"/>
                  <a:pt x="115094" y="55563"/>
                </a:cubicBezTo>
                <a:lnTo>
                  <a:pt x="91281" y="55563"/>
                </a:lnTo>
                <a:cubicBezTo>
                  <a:pt x="84708" y="55563"/>
                  <a:pt x="79375" y="50229"/>
                  <a:pt x="79375" y="43656"/>
                </a:cubicBezTo>
                <a:lnTo>
                  <a:pt x="79375" y="39688"/>
                </a:lnTo>
                <a:lnTo>
                  <a:pt x="47625" y="39688"/>
                </a:lnTo>
                <a:lnTo>
                  <a:pt x="47625" y="43656"/>
                </a:lnTo>
                <a:cubicBezTo>
                  <a:pt x="47625" y="45467"/>
                  <a:pt x="47203" y="47203"/>
                  <a:pt x="46484" y="48741"/>
                </a:cubicBezTo>
                <a:lnTo>
                  <a:pt x="63500" y="71438"/>
                </a:lnTo>
                <a:lnTo>
                  <a:pt x="83344" y="71438"/>
                </a:lnTo>
                <a:cubicBezTo>
                  <a:pt x="89917" y="71438"/>
                  <a:pt x="95250" y="76771"/>
                  <a:pt x="95250" y="83344"/>
                </a:cubicBezTo>
                <a:lnTo>
                  <a:pt x="95250" y="107156"/>
                </a:lnTo>
                <a:cubicBezTo>
                  <a:pt x="95250" y="113729"/>
                  <a:pt x="89917" y="119063"/>
                  <a:pt x="83344" y="119063"/>
                </a:cubicBezTo>
                <a:lnTo>
                  <a:pt x="59531" y="119063"/>
                </a:lnTo>
                <a:cubicBezTo>
                  <a:pt x="52958" y="119063"/>
                  <a:pt x="47625" y="113729"/>
                  <a:pt x="47625" y="107156"/>
                </a:cubicBezTo>
                <a:lnTo>
                  <a:pt x="47625" y="83344"/>
                </a:lnTo>
                <a:cubicBezTo>
                  <a:pt x="47625" y="81533"/>
                  <a:pt x="48047" y="79797"/>
                  <a:pt x="48766" y="78259"/>
                </a:cubicBezTo>
                <a:lnTo>
                  <a:pt x="31750" y="55563"/>
                </a:lnTo>
                <a:lnTo>
                  <a:pt x="11906" y="55563"/>
                </a:lnTo>
                <a:cubicBezTo>
                  <a:pt x="5333" y="55563"/>
                  <a:pt x="0" y="50229"/>
                  <a:pt x="0" y="43656"/>
                </a:cubicBezTo>
                <a:lnTo>
                  <a:pt x="0" y="19844"/>
                </a:lnTo>
                <a:close/>
              </a:path>
            </a:pathLst>
          </a:custGeom>
          <a:solidFill>
            <a:srgbClr val="7C1D56"/>
          </a:solidFill>
          <a:ln/>
        </p:spPr>
      </p:sp>
      <p:sp>
        <p:nvSpPr>
          <p:cNvPr id="57" name="Text 54"/>
          <p:cNvSpPr/>
          <p:nvPr/>
        </p:nvSpPr>
        <p:spPr>
          <a:xfrm>
            <a:off x="6667500" y="5397500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3C354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板块联动性指标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6445250" y="5651500"/>
            <a:ext cx="5230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3C3542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权重股业绩对板块的传染性强度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317500" y="6191250"/>
            <a:ext cx="11557000" cy="460375"/>
          </a:xfrm>
          <a:custGeom>
            <a:avLst/>
            <a:gdLst/>
            <a:ahLst/>
            <a:cxnLst/>
            <a:rect l="l" t="t" r="r" b="b"/>
            <a:pathLst>
              <a:path w="11557000" h="460375">
                <a:moveTo>
                  <a:pt x="95252" y="0"/>
                </a:moveTo>
                <a:lnTo>
                  <a:pt x="11461748" y="0"/>
                </a:lnTo>
                <a:cubicBezTo>
                  <a:pt x="11514354" y="0"/>
                  <a:pt x="11557000" y="42646"/>
                  <a:pt x="11557000" y="95252"/>
                </a:cubicBezTo>
                <a:lnTo>
                  <a:pt x="11557000" y="365123"/>
                </a:lnTo>
                <a:cubicBezTo>
                  <a:pt x="11557000" y="417729"/>
                  <a:pt x="11514354" y="460375"/>
                  <a:pt x="11461748" y="460375"/>
                </a:cubicBezTo>
                <a:lnTo>
                  <a:pt x="95252" y="460375"/>
                </a:lnTo>
                <a:cubicBezTo>
                  <a:pt x="42681" y="460375"/>
                  <a:pt x="0" y="417694"/>
                  <a:pt x="0" y="365123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gradFill flip="none" rotWithShape="1">
            <a:gsLst>
              <a:gs pos="0">
                <a:srgbClr val="8F5C9A"/>
              </a:gs>
              <a:gs pos="100000">
                <a:srgbClr val="A95EAF"/>
              </a:gs>
            </a:gsLst>
            <a:lin ang="0" scaled="1"/>
          </a:gradFill>
          <a:ln/>
        </p:spPr>
      </p:sp>
      <p:sp>
        <p:nvSpPr>
          <p:cNvPr id="60" name="Shape 57"/>
          <p:cNvSpPr/>
          <p:nvPr/>
        </p:nvSpPr>
        <p:spPr>
          <a:xfrm>
            <a:off x="492125" y="63261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8"/>
          <p:cNvSpPr/>
          <p:nvPr/>
        </p:nvSpPr>
        <p:spPr>
          <a:xfrm>
            <a:off x="809625" y="6318250"/>
            <a:ext cx="692150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投资建议：</a:t>
            </a:r>
            <a:r>
              <a:rPr lang="en-US" sz="1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建立系统化的指标跟踪体系，每周更新关键数据，识别流动性与基本面的共振信号，在市场转折点前做出预判。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C35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940000">
            <a:off x="367665" y="335915"/>
            <a:ext cx="558800" cy="594995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402E7F"/>
              </a:gs>
              <a:gs pos="54000">
                <a:srgbClr val="BC7DB7">
                  <a:alpha val="3000"/>
                </a:srgbClr>
              </a:gs>
              <a:gs pos="100000">
                <a:srgbClr val="BC7DB7">
                  <a:alpha val="3000"/>
                </a:srgbClr>
              </a:gs>
            </a:gsLst>
            <a:lin ang="18900000" scaled="1"/>
          </a:gradFill>
          <a:ln/>
        </p:spPr>
      </p:sp>
      <p:pic>
        <p:nvPicPr>
          <p:cNvPr id="3" name="Image 0" descr="https://kimi-img.moonshot.cn/pub/slides/slides_tmpl/image/25-09-08-15:08:29-d2v81rdnfo2stf9dkd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8750" y="-6350"/>
            <a:ext cx="12350750" cy="6960235"/>
          </a:xfrm>
          <a:prstGeom prst="rect">
            <a:avLst/>
          </a:prstGeom>
        </p:spPr>
      </p:pic>
      <p:pic>
        <p:nvPicPr>
          <p:cNvPr id="4" name="Image 1" descr="https://kimi-web-img.moonshot.cn/img/thumbs.dreamstime.com/b24543a109f8d1b39d5780955d8c4db7bdb4be8d.jpg"/>
          <p:cNvPicPr>
            <a:picLocks noChangeAspect="1"/>
          </p:cNvPicPr>
          <p:nvPr/>
        </p:nvPicPr>
        <p:blipFill>
          <a:blip r:embed="rId4">
            <a:alphaModFix amt="25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F5C9A">
                  <a:alpha val="95000"/>
                </a:srgbClr>
              </a:gs>
              <a:gs pos="50000">
                <a:srgbClr val="7C1D56">
                  <a:alpha val="90000"/>
                </a:srgbClr>
              </a:gs>
              <a:gs pos="100000">
                <a:srgbClr val="3C3542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6" name="Shape 2"/>
          <p:cNvSpPr/>
          <p:nvPr/>
        </p:nvSpPr>
        <p:spPr>
          <a:xfrm>
            <a:off x="4920734" y="44766"/>
            <a:ext cx="2350770" cy="502920"/>
          </a:xfrm>
          <a:custGeom>
            <a:avLst/>
            <a:gdLst/>
            <a:ahLst/>
            <a:cxnLst/>
            <a:rect l="l" t="t" r="r" b="b"/>
            <a:pathLst>
              <a:path w="2350770" h="502920">
                <a:moveTo>
                  <a:pt x="114299" y="0"/>
                </a:moveTo>
                <a:lnTo>
                  <a:pt x="2236471" y="0"/>
                </a:lnTo>
                <a:cubicBezTo>
                  <a:pt x="2299597" y="0"/>
                  <a:pt x="2350770" y="51173"/>
                  <a:pt x="2350770" y="114299"/>
                </a:cubicBezTo>
                <a:lnTo>
                  <a:pt x="2350770" y="388621"/>
                </a:lnTo>
                <a:cubicBezTo>
                  <a:pt x="2350770" y="451747"/>
                  <a:pt x="2299597" y="502920"/>
                  <a:pt x="2236471" y="502920"/>
                </a:cubicBezTo>
                <a:lnTo>
                  <a:pt x="114299" y="502920"/>
                </a:lnTo>
                <a:cubicBezTo>
                  <a:pt x="51173" y="502920"/>
                  <a:pt x="0" y="451747"/>
                  <a:pt x="0" y="38862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110282" y="162883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135" dirty="0">
                <a:solidFill>
                  <a:srgbClr val="D3B9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CONCLUSION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810125" y="856301"/>
            <a:ext cx="2571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核心结论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181600" y="1875476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  <a:lnTo>
                  <a:pt x="182880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95EAF"/>
              </a:gs>
              <a:gs pos="50000">
                <a:srgbClr val="D3B9D7"/>
              </a:gs>
              <a:gs pos="100000">
                <a:srgbClr val="A95EAF"/>
              </a:gs>
            </a:gsLst>
            <a:lin ang="0" scaled="1"/>
          </a:gradFill>
          <a:ln/>
        </p:spPr>
      </p:sp>
      <p:sp>
        <p:nvSpPr>
          <p:cNvPr id="10" name="Shape 6"/>
          <p:cNvSpPr/>
          <p:nvPr/>
        </p:nvSpPr>
        <p:spPr>
          <a:xfrm>
            <a:off x="1832610" y="2260286"/>
            <a:ext cx="8522970" cy="836295"/>
          </a:xfrm>
          <a:custGeom>
            <a:avLst/>
            <a:gdLst/>
            <a:ahLst/>
            <a:cxnLst/>
            <a:rect l="l" t="t" r="r" b="b"/>
            <a:pathLst>
              <a:path w="8522970" h="836295">
                <a:moveTo>
                  <a:pt x="152398" y="0"/>
                </a:moveTo>
                <a:lnTo>
                  <a:pt x="8370572" y="0"/>
                </a:lnTo>
                <a:cubicBezTo>
                  <a:pt x="8454739" y="0"/>
                  <a:pt x="8522970" y="68231"/>
                  <a:pt x="8522970" y="152398"/>
                </a:cubicBezTo>
                <a:lnTo>
                  <a:pt x="8522970" y="683897"/>
                </a:lnTo>
                <a:cubicBezTo>
                  <a:pt x="8522970" y="768064"/>
                  <a:pt x="8454739" y="836295"/>
                  <a:pt x="8370572" y="836295"/>
                </a:cubicBezTo>
                <a:lnTo>
                  <a:pt x="152398" y="836295"/>
                </a:lnTo>
                <a:cubicBezTo>
                  <a:pt x="68287" y="836295"/>
                  <a:pt x="0" y="768008"/>
                  <a:pt x="0" y="683897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007870" y="2492694"/>
            <a:ext cx="81724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美股的本质是</a:t>
            </a:r>
            <a:r>
              <a:rPr lang="en-US" sz="1800" b="1" dirty="0">
                <a:solidFill>
                  <a:srgbClr val="D3B9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"流动性的游戏"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1832610" y="3332797"/>
            <a:ext cx="4141470" cy="1398270"/>
          </a:xfrm>
          <a:custGeom>
            <a:avLst/>
            <a:gdLst/>
            <a:ahLst/>
            <a:cxnLst/>
            <a:rect l="l" t="t" r="r" b="b"/>
            <a:pathLst>
              <a:path w="4141470" h="1398270">
                <a:moveTo>
                  <a:pt x="114295" y="0"/>
                </a:moveTo>
                <a:lnTo>
                  <a:pt x="4027175" y="0"/>
                </a:lnTo>
                <a:cubicBezTo>
                  <a:pt x="4090299" y="0"/>
                  <a:pt x="4141470" y="51171"/>
                  <a:pt x="4141470" y="114295"/>
                </a:cubicBezTo>
                <a:lnTo>
                  <a:pt x="4141470" y="1283975"/>
                </a:lnTo>
                <a:cubicBezTo>
                  <a:pt x="4141470" y="1347099"/>
                  <a:pt x="4090299" y="1398270"/>
                  <a:pt x="4027175" y="1398270"/>
                </a:cubicBezTo>
                <a:lnTo>
                  <a:pt x="114295" y="1398270"/>
                </a:lnTo>
                <a:cubicBezTo>
                  <a:pt x="51171" y="1398270"/>
                  <a:pt x="0" y="1347099"/>
                  <a:pt x="0" y="128397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764756" y="35271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29158" y="69261"/>
                </a:moveTo>
                <a:cubicBezTo>
                  <a:pt x="240711" y="77967"/>
                  <a:pt x="254831" y="86395"/>
                  <a:pt x="270570" y="88516"/>
                </a:cubicBezTo>
                <a:cubicBezTo>
                  <a:pt x="277881" y="89520"/>
                  <a:pt x="284634" y="84330"/>
                  <a:pt x="285638" y="77019"/>
                </a:cubicBezTo>
                <a:cubicBezTo>
                  <a:pt x="286643" y="69707"/>
                  <a:pt x="281453" y="62954"/>
                  <a:pt x="274141" y="61950"/>
                </a:cubicBezTo>
                <a:cubicBezTo>
                  <a:pt x="265268" y="60778"/>
                  <a:pt x="255612" y="55643"/>
                  <a:pt x="245287" y="47885"/>
                </a:cubicBezTo>
                <a:cubicBezTo>
                  <a:pt x="223856" y="31700"/>
                  <a:pt x="194779" y="31700"/>
                  <a:pt x="173292" y="47885"/>
                </a:cubicBezTo>
                <a:cubicBezTo>
                  <a:pt x="159897" y="57987"/>
                  <a:pt x="150577" y="62564"/>
                  <a:pt x="142875" y="62564"/>
                </a:cubicBezTo>
                <a:cubicBezTo>
                  <a:pt x="135173" y="62564"/>
                  <a:pt x="125853" y="57987"/>
                  <a:pt x="112458" y="47885"/>
                </a:cubicBezTo>
                <a:cubicBezTo>
                  <a:pt x="91027" y="31700"/>
                  <a:pt x="61950" y="31700"/>
                  <a:pt x="40463" y="47885"/>
                </a:cubicBezTo>
                <a:cubicBezTo>
                  <a:pt x="30138" y="55643"/>
                  <a:pt x="20482" y="60778"/>
                  <a:pt x="11609" y="61950"/>
                </a:cubicBezTo>
                <a:cubicBezTo>
                  <a:pt x="4297" y="62954"/>
                  <a:pt x="-893" y="69652"/>
                  <a:pt x="112" y="77019"/>
                </a:cubicBezTo>
                <a:cubicBezTo>
                  <a:pt x="1116" y="84386"/>
                  <a:pt x="7813" y="89520"/>
                  <a:pt x="15180" y="88516"/>
                </a:cubicBezTo>
                <a:cubicBezTo>
                  <a:pt x="30919" y="86395"/>
                  <a:pt x="45095" y="77967"/>
                  <a:pt x="56592" y="69261"/>
                </a:cubicBezTo>
                <a:cubicBezTo>
                  <a:pt x="68480" y="60275"/>
                  <a:pt x="84441" y="60275"/>
                  <a:pt x="96329" y="69261"/>
                </a:cubicBezTo>
                <a:cubicBezTo>
                  <a:pt x="109835" y="79474"/>
                  <a:pt x="125518" y="89297"/>
                  <a:pt x="142875" y="89297"/>
                </a:cubicBezTo>
                <a:cubicBezTo>
                  <a:pt x="160232" y="89297"/>
                  <a:pt x="175859" y="79418"/>
                  <a:pt x="189421" y="69261"/>
                </a:cubicBezTo>
                <a:cubicBezTo>
                  <a:pt x="201309" y="60275"/>
                  <a:pt x="217270" y="60275"/>
                  <a:pt x="229158" y="69261"/>
                </a:cubicBezTo>
                <a:close/>
                <a:moveTo>
                  <a:pt x="229158" y="149628"/>
                </a:moveTo>
                <a:cubicBezTo>
                  <a:pt x="240711" y="158335"/>
                  <a:pt x="254831" y="166762"/>
                  <a:pt x="270570" y="168883"/>
                </a:cubicBezTo>
                <a:cubicBezTo>
                  <a:pt x="277881" y="169887"/>
                  <a:pt x="284634" y="164697"/>
                  <a:pt x="285638" y="157386"/>
                </a:cubicBezTo>
                <a:cubicBezTo>
                  <a:pt x="286643" y="150075"/>
                  <a:pt x="281453" y="143321"/>
                  <a:pt x="274141" y="142317"/>
                </a:cubicBezTo>
                <a:cubicBezTo>
                  <a:pt x="265268" y="141145"/>
                  <a:pt x="255612" y="136010"/>
                  <a:pt x="245287" y="128253"/>
                </a:cubicBezTo>
                <a:cubicBezTo>
                  <a:pt x="223856" y="112068"/>
                  <a:pt x="194779" y="112068"/>
                  <a:pt x="173292" y="128253"/>
                </a:cubicBezTo>
                <a:cubicBezTo>
                  <a:pt x="159897" y="138354"/>
                  <a:pt x="150577" y="142931"/>
                  <a:pt x="142875" y="142931"/>
                </a:cubicBezTo>
                <a:cubicBezTo>
                  <a:pt x="135173" y="142931"/>
                  <a:pt x="125853" y="138354"/>
                  <a:pt x="112458" y="128253"/>
                </a:cubicBezTo>
                <a:cubicBezTo>
                  <a:pt x="91027" y="112068"/>
                  <a:pt x="61950" y="112068"/>
                  <a:pt x="40463" y="128253"/>
                </a:cubicBezTo>
                <a:cubicBezTo>
                  <a:pt x="30138" y="136010"/>
                  <a:pt x="20482" y="141145"/>
                  <a:pt x="11609" y="142317"/>
                </a:cubicBezTo>
                <a:cubicBezTo>
                  <a:pt x="4297" y="143266"/>
                  <a:pt x="-893" y="150019"/>
                  <a:pt x="112" y="157386"/>
                </a:cubicBezTo>
                <a:cubicBezTo>
                  <a:pt x="1116" y="164753"/>
                  <a:pt x="7813" y="169887"/>
                  <a:pt x="15180" y="168883"/>
                </a:cubicBezTo>
                <a:cubicBezTo>
                  <a:pt x="30919" y="166762"/>
                  <a:pt x="45095" y="158335"/>
                  <a:pt x="56592" y="149628"/>
                </a:cubicBezTo>
                <a:cubicBezTo>
                  <a:pt x="68480" y="140643"/>
                  <a:pt x="84441" y="140643"/>
                  <a:pt x="96329" y="149628"/>
                </a:cubicBezTo>
                <a:cubicBezTo>
                  <a:pt x="109835" y="159841"/>
                  <a:pt x="125518" y="169664"/>
                  <a:pt x="142875" y="169664"/>
                </a:cubicBezTo>
                <a:cubicBezTo>
                  <a:pt x="160232" y="169664"/>
                  <a:pt x="175859" y="159786"/>
                  <a:pt x="189421" y="149628"/>
                </a:cubicBezTo>
                <a:cubicBezTo>
                  <a:pt x="201309" y="140643"/>
                  <a:pt x="217270" y="140643"/>
                  <a:pt x="229158" y="149628"/>
                </a:cubicBezTo>
                <a:close/>
                <a:moveTo>
                  <a:pt x="189421" y="229995"/>
                </a:moveTo>
                <a:cubicBezTo>
                  <a:pt x="201309" y="221010"/>
                  <a:pt x="217270" y="221010"/>
                  <a:pt x="229158" y="229995"/>
                </a:cubicBezTo>
                <a:cubicBezTo>
                  <a:pt x="240711" y="238702"/>
                  <a:pt x="254831" y="247129"/>
                  <a:pt x="270570" y="249250"/>
                </a:cubicBezTo>
                <a:cubicBezTo>
                  <a:pt x="277881" y="250254"/>
                  <a:pt x="284634" y="245064"/>
                  <a:pt x="285638" y="237753"/>
                </a:cubicBezTo>
                <a:cubicBezTo>
                  <a:pt x="286643" y="230442"/>
                  <a:pt x="281453" y="223689"/>
                  <a:pt x="274141" y="222684"/>
                </a:cubicBezTo>
                <a:cubicBezTo>
                  <a:pt x="265268" y="221512"/>
                  <a:pt x="255612" y="216377"/>
                  <a:pt x="245287" y="208620"/>
                </a:cubicBezTo>
                <a:cubicBezTo>
                  <a:pt x="223856" y="192435"/>
                  <a:pt x="194779" y="192435"/>
                  <a:pt x="173292" y="208620"/>
                </a:cubicBezTo>
                <a:cubicBezTo>
                  <a:pt x="159897" y="218722"/>
                  <a:pt x="150577" y="223298"/>
                  <a:pt x="142875" y="223298"/>
                </a:cubicBezTo>
                <a:cubicBezTo>
                  <a:pt x="135173" y="223298"/>
                  <a:pt x="125853" y="218722"/>
                  <a:pt x="112458" y="208620"/>
                </a:cubicBezTo>
                <a:cubicBezTo>
                  <a:pt x="91027" y="192435"/>
                  <a:pt x="61950" y="192435"/>
                  <a:pt x="40463" y="208620"/>
                </a:cubicBezTo>
                <a:cubicBezTo>
                  <a:pt x="30138" y="216377"/>
                  <a:pt x="20482" y="221512"/>
                  <a:pt x="11609" y="222684"/>
                </a:cubicBezTo>
                <a:cubicBezTo>
                  <a:pt x="4297" y="223689"/>
                  <a:pt x="-893" y="230386"/>
                  <a:pt x="112" y="237753"/>
                </a:cubicBezTo>
                <a:cubicBezTo>
                  <a:pt x="1116" y="245120"/>
                  <a:pt x="7813" y="250254"/>
                  <a:pt x="15180" y="249250"/>
                </a:cubicBezTo>
                <a:cubicBezTo>
                  <a:pt x="30919" y="247129"/>
                  <a:pt x="45095" y="238702"/>
                  <a:pt x="56592" y="229995"/>
                </a:cubicBezTo>
                <a:cubicBezTo>
                  <a:pt x="68480" y="221010"/>
                  <a:pt x="84441" y="221010"/>
                  <a:pt x="96329" y="229995"/>
                </a:cubicBezTo>
                <a:cubicBezTo>
                  <a:pt x="109835" y="240209"/>
                  <a:pt x="125518" y="250031"/>
                  <a:pt x="142875" y="250031"/>
                </a:cubicBezTo>
                <a:cubicBezTo>
                  <a:pt x="160232" y="250031"/>
                  <a:pt x="175859" y="240153"/>
                  <a:pt x="189421" y="229995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4" name="Text 10"/>
          <p:cNvSpPr/>
          <p:nvPr/>
        </p:nvSpPr>
        <p:spPr>
          <a:xfrm>
            <a:off x="1984058" y="3927156"/>
            <a:ext cx="3838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3B9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宏观流动性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979295" y="4270056"/>
            <a:ext cx="3848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决定估值上限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214110" y="3332797"/>
            <a:ext cx="4141470" cy="1398270"/>
          </a:xfrm>
          <a:custGeom>
            <a:avLst/>
            <a:gdLst/>
            <a:ahLst/>
            <a:cxnLst/>
            <a:rect l="l" t="t" r="r" b="b"/>
            <a:pathLst>
              <a:path w="4141470" h="1398270">
                <a:moveTo>
                  <a:pt x="114295" y="0"/>
                </a:moveTo>
                <a:lnTo>
                  <a:pt x="4027175" y="0"/>
                </a:lnTo>
                <a:cubicBezTo>
                  <a:pt x="4090299" y="0"/>
                  <a:pt x="4141470" y="51171"/>
                  <a:pt x="4141470" y="114295"/>
                </a:cubicBezTo>
                <a:lnTo>
                  <a:pt x="4141470" y="1283975"/>
                </a:lnTo>
                <a:cubicBezTo>
                  <a:pt x="4141470" y="1347099"/>
                  <a:pt x="4090299" y="1398270"/>
                  <a:pt x="4027175" y="1398270"/>
                </a:cubicBezTo>
                <a:lnTo>
                  <a:pt x="114295" y="1398270"/>
                </a:lnTo>
                <a:cubicBezTo>
                  <a:pt x="51171" y="1398270"/>
                  <a:pt x="0" y="1347099"/>
                  <a:pt x="0" y="128397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46256" y="3527106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18" name="Text 14"/>
          <p:cNvSpPr/>
          <p:nvPr/>
        </p:nvSpPr>
        <p:spPr>
          <a:xfrm>
            <a:off x="6365557" y="3927156"/>
            <a:ext cx="3838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3B9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微观基本面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360795" y="4270056"/>
            <a:ext cx="3848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决定安全边际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1832610" y="4967293"/>
            <a:ext cx="8522970" cy="1083945"/>
          </a:xfrm>
          <a:custGeom>
            <a:avLst/>
            <a:gdLst/>
            <a:ahLst/>
            <a:cxnLst/>
            <a:rect l="l" t="t" r="r" b="b"/>
            <a:pathLst>
              <a:path w="8522970" h="1083945">
                <a:moveTo>
                  <a:pt x="152403" y="0"/>
                </a:moveTo>
                <a:lnTo>
                  <a:pt x="8370567" y="0"/>
                </a:lnTo>
                <a:cubicBezTo>
                  <a:pt x="8454737" y="0"/>
                  <a:pt x="8522970" y="68233"/>
                  <a:pt x="8522970" y="152403"/>
                </a:cubicBezTo>
                <a:lnTo>
                  <a:pt x="8522970" y="931542"/>
                </a:lnTo>
                <a:cubicBezTo>
                  <a:pt x="8522970" y="1015712"/>
                  <a:pt x="8454737" y="1083945"/>
                  <a:pt x="8370567" y="1083945"/>
                </a:cubicBezTo>
                <a:lnTo>
                  <a:pt x="152403" y="1083945"/>
                </a:lnTo>
                <a:cubicBezTo>
                  <a:pt x="68233" y="1083945"/>
                  <a:pt x="0" y="1015712"/>
                  <a:pt x="0" y="931542"/>
                </a:cubicBezTo>
                <a:lnTo>
                  <a:pt x="0" y="152403"/>
                </a:lnTo>
                <a:cubicBezTo>
                  <a:pt x="0" y="68233"/>
                  <a:pt x="68233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A95EAF">
                  <a:alpha val="30000"/>
                </a:srgbClr>
              </a:gs>
              <a:gs pos="100000">
                <a:srgbClr val="D3B9D7">
                  <a:alpha val="30000"/>
                </a:srgbClr>
              </a:gs>
            </a:gsLst>
            <a:lin ang="0" scaled="1"/>
          </a:gradFill>
          <a:ln w="1016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017395" y="5199701"/>
            <a:ext cx="81534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2026年投资成功的关键在于：紧盯</a:t>
            </a:r>
            <a:r>
              <a:rPr lang="en-US" sz="1500" b="1" dirty="0">
                <a:solidFill>
                  <a:srgbClr val="D3B9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美联储政策转向信号</a:t>
            </a: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500" b="1" dirty="0">
                <a:solidFill>
                  <a:srgbClr val="D3B9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TGA账户动态</a:t>
            </a: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，同时深度剖析</a:t>
            </a:r>
            <a:r>
              <a:rPr lang="en-US" sz="1500" b="1" dirty="0">
                <a:solidFill>
                  <a:srgbClr val="D3B9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 7业绩成色</a:t>
            </a: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500" b="1" dirty="0">
                <a:solidFill>
                  <a:srgbClr val="D3B9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价格行动</a:t>
            </a:r>
            <a:r>
              <a:rPr lang="en-US" sz="15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，在流动性与基本面的共振中寻找确定性机会。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2640925" y="65503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6576" y="2277"/>
                </a:moveTo>
                <a:cubicBezTo>
                  <a:pt x="111264" y="-759"/>
                  <a:pt x="117336" y="-759"/>
                  <a:pt x="122024" y="2277"/>
                </a:cubicBezTo>
                <a:lnTo>
                  <a:pt x="222037" y="66571"/>
                </a:lnTo>
                <a:cubicBezTo>
                  <a:pt x="227350" y="70009"/>
                  <a:pt x="229806" y="76527"/>
                  <a:pt x="228020" y="82600"/>
                </a:cubicBezTo>
                <a:cubicBezTo>
                  <a:pt x="226234" y="88672"/>
                  <a:pt x="220653" y="92869"/>
                  <a:pt x="214313" y="92869"/>
                </a:cubicBezTo>
                <a:lnTo>
                  <a:pt x="200025" y="92869"/>
                </a:lnTo>
                <a:lnTo>
                  <a:pt x="200025" y="185738"/>
                </a:lnTo>
                <a:lnTo>
                  <a:pt x="222885" y="202883"/>
                </a:lnTo>
                <a:cubicBezTo>
                  <a:pt x="226502" y="205561"/>
                  <a:pt x="228600" y="209803"/>
                  <a:pt x="228600" y="214313"/>
                </a:cubicBezTo>
                <a:cubicBezTo>
                  <a:pt x="228600" y="222215"/>
                  <a:pt x="222215" y="228600"/>
                  <a:pt x="214313" y="228600"/>
                </a:cubicBezTo>
                <a:lnTo>
                  <a:pt x="14288" y="228600"/>
                </a:lnTo>
                <a:cubicBezTo>
                  <a:pt x="6385" y="228600"/>
                  <a:pt x="0" y="222215"/>
                  <a:pt x="0" y="214313"/>
                </a:cubicBezTo>
                <a:cubicBezTo>
                  <a:pt x="0" y="209803"/>
                  <a:pt x="2098" y="205561"/>
                  <a:pt x="5715" y="202883"/>
                </a:cubicBezTo>
                <a:lnTo>
                  <a:pt x="28575" y="185738"/>
                </a:lnTo>
                <a:lnTo>
                  <a:pt x="28575" y="185738"/>
                </a:lnTo>
                <a:lnTo>
                  <a:pt x="28575" y="92869"/>
                </a:lnTo>
                <a:lnTo>
                  <a:pt x="14288" y="92869"/>
                </a:lnTo>
                <a:cubicBezTo>
                  <a:pt x="7947" y="92869"/>
                  <a:pt x="2366" y="88672"/>
                  <a:pt x="580" y="82600"/>
                </a:cubicBezTo>
                <a:cubicBezTo>
                  <a:pt x="-1206" y="76527"/>
                  <a:pt x="1250" y="69964"/>
                  <a:pt x="6563" y="66571"/>
                </a:cubicBezTo>
                <a:lnTo>
                  <a:pt x="106576" y="2277"/>
                </a:lnTo>
                <a:close/>
                <a:moveTo>
                  <a:pt x="150019" y="92869"/>
                </a:moveTo>
                <a:lnTo>
                  <a:pt x="150019" y="185738"/>
                </a:lnTo>
                <a:lnTo>
                  <a:pt x="178594" y="185738"/>
                </a:lnTo>
                <a:lnTo>
                  <a:pt x="178594" y="92869"/>
                </a:lnTo>
                <a:lnTo>
                  <a:pt x="150019" y="92869"/>
                </a:lnTo>
                <a:close/>
                <a:moveTo>
                  <a:pt x="100013" y="185738"/>
                </a:moveTo>
                <a:lnTo>
                  <a:pt x="128588" y="185738"/>
                </a:lnTo>
                <a:lnTo>
                  <a:pt x="128588" y="92869"/>
                </a:lnTo>
                <a:lnTo>
                  <a:pt x="100013" y="92869"/>
                </a:lnTo>
                <a:lnTo>
                  <a:pt x="100013" y="185738"/>
                </a:lnTo>
                <a:close/>
                <a:moveTo>
                  <a:pt x="50006" y="92869"/>
                </a:moveTo>
                <a:lnTo>
                  <a:pt x="50006" y="185738"/>
                </a:lnTo>
                <a:lnTo>
                  <a:pt x="78581" y="185738"/>
                </a:lnTo>
                <a:lnTo>
                  <a:pt x="78581" y="92869"/>
                </a:lnTo>
                <a:lnTo>
                  <a:pt x="50006" y="92869"/>
                </a:ln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23" name="Text 19"/>
          <p:cNvSpPr/>
          <p:nvPr/>
        </p:nvSpPr>
        <p:spPr>
          <a:xfrm>
            <a:off x="2969538" y="6531294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3B9D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美联储政策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250650" y="6512244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5" name="Shape 21"/>
          <p:cNvSpPr/>
          <p:nvPr/>
        </p:nvSpPr>
        <p:spPr>
          <a:xfrm>
            <a:off x="4669750" y="65503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5725"/>
                </a:lnTo>
                <a:cubicBezTo>
                  <a:pt x="228600" y="69964"/>
                  <a:pt x="215786" y="57150"/>
                  <a:pt x="200025" y="57150"/>
                </a:cubicBezTo>
                <a:lnTo>
                  <a:pt x="32147" y="57150"/>
                </a:lnTo>
                <a:cubicBezTo>
                  <a:pt x="26209" y="57150"/>
                  <a:pt x="21431" y="52373"/>
                  <a:pt x="21431" y="46434"/>
                </a:cubicBezTo>
                <a:cubicBezTo>
                  <a:pt x="21431" y="40496"/>
                  <a:pt x="26209" y="35719"/>
                  <a:pt x="32147" y="35719"/>
                </a:cubicBezTo>
                <a:lnTo>
                  <a:pt x="203597" y="35719"/>
                </a:lnTo>
                <a:cubicBezTo>
                  <a:pt x="209535" y="35719"/>
                  <a:pt x="214313" y="30941"/>
                  <a:pt x="214313" y="25003"/>
                </a:cubicBezTo>
                <a:cubicBezTo>
                  <a:pt x="214313" y="19065"/>
                  <a:pt x="209535" y="14288"/>
                  <a:pt x="203597" y="14288"/>
                </a:cubicBezTo>
                <a:lnTo>
                  <a:pt x="28575" y="14288"/>
                </a:lnTo>
                <a:close/>
                <a:moveTo>
                  <a:pt x="185738" y="114300"/>
                </a:moveTo>
                <a:cubicBezTo>
                  <a:pt x="193623" y="114300"/>
                  <a:pt x="200025" y="120702"/>
                  <a:pt x="200025" y="128588"/>
                </a:cubicBezTo>
                <a:cubicBezTo>
                  <a:pt x="200025" y="136473"/>
                  <a:pt x="193623" y="142875"/>
                  <a:pt x="185738" y="142875"/>
                </a:cubicBezTo>
                <a:cubicBezTo>
                  <a:pt x="177852" y="142875"/>
                  <a:pt x="171450" y="136473"/>
                  <a:pt x="171450" y="128588"/>
                </a:cubicBezTo>
                <a:cubicBezTo>
                  <a:pt x="171450" y="120702"/>
                  <a:pt x="177852" y="114300"/>
                  <a:pt x="185738" y="114300"/>
                </a:cubicBez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26" name="Text 22"/>
          <p:cNvSpPr/>
          <p:nvPr/>
        </p:nvSpPr>
        <p:spPr>
          <a:xfrm>
            <a:off x="4998363" y="6531294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3B9D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TGA账户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106596" y="6512244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6525696" y="65503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8581" y="10716"/>
                </a:moveTo>
                <a:cubicBezTo>
                  <a:pt x="78581" y="4777"/>
                  <a:pt x="73804" y="0"/>
                  <a:pt x="67866" y="0"/>
                </a:cubicBezTo>
                <a:cubicBezTo>
                  <a:pt x="61927" y="0"/>
                  <a:pt x="57150" y="4777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7" y="57150"/>
                  <a:pt x="0" y="61927"/>
                  <a:pt x="0" y="67866"/>
                </a:cubicBezTo>
                <a:cubicBezTo>
                  <a:pt x="0" y="73804"/>
                  <a:pt x="4777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7" y="103584"/>
                  <a:pt x="0" y="108362"/>
                  <a:pt x="0" y="114300"/>
                </a:cubicBezTo>
                <a:cubicBezTo>
                  <a:pt x="0" y="120238"/>
                  <a:pt x="4777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7" y="150019"/>
                  <a:pt x="0" y="154796"/>
                  <a:pt x="0" y="160734"/>
                </a:cubicBezTo>
                <a:cubicBezTo>
                  <a:pt x="0" y="166673"/>
                  <a:pt x="4777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3"/>
                  <a:pt x="61927" y="228600"/>
                  <a:pt x="67866" y="228600"/>
                </a:cubicBezTo>
                <a:cubicBezTo>
                  <a:pt x="73804" y="228600"/>
                  <a:pt x="78581" y="223823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3"/>
                  <a:pt x="108362" y="228600"/>
                  <a:pt x="114300" y="228600"/>
                </a:cubicBezTo>
                <a:cubicBezTo>
                  <a:pt x="120238" y="228600"/>
                  <a:pt x="125016" y="223823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3"/>
                  <a:pt x="154796" y="228600"/>
                  <a:pt x="160734" y="228600"/>
                </a:cubicBezTo>
                <a:cubicBezTo>
                  <a:pt x="166673" y="228600"/>
                  <a:pt x="171450" y="223823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3" y="171450"/>
                  <a:pt x="228600" y="166673"/>
                  <a:pt x="228600" y="160734"/>
                </a:cubicBezTo>
                <a:cubicBezTo>
                  <a:pt x="228600" y="154796"/>
                  <a:pt x="223823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3" y="125016"/>
                  <a:pt x="228600" y="120238"/>
                  <a:pt x="228600" y="114300"/>
                </a:cubicBezTo>
                <a:cubicBezTo>
                  <a:pt x="228600" y="108362"/>
                  <a:pt x="223823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3" y="78581"/>
                  <a:pt x="228600" y="73804"/>
                  <a:pt x="228600" y="67866"/>
                </a:cubicBezTo>
                <a:cubicBezTo>
                  <a:pt x="228600" y="61927"/>
                  <a:pt x="223823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7"/>
                  <a:pt x="166673" y="0"/>
                  <a:pt x="160734" y="0"/>
                </a:cubicBezTo>
                <a:cubicBezTo>
                  <a:pt x="154796" y="0"/>
                  <a:pt x="150019" y="4777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7"/>
                  <a:pt x="120238" y="0"/>
                  <a:pt x="114300" y="0"/>
                </a:cubicBezTo>
                <a:cubicBezTo>
                  <a:pt x="108362" y="0"/>
                  <a:pt x="103584" y="4777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3" y="57150"/>
                </a:lnTo>
                <a:cubicBezTo>
                  <a:pt x="165065" y="57150"/>
                  <a:pt x="171450" y="63535"/>
                  <a:pt x="171450" y="71438"/>
                </a:cubicBezTo>
                <a:lnTo>
                  <a:pt x="171450" y="157163"/>
                </a:lnTo>
                <a:cubicBezTo>
                  <a:pt x="171450" y="165065"/>
                  <a:pt x="165065" y="171450"/>
                  <a:pt x="157163" y="171450"/>
                </a:cubicBezTo>
                <a:lnTo>
                  <a:pt x="71438" y="171450"/>
                </a:lnTo>
                <a:cubicBezTo>
                  <a:pt x="63535" y="171450"/>
                  <a:pt x="57150" y="165065"/>
                  <a:pt x="57150" y="157163"/>
                </a:cubicBezTo>
                <a:lnTo>
                  <a:pt x="57150" y="71438"/>
                </a:lnTo>
                <a:cubicBezTo>
                  <a:pt x="57150" y="63535"/>
                  <a:pt x="63535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29" name="Text 25"/>
          <p:cNvSpPr/>
          <p:nvPr/>
        </p:nvSpPr>
        <p:spPr>
          <a:xfrm>
            <a:off x="6854309" y="6531294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3B9D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 7业绩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8103275" y="6512244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8522375" y="655034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A95EAF"/>
          </a:solidFill>
          <a:ln/>
        </p:spPr>
      </p:sp>
      <p:sp>
        <p:nvSpPr>
          <p:cNvPr id="32" name="Text 28"/>
          <p:cNvSpPr/>
          <p:nvPr/>
        </p:nvSpPr>
        <p:spPr>
          <a:xfrm>
            <a:off x="8850987" y="6531294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D3B9D7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价格行动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670</Words>
  <Application>Microsoft Office PowerPoint</Application>
  <PresentationFormat>宽屏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MiSans</vt:lpstr>
      <vt:lpstr>Arial</vt:lpstr>
      <vt:lpstr>Alimama ShuHeiTi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美股流动性与基本面双轮驱动分析</dc:title>
  <dc:subject>美股流动性与基本面双轮驱动分析</dc:subject>
  <dc:creator>Kimi</dc:creator>
  <cp:lastModifiedBy>Xuan Fu</cp:lastModifiedBy>
  <cp:revision>3</cp:revision>
  <dcterms:created xsi:type="dcterms:W3CDTF">2026-02-10T06:21:36Z</dcterms:created>
  <dcterms:modified xsi:type="dcterms:W3CDTF">2026-02-12T10:20:03Z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美股流动性与基本面双轮驱动分析","ContentProducer":"001191110108MACG2KBH8F10000","ProduceID":"19c4619a-96c2-87ac-8000-0000d1c079ae","ReservedCode1":"","ContentPropagator":"001191110108MACG2KBH8F20000","PropagateID":"19c4619a-96c2-87ac-8000-0000d1c079ae","ReservedCode2":""}</vt:lpwstr>
  </property>
</Properties>
</file>
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Alimama ShuHeiTi" charset="-122" pitchFamily="34"/>
      <p:regular r:id="rId20"/>
    </p:embeddedFont>
    <p:embeddedFont>
      <p:font typeface="Mi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a01edc34f7bd00ef0e6242a05309feff0ab14d3f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4A6C8C">
                  <a:alpha val="4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219200"/>
            <a:ext cx="2571750" cy="400050"/>
          </a:xfrm>
          <a:custGeom>
            <a:avLst/>
            <a:gdLst/>
            <a:ahLst/>
            <a:cxnLst/>
            <a:rect l="l" t="t" r="r" b="b"/>
            <a:pathLst>
              <a:path w="2571750" h="400050">
                <a:moveTo>
                  <a:pt x="200025" y="0"/>
                </a:moveTo>
                <a:lnTo>
                  <a:pt x="2371725" y="0"/>
                </a:lnTo>
                <a:cubicBezTo>
                  <a:pt x="2482122" y="0"/>
                  <a:pt x="2571750" y="89628"/>
                  <a:pt x="2571750" y="200025"/>
                </a:cubicBezTo>
                <a:lnTo>
                  <a:pt x="2571750" y="200025"/>
                </a:lnTo>
                <a:cubicBezTo>
                  <a:pt x="2571750" y="310422"/>
                  <a:pt x="2482122" y="400050"/>
                  <a:pt x="2371725" y="400050"/>
                </a:cubicBezTo>
                <a:lnTo>
                  <a:pt x="200025" y="400050"/>
                </a:lnTo>
                <a:cubicBezTo>
                  <a:pt x="89628" y="400050"/>
                  <a:pt x="0" y="310422"/>
                  <a:pt x="0" y="200025"/>
                </a:cubicBezTo>
                <a:lnTo>
                  <a:pt x="0" y="200025"/>
                </a:lnTo>
                <a:cubicBezTo>
                  <a:pt x="0" y="89628"/>
                  <a:pt x="89628" y="0"/>
                  <a:pt x="2000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319213"/>
            <a:ext cx="22548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 POLICY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3361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2026年宏观政策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走向分析报告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76712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3866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基于历史经验推断法的政策预测与市场策略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748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16719" y="6134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Text 8"/>
          <p:cNvSpPr/>
          <p:nvPr/>
        </p:nvSpPr>
        <p:spPr>
          <a:xfrm>
            <a:off x="733425" y="6096000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分析期间: 2026年3月 - 2027年3月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18458" y="6134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0"/>
          <p:cNvSpPr/>
          <p:nvPr/>
        </p:nvSpPr>
        <p:spPr>
          <a:xfrm>
            <a:off x="3947071" y="609600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置信度: 60-70%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775156" y="598170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生成日期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56106" y="621030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2026-03-03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123950" cy="352425"/>
          </a:xfrm>
          <a:custGeom>
            <a:avLst/>
            <a:gdLst/>
            <a:ahLst/>
            <a:cxnLst/>
            <a:rect l="l" t="t" r="r" b="b"/>
            <a:pathLst>
              <a:path w="1123950" h="352425">
                <a:moveTo>
                  <a:pt x="176213" y="0"/>
                </a:moveTo>
                <a:lnTo>
                  <a:pt x="947737" y="0"/>
                </a:lnTo>
                <a:cubicBezTo>
                  <a:pt x="1044992" y="0"/>
                  <a:pt x="1123950" y="78958"/>
                  <a:pt x="1123950" y="176213"/>
                </a:cubicBezTo>
                <a:lnTo>
                  <a:pt x="1123950" y="176213"/>
                </a:lnTo>
                <a:cubicBezTo>
                  <a:pt x="1123950" y="273467"/>
                  <a:pt x="1044992" y="352425"/>
                  <a:pt x="947737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85775"/>
            <a:ext cx="8797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049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771650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77165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962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/>
          <p:cNvSpPr/>
          <p:nvPr/>
        </p:nvSpPr>
        <p:spPr>
          <a:xfrm>
            <a:off x="741313" y="20764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96215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执行摘要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400" y="230505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核心结论与关键发现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9350" y="1771650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29350" y="177165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8900" y="1962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" name="Text 13"/>
          <p:cNvSpPr/>
          <p:nvPr/>
        </p:nvSpPr>
        <p:spPr>
          <a:xfrm>
            <a:off x="6570613" y="20764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24700" y="196215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分析方法论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24700" y="230505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历史经验推断法框架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2986088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2986088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31765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741313" y="3290888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3176588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货币政策预测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5400" y="3519488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当前状况与三情景分析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350" y="2986088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29350" y="2986088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8900" y="31765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6570613" y="3290888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24700" y="3176588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财政政策展望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24700" y="3519488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支出方向与约束因素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4200525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00050" y="420052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4391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31"/>
          <p:cNvSpPr/>
          <p:nvPr/>
        </p:nvSpPr>
        <p:spPr>
          <a:xfrm>
            <a:off x="741313" y="45053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5400" y="4391025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历史情景对比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95400" y="4733925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相似度评估与关键差异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29350" y="4200525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29350" y="420052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Shape 36"/>
          <p:cNvSpPr/>
          <p:nvPr/>
        </p:nvSpPr>
        <p:spPr>
          <a:xfrm>
            <a:off x="6438900" y="4391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9" name="Text 37"/>
          <p:cNvSpPr/>
          <p:nvPr/>
        </p:nvSpPr>
        <p:spPr>
          <a:xfrm>
            <a:off x="6570613" y="45053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24700" y="4391025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市场影响分析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24700" y="4733925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股票与债券市场展望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00050" y="5414963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0050" y="541496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600" y="56054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5" name="Text 43"/>
          <p:cNvSpPr/>
          <p:nvPr/>
        </p:nvSpPr>
        <p:spPr>
          <a:xfrm>
            <a:off x="741313" y="571976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95400" y="5605463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投资建议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95400" y="5948363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资产配置与行业配置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29350" y="5414963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29350" y="541496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0" name="Shape 48"/>
          <p:cNvSpPr/>
          <p:nvPr/>
        </p:nvSpPr>
        <p:spPr>
          <a:xfrm>
            <a:off x="6438900" y="56054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1" name="Text 49"/>
          <p:cNvSpPr/>
          <p:nvPr/>
        </p:nvSpPr>
        <p:spPr>
          <a:xfrm>
            <a:off x="6570613" y="571976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24700" y="5605463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风险提示与监测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24700" y="5948363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关键指标与预警体系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952625" cy="352425"/>
          </a:xfrm>
          <a:custGeom>
            <a:avLst/>
            <a:gdLst/>
            <a:ahLst/>
            <a:cxnLst/>
            <a:rect l="l" t="t" r="r" b="b"/>
            <a:pathLst>
              <a:path w="1952625" h="352425">
                <a:moveTo>
                  <a:pt x="176213" y="0"/>
                </a:moveTo>
                <a:lnTo>
                  <a:pt x="1776413" y="0"/>
                </a:lnTo>
                <a:cubicBezTo>
                  <a:pt x="1873667" y="0"/>
                  <a:pt x="1952625" y="78958"/>
                  <a:pt x="1952625" y="176213"/>
                </a:cubicBezTo>
                <a:lnTo>
                  <a:pt x="1952625" y="176213"/>
                </a:lnTo>
                <a:cubicBezTo>
                  <a:pt x="1952625" y="273467"/>
                  <a:pt x="1873667" y="352425"/>
                  <a:pt x="1776413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85775"/>
            <a:ext cx="17015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572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执行摘要：核心结论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525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85763" y="1585913"/>
            <a:ext cx="5610225" cy="1981200"/>
          </a:xfrm>
          <a:custGeom>
            <a:avLst/>
            <a:gdLst/>
            <a:ahLst/>
            <a:cxnLst/>
            <a:rect l="l" t="t" r="r" b="b"/>
            <a:pathLst>
              <a:path w="5610225" h="1981200">
                <a:moveTo>
                  <a:pt x="114295" y="0"/>
                </a:moveTo>
                <a:lnTo>
                  <a:pt x="5495930" y="0"/>
                </a:lnTo>
                <a:cubicBezTo>
                  <a:pt x="5559011" y="0"/>
                  <a:pt x="5610225" y="51214"/>
                  <a:pt x="5610225" y="114295"/>
                </a:cubicBezTo>
                <a:lnTo>
                  <a:pt x="5610225" y="1866905"/>
                </a:lnTo>
                <a:cubicBezTo>
                  <a:pt x="5610225" y="1929986"/>
                  <a:pt x="5559011" y="1981200"/>
                  <a:pt x="5495930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78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Shape 6"/>
          <p:cNvSpPr/>
          <p:nvPr/>
        </p:nvSpPr>
        <p:spPr>
          <a:xfrm>
            <a:off x="714375" y="1914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152525" y="185737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货币政策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352675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预计2026年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highlight>
                  <a:srgbClr val="C0A06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渐进式降息2-3次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，货币政策由紧缩转向中性宽松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909888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1025" y="3086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25653" y="3028950"/>
            <a:ext cx="71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6013" y="1585913"/>
            <a:ext cx="5610225" cy="1981200"/>
          </a:xfrm>
          <a:custGeom>
            <a:avLst/>
            <a:gdLst/>
            <a:ahLst/>
            <a:cxnLst/>
            <a:rect l="l" t="t" r="r" b="b"/>
            <a:pathLst>
              <a:path w="5610225" h="1981200">
                <a:moveTo>
                  <a:pt x="114295" y="0"/>
                </a:moveTo>
                <a:lnTo>
                  <a:pt x="5495930" y="0"/>
                </a:lnTo>
                <a:cubicBezTo>
                  <a:pt x="5559011" y="0"/>
                  <a:pt x="5610225" y="51214"/>
                  <a:pt x="5610225" y="114295"/>
                </a:cubicBezTo>
                <a:lnTo>
                  <a:pt x="5610225" y="1866905"/>
                </a:lnTo>
                <a:cubicBezTo>
                  <a:pt x="5610225" y="1929986"/>
                  <a:pt x="5559011" y="1981200"/>
                  <a:pt x="5495930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1275" y="178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24625" y="1914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6962775" y="185737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财政政策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91275" y="2352675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结构性扩张政策持续，重点支持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highlight>
                  <a:srgbClr val="C0A06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AI和基础设施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，但债务约束增加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91275" y="2909888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91275" y="3086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35903" y="3028950"/>
            <a:ext cx="71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70%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3767138"/>
            <a:ext cx="5610225" cy="1981200"/>
          </a:xfrm>
          <a:custGeom>
            <a:avLst/>
            <a:gdLst/>
            <a:ahLst/>
            <a:cxnLst/>
            <a:rect l="l" t="t" r="r" b="b"/>
            <a:pathLst>
              <a:path w="5610225" h="1981200">
                <a:moveTo>
                  <a:pt x="114295" y="0"/>
                </a:moveTo>
                <a:lnTo>
                  <a:pt x="5495930" y="0"/>
                </a:lnTo>
                <a:cubicBezTo>
                  <a:pt x="5559011" y="0"/>
                  <a:pt x="5610225" y="51214"/>
                  <a:pt x="5610225" y="114295"/>
                </a:cubicBezTo>
                <a:lnTo>
                  <a:pt x="5610225" y="1866905"/>
                </a:lnTo>
                <a:cubicBezTo>
                  <a:pt x="5610225" y="1929986"/>
                  <a:pt x="5559011" y="1981200"/>
                  <a:pt x="5495930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1025" y="396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563" y="40957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1152525" y="4038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政策组合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1025" y="4533900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highlight>
                  <a:srgbClr val="C0A06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货币宽松 + 财政扩张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的"双宽松"组合，但力度受限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1025" y="5091113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81025" y="5267325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25653" y="5210175"/>
            <a:ext cx="71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6013" y="3767138"/>
            <a:ext cx="5610225" cy="1981200"/>
          </a:xfrm>
          <a:custGeom>
            <a:avLst/>
            <a:gdLst/>
            <a:ahLst/>
            <a:cxnLst/>
            <a:rect l="l" t="t" r="r" b="b"/>
            <a:pathLst>
              <a:path w="5610225" h="1981200">
                <a:moveTo>
                  <a:pt x="114295" y="0"/>
                </a:moveTo>
                <a:lnTo>
                  <a:pt x="5495930" y="0"/>
                </a:lnTo>
                <a:cubicBezTo>
                  <a:pt x="5559011" y="0"/>
                  <a:pt x="5610225" y="51214"/>
                  <a:pt x="5610225" y="114295"/>
                </a:cubicBezTo>
                <a:lnTo>
                  <a:pt x="5610225" y="1866905"/>
                </a:lnTo>
                <a:cubicBezTo>
                  <a:pt x="5610225" y="1929986"/>
                  <a:pt x="5559011" y="1981200"/>
                  <a:pt x="5495930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2700000" scaled="1"/>
          </a:gra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91275" y="396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2" name="Shape 30"/>
          <p:cNvSpPr/>
          <p:nvPr/>
        </p:nvSpPr>
        <p:spPr>
          <a:xfrm>
            <a:off x="6512719" y="4095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5" y="4038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市场建议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91275" y="4533900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看好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highlight>
                  <a:srgbClr val="C0A06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科技股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和受益于基建的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highlight>
                  <a:srgbClr val="C0A06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周期股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，债券市场短久期策略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1275" y="5167313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0A062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91275" y="53054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策略方向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229975" y="5286375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超配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5763" y="5910263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85777"/>
                </a:lnTo>
                <a:cubicBezTo>
                  <a:pt x="11420475" y="527860"/>
                  <a:pt x="11386360" y="561975"/>
                  <a:pt x="11344277" y="561975"/>
                </a:cubicBezTo>
                <a:lnTo>
                  <a:pt x="76198" y="561975"/>
                </a:lnTo>
                <a:cubicBezTo>
                  <a:pt x="34143" y="561975"/>
                  <a:pt x="0" y="527832"/>
                  <a:pt x="0" y="4857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1975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/>
          <p:cNvSpPr/>
          <p:nvPr/>
        </p:nvSpPr>
        <p:spPr>
          <a:xfrm>
            <a:off x="790575" y="6067425"/>
            <a:ext cx="1093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00" y="340300"/>
            <a:ext cx="1293982" cy="310892"/>
          </a:xfrm>
          <a:custGeom>
            <a:avLst/>
            <a:gdLst/>
            <a:ahLst/>
            <a:cxnLst/>
            <a:rect l="l" t="t" r="r" b="b"/>
            <a:pathLst>
              <a:path w="1293982" h="310892">
                <a:moveTo>
                  <a:pt x="155446" y="0"/>
                </a:moveTo>
                <a:lnTo>
                  <a:pt x="1138536" y="0"/>
                </a:lnTo>
                <a:cubicBezTo>
                  <a:pt x="1224387" y="0"/>
                  <a:pt x="1293982" y="69595"/>
                  <a:pt x="1293982" y="155446"/>
                </a:cubicBezTo>
                <a:lnTo>
                  <a:pt x="1293982" y="155446"/>
                </a:lnTo>
                <a:cubicBezTo>
                  <a:pt x="1293982" y="241296"/>
                  <a:pt x="1224387" y="310892"/>
                  <a:pt x="1138536" y="310892"/>
                </a:cubicBezTo>
                <a:lnTo>
                  <a:pt x="155446" y="310892"/>
                </a:lnTo>
                <a:cubicBezTo>
                  <a:pt x="69595" y="310892"/>
                  <a:pt x="0" y="241296"/>
                  <a:pt x="0" y="155446"/>
                </a:cubicBezTo>
                <a:lnTo>
                  <a:pt x="0" y="155446"/>
                </a:lnTo>
                <a:cubicBezTo>
                  <a:pt x="0" y="69595"/>
                  <a:pt x="69595" y="0"/>
                  <a:pt x="155446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8941" y="428527"/>
            <a:ext cx="1079194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spc="93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6099" y="756223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历史经验推断法：方法论框架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6099" y="1193152"/>
            <a:ext cx="806638" cy="33610"/>
          </a:xfrm>
          <a:custGeom>
            <a:avLst/>
            <a:gdLst/>
            <a:ahLst/>
            <a:cxnLst/>
            <a:rect l="l" t="t" r="r" b="b"/>
            <a:pathLst>
              <a:path w="806638" h="33610">
                <a:moveTo>
                  <a:pt x="0" y="0"/>
                </a:moveTo>
                <a:lnTo>
                  <a:pt x="806638" y="0"/>
                </a:lnTo>
                <a:lnTo>
                  <a:pt x="806638" y="33610"/>
                </a:lnTo>
                <a:lnTo>
                  <a:pt x="0" y="3361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40300" y="1331793"/>
            <a:ext cx="6234641" cy="2243462"/>
          </a:xfrm>
          <a:custGeom>
            <a:avLst/>
            <a:gdLst/>
            <a:ahLst/>
            <a:cxnLst/>
            <a:rect l="l" t="t" r="r" b="b"/>
            <a:pathLst>
              <a:path w="6234641" h="2243462">
                <a:moveTo>
                  <a:pt x="100821" y="0"/>
                </a:moveTo>
                <a:lnTo>
                  <a:pt x="6133820" y="0"/>
                </a:lnTo>
                <a:cubicBezTo>
                  <a:pt x="6189502" y="0"/>
                  <a:pt x="6234641" y="45139"/>
                  <a:pt x="6234641" y="100821"/>
                </a:cubicBezTo>
                <a:lnTo>
                  <a:pt x="6234641" y="2142641"/>
                </a:lnTo>
                <a:cubicBezTo>
                  <a:pt x="6234641" y="2198323"/>
                  <a:pt x="6189502" y="2243462"/>
                  <a:pt x="6133820" y="2243462"/>
                </a:cubicBezTo>
                <a:lnTo>
                  <a:pt x="100821" y="2243462"/>
                </a:lnTo>
                <a:cubicBezTo>
                  <a:pt x="45139" y="2243462"/>
                  <a:pt x="0" y="2198323"/>
                  <a:pt x="0" y="2142641"/>
                </a:cubicBezTo>
                <a:lnTo>
                  <a:pt x="0" y="100821"/>
                </a:lnTo>
                <a:cubicBezTo>
                  <a:pt x="0" y="45139"/>
                  <a:pt x="45139" y="0"/>
                  <a:pt x="10082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948" y="1504044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73620" y="-821"/>
                </a:moveTo>
                <a:cubicBezTo>
                  <a:pt x="80119" y="-4562"/>
                  <a:pt x="88128" y="-4562"/>
                  <a:pt x="94626" y="-821"/>
                </a:cubicBezTo>
                <a:lnTo>
                  <a:pt x="152361" y="32494"/>
                </a:lnTo>
                <a:cubicBezTo>
                  <a:pt x="158859" y="36236"/>
                  <a:pt x="162864" y="43194"/>
                  <a:pt x="162864" y="50677"/>
                </a:cubicBezTo>
                <a:lnTo>
                  <a:pt x="162864" y="117307"/>
                </a:lnTo>
                <a:cubicBezTo>
                  <a:pt x="162864" y="124823"/>
                  <a:pt x="158859" y="131748"/>
                  <a:pt x="152361" y="135490"/>
                </a:cubicBezTo>
                <a:lnTo>
                  <a:pt x="94626" y="168870"/>
                </a:lnTo>
                <a:cubicBezTo>
                  <a:pt x="88128" y="172612"/>
                  <a:pt x="80119" y="172612"/>
                  <a:pt x="73620" y="168870"/>
                </a:cubicBezTo>
                <a:lnTo>
                  <a:pt x="15919" y="135556"/>
                </a:lnTo>
                <a:cubicBezTo>
                  <a:pt x="9420" y="131814"/>
                  <a:pt x="5416" y="124856"/>
                  <a:pt x="5416" y="117372"/>
                </a:cubicBezTo>
                <a:lnTo>
                  <a:pt x="5416" y="50743"/>
                </a:lnTo>
                <a:cubicBezTo>
                  <a:pt x="5416" y="43227"/>
                  <a:pt x="9420" y="36301"/>
                  <a:pt x="15919" y="32560"/>
                </a:cubicBezTo>
                <a:lnTo>
                  <a:pt x="73620" y="-821"/>
                </a:lnTo>
                <a:close/>
                <a:moveTo>
                  <a:pt x="141825" y="117339"/>
                </a:moveTo>
                <a:lnTo>
                  <a:pt x="141825" y="62822"/>
                </a:lnTo>
                <a:lnTo>
                  <a:pt x="94626" y="90064"/>
                </a:lnTo>
                <a:lnTo>
                  <a:pt x="94626" y="144582"/>
                </a:lnTo>
                <a:lnTo>
                  <a:pt x="141825" y="11733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689003" y="1470434"/>
            <a:ext cx="5831322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三大核心假设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8941" y="1873753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lnTo>
                  <a:pt x="134440" y="0"/>
                </a:lnTo>
                <a:cubicBezTo>
                  <a:pt x="208689" y="0"/>
                  <a:pt x="268879" y="60191"/>
                  <a:pt x="268879" y="134440"/>
                </a:cubicBezTo>
                <a:lnTo>
                  <a:pt x="268879" y="134440"/>
                </a:lnTo>
                <a:cubicBezTo>
                  <a:pt x="268879" y="208689"/>
                  <a:pt x="208689" y="268879"/>
                  <a:pt x="134440" y="268879"/>
                </a:cubicBezTo>
                <a:lnTo>
                  <a:pt x="134440" y="268879"/>
                </a:lnTo>
                <a:cubicBezTo>
                  <a:pt x="60191" y="268879"/>
                  <a:pt x="0" y="208689"/>
                  <a:pt x="0" y="134440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0" name="Text 8"/>
          <p:cNvSpPr/>
          <p:nvPr/>
        </p:nvSpPr>
        <p:spPr>
          <a:xfrm>
            <a:off x="590143" y="1924168"/>
            <a:ext cx="109232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8651" y="1840143"/>
            <a:ext cx="5453210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经济周期具有重复性特征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8651" y="2109023"/>
            <a:ext cx="5444808" cy="2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扩张→过热→紧缩→衰退→复苏的循环在历史上反复出现，每个阶段具有可识别的特征组合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8941" y="2428317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lnTo>
                  <a:pt x="134440" y="0"/>
                </a:lnTo>
                <a:cubicBezTo>
                  <a:pt x="208689" y="0"/>
                  <a:pt x="268879" y="60191"/>
                  <a:pt x="268879" y="134440"/>
                </a:cubicBezTo>
                <a:lnTo>
                  <a:pt x="268879" y="134440"/>
                </a:lnTo>
                <a:cubicBezTo>
                  <a:pt x="268879" y="208689"/>
                  <a:pt x="208689" y="268879"/>
                  <a:pt x="134440" y="268879"/>
                </a:cubicBezTo>
                <a:lnTo>
                  <a:pt x="134440" y="268879"/>
                </a:lnTo>
                <a:cubicBezTo>
                  <a:pt x="60191" y="268879"/>
                  <a:pt x="0" y="208689"/>
                  <a:pt x="0" y="134440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4" name="Text 12"/>
          <p:cNvSpPr/>
          <p:nvPr/>
        </p:nvSpPr>
        <p:spPr>
          <a:xfrm>
            <a:off x="580296" y="2478732"/>
            <a:ext cx="12603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651" y="2394707"/>
            <a:ext cx="5049891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政策反应具有可预测的模式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8651" y="2663586"/>
            <a:ext cx="5041489" cy="2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美联储遵循泰勒规则反应函数，财政政策受政治周期驱动，政策转向存在历史规律性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8941" y="2982881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lnTo>
                  <a:pt x="134440" y="0"/>
                </a:lnTo>
                <a:cubicBezTo>
                  <a:pt x="208689" y="0"/>
                  <a:pt x="268879" y="60191"/>
                  <a:pt x="268879" y="134440"/>
                </a:cubicBezTo>
                <a:lnTo>
                  <a:pt x="268879" y="134440"/>
                </a:lnTo>
                <a:cubicBezTo>
                  <a:pt x="268879" y="208689"/>
                  <a:pt x="208689" y="268879"/>
                  <a:pt x="134440" y="268879"/>
                </a:cubicBezTo>
                <a:lnTo>
                  <a:pt x="134440" y="268879"/>
                </a:lnTo>
                <a:cubicBezTo>
                  <a:pt x="60191" y="268879"/>
                  <a:pt x="0" y="208689"/>
                  <a:pt x="0" y="134440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" name="Text 16"/>
          <p:cNvSpPr/>
          <p:nvPr/>
        </p:nvSpPr>
        <p:spPr>
          <a:xfrm>
            <a:off x="578721" y="3033296"/>
            <a:ext cx="12603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651" y="2949271"/>
            <a:ext cx="4041593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约束条件具有历史规律性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8651" y="3218150"/>
            <a:ext cx="4033191" cy="2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债务上限谈判总是在最后时刻达成，高债务/GDP限制财政扩张空间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0300" y="3718098"/>
            <a:ext cx="6234641" cy="1319190"/>
          </a:xfrm>
          <a:custGeom>
            <a:avLst/>
            <a:gdLst/>
            <a:ahLst/>
            <a:cxnLst/>
            <a:rect l="l" t="t" r="r" b="b"/>
            <a:pathLst>
              <a:path w="6234641" h="1319190">
                <a:moveTo>
                  <a:pt x="100826" y="0"/>
                </a:moveTo>
                <a:lnTo>
                  <a:pt x="6133815" y="0"/>
                </a:lnTo>
                <a:cubicBezTo>
                  <a:pt x="6189500" y="0"/>
                  <a:pt x="6234641" y="45141"/>
                  <a:pt x="6234641" y="100826"/>
                </a:cubicBezTo>
                <a:lnTo>
                  <a:pt x="6234641" y="1218364"/>
                </a:lnTo>
                <a:cubicBezTo>
                  <a:pt x="6234641" y="1274048"/>
                  <a:pt x="6189500" y="1319190"/>
                  <a:pt x="6133815" y="1319190"/>
                </a:cubicBezTo>
                <a:lnTo>
                  <a:pt x="100826" y="1319190"/>
                </a:lnTo>
                <a:cubicBezTo>
                  <a:pt x="45141" y="1319190"/>
                  <a:pt x="0" y="1274048"/>
                  <a:pt x="0" y="1218364"/>
                </a:cubicBezTo>
                <a:lnTo>
                  <a:pt x="0" y="100826"/>
                </a:lnTo>
                <a:cubicBezTo>
                  <a:pt x="0" y="45178"/>
                  <a:pt x="45178" y="0"/>
                  <a:pt x="100826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941" y="3890349"/>
            <a:ext cx="210062" cy="168050"/>
          </a:xfrm>
          <a:custGeom>
            <a:avLst/>
            <a:gdLst/>
            <a:ahLst/>
            <a:cxnLst/>
            <a:rect l="l" t="t" r="r" b="b"/>
            <a:pathLst>
              <a:path w="210062" h="168050">
                <a:moveTo>
                  <a:pt x="136507" y="69091"/>
                </a:moveTo>
                <a:cubicBezTo>
                  <a:pt x="140512" y="68008"/>
                  <a:pt x="144713" y="69911"/>
                  <a:pt x="146518" y="73620"/>
                </a:cubicBezTo>
                <a:lnTo>
                  <a:pt x="152623" y="85961"/>
                </a:lnTo>
                <a:cubicBezTo>
                  <a:pt x="156004" y="86421"/>
                  <a:pt x="159319" y="87340"/>
                  <a:pt x="162437" y="88620"/>
                </a:cubicBezTo>
                <a:lnTo>
                  <a:pt x="173925" y="80972"/>
                </a:lnTo>
                <a:cubicBezTo>
                  <a:pt x="177371" y="78675"/>
                  <a:pt x="181933" y="79134"/>
                  <a:pt x="184855" y="82055"/>
                </a:cubicBezTo>
                <a:lnTo>
                  <a:pt x="191156" y="88357"/>
                </a:lnTo>
                <a:cubicBezTo>
                  <a:pt x="194078" y="91279"/>
                  <a:pt x="194537" y="95874"/>
                  <a:pt x="192240" y="99287"/>
                </a:cubicBezTo>
                <a:lnTo>
                  <a:pt x="184592" y="110742"/>
                </a:lnTo>
                <a:cubicBezTo>
                  <a:pt x="185216" y="112285"/>
                  <a:pt x="185774" y="113893"/>
                  <a:pt x="186233" y="115567"/>
                </a:cubicBezTo>
                <a:cubicBezTo>
                  <a:pt x="186693" y="117241"/>
                  <a:pt x="186988" y="118882"/>
                  <a:pt x="187218" y="120556"/>
                </a:cubicBezTo>
                <a:lnTo>
                  <a:pt x="199592" y="126661"/>
                </a:lnTo>
                <a:cubicBezTo>
                  <a:pt x="203301" y="128499"/>
                  <a:pt x="205204" y="132700"/>
                  <a:pt x="204121" y="136672"/>
                </a:cubicBezTo>
                <a:lnTo>
                  <a:pt x="201824" y="145271"/>
                </a:lnTo>
                <a:cubicBezTo>
                  <a:pt x="200741" y="149243"/>
                  <a:pt x="197032" y="151934"/>
                  <a:pt x="192896" y="151671"/>
                </a:cubicBezTo>
                <a:lnTo>
                  <a:pt x="179111" y="150785"/>
                </a:lnTo>
                <a:cubicBezTo>
                  <a:pt x="177043" y="153444"/>
                  <a:pt x="174647" y="155905"/>
                  <a:pt x="171923" y="158006"/>
                </a:cubicBezTo>
                <a:lnTo>
                  <a:pt x="172809" y="171759"/>
                </a:lnTo>
                <a:cubicBezTo>
                  <a:pt x="173071" y="175894"/>
                  <a:pt x="170380" y="179636"/>
                  <a:pt x="166409" y="180686"/>
                </a:cubicBezTo>
                <a:lnTo>
                  <a:pt x="157809" y="182984"/>
                </a:lnTo>
                <a:cubicBezTo>
                  <a:pt x="153805" y="184067"/>
                  <a:pt x="149636" y="182163"/>
                  <a:pt x="147798" y="178454"/>
                </a:cubicBezTo>
                <a:lnTo>
                  <a:pt x="141693" y="166113"/>
                </a:lnTo>
                <a:cubicBezTo>
                  <a:pt x="138313" y="165654"/>
                  <a:pt x="134998" y="164735"/>
                  <a:pt x="131880" y="163455"/>
                </a:cubicBezTo>
                <a:lnTo>
                  <a:pt x="120392" y="171102"/>
                </a:lnTo>
                <a:cubicBezTo>
                  <a:pt x="116945" y="173400"/>
                  <a:pt x="112383" y="172940"/>
                  <a:pt x="109462" y="170019"/>
                </a:cubicBezTo>
                <a:lnTo>
                  <a:pt x="103160" y="163717"/>
                </a:lnTo>
                <a:cubicBezTo>
                  <a:pt x="100239" y="160796"/>
                  <a:pt x="99779" y="156234"/>
                  <a:pt x="102077" y="152787"/>
                </a:cubicBezTo>
                <a:lnTo>
                  <a:pt x="109725" y="141300"/>
                </a:lnTo>
                <a:cubicBezTo>
                  <a:pt x="109101" y="139757"/>
                  <a:pt x="108543" y="138149"/>
                  <a:pt x="108083" y="136475"/>
                </a:cubicBezTo>
                <a:cubicBezTo>
                  <a:pt x="107624" y="134801"/>
                  <a:pt x="107329" y="133127"/>
                  <a:pt x="107099" y="131486"/>
                </a:cubicBezTo>
                <a:lnTo>
                  <a:pt x="94725" y="125381"/>
                </a:lnTo>
                <a:cubicBezTo>
                  <a:pt x="91016" y="123543"/>
                  <a:pt x="89145" y="119341"/>
                  <a:pt x="90195" y="115370"/>
                </a:cubicBezTo>
                <a:lnTo>
                  <a:pt x="92493" y="106771"/>
                </a:lnTo>
                <a:cubicBezTo>
                  <a:pt x="93576" y="102799"/>
                  <a:pt x="97285" y="100108"/>
                  <a:pt x="101421" y="100370"/>
                </a:cubicBezTo>
                <a:lnTo>
                  <a:pt x="115173" y="101256"/>
                </a:lnTo>
                <a:cubicBezTo>
                  <a:pt x="117241" y="98598"/>
                  <a:pt x="119637" y="96136"/>
                  <a:pt x="122361" y="94036"/>
                </a:cubicBezTo>
                <a:lnTo>
                  <a:pt x="121475" y="80316"/>
                </a:lnTo>
                <a:cubicBezTo>
                  <a:pt x="121212" y="76180"/>
                  <a:pt x="123904" y="72439"/>
                  <a:pt x="127875" y="71388"/>
                </a:cubicBezTo>
                <a:lnTo>
                  <a:pt x="136475" y="69091"/>
                </a:lnTo>
                <a:close/>
                <a:moveTo>
                  <a:pt x="147175" y="111595"/>
                </a:moveTo>
                <a:cubicBezTo>
                  <a:pt x="139204" y="111605"/>
                  <a:pt x="132740" y="118083"/>
                  <a:pt x="132749" y="126054"/>
                </a:cubicBezTo>
                <a:cubicBezTo>
                  <a:pt x="132758" y="134024"/>
                  <a:pt x="139237" y="140488"/>
                  <a:pt x="147208" y="140479"/>
                </a:cubicBezTo>
                <a:cubicBezTo>
                  <a:pt x="155178" y="140470"/>
                  <a:pt x="161642" y="133991"/>
                  <a:pt x="161633" y="126021"/>
                </a:cubicBezTo>
                <a:cubicBezTo>
                  <a:pt x="161624" y="118050"/>
                  <a:pt x="155145" y="111586"/>
                  <a:pt x="147175" y="111595"/>
                </a:cubicBezTo>
                <a:close/>
                <a:moveTo>
                  <a:pt x="73817" y="-14934"/>
                </a:moveTo>
                <a:lnTo>
                  <a:pt x="82417" y="-12637"/>
                </a:lnTo>
                <a:cubicBezTo>
                  <a:pt x="86388" y="-11553"/>
                  <a:pt x="89079" y="-7812"/>
                  <a:pt x="88817" y="-3709"/>
                </a:cubicBezTo>
                <a:lnTo>
                  <a:pt x="87931" y="10011"/>
                </a:lnTo>
                <a:cubicBezTo>
                  <a:pt x="90655" y="12111"/>
                  <a:pt x="93051" y="14540"/>
                  <a:pt x="95119" y="17232"/>
                </a:cubicBezTo>
                <a:lnTo>
                  <a:pt x="108904" y="16345"/>
                </a:lnTo>
                <a:cubicBezTo>
                  <a:pt x="113007" y="16083"/>
                  <a:pt x="116749" y="18774"/>
                  <a:pt x="117832" y="22746"/>
                </a:cubicBezTo>
                <a:lnTo>
                  <a:pt x="120129" y="31345"/>
                </a:lnTo>
                <a:cubicBezTo>
                  <a:pt x="121180" y="35317"/>
                  <a:pt x="119309" y="39518"/>
                  <a:pt x="115600" y="41356"/>
                </a:cubicBezTo>
                <a:lnTo>
                  <a:pt x="103226" y="47461"/>
                </a:lnTo>
                <a:cubicBezTo>
                  <a:pt x="102996" y="49135"/>
                  <a:pt x="102668" y="50809"/>
                  <a:pt x="102241" y="52450"/>
                </a:cubicBezTo>
                <a:cubicBezTo>
                  <a:pt x="101814" y="54091"/>
                  <a:pt x="101224" y="55732"/>
                  <a:pt x="100600" y="57275"/>
                </a:cubicBezTo>
                <a:lnTo>
                  <a:pt x="108248" y="68762"/>
                </a:lnTo>
                <a:cubicBezTo>
                  <a:pt x="110545" y="72209"/>
                  <a:pt x="110086" y="76771"/>
                  <a:pt x="107164" y="79692"/>
                </a:cubicBezTo>
                <a:lnTo>
                  <a:pt x="100863" y="85994"/>
                </a:lnTo>
                <a:cubicBezTo>
                  <a:pt x="97941" y="88915"/>
                  <a:pt x="93379" y="89375"/>
                  <a:pt x="89933" y="87077"/>
                </a:cubicBezTo>
                <a:lnTo>
                  <a:pt x="78445" y="79430"/>
                </a:lnTo>
                <a:cubicBezTo>
                  <a:pt x="75327" y="80710"/>
                  <a:pt x="72012" y="81629"/>
                  <a:pt x="68631" y="82088"/>
                </a:cubicBezTo>
                <a:lnTo>
                  <a:pt x="62526" y="94429"/>
                </a:lnTo>
                <a:cubicBezTo>
                  <a:pt x="60688" y="98138"/>
                  <a:pt x="56487" y="100009"/>
                  <a:pt x="52516" y="98959"/>
                </a:cubicBezTo>
                <a:lnTo>
                  <a:pt x="43916" y="96661"/>
                </a:lnTo>
                <a:cubicBezTo>
                  <a:pt x="39912" y="95578"/>
                  <a:pt x="37253" y="91836"/>
                  <a:pt x="37516" y="87734"/>
                </a:cubicBezTo>
                <a:lnTo>
                  <a:pt x="38402" y="73981"/>
                </a:lnTo>
                <a:cubicBezTo>
                  <a:pt x="35678" y="71881"/>
                  <a:pt x="33282" y="69452"/>
                  <a:pt x="31214" y="66760"/>
                </a:cubicBezTo>
                <a:lnTo>
                  <a:pt x="17429" y="67647"/>
                </a:lnTo>
                <a:cubicBezTo>
                  <a:pt x="13326" y="67909"/>
                  <a:pt x="9584" y="65218"/>
                  <a:pt x="8501" y="61246"/>
                </a:cubicBezTo>
                <a:lnTo>
                  <a:pt x="6203" y="52647"/>
                </a:lnTo>
                <a:cubicBezTo>
                  <a:pt x="5153" y="48675"/>
                  <a:pt x="7024" y="44474"/>
                  <a:pt x="10733" y="42636"/>
                </a:cubicBezTo>
                <a:lnTo>
                  <a:pt x="23107" y="36531"/>
                </a:lnTo>
                <a:cubicBezTo>
                  <a:pt x="23337" y="34857"/>
                  <a:pt x="23665" y="33216"/>
                  <a:pt x="24091" y="31542"/>
                </a:cubicBezTo>
                <a:cubicBezTo>
                  <a:pt x="24551" y="29868"/>
                  <a:pt x="25076" y="28260"/>
                  <a:pt x="25733" y="26717"/>
                </a:cubicBezTo>
                <a:lnTo>
                  <a:pt x="18085" y="15262"/>
                </a:lnTo>
                <a:cubicBezTo>
                  <a:pt x="15787" y="11816"/>
                  <a:pt x="16247" y="7254"/>
                  <a:pt x="19168" y="4333"/>
                </a:cubicBezTo>
                <a:lnTo>
                  <a:pt x="25470" y="-1969"/>
                </a:lnTo>
                <a:cubicBezTo>
                  <a:pt x="28391" y="-4891"/>
                  <a:pt x="32953" y="-5350"/>
                  <a:pt x="36400" y="-3052"/>
                </a:cubicBezTo>
                <a:lnTo>
                  <a:pt x="47888" y="4595"/>
                </a:lnTo>
                <a:cubicBezTo>
                  <a:pt x="51006" y="3315"/>
                  <a:pt x="54321" y="2396"/>
                  <a:pt x="57701" y="1937"/>
                </a:cubicBezTo>
                <a:lnTo>
                  <a:pt x="63806" y="-10405"/>
                </a:lnTo>
                <a:cubicBezTo>
                  <a:pt x="65644" y="-14114"/>
                  <a:pt x="69813" y="-15984"/>
                  <a:pt x="73817" y="-14934"/>
                </a:cubicBezTo>
                <a:close/>
                <a:moveTo>
                  <a:pt x="63150" y="27571"/>
                </a:moveTo>
                <a:cubicBezTo>
                  <a:pt x="55179" y="27571"/>
                  <a:pt x="48708" y="34042"/>
                  <a:pt x="48708" y="42012"/>
                </a:cubicBezTo>
                <a:cubicBezTo>
                  <a:pt x="48708" y="49983"/>
                  <a:pt x="55179" y="56454"/>
                  <a:pt x="63150" y="56454"/>
                </a:cubicBezTo>
                <a:cubicBezTo>
                  <a:pt x="71121" y="56454"/>
                  <a:pt x="77592" y="49983"/>
                  <a:pt x="77592" y="42012"/>
                </a:cubicBezTo>
                <a:cubicBezTo>
                  <a:pt x="77592" y="34042"/>
                  <a:pt x="71121" y="27571"/>
                  <a:pt x="63150" y="2757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3" name="Text 21"/>
          <p:cNvSpPr/>
          <p:nvPr/>
        </p:nvSpPr>
        <p:spPr>
          <a:xfrm>
            <a:off x="689003" y="3856739"/>
            <a:ext cx="5831322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方法特点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8941" y="4192838"/>
            <a:ext cx="1915766" cy="705808"/>
          </a:xfrm>
          <a:custGeom>
            <a:avLst/>
            <a:gdLst/>
            <a:ahLst/>
            <a:cxnLst/>
            <a:rect l="l" t="t" r="r" b="b"/>
            <a:pathLst>
              <a:path w="1915766" h="705808">
                <a:moveTo>
                  <a:pt x="67221" y="0"/>
                </a:moveTo>
                <a:lnTo>
                  <a:pt x="1848544" y="0"/>
                </a:lnTo>
                <a:cubicBezTo>
                  <a:pt x="1885670" y="0"/>
                  <a:pt x="1915766" y="30096"/>
                  <a:pt x="1915766" y="67221"/>
                </a:cubicBezTo>
                <a:lnTo>
                  <a:pt x="1915766" y="638587"/>
                </a:lnTo>
                <a:cubicBezTo>
                  <a:pt x="1915766" y="675712"/>
                  <a:pt x="1885670" y="705808"/>
                  <a:pt x="1848544" y="705808"/>
                </a:cubicBezTo>
                <a:lnTo>
                  <a:pt x="67221" y="705808"/>
                </a:lnTo>
                <a:cubicBezTo>
                  <a:pt x="30096" y="705808"/>
                  <a:pt x="0" y="675712"/>
                  <a:pt x="0" y="638587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9356" y="4293668"/>
            <a:ext cx="181493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6161" y="4596157"/>
            <a:ext cx="178132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数据依赖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497900" y="4192838"/>
            <a:ext cx="1915766" cy="705808"/>
          </a:xfrm>
          <a:custGeom>
            <a:avLst/>
            <a:gdLst/>
            <a:ahLst/>
            <a:cxnLst/>
            <a:rect l="l" t="t" r="r" b="b"/>
            <a:pathLst>
              <a:path w="1915766" h="705808">
                <a:moveTo>
                  <a:pt x="67221" y="0"/>
                </a:moveTo>
                <a:lnTo>
                  <a:pt x="1848544" y="0"/>
                </a:lnTo>
                <a:cubicBezTo>
                  <a:pt x="1885670" y="0"/>
                  <a:pt x="1915766" y="30096"/>
                  <a:pt x="1915766" y="67221"/>
                </a:cubicBezTo>
                <a:lnTo>
                  <a:pt x="1915766" y="638587"/>
                </a:lnTo>
                <a:cubicBezTo>
                  <a:pt x="1915766" y="675712"/>
                  <a:pt x="1885670" y="705808"/>
                  <a:pt x="1848544" y="705808"/>
                </a:cubicBezTo>
                <a:lnTo>
                  <a:pt x="67221" y="705808"/>
                </a:lnTo>
                <a:cubicBezTo>
                  <a:pt x="30096" y="705808"/>
                  <a:pt x="0" y="675712"/>
                  <a:pt x="0" y="638587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548315" y="4293668"/>
            <a:ext cx="181493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565120" y="4596157"/>
            <a:ext cx="178132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可解释性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16859" y="4192838"/>
            <a:ext cx="1915766" cy="705808"/>
          </a:xfrm>
          <a:custGeom>
            <a:avLst/>
            <a:gdLst/>
            <a:ahLst/>
            <a:cxnLst/>
            <a:rect l="l" t="t" r="r" b="b"/>
            <a:pathLst>
              <a:path w="1915766" h="705808">
                <a:moveTo>
                  <a:pt x="67221" y="0"/>
                </a:moveTo>
                <a:lnTo>
                  <a:pt x="1848544" y="0"/>
                </a:lnTo>
                <a:cubicBezTo>
                  <a:pt x="1885670" y="0"/>
                  <a:pt x="1915766" y="30096"/>
                  <a:pt x="1915766" y="67221"/>
                </a:cubicBezTo>
                <a:lnTo>
                  <a:pt x="1915766" y="638587"/>
                </a:lnTo>
                <a:cubicBezTo>
                  <a:pt x="1915766" y="675712"/>
                  <a:pt x="1885670" y="705808"/>
                  <a:pt x="1848544" y="705808"/>
                </a:cubicBezTo>
                <a:lnTo>
                  <a:pt x="67221" y="705808"/>
                </a:lnTo>
                <a:cubicBezTo>
                  <a:pt x="30096" y="705808"/>
                  <a:pt x="0" y="675712"/>
                  <a:pt x="0" y="638587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67274" y="4293668"/>
            <a:ext cx="181493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中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84079" y="4596157"/>
            <a:ext cx="178132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计算复杂度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50212" y="1331793"/>
            <a:ext cx="5100306" cy="2461927"/>
          </a:xfrm>
          <a:custGeom>
            <a:avLst/>
            <a:gdLst/>
            <a:ahLst/>
            <a:cxnLst/>
            <a:rect l="l" t="t" r="r" b="b"/>
            <a:pathLst>
              <a:path w="5100306" h="2461927">
                <a:moveTo>
                  <a:pt x="100841" y="0"/>
                </a:moveTo>
                <a:lnTo>
                  <a:pt x="4999465" y="0"/>
                </a:lnTo>
                <a:cubicBezTo>
                  <a:pt x="5055158" y="0"/>
                  <a:pt x="5100306" y="45148"/>
                  <a:pt x="5100306" y="100841"/>
                </a:cubicBezTo>
                <a:lnTo>
                  <a:pt x="5100306" y="2361086"/>
                </a:lnTo>
                <a:cubicBezTo>
                  <a:pt x="5100306" y="2416779"/>
                  <a:pt x="5055158" y="2461927"/>
                  <a:pt x="4999465" y="2461927"/>
                </a:cubicBezTo>
                <a:lnTo>
                  <a:pt x="100841" y="2461927"/>
                </a:lnTo>
                <a:cubicBezTo>
                  <a:pt x="45148" y="2461927"/>
                  <a:pt x="0" y="2416779"/>
                  <a:pt x="0" y="2361086"/>
                </a:cubicBezTo>
                <a:lnTo>
                  <a:pt x="0" y="100841"/>
                </a:lnTo>
                <a:cubicBezTo>
                  <a:pt x="0" y="45148"/>
                  <a:pt x="45148" y="0"/>
                  <a:pt x="10084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9859" y="1504044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84025" y="168050"/>
                </a:moveTo>
                <a:cubicBezTo>
                  <a:pt x="130399" y="168050"/>
                  <a:pt x="168050" y="130399"/>
                  <a:pt x="168050" y="84025"/>
                </a:cubicBezTo>
                <a:cubicBezTo>
                  <a:pt x="168050" y="37650"/>
                  <a:pt x="130399" y="0"/>
                  <a:pt x="84025" y="0"/>
                </a:cubicBezTo>
                <a:cubicBezTo>
                  <a:pt x="37650" y="0"/>
                  <a:pt x="0" y="37650"/>
                  <a:pt x="0" y="84025"/>
                </a:cubicBezTo>
                <a:cubicBezTo>
                  <a:pt x="0" y="130399"/>
                  <a:pt x="37650" y="168050"/>
                  <a:pt x="84025" y="168050"/>
                </a:cubicBezTo>
                <a:close/>
                <a:moveTo>
                  <a:pt x="111727" y="69813"/>
                </a:moveTo>
                <a:lnTo>
                  <a:pt x="85469" y="111825"/>
                </a:lnTo>
                <a:cubicBezTo>
                  <a:pt x="84090" y="114024"/>
                  <a:pt x="81727" y="115403"/>
                  <a:pt x="79134" y="115534"/>
                </a:cubicBezTo>
                <a:cubicBezTo>
                  <a:pt x="76541" y="115665"/>
                  <a:pt x="74047" y="114484"/>
                  <a:pt x="72504" y="112383"/>
                </a:cubicBezTo>
                <a:lnTo>
                  <a:pt x="56750" y="91377"/>
                </a:lnTo>
                <a:cubicBezTo>
                  <a:pt x="54124" y="87898"/>
                  <a:pt x="54846" y="82975"/>
                  <a:pt x="58325" y="80349"/>
                </a:cubicBezTo>
                <a:cubicBezTo>
                  <a:pt x="61804" y="77723"/>
                  <a:pt x="66728" y="78445"/>
                  <a:pt x="69353" y="81924"/>
                </a:cubicBezTo>
                <a:lnTo>
                  <a:pt x="78215" y="93740"/>
                </a:lnTo>
                <a:lnTo>
                  <a:pt x="98368" y="61476"/>
                </a:lnTo>
                <a:cubicBezTo>
                  <a:pt x="100666" y="57800"/>
                  <a:pt x="105523" y="56651"/>
                  <a:pt x="109232" y="58981"/>
                </a:cubicBezTo>
                <a:cubicBezTo>
                  <a:pt x="112941" y="61312"/>
                  <a:pt x="114057" y="66137"/>
                  <a:pt x="111727" y="6984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5" name="Text 33"/>
          <p:cNvSpPr/>
          <p:nvPr/>
        </p:nvSpPr>
        <p:spPr>
          <a:xfrm>
            <a:off x="7098915" y="1470434"/>
            <a:ext cx="4696987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88853" y="1840143"/>
            <a:ext cx="4823024" cy="403319"/>
          </a:xfrm>
          <a:custGeom>
            <a:avLst/>
            <a:gdLst/>
            <a:ahLst/>
            <a:cxnLst/>
            <a:rect l="l" t="t" r="r" b="b"/>
            <a:pathLst>
              <a:path w="4823024" h="403319">
                <a:moveTo>
                  <a:pt x="67221" y="0"/>
                </a:moveTo>
                <a:lnTo>
                  <a:pt x="4755803" y="0"/>
                </a:lnTo>
                <a:cubicBezTo>
                  <a:pt x="4792928" y="0"/>
                  <a:pt x="4823024" y="30096"/>
                  <a:pt x="4823024" y="67221"/>
                </a:cubicBezTo>
                <a:lnTo>
                  <a:pt x="4823024" y="336098"/>
                </a:lnTo>
                <a:cubicBezTo>
                  <a:pt x="4823024" y="373223"/>
                  <a:pt x="4792928" y="403319"/>
                  <a:pt x="4755803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020142" y="1966181"/>
            <a:ext cx="132339" cy="151245"/>
          </a:xfrm>
          <a:custGeom>
            <a:avLst/>
            <a:gdLst/>
            <a:ahLst/>
            <a:cxnLst/>
            <a:rect l="l" t="t" r="r" b="b"/>
            <a:pathLst>
              <a:path w="132339" h="151245">
                <a:moveTo>
                  <a:pt x="128440" y="20708"/>
                </a:moveTo>
                <a:cubicBezTo>
                  <a:pt x="132664" y="23780"/>
                  <a:pt x="133609" y="29688"/>
                  <a:pt x="130537" y="33912"/>
                </a:cubicBezTo>
                <a:lnTo>
                  <a:pt x="54915" y="137893"/>
                </a:lnTo>
                <a:cubicBezTo>
                  <a:pt x="53290" y="140138"/>
                  <a:pt x="50779" y="141526"/>
                  <a:pt x="48002" y="141762"/>
                </a:cubicBezTo>
                <a:cubicBezTo>
                  <a:pt x="45226" y="141999"/>
                  <a:pt x="42538" y="140965"/>
                  <a:pt x="40588" y="139015"/>
                </a:cubicBezTo>
                <a:lnTo>
                  <a:pt x="2777" y="101204"/>
                </a:lnTo>
                <a:cubicBezTo>
                  <a:pt x="-916" y="97511"/>
                  <a:pt x="-916" y="91515"/>
                  <a:pt x="2777" y="87822"/>
                </a:cubicBezTo>
                <a:cubicBezTo>
                  <a:pt x="6469" y="84130"/>
                  <a:pt x="12466" y="84130"/>
                  <a:pt x="16158" y="87822"/>
                </a:cubicBezTo>
                <a:lnTo>
                  <a:pt x="46141" y="117805"/>
                </a:lnTo>
                <a:lnTo>
                  <a:pt x="115265" y="22775"/>
                </a:lnTo>
                <a:cubicBezTo>
                  <a:pt x="118337" y="18551"/>
                  <a:pt x="124245" y="17606"/>
                  <a:pt x="128469" y="2067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" name="Text 36"/>
          <p:cNvSpPr/>
          <p:nvPr/>
        </p:nvSpPr>
        <p:spPr>
          <a:xfrm>
            <a:off x="7279568" y="1940973"/>
            <a:ext cx="194937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数据受限或数据质量不佳的场景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88853" y="2310682"/>
            <a:ext cx="4823024" cy="403319"/>
          </a:xfrm>
          <a:custGeom>
            <a:avLst/>
            <a:gdLst/>
            <a:ahLst/>
            <a:cxnLst/>
            <a:rect l="l" t="t" r="r" b="b"/>
            <a:pathLst>
              <a:path w="4823024" h="403319">
                <a:moveTo>
                  <a:pt x="67221" y="0"/>
                </a:moveTo>
                <a:lnTo>
                  <a:pt x="4755803" y="0"/>
                </a:lnTo>
                <a:cubicBezTo>
                  <a:pt x="4792928" y="0"/>
                  <a:pt x="4823024" y="30096"/>
                  <a:pt x="4823024" y="67221"/>
                </a:cubicBezTo>
                <a:lnTo>
                  <a:pt x="4823024" y="336098"/>
                </a:lnTo>
                <a:cubicBezTo>
                  <a:pt x="4823024" y="373223"/>
                  <a:pt x="4792928" y="403319"/>
                  <a:pt x="4755803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020142" y="2436720"/>
            <a:ext cx="132339" cy="151245"/>
          </a:xfrm>
          <a:custGeom>
            <a:avLst/>
            <a:gdLst/>
            <a:ahLst/>
            <a:cxnLst/>
            <a:rect l="l" t="t" r="r" b="b"/>
            <a:pathLst>
              <a:path w="132339" h="151245">
                <a:moveTo>
                  <a:pt x="128440" y="20708"/>
                </a:moveTo>
                <a:cubicBezTo>
                  <a:pt x="132664" y="23780"/>
                  <a:pt x="133609" y="29688"/>
                  <a:pt x="130537" y="33912"/>
                </a:cubicBezTo>
                <a:lnTo>
                  <a:pt x="54915" y="137893"/>
                </a:lnTo>
                <a:cubicBezTo>
                  <a:pt x="53290" y="140138"/>
                  <a:pt x="50779" y="141526"/>
                  <a:pt x="48002" y="141762"/>
                </a:cubicBezTo>
                <a:cubicBezTo>
                  <a:pt x="45226" y="141999"/>
                  <a:pt x="42538" y="140965"/>
                  <a:pt x="40588" y="139015"/>
                </a:cubicBezTo>
                <a:lnTo>
                  <a:pt x="2777" y="101204"/>
                </a:lnTo>
                <a:cubicBezTo>
                  <a:pt x="-916" y="97511"/>
                  <a:pt x="-916" y="91515"/>
                  <a:pt x="2777" y="87822"/>
                </a:cubicBezTo>
                <a:cubicBezTo>
                  <a:pt x="6469" y="84130"/>
                  <a:pt x="12466" y="84130"/>
                  <a:pt x="16158" y="87822"/>
                </a:cubicBezTo>
                <a:lnTo>
                  <a:pt x="46141" y="117805"/>
                </a:lnTo>
                <a:lnTo>
                  <a:pt x="115265" y="22775"/>
                </a:lnTo>
                <a:cubicBezTo>
                  <a:pt x="118337" y="18551"/>
                  <a:pt x="124245" y="17606"/>
                  <a:pt x="128469" y="2067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1" name="Text 39"/>
          <p:cNvSpPr/>
          <p:nvPr/>
        </p:nvSpPr>
        <p:spPr>
          <a:xfrm>
            <a:off x="7279568" y="2411512"/>
            <a:ext cx="181493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需要快速形成判断的决策场景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88853" y="2781221"/>
            <a:ext cx="4823024" cy="403319"/>
          </a:xfrm>
          <a:custGeom>
            <a:avLst/>
            <a:gdLst/>
            <a:ahLst/>
            <a:cxnLst/>
            <a:rect l="l" t="t" r="r" b="b"/>
            <a:pathLst>
              <a:path w="4823024" h="403319">
                <a:moveTo>
                  <a:pt x="67221" y="0"/>
                </a:moveTo>
                <a:lnTo>
                  <a:pt x="4755803" y="0"/>
                </a:lnTo>
                <a:cubicBezTo>
                  <a:pt x="4792928" y="0"/>
                  <a:pt x="4823024" y="30096"/>
                  <a:pt x="4823024" y="67221"/>
                </a:cubicBezTo>
                <a:lnTo>
                  <a:pt x="4823024" y="336098"/>
                </a:lnTo>
                <a:cubicBezTo>
                  <a:pt x="4823024" y="373223"/>
                  <a:pt x="4792928" y="403319"/>
                  <a:pt x="4755803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20142" y="2907258"/>
            <a:ext cx="132339" cy="151245"/>
          </a:xfrm>
          <a:custGeom>
            <a:avLst/>
            <a:gdLst/>
            <a:ahLst/>
            <a:cxnLst/>
            <a:rect l="l" t="t" r="r" b="b"/>
            <a:pathLst>
              <a:path w="132339" h="151245">
                <a:moveTo>
                  <a:pt x="128440" y="20708"/>
                </a:moveTo>
                <a:cubicBezTo>
                  <a:pt x="132664" y="23780"/>
                  <a:pt x="133609" y="29688"/>
                  <a:pt x="130537" y="33912"/>
                </a:cubicBezTo>
                <a:lnTo>
                  <a:pt x="54915" y="137893"/>
                </a:lnTo>
                <a:cubicBezTo>
                  <a:pt x="53290" y="140138"/>
                  <a:pt x="50779" y="141526"/>
                  <a:pt x="48002" y="141762"/>
                </a:cubicBezTo>
                <a:cubicBezTo>
                  <a:pt x="45226" y="141999"/>
                  <a:pt x="42538" y="140965"/>
                  <a:pt x="40588" y="139015"/>
                </a:cubicBezTo>
                <a:lnTo>
                  <a:pt x="2777" y="101204"/>
                </a:lnTo>
                <a:cubicBezTo>
                  <a:pt x="-916" y="97511"/>
                  <a:pt x="-916" y="91515"/>
                  <a:pt x="2777" y="87822"/>
                </a:cubicBezTo>
                <a:cubicBezTo>
                  <a:pt x="6469" y="84130"/>
                  <a:pt x="12466" y="84130"/>
                  <a:pt x="16158" y="87822"/>
                </a:cubicBezTo>
                <a:lnTo>
                  <a:pt x="46141" y="117805"/>
                </a:lnTo>
                <a:lnTo>
                  <a:pt x="115265" y="22775"/>
                </a:lnTo>
                <a:cubicBezTo>
                  <a:pt x="118337" y="18551"/>
                  <a:pt x="124245" y="17606"/>
                  <a:pt x="128469" y="2067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4" name="Text 42"/>
          <p:cNvSpPr/>
          <p:nvPr/>
        </p:nvSpPr>
        <p:spPr>
          <a:xfrm>
            <a:off x="7279568" y="2882051"/>
            <a:ext cx="1680496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需要高可解释性的沟通场景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88853" y="3251760"/>
            <a:ext cx="4823024" cy="403319"/>
          </a:xfrm>
          <a:custGeom>
            <a:avLst/>
            <a:gdLst/>
            <a:ahLst/>
            <a:cxnLst/>
            <a:rect l="l" t="t" r="r" b="b"/>
            <a:pathLst>
              <a:path w="4823024" h="403319">
                <a:moveTo>
                  <a:pt x="67221" y="0"/>
                </a:moveTo>
                <a:lnTo>
                  <a:pt x="4755803" y="0"/>
                </a:lnTo>
                <a:cubicBezTo>
                  <a:pt x="4792928" y="0"/>
                  <a:pt x="4823024" y="30096"/>
                  <a:pt x="4823024" y="67221"/>
                </a:cubicBezTo>
                <a:lnTo>
                  <a:pt x="4823024" y="336098"/>
                </a:lnTo>
                <a:cubicBezTo>
                  <a:pt x="4823024" y="373223"/>
                  <a:pt x="4792928" y="403319"/>
                  <a:pt x="4755803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20142" y="3377797"/>
            <a:ext cx="132339" cy="151245"/>
          </a:xfrm>
          <a:custGeom>
            <a:avLst/>
            <a:gdLst/>
            <a:ahLst/>
            <a:cxnLst/>
            <a:rect l="l" t="t" r="r" b="b"/>
            <a:pathLst>
              <a:path w="132339" h="151245">
                <a:moveTo>
                  <a:pt x="128440" y="20708"/>
                </a:moveTo>
                <a:cubicBezTo>
                  <a:pt x="132664" y="23780"/>
                  <a:pt x="133609" y="29688"/>
                  <a:pt x="130537" y="33912"/>
                </a:cubicBezTo>
                <a:lnTo>
                  <a:pt x="54915" y="137893"/>
                </a:lnTo>
                <a:cubicBezTo>
                  <a:pt x="53290" y="140138"/>
                  <a:pt x="50779" y="141526"/>
                  <a:pt x="48002" y="141762"/>
                </a:cubicBezTo>
                <a:cubicBezTo>
                  <a:pt x="45226" y="141999"/>
                  <a:pt x="42538" y="140965"/>
                  <a:pt x="40588" y="139015"/>
                </a:cubicBezTo>
                <a:lnTo>
                  <a:pt x="2777" y="101204"/>
                </a:lnTo>
                <a:cubicBezTo>
                  <a:pt x="-916" y="97511"/>
                  <a:pt x="-916" y="91515"/>
                  <a:pt x="2777" y="87822"/>
                </a:cubicBezTo>
                <a:cubicBezTo>
                  <a:pt x="6469" y="84130"/>
                  <a:pt x="12466" y="84130"/>
                  <a:pt x="16158" y="87822"/>
                </a:cubicBezTo>
                <a:lnTo>
                  <a:pt x="46141" y="117805"/>
                </a:lnTo>
                <a:lnTo>
                  <a:pt x="115265" y="22775"/>
                </a:lnTo>
                <a:cubicBezTo>
                  <a:pt x="118337" y="18551"/>
                  <a:pt x="124245" y="17606"/>
                  <a:pt x="128469" y="20678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7" name="Text 45"/>
          <p:cNvSpPr/>
          <p:nvPr/>
        </p:nvSpPr>
        <p:spPr>
          <a:xfrm>
            <a:off x="7279568" y="3352590"/>
            <a:ext cx="1823338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中短期（6-18个月）趋势判断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750212" y="3936562"/>
            <a:ext cx="5100306" cy="2159438"/>
          </a:xfrm>
          <a:custGeom>
            <a:avLst/>
            <a:gdLst/>
            <a:ahLst/>
            <a:cxnLst/>
            <a:rect l="l" t="t" r="r" b="b"/>
            <a:pathLst>
              <a:path w="5100306" h="2159438">
                <a:moveTo>
                  <a:pt x="100824" y="0"/>
                </a:moveTo>
                <a:lnTo>
                  <a:pt x="4999482" y="0"/>
                </a:lnTo>
                <a:cubicBezTo>
                  <a:pt x="5055165" y="0"/>
                  <a:pt x="5100306" y="45141"/>
                  <a:pt x="5100306" y="100824"/>
                </a:cubicBezTo>
                <a:lnTo>
                  <a:pt x="5100306" y="2058613"/>
                </a:lnTo>
                <a:cubicBezTo>
                  <a:pt x="5100306" y="2114297"/>
                  <a:pt x="5055165" y="2159438"/>
                  <a:pt x="4999482" y="2159438"/>
                </a:cubicBezTo>
                <a:lnTo>
                  <a:pt x="100824" y="2159438"/>
                </a:lnTo>
                <a:cubicBezTo>
                  <a:pt x="45141" y="2159438"/>
                  <a:pt x="0" y="2114297"/>
                  <a:pt x="0" y="2058613"/>
                </a:cubicBezTo>
                <a:lnTo>
                  <a:pt x="0" y="100824"/>
                </a:lnTo>
                <a:cubicBezTo>
                  <a:pt x="0" y="45141"/>
                  <a:pt x="45141" y="0"/>
                  <a:pt x="10082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9859" y="4108813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84025" y="168050"/>
                </a:moveTo>
                <a:cubicBezTo>
                  <a:pt x="130399" y="168050"/>
                  <a:pt x="168050" y="130399"/>
                  <a:pt x="168050" y="84025"/>
                </a:cubicBezTo>
                <a:cubicBezTo>
                  <a:pt x="168050" y="37650"/>
                  <a:pt x="130399" y="0"/>
                  <a:pt x="84025" y="0"/>
                </a:cubicBezTo>
                <a:cubicBezTo>
                  <a:pt x="37650" y="0"/>
                  <a:pt x="0" y="37650"/>
                  <a:pt x="0" y="84025"/>
                </a:cubicBezTo>
                <a:cubicBezTo>
                  <a:pt x="0" y="130399"/>
                  <a:pt x="37650" y="168050"/>
                  <a:pt x="84025" y="168050"/>
                </a:cubicBezTo>
                <a:close/>
                <a:moveTo>
                  <a:pt x="54813" y="54813"/>
                </a:moveTo>
                <a:cubicBezTo>
                  <a:pt x="57898" y="51728"/>
                  <a:pt x="62887" y="51728"/>
                  <a:pt x="65940" y="54813"/>
                </a:cubicBezTo>
                <a:lnTo>
                  <a:pt x="83992" y="72865"/>
                </a:lnTo>
                <a:lnTo>
                  <a:pt x="102044" y="54813"/>
                </a:lnTo>
                <a:cubicBezTo>
                  <a:pt x="105129" y="51728"/>
                  <a:pt x="110118" y="51728"/>
                  <a:pt x="113171" y="54813"/>
                </a:cubicBezTo>
                <a:cubicBezTo>
                  <a:pt x="116223" y="57898"/>
                  <a:pt x="116256" y="62887"/>
                  <a:pt x="113171" y="65940"/>
                </a:cubicBezTo>
                <a:lnTo>
                  <a:pt x="95119" y="83992"/>
                </a:lnTo>
                <a:lnTo>
                  <a:pt x="113171" y="102044"/>
                </a:lnTo>
                <a:cubicBezTo>
                  <a:pt x="116256" y="105129"/>
                  <a:pt x="116256" y="110118"/>
                  <a:pt x="113171" y="113171"/>
                </a:cubicBezTo>
                <a:cubicBezTo>
                  <a:pt x="110086" y="116223"/>
                  <a:pt x="105097" y="116256"/>
                  <a:pt x="102044" y="113171"/>
                </a:cubicBezTo>
                <a:lnTo>
                  <a:pt x="83992" y="95119"/>
                </a:lnTo>
                <a:lnTo>
                  <a:pt x="65940" y="113171"/>
                </a:lnTo>
                <a:cubicBezTo>
                  <a:pt x="62854" y="116256"/>
                  <a:pt x="57866" y="116256"/>
                  <a:pt x="54813" y="113171"/>
                </a:cubicBezTo>
                <a:cubicBezTo>
                  <a:pt x="51761" y="110086"/>
                  <a:pt x="51728" y="105097"/>
                  <a:pt x="54813" y="102044"/>
                </a:cubicBezTo>
                <a:lnTo>
                  <a:pt x="72865" y="83992"/>
                </a:lnTo>
                <a:lnTo>
                  <a:pt x="54813" y="65940"/>
                </a:lnTo>
                <a:cubicBezTo>
                  <a:pt x="51728" y="62854"/>
                  <a:pt x="51728" y="57866"/>
                  <a:pt x="54813" y="5481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0" name="Text 48"/>
          <p:cNvSpPr/>
          <p:nvPr/>
        </p:nvSpPr>
        <p:spPr>
          <a:xfrm>
            <a:off x="7098915" y="4075203"/>
            <a:ext cx="4696987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不适用场景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888853" y="4411303"/>
            <a:ext cx="4823024" cy="336099"/>
          </a:xfrm>
          <a:custGeom>
            <a:avLst/>
            <a:gdLst/>
            <a:ahLst/>
            <a:cxnLst/>
            <a:rect l="l" t="t" r="r" b="b"/>
            <a:pathLst>
              <a:path w="4823024" h="336099">
                <a:moveTo>
                  <a:pt x="67220" y="0"/>
                </a:moveTo>
                <a:lnTo>
                  <a:pt x="4755804" y="0"/>
                </a:lnTo>
                <a:cubicBezTo>
                  <a:pt x="4792929" y="0"/>
                  <a:pt x="4823024" y="30095"/>
                  <a:pt x="4823024" y="67220"/>
                </a:cubicBezTo>
                <a:lnTo>
                  <a:pt x="4823024" y="268879"/>
                </a:lnTo>
                <a:cubicBezTo>
                  <a:pt x="4823024" y="306004"/>
                  <a:pt x="4792929" y="336099"/>
                  <a:pt x="4755804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989683" y="4512132"/>
            <a:ext cx="100830" cy="134440"/>
          </a:xfrm>
          <a:custGeom>
            <a:avLst/>
            <a:gdLst/>
            <a:ahLst/>
            <a:cxnLst/>
            <a:rect l="l" t="t" r="r" b="b"/>
            <a:pathLst>
              <a:path w="100830" h="134440">
                <a:moveTo>
                  <a:pt x="14468" y="19273"/>
                </a:moveTo>
                <a:cubicBezTo>
                  <a:pt x="11186" y="15991"/>
                  <a:pt x="5855" y="15991"/>
                  <a:pt x="2573" y="19273"/>
                </a:cubicBezTo>
                <a:cubicBezTo>
                  <a:pt x="-709" y="22555"/>
                  <a:pt x="-709" y="27886"/>
                  <a:pt x="2573" y="31168"/>
                </a:cubicBezTo>
                <a:lnTo>
                  <a:pt x="38651" y="67220"/>
                </a:lnTo>
                <a:lnTo>
                  <a:pt x="2600" y="103298"/>
                </a:lnTo>
                <a:cubicBezTo>
                  <a:pt x="-683" y="106580"/>
                  <a:pt x="-683" y="111911"/>
                  <a:pt x="2600" y="115193"/>
                </a:cubicBezTo>
                <a:cubicBezTo>
                  <a:pt x="5882" y="118475"/>
                  <a:pt x="11212" y="118475"/>
                  <a:pt x="14494" y="115193"/>
                </a:cubicBezTo>
                <a:lnTo>
                  <a:pt x="50546" y="79115"/>
                </a:lnTo>
                <a:lnTo>
                  <a:pt x="86624" y="115167"/>
                </a:lnTo>
                <a:cubicBezTo>
                  <a:pt x="89907" y="118449"/>
                  <a:pt x="95237" y="118449"/>
                  <a:pt x="98519" y="115167"/>
                </a:cubicBezTo>
                <a:cubicBezTo>
                  <a:pt x="101801" y="111884"/>
                  <a:pt x="101801" y="106554"/>
                  <a:pt x="98519" y="103272"/>
                </a:cubicBezTo>
                <a:lnTo>
                  <a:pt x="62441" y="67220"/>
                </a:lnTo>
                <a:lnTo>
                  <a:pt x="98493" y="31142"/>
                </a:lnTo>
                <a:cubicBezTo>
                  <a:pt x="101775" y="27859"/>
                  <a:pt x="101775" y="22529"/>
                  <a:pt x="98493" y="19247"/>
                </a:cubicBezTo>
                <a:cubicBezTo>
                  <a:pt x="95211" y="15965"/>
                  <a:pt x="89880" y="15965"/>
                  <a:pt x="86598" y="19247"/>
                </a:cubicBezTo>
                <a:lnTo>
                  <a:pt x="50546" y="55325"/>
                </a:lnTo>
                <a:lnTo>
                  <a:pt x="14468" y="1927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3" name="Text 51"/>
          <p:cNvSpPr/>
          <p:nvPr/>
        </p:nvSpPr>
        <p:spPr>
          <a:xfrm>
            <a:off x="7224952" y="4478522"/>
            <a:ext cx="873858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高频交易决策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88853" y="4814622"/>
            <a:ext cx="4823024" cy="336099"/>
          </a:xfrm>
          <a:custGeom>
            <a:avLst/>
            <a:gdLst/>
            <a:ahLst/>
            <a:cxnLst/>
            <a:rect l="l" t="t" r="r" b="b"/>
            <a:pathLst>
              <a:path w="4823024" h="336099">
                <a:moveTo>
                  <a:pt x="67220" y="0"/>
                </a:moveTo>
                <a:lnTo>
                  <a:pt x="4755804" y="0"/>
                </a:lnTo>
                <a:cubicBezTo>
                  <a:pt x="4792929" y="0"/>
                  <a:pt x="4823024" y="30095"/>
                  <a:pt x="4823024" y="67220"/>
                </a:cubicBezTo>
                <a:lnTo>
                  <a:pt x="4823024" y="268879"/>
                </a:lnTo>
                <a:cubicBezTo>
                  <a:pt x="4823024" y="306004"/>
                  <a:pt x="4792929" y="336099"/>
                  <a:pt x="4755804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989683" y="4915451"/>
            <a:ext cx="100830" cy="134440"/>
          </a:xfrm>
          <a:custGeom>
            <a:avLst/>
            <a:gdLst/>
            <a:ahLst/>
            <a:cxnLst/>
            <a:rect l="l" t="t" r="r" b="b"/>
            <a:pathLst>
              <a:path w="100830" h="134440">
                <a:moveTo>
                  <a:pt x="14468" y="19273"/>
                </a:moveTo>
                <a:cubicBezTo>
                  <a:pt x="11186" y="15991"/>
                  <a:pt x="5855" y="15991"/>
                  <a:pt x="2573" y="19273"/>
                </a:cubicBezTo>
                <a:cubicBezTo>
                  <a:pt x="-709" y="22555"/>
                  <a:pt x="-709" y="27886"/>
                  <a:pt x="2573" y="31168"/>
                </a:cubicBezTo>
                <a:lnTo>
                  <a:pt x="38651" y="67220"/>
                </a:lnTo>
                <a:lnTo>
                  <a:pt x="2600" y="103298"/>
                </a:lnTo>
                <a:cubicBezTo>
                  <a:pt x="-683" y="106580"/>
                  <a:pt x="-683" y="111911"/>
                  <a:pt x="2600" y="115193"/>
                </a:cubicBezTo>
                <a:cubicBezTo>
                  <a:pt x="5882" y="118475"/>
                  <a:pt x="11212" y="118475"/>
                  <a:pt x="14494" y="115193"/>
                </a:cubicBezTo>
                <a:lnTo>
                  <a:pt x="50546" y="79115"/>
                </a:lnTo>
                <a:lnTo>
                  <a:pt x="86624" y="115167"/>
                </a:lnTo>
                <a:cubicBezTo>
                  <a:pt x="89907" y="118449"/>
                  <a:pt x="95237" y="118449"/>
                  <a:pt x="98519" y="115167"/>
                </a:cubicBezTo>
                <a:cubicBezTo>
                  <a:pt x="101801" y="111884"/>
                  <a:pt x="101801" y="106554"/>
                  <a:pt x="98519" y="103272"/>
                </a:cubicBezTo>
                <a:lnTo>
                  <a:pt x="62441" y="67220"/>
                </a:lnTo>
                <a:lnTo>
                  <a:pt x="98493" y="31142"/>
                </a:lnTo>
                <a:cubicBezTo>
                  <a:pt x="101775" y="27859"/>
                  <a:pt x="101775" y="22529"/>
                  <a:pt x="98493" y="19247"/>
                </a:cubicBezTo>
                <a:cubicBezTo>
                  <a:pt x="95211" y="15965"/>
                  <a:pt x="89880" y="15965"/>
                  <a:pt x="86598" y="19247"/>
                </a:cubicBezTo>
                <a:lnTo>
                  <a:pt x="50546" y="55325"/>
                </a:lnTo>
                <a:lnTo>
                  <a:pt x="14468" y="1927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6" name="Text 54"/>
          <p:cNvSpPr/>
          <p:nvPr/>
        </p:nvSpPr>
        <p:spPr>
          <a:xfrm>
            <a:off x="7224952" y="4881841"/>
            <a:ext cx="873858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精确数值预测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888853" y="5217941"/>
            <a:ext cx="4823024" cy="336099"/>
          </a:xfrm>
          <a:custGeom>
            <a:avLst/>
            <a:gdLst/>
            <a:ahLst/>
            <a:cxnLst/>
            <a:rect l="l" t="t" r="r" b="b"/>
            <a:pathLst>
              <a:path w="4823024" h="336099">
                <a:moveTo>
                  <a:pt x="67220" y="0"/>
                </a:moveTo>
                <a:lnTo>
                  <a:pt x="4755804" y="0"/>
                </a:lnTo>
                <a:cubicBezTo>
                  <a:pt x="4792929" y="0"/>
                  <a:pt x="4823024" y="30095"/>
                  <a:pt x="4823024" y="67220"/>
                </a:cubicBezTo>
                <a:lnTo>
                  <a:pt x="4823024" y="268879"/>
                </a:lnTo>
                <a:cubicBezTo>
                  <a:pt x="4823024" y="306004"/>
                  <a:pt x="4792929" y="336099"/>
                  <a:pt x="4755804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989683" y="5318771"/>
            <a:ext cx="100830" cy="134440"/>
          </a:xfrm>
          <a:custGeom>
            <a:avLst/>
            <a:gdLst/>
            <a:ahLst/>
            <a:cxnLst/>
            <a:rect l="l" t="t" r="r" b="b"/>
            <a:pathLst>
              <a:path w="100830" h="134440">
                <a:moveTo>
                  <a:pt x="14468" y="19273"/>
                </a:moveTo>
                <a:cubicBezTo>
                  <a:pt x="11186" y="15991"/>
                  <a:pt x="5855" y="15991"/>
                  <a:pt x="2573" y="19273"/>
                </a:cubicBezTo>
                <a:cubicBezTo>
                  <a:pt x="-709" y="22555"/>
                  <a:pt x="-709" y="27886"/>
                  <a:pt x="2573" y="31168"/>
                </a:cubicBezTo>
                <a:lnTo>
                  <a:pt x="38651" y="67220"/>
                </a:lnTo>
                <a:lnTo>
                  <a:pt x="2600" y="103298"/>
                </a:lnTo>
                <a:cubicBezTo>
                  <a:pt x="-683" y="106580"/>
                  <a:pt x="-683" y="111911"/>
                  <a:pt x="2600" y="115193"/>
                </a:cubicBezTo>
                <a:cubicBezTo>
                  <a:pt x="5882" y="118475"/>
                  <a:pt x="11212" y="118475"/>
                  <a:pt x="14494" y="115193"/>
                </a:cubicBezTo>
                <a:lnTo>
                  <a:pt x="50546" y="79115"/>
                </a:lnTo>
                <a:lnTo>
                  <a:pt x="86624" y="115167"/>
                </a:lnTo>
                <a:cubicBezTo>
                  <a:pt x="89907" y="118449"/>
                  <a:pt x="95237" y="118449"/>
                  <a:pt x="98519" y="115167"/>
                </a:cubicBezTo>
                <a:cubicBezTo>
                  <a:pt x="101801" y="111884"/>
                  <a:pt x="101801" y="106554"/>
                  <a:pt x="98519" y="103272"/>
                </a:cubicBezTo>
                <a:lnTo>
                  <a:pt x="62441" y="67220"/>
                </a:lnTo>
                <a:lnTo>
                  <a:pt x="98493" y="31142"/>
                </a:lnTo>
                <a:cubicBezTo>
                  <a:pt x="101775" y="27859"/>
                  <a:pt x="101775" y="22529"/>
                  <a:pt x="98493" y="19247"/>
                </a:cubicBezTo>
                <a:cubicBezTo>
                  <a:pt x="95211" y="15965"/>
                  <a:pt x="89880" y="15965"/>
                  <a:pt x="86598" y="19247"/>
                </a:cubicBezTo>
                <a:lnTo>
                  <a:pt x="50546" y="55325"/>
                </a:lnTo>
                <a:lnTo>
                  <a:pt x="14468" y="1927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9" name="Text 57"/>
          <p:cNvSpPr/>
          <p:nvPr/>
        </p:nvSpPr>
        <p:spPr>
          <a:xfrm>
            <a:off x="7224952" y="5285161"/>
            <a:ext cx="1008298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黑天鹅事件预警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888853" y="5621260"/>
            <a:ext cx="4823024" cy="336099"/>
          </a:xfrm>
          <a:custGeom>
            <a:avLst/>
            <a:gdLst/>
            <a:ahLst/>
            <a:cxnLst/>
            <a:rect l="l" t="t" r="r" b="b"/>
            <a:pathLst>
              <a:path w="4823024" h="336099">
                <a:moveTo>
                  <a:pt x="67220" y="0"/>
                </a:moveTo>
                <a:lnTo>
                  <a:pt x="4755804" y="0"/>
                </a:lnTo>
                <a:cubicBezTo>
                  <a:pt x="4792929" y="0"/>
                  <a:pt x="4823024" y="30095"/>
                  <a:pt x="4823024" y="67220"/>
                </a:cubicBezTo>
                <a:lnTo>
                  <a:pt x="4823024" y="268879"/>
                </a:lnTo>
                <a:cubicBezTo>
                  <a:pt x="4823024" y="306004"/>
                  <a:pt x="4792929" y="336099"/>
                  <a:pt x="4755804" y="336099"/>
                </a:cubicBezTo>
                <a:lnTo>
                  <a:pt x="67220" y="336099"/>
                </a:lnTo>
                <a:cubicBezTo>
                  <a:pt x="30120" y="336099"/>
                  <a:pt x="0" y="305979"/>
                  <a:pt x="0" y="268879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989683" y="5722090"/>
            <a:ext cx="100830" cy="134440"/>
          </a:xfrm>
          <a:custGeom>
            <a:avLst/>
            <a:gdLst/>
            <a:ahLst/>
            <a:cxnLst/>
            <a:rect l="l" t="t" r="r" b="b"/>
            <a:pathLst>
              <a:path w="100830" h="134440">
                <a:moveTo>
                  <a:pt x="14468" y="19273"/>
                </a:moveTo>
                <a:cubicBezTo>
                  <a:pt x="11186" y="15991"/>
                  <a:pt x="5855" y="15991"/>
                  <a:pt x="2573" y="19273"/>
                </a:cubicBezTo>
                <a:cubicBezTo>
                  <a:pt x="-709" y="22555"/>
                  <a:pt x="-709" y="27886"/>
                  <a:pt x="2573" y="31168"/>
                </a:cubicBezTo>
                <a:lnTo>
                  <a:pt x="38651" y="67220"/>
                </a:lnTo>
                <a:lnTo>
                  <a:pt x="2600" y="103298"/>
                </a:lnTo>
                <a:cubicBezTo>
                  <a:pt x="-683" y="106580"/>
                  <a:pt x="-683" y="111911"/>
                  <a:pt x="2600" y="115193"/>
                </a:cubicBezTo>
                <a:cubicBezTo>
                  <a:pt x="5882" y="118475"/>
                  <a:pt x="11212" y="118475"/>
                  <a:pt x="14494" y="115193"/>
                </a:cubicBezTo>
                <a:lnTo>
                  <a:pt x="50546" y="79115"/>
                </a:lnTo>
                <a:lnTo>
                  <a:pt x="86624" y="115167"/>
                </a:lnTo>
                <a:cubicBezTo>
                  <a:pt x="89907" y="118449"/>
                  <a:pt x="95237" y="118449"/>
                  <a:pt x="98519" y="115167"/>
                </a:cubicBezTo>
                <a:cubicBezTo>
                  <a:pt x="101801" y="111884"/>
                  <a:pt x="101801" y="106554"/>
                  <a:pt x="98519" y="103272"/>
                </a:cubicBezTo>
                <a:lnTo>
                  <a:pt x="62441" y="67220"/>
                </a:lnTo>
                <a:lnTo>
                  <a:pt x="98493" y="31142"/>
                </a:lnTo>
                <a:cubicBezTo>
                  <a:pt x="101775" y="27859"/>
                  <a:pt x="101775" y="22529"/>
                  <a:pt x="98493" y="19247"/>
                </a:cubicBezTo>
                <a:cubicBezTo>
                  <a:pt x="95211" y="15965"/>
                  <a:pt x="89880" y="15965"/>
                  <a:pt x="86598" y="19247"/>
                </a:cubicBezTo>
                <a:lnTo>
                  <a:pt x="50546" y="55325"/>
                </a:lnTo>
                <a:lnTo>
                  <a:pt x="14468" y="1927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62" name="Text 60"/>
          <p:cNvSpPr/>
          <p:nvPr/>
        </p:nvSpPr>
        <p:spPr>
          <a:xfrm>
            <a:off x="7224952" y="5688480"/>
            <a:ext cx="1436824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长期（&gt;3年）战略决策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40300" y="6205232"/>
            <a:ext cx="11511399" cy="646991"/>
          </a:xfrm>
          <a:custGeom>
            <a:avLst/>
            <a:gdLst/>
            <a:ahLst/>
            <a:cxnLst/>
            <a:rect l="l" t="t" r="r" b="b"/>
            <a:pathLst>
              <a:path w="11511399" h="646991">
                <a:moveTo>
                  <a:pt x="67222" y="0"/>
                </a:moveTo>
                <a:lnTo>
                  <a:pt x="11444177" y="0"/>
                </a:lnTo>
                <a:cubicBezTo>
                  <a:pt x="11481303" y="0"/>
                  <a:pt x="11511399" y="30096"/>
                  <a:pt x="11511399" y="67222"/>
                </a:cubicBezTo>
                <a:lnTo>
                  <a:pt x="11511399" y="579769"/>
                </a:lnTo>
                <a:cubicBezTo>
                  <a:pt x="11511399" y="616895"/>
                  <a:pt x="11481303" y="646991"/>
                  <a:pt x="11444177" y="646991"/>
                </a:cubicBezTo>
                <a:lnTo>
                  <a:pt x="67222" y="646991"/>
                </a:lnTo>
                <a:cubicBezTo>
                  <a:pt x="30121" y="646991"/>
                  <a:pt x="0" y="616870"/>
                  <a:pt x="0" y="579769"/>
                </a:cubicBezTo>
                <a:lnTo>
                  <a:pt x="0" y="67222"/>
                </a:lnTo>
                <a:cubicBezTo>
                  <a:pt x="0" y="30121"/>
                  <a:pt x="30121" y="0"/>
                  <a:pt x="67222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7344" y="6444703"/>
            <a:ext cx="126037" cy="168050"/>
          </a:xfrm>
          <a:custGeom>
            <a:avLst/>
            <a:gdLst/>
            <a:ahLst/>
            <a:cxnLst/>
            <a:rect l="l" t="t" r="r" b="b"/>
            <a:pathLst>
              <a:path w="126037" h="168050">
                <a:moveTo>
                  <a:pt x="96136" y="126037"/>
                </a:moveTo>
                <a:cubicBezTo>
                  <a:pt x="98532" y="118718"/>
                  <a:pt x="103324" y="112088"/>
                  <a:pt x="108740" y="106377"/>
                </a:cubicBezTo>
                <a:cubicBezTo>
                  <a:pt x="119473" y="95086"/>
                  <a:pt x="126037" y="79824"/>
                  <a:pt x="126037" y="63019"/>
                </a:cubicBezTo>
                <a:cubicBezTo>
                  <a:pt x="126037" y="28227"/>
                  <a:pt x="97810" y="0"/>
                  <a:pt x="63019" y="0"/>
                </a:cubicBezTo>
                <a:cubicBezTo>
                  <a:pt x="28227" y="0"/>
                  <a:pt x="0" y="28227"/>
                  <a:pt x="0" y="63019"/>
                </a:cubicBezTo>
                <a:cubicBezTo>
                  <a:pt x="0" y="79824"/>
                  <a:pt x="6564" y="95086"/>
                  <a:pt x="17297" y="106377"/>
                </a:cubicBezTo>
                <a:cubicBezTo>
                  <a:pt x="22713" y="112088"/>
                  <a:pt x="27538" y="118718"/>
                  <a:pt x="29901" y="126037"/>
                </a:cubicBezTo>
                <a:lnTo>
                  <a:pt x="96103" y="126037"/>
                </a:lnTo>
                <a:close/>
                <a:moveTo>
                  <a:pt x="94528" y="141792"/>
                </a:moveTo>
                <a:lnTo>
                  <a:pt x="31509" y="141792"/>
                </a:lnTo>
                <a:lnTo>
                  <a:pt x="31509" y="147043"/>
                </a:lnTo>
                <a:cubicBezTo>
                  <a:pt x="31509" y="161551"/>
                  <a:pt x="43260" y="173301"/>
                  <a:pt x="57767" y="173301"/>
                </a:cubicBezTo>
                <a:lnTo>
                  <a:pt x="68270" y="173301"/>
                </a:lnTo>
                <a:cubicBezTo>
                  <a:pt x="82778" y="173301"/>
                  <a:pt x="94528" y="161551"/>
                  <a:pt x="94528" y="147043"/>
                </a:cubicBezTo>
                <a:lnTo>
                  <a:pt x="94528" y="141792"/>
                </a:lnTo>
                <a:close/>
                <a:moveTo>
                  <a:pt x="60393" y="36761"/>
                </a:moveTo>
                <a:cubicBezTo>
                  <a:pt x="47330" y="36761"/>
                  <a:pt x="36761" y="47330"/>
                  <a:pt x="36761" y="60393"/>
                </a:cubicBezTo>
                <a:cubicBezTo>
                  <a:pt x="36761" y="64758"/>
                  <a:pt x="33249" y="68270"/>
                  <a:pt x="28884" y="68270"/>
                </a:cubicBezTo>
                <a:cubicBezTo>
                  <a:pt x="24518" y="68270"/>
                  <a:pt x="21006" y="64758"/>
                  <a:pt x="21006" y="60393"/>
                </a:cubicBezTo>
                <a:cubicBezTo>
                  <a:pt x="21006" y="38632"/>
                  <a:pt x="38632" y="21006"/>
                  <a:pt x="60393" y="21006"/>
                </a:cubicBezTo>
                <a:cubicBezTo>
                  <a:pt x="64758" y="21006"/>
                  <a:pt x="68270" y="24518"/>
                  <a:pt x="68270" y="28884"/>
                </a:cubicBezTo>
                <a:cubicBezTo>
                  <a:pt x="68270" y="33249"/>
                  <a:pt x="64758" y="36761"/>
                  <a:pt x="60393" y="3676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5" name="Text 63"/>
          <p:cNvSpPr/>
          <p:nvPr/>
        </p:nvSpPr>
        <p:spPr>
          <a:xfrm>
            <a:off x="789833" y="6427898"/>
            <a:ext cx="3344187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核心优势：</a:t>
            </a:r>
            <a:pPr>
              <a:lnSpc>
                <a:spcPct val="130000"/>
              </a:lnSpc>
            </a:pPr>
            <a:r>
              <a:rPr lang="en-US" sz="105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低数据依赖 + 高可解释性 + 推理过程可追溯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952503" y="6310263"/>
            <a:ext cx="78983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2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方法置信度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910490" y="6478313"/>
            <a:ext cx="83184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8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60-75%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303" y="366303"/>
            <a:ext cx="1646101" cy="334647"/>
          </a:xfrm>
          <a:custGeom>
            <a:avLst/>
            <a:gdLst/>
            <a:ahLst/>
            <a:cxnLst/>
            <a:rect l="l" t="t" r="r" b="b"/>
            <a:pathLst>
              <a:path w="1646101" h="334647">
                <a:moveTo>
                  <a:pt x="167323" y="0"/>
                </a:moveTo>
                <a:lnTo>
                  <a:pt x="1478777" y="0"/>
                </a:lnTo>
                <a:cubicBezTo>
                  <a:pt x="1571188" y="0"/>
                  <a:pt x="1646101" y="74913"/>
                  <a:pt x="1646101" y="167323"/>
                </a:cubicBezTo>
                <a:lnTo>
                  <a:pt x="1646101" y="167323"/>
                </a:lnTo>
                <a:cubicBezTo>
                  <a:pt x="1646101" y="259734"/>
                  <a:pt x="1571188" y="334647"/>
                  <a:pt x="1478777" y="334647"/>
                </a:cubicBezTo>
                <a:lnTo>
                  <a:pt x="167323" y="334647"/>
                </a:lnTo>
                <a:cubicBezTo>
                  <a:pt x="74975" y="334647"/>
                  <a:pt x="0" y="259672"/>
                  <a:pt x="0" y="167323"/>
                </a:cubicBezTo>
                <a:lnTo>
                  <a:pt x="0" y="167323"/>
                </a:lnTo>
                <a:cubicBezTo>
                  <a:pt x="0" y="74975"/>
                  <a:pt x="74975" y="0"/>
                  <a:pt x="167323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5537" y="461270"/>
            <a:ext cx="1407693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spc="100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MONETARY POLICY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1780" y="814006"/>
            <a:ext cx="11631240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货币政策分析：当前状况与历史依据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1780" y="1284320"/>
            <a:ext cx="868273" cy="36178"/>
          </a:xfrm>
          <a:custGeom>
            <a:avLst/>
            <a:gdLst/>
            <a:ahLst/>
            <a:cxnLst/>
            <a:rect l="l" t="t" r="r" b="b"/>
            <a:pathLst>
              <a:path w="868273" h="36178">
                <a:moveTo>
                  <a:pt x="0" y="0"/>
                </a:moveTo>
                <a:lnTo>
                  <a:pt x="868273" y="0"/>
                </a:lnTo>
                <a:lnTo>
                  <a:pt x="868273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66303" y="1433555"/>
            <a:ext cx="5083015" cy="3916273"/>
          </a:xfrm>
          <a:custGeom>
            <a:avLst/>
            <a:gdLst/>
            <a:ahLst/>
            <a:cxnLst/>
            <a:rect l="l" t="t" r="r" b="b"/>
            <a:pathLst>
              <a:path w="5083015" h="3916273">
                <a:moveTo>
                  <a:pt x="108520" y="0"/>
                </a:moveTo>
                <a:lnTo>
                  <a:pt x="4974495" y="0"/>
                </a:lnTo>
                <a:cubicBezTo>
                  <a:pt x="5034429" y="0"/>
                  <a:pt x="5083015" y="48586"/>
                  <a:pt x="5083015" y="108520"/>
                </a:cubicBezTo>
                <a:lnTo>
                  <a:pt x="5083015" y="3807753"/>
                </a:lnTo>
                <a:cubicBezTo>
                  <a:pt x="5083015" y="3867687"/>
                  <a:pt x="5034429" y="3916273"/>
                  <a:pt x="4974495" y="3916273"/>
                </a:cubicBezTo>
                <a:lnTo>
                  <a:pt x="108520" y="3916273"/>
                </a:lnTo>
                <a:cubicBezTo>
                  <a:pt x="48586" y="3916273"/>
                  <a:pt x="0" y="3867687"/>
                  <a:pt x="0" y="3807753"/>
                </a:cubicBezTo>
                <a:lnTo>
                  <a:pt x="0" y="108520"/>
                </a:lnTo>
                <a:cubicBezTo>
                  <a:pt x="0" y="48626"/>
                  <a:pt x="48626" y="0"/>
                  <a:pt x="10852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8148" y="1618967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11306" y="11306"/>
                </a:moveTo>
                <a:cubicBezTo>
                  <a:pt x="17559" y="11306"/>
                  <a:pt x="22611" y="16358"/>
                  <a:pt x="22611" y="22611"/>
                </a:cubicBezTo>
                <a:lnTo>
                  <a:pt x="22611" y="141320"/>
                </a:lnTo>
                <a:cubicBezTo>
                  <a:pt x="22611" y="144430"/>
                  <a:pt x="25155" y="146973"/>
                  <a:pt x="28264" y="146973"/>
                </a:cubicBezTo>
                <a:lnTo>
                  <a:pt x="169585" y="146973"/>
                </a:lnTo>
                <a:cubicBezTo>
                  <a:pt x="175838" y="146973"/>
                  <a:pt x="180890" y="152026"/>
                  <a:pt x="180890" y="158279"/>
                </a:cubicBezTo>
                <a:cubicBezTo>
                  <a:pt x="180890" y="164532"/>
                  <a:pt x="175838" y="169585"/>
                  <a:pt x="169585" y="169585"/>
                </a:cubicBezTo>
                <a:lnTo>
                  <a:pt x="28264" y="169585"/>
                </a:lnTo>
                <a:cubicBezTo>
                  <a:pt x="12648" y="169585"/>
                  <a:pt x="0" y="156936"/>
                  <a:pt x="0" y="141320"/>
                </a:cubicBezTo>
                <a:lnTo>
                  <a:pt x="0" y="22611"/>
                </a:lnTo>
                <a:cubicBezTo>
                  <a:pt x="0" y="16358"/>
                  <a:pt x="5052" y="11306"/>
                  <a:pt x="11306" y="11306"/>
                </a:cubicBezTo>
                <a:close/>
                <a:moveTo>
                  <a:pt x="45223" y="33917"/>
                </a:moveTo>
                <a:cubicBezTo>
                  <a:pt x="45223" y="27663"/>
                  <a:pt x="50275" y="22611"/>
                  <a:pt x="56528" y="22611"/>
                </a:cubicBezTo>
                <a:lnTo>
                  <a:pt x="124362" y="22611"/>
                </a:lnTo>
                <a:cubicBezTo>
                  <a:pt x="130615" y="22611"/>
                  <a:pt x="135668" y="27663"/>
                  <a:pt x="135668" y="33917"/>
                </a:cubicBezTo>
                <a:cubicBezTo>
                  <a:pt x="135668" y="40170"/>
                  <a:pt x="130615" y="45223"/>
                  <a:pt x="124362" y="45223"/>
                </a:cubicBezTo>
                <a:lnTo>
                  <a:pt x="56528" y="45223"/>
                </a:lnTo>
                <a:cubicBezTo>
                  <a:pt x="50275" y="45223"/>
                  <a:pt x="45223" y="40170"/>
                  <a:pt x="45223" y="33917"/>
                </a:cubicBezTo>
                <a:close/>
                <a:moveTo>
                  <a:pt x="56528" y="62181"/>
                </a:moveTo>
                <a:lnTo>
                  <a:pt x="101751" y="62181"/>
                </a:lnTo>
                <a:cubicBezTo>
                  <a:pt x="108004" y="62181"/>
                  <a:pt x="113056" y="67233"/>
                  <a:pt x="113056" y="73487"/>
                </a:cubicBezTo>
                <a:cubicBezTo>
                  <a:pt x="113056" y="79740"/>
                  <a:pt x="108004" y="84792"/>
                  <a:pt x="101751" y="84792"/>
                </a:cubicBezTo>
                <a:lnTo>
                  <a:pt x="56528" y="84792"/>
                </a:lnTo>
                <a:cubicBezTo>
                  <a:pt x="50275" y="84792"/>
                  <a:pt x="45223" y="79740"/>
                  <a:pt x="45223" y="73487"/>
                </a:cubicBezTo>
                <a:cubicBezTo>
                  <a:pt x="45223" y="67233"/>
                  <a:pt x="50275" y="62181"/>
                  <a:pt x="56528" y="62181"/>
                </a:cubicBezTo>
                <a:close/>
                <a:moveTo>
                  <a:pt x="56528" y="101751"/>
                </a:moveTo>
                <a:lnTo>
                  <a:pt x="146973" y="101751"/>
                </a:lnTo>
                <a:cubicBezTo>
                  <a:pt x="153227" y="101751"/>
                  <a:pt x="158279" y="106803"/>
                  <a:pt x="158279" y="113056"/>
                </a:cubicBezTo>
                <a:cubicBezTo>
                  <a:pt x="158279" y="119310"/>
                  <a:pt x="153227" y="124362"/>
                  <a:pt x="146973" y="124362"/>
                </a:cubicBezTo>
                <a:lnTo>
                  <a:pt x="56528" y="124362"/>
                </a:lnTo>
                <a:cubicBezTo>
                  <a:pt x="50275" y="124362"/>
                  <a:pt x="45223" y="119310"/>
                  <a:pt x="45223" y="113056"/>
                </a:cubicBezTo>
                <a:cubicBezTo>
                  <a:pt x="45223" y="106803"/>
                  <a:pt x="50275" y="101751"/>
                  <a:pt x="56528" y="10175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741650" y="1582789"/>
            <a:ext cx="464887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当前经济状况推断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5537" y="1944570"/>
            <a:ext cx="4784546" cy="759739"/>
          </a:xfrm>
          <a:custGeom>
            <a:avLst/>
            <a:gdLst/>
            <a:ahLst/>
            <a:cxnLst/>
            <a:rect l="l" t="t" r="r" b="b"/>
            <a:pathLst>
              <a:path w="4784546" h="759739">
                <a:moveTo>
                  <a:pt x="72358" y="0"/>
                </a:moveTo>
                <a:lnTo>
                  <a:pt x="4712188" y="0"/>
                </a:lnTo>
                <a:cubicBezTo>
                  <a:pt x="4752150" y="0"/>
                  <a:pt x="4784546" y="32396"/>
                  <a:pt x="4784546" y="72358"/>
                </a:cubicBezTo>
                <a:lnTo>
                  <a:pt x="4784546" y="687381"/>
                </a:lnTo>
                <a:cubicBezTo>
                  <a:pt x="4784546" y="727343"/>
                  <a:pt x="4752150" y="759739"/>
                  <a:pt x="4712188" y="759739"/>
                </a:cubicBezTo>
                <a:lnTo>
                  <a:pt x="72358" y="759739"/>
                </a:lnTo>
                <a:cubicBezTo>
                  <a:pt x="32396" y="759739"/>
                  <a:pt x="0" y="727343"/>
                  <a:pt x="0" y="687381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4071" y="2053104"/>
            <a:ext cx="1257187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美联储政策利率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4071" y="2306350"/>
            <a:ext cx="129336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4.25-4.50%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31025" y="2125460"/>
            <a:ext cx="1166742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1981" y="2306350"/>
            <a:ext cx="117578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39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2006年、2019年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5537" y="2776665"/>
            <a:ext cx="4784546" cy="759739"/>
          </a:xfrm>
          <a:custGeom>
            <a:avLst/>
            <a:gdLst/>
            <a:ahLst/>
            <a:cxnLst/>
            <a:rect l="l" t="t" r="r" b="b"/>
            <a:pathLst>
              <a:path w="4784546" h="759739">
                <a:moveTo>
                  <a:pt x="72358" y="0"/>
                </a:moveTo>
                <a:lnTo>
                  <a:pt x="4712188" y="0"/>
                </a:lnTo>
                <a:cubicBezTo>
                  <a:pt x="4752150" y="0"/>
                  <a:pt x="4784546" y="32396"/>
                  <a:pt x="4784546" y="72358"/>
                </a:cubicBezTo>
                <a:lnTo>
                  <a:pt x="4784546" y="687381"/>
                </a:lnTo>
                <a:cubicBezTo>
                  <a:pt x="4784546" y="727343"/>
                  <a:pt x="4752150" y="759739"/>
                  <a:pt x="4712188" y="759739"/>
                </a:cubicBezTo>
                <a:lnTo>
                  <a:pt x="72358" y="759739"/>
                </a:lnTo>
                <a:cubicBezTo>
                  <a:pt x="32396" y="759739"/>
                  <a:pt x="0" y="727343"/>
                  <a:pt x="0" y="687381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4071" y="2885199"/>
            <a:ext cx="100394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核心PCE通胀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4071" y="3138445"/>
            <a:ext cx="104011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2.4-2.6%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65366" y="2957555"/>
            <a:ext cx="1130564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56322" y="3138445"/>
            <a:ext cx="1139608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39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1995年、2019年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5537" y="3608760"/>
            <a:ext cx="4784546" cy="759739"/>
          </a:xfrm>
          <a:custGeom>
            <a:avLst/>
            <a:gdLst/>
            <a:ahLst/>
            <a:cxnLst/>
            <a:rect l="l" t="t" r="r" b="b"/>
            <a:pathLst>
              <a:path w="4784546" h="759739">
                <a:moveTo>
                  <a:pt x="72358" y="0"/>
                </a:moveTo>
                <a:lnTo>
                  <a:pt x="4712188" y="0"/>
                </a:lnTo>
                <a:cubicBezTo>
                  <a:pt x="4752150" y="0"/>
                  <a:pt x="4784546" y="32396"/>
                  <a:pt x="4784546" y="72358"/>
                </a:cubicBezTo>
                <a:lnTo>
                  <a:pt x="4784546" y="687381"/>
                </a:lnTo>
                <a:cubicBezTo>
                  <a:pt x="4784546" y="727343"/>
                  <a:pt x="4752150" y="759739"/>
                  <a:pt x="4712188" y="759739"/>
                </a:cubicBezTo>
                <a:lnTo>
                  <a:pt x="72358" y="759739"/>
                </a:lnTo>
                <a:cubicBezTo>
                  <a:pt x="32396" y="759739"/>
                  <a:pt x="0" y="727343"/>
                  <a:pt x="0" y="687381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4071" y="3717294"/>
            <a:ext cx="100394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失业率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4071" y="3970540"/>
            <a:ext cx="104011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4.0-4.2%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72377" y="3789650"/>
            <a:ext cx="122100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63333" y="3970540"/>
            <a:ext cx="1230053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39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略高于自然失业率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5537" y="4440855"/>
            <a:ext cx="4784546" cy="759739"/>
          </a:xfrm>
          <a:custGeom>
            <a:avLst/>
            <a:gdLst/>
            <a:ahLst/>
            <a:cxnLst/>
            <a:rect l="l" t="t" r="r" b="b"/>
            <a:pathLst>
              <a:path w="4784546" h="759739">
                <a:moveTo>
                  <a:pt x="72358" y="0"/>
                </a:moveTo>
                <a:lnTo>
                  <a:pt x="4712188" y="0"/>
                </a:lnTo>
                <a:cubicBezTo>
                  <a:pt x="4752150" y="0"/>
                  <a:pt x="4784546" y="32396"/>
                  <a:pt x="4784546" y="72358"/>
                </a:cubicBezTo>
                <a:lnTo>
                  <a:pt x="4784546" y="687381"/>
                </a:lnTo>
                <a:cubicBezTo>
                  <a:pt x="4784546" y="727343"/>
                  <a:pt x="4752150" y="759739"/>
                  <a:pt x="4712188" y="759739"/>
                </a:cubicBezTo>
                <a:lnTo>
                  <a:pt x="72358" y="759739"/>
                </a:lnTo>
                <a:cubicBezTo>
                  <a:pt x="32396" y="759739"/>
                  <a:pt x="0" y="727343"/>
                  <a:pt x="0" y="687381"/>
                </a:cubicBezTo>
                <a:lnTo>
                  <a:pt x="0" y="72358"/>
                </a:lnTo>
                <a:cubicBezTo>
                  <a:pt x="0" y="32396"/>
                  <a:pt x="32396" y="0"/>
                  <a:pt x="723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4071" y="4549389"/>
            <a:ext cx="100394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GDP增速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4071" y="4802635"/>
            <a:ext cx="104011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2.5-3.0%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35657" y="4621745"/>
            <a:ext cx="95871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26613" y="4802635"/>
            <a:ext cx="967763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39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1995年软着陆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6303" y="5467407"/>
            <a:ext cx="5083015" cy="804961"/>
          </a:xfrm>
          <a:custGeom>
            <a:avLst/>
            <a:gdLst/>
            <a:ahLst/>
            <a:cxnLst/>
            <a:rect l="l" t="t" r="r" b="b"/>
            <a:pathLst>
              <a:path w="5083015" h="804961">
                <a:moveTo>
                  <a:pt x="108533" y="0"/>
                </a:moveTo>
                <a:lnTo>
                  <a:pt x="4974482" y="0"/>
                </a:lnTo>
                <a:cubicBezTo>
                  <a:pt x="5034423" y="0"/>
                  <a:pt x="5083015" y="48592"/>
                  <a:pt x="5083015" y="108533"/>
                </a:cubicBezTo>
                <a:lnTo>
                  <a:pt x="5083015" y="696428"/>
                </a:lnTo>
                <a:cubicBezTo>
                  <a:pt x="5083015" y="756370"/>
                  <a:pt x="5034423" y="804961"/>
                  <a:pt x="4974482" y="804961"/>
                </a:cubicBezTo>
                <a:lnTo>
                  <a:pt x="108533" y="804961"/>
                </a:lnTo>
                <a:cubicBezTo>
                  <a:pt x="48592" y="804961"/>
                  <a:pt x="0" y="756370"/>
                  <a:pt x="0" y="696428"/>
                </a:cubicBezTo>
                <a:lnTo>
                  <a:pt x="0" y="108533"/>
                </a:lnTo>
                <a:cubicBezTo>
                  <a:pt x="0" y="48592"/>
                  <a:pt x="48592" y="0"/>
                  <a:pt x="108533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6237" y="5761353"/>
            <a:ext cx="189935" cy="217068"/>
          </a:xfrm>
          <a:custGeom>
            <a:avLst/>
            <a:gdLst/>
            <a:ahLst/>
            <a:cxnLst/>
            <a:rect l="l" t="t" r="r" b="b"/>
            <a:pathLst>
              <a:path w="189935" h="217068">
                <a:moveTo>
                  <a:pt x="189935" y="87251"/>
                </a:moveTo>
                <a:cubicBezTo>
                  <a:pt x="183660" y="91406"/>
                  <a:pt x="176453" y="94755"/>
                  <a:pt x="168949" y="97426"/>
                </a:cubicBezTo>
                <a:cubicBezTo>
                  <a:pt x="149022" y="104549"/>
                  <a:pt x="122864" y="108534"/>
                  <a:pt x="94967" y="108534"/>
                </a:cubicBezTo>
                <a:cubicBezTo>
                  <a:pt x="67071" y="108534"/>
                  <a:pt x="40870" y="104506"/>
                  <a:pt x="20986" y="97426"/>
                </a:cubicBezTo>
                <a:cubicBezTo>
                  <a:pt x="13524" y="94755"/>
                  <a:pt x="6275" y="91406"/>
                  <a:pt x="0" y="87251"/>
                </a:cubicBezTo>
                <a:lnTo>
                  <a:pt x="0" y="122101"/>
                </a:lnTo>
                <a:cubicBezTo>
                  <a:pt x="0" y="140840"/>
                  <a:pt x="42523" y="156018"/>
                  <a:pt x="94967" y="156018"/>
                </a:cubicBezTo>
                <a:cubicBezTo>
                  <a:pt x="147411" y="156018"/>
                  <a:pt x="189935" y="140840"/>
                  <a:pt x="189935" y="122101"/>
                </a:cubicBezTo>
                <a:lnTo>
                  <a:pt x="189935" y="87251"/>
                </a:lnTo>
                <a:close/>
                <a:moveTo>
                  <a:pt x="189935" y="54267"/>
                </a:moveTo>
                <a:lnTo>
                  <a:pt x="189935" y="33917"/>
                </a:lnTo>
                <a:cubicBezTo>
                  <a:pt x="189935" y="15178"/>
                  <a:pt x="147411" y="0"/>
                  <a:pt x="94967" y="0"/>
                </a:cubicBezTo>
                <a:cubicBezTo>
                  <a:pt x="42523" y="0"/>
                  <a:pt x="0" y="15178"/>
                  <a:pt x="0" y="33917"/>
                </a:cubicBezTo>
                <a:lnTo>
                  <a:pt x="0" y="54267"/>
                </a:lnTo>
                <a:cubicBezTo>
                  <a:pt x="0" y="73006"/>
                  <a:pt x="42523" y="88184"/>
                  <a:pt x="94967" y="88184"/>
                </a:cubicBezTo>
                <a:cubicBezTo>
                  <a:pt x="147411" y="88184"/>
                  <a:pt x="189935" y="73006"/>
                  <a:pt x="189935" y="54267"/>
                </a:cubicBezTo>
                <a:close/>
                <a:moveTo>
                  <a:pt x="168949" y="165260"/>
                </a:moveTo>
                <a:cubicBezTo>
                  <a:pt x="149065" y="172340"/>
                  <a:pt x="122906" y="176368"/>
                  <a:pt x="94967" y="176368"/>
                </a:cubicBezTo>
                <a:cubicBezTo>
                  <a:pt x="67028" y="176368"/>
                  <a:pt x="40870" y="172340"/>
                  <a:pt x="20986" y="165260"/>
                </a:cubicBezTo>
                <a:cubicBezTo>
                  <a:pt x="13524" y="162589"/>
                  <a:pt x="6275" y="159240"/>
                  <a:pt x="0" y="155085"/>
                </a:cubicBezTo>
                <a:lnTo>
                  <a:pt x="0" y="183151"/>
                </a:lnTo>
                <a:cubicBezTo>
                  <a:pt x="0" y="201890"/>
                  <a:pt x="42523" y="217068"/>
                  <a:pt x="94967" y="217068"/>
                </a:cubicBezTo>
                <a:cubicBezTo>
                  <a:pt x="147411" y="217068"/>
                  <a:pt x="189935" y="201890"/>
                  <a:pt x="189935" y="183151"/>
                </a:cubicBezTo>
                <a:lnTo>
                  <a:pt x="189935" y="155085"/>
                </a:lnTo>
                <a:cubicBezTo>
                  <a:pt x="183660" y="159240"/>
                  <a:pt x="176453" y="162589"/>
                  <a:pt x="168949" y="16526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1" name="Text 29"/>
          <p:cNvSpPr/>
          <p:nvPr/>
        </p:nvSpPr>
        <p:spPr>
          <a:xfrm>
            <a:off x="895407" y="5616641"/>
            <a:ext cx="3066089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历史经验基础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5407" y="5906065"/>
            <a:ext cx="305704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基于1980-2024年8个完整加息周期的历史数据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04911" y="1433555"/>
            <a:ext cx="6213579" cy="4838813"/>
          </a:xfrm>
          <a:custGeom>
            <a:avLst/>
            <a:gdLst/>
            <a:ahLst/>
            <a:cxnLst/>
            <a:rect l="l" t="t" r="r" b="b"/>
            <a:pathLst>
              <a:path w="6213579" h="4838813">
                <a:moveTo>
                  <a:pt x="108535" y="0"/>
                </a:moveTo>
                <a:lnTo>
                  <a:pt x="6105044" y="0"/>
                </a:lnTo>
                <a:cubicBezTo>
                  <a:pt x="6164986" y="0"/>
                  <a:pt x="6213579" y="48593"/>
                  <a:pt x="6213579" y="108535"/>
                </a:cubicBezTo>
                <a:lnTo>
                  <a:pt x="6213579" y="4730278"/>
                </a:lnTo>
                <a:cubicBezTo>
                  <a:pt x="6213579" y="4790220"/>
                  <a:pt x="6164986" y="4838813"/>
                  <a:pt x="6105044" y="4838813"/>
                </a:cubicBezTo>
                <a:lnTo>
                  <a:pt x="108535" y="4838813"/>
                </a:lnTo>
                <a:cubicBezTo>
                  <a:pt x="48593" y="4838813"/>
                  <a:pt x="0" y="4790220"/>
                  <a:pt x="0" y="4730278"/>
                </a:cubicBezTo>
                <a:lnTo>
                  <a:pt x="0" y="108535"/>
                </a:lnTo>
                <a:cubicBezTo>
                  <a:pt x="0" y="48633"/>
                  <a:pt x="48633" y="0"/>
                  <a:pt x="10853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5451" y="1618967"/>
            <a:ext cx="203501" cy="180890"/>
          </a:xfrm>
          <a:custGeom>
            <a:avLst/>
            <a:gdLst/>
            <a:ahLst/>
            <a:cxnLst/>
            <a:rect l="l" t="t" r="r" b="b"/>
            <a:pathLst>
              <a:path w="203501" h="180890">
                <a:moveTo>
                  <a:pt x="101751" y="22611"/>
                </a:moveTo>
                <a:cubicBezTo>
                  <a:pt x="139201" y="22611"/>
                  <a:pt x="169585" y="52995"/>
                  <a:pt x="169585" y="90445"/>
                </a:cubicBezTo>
                <a:cubicBezTo>
                  <a:pt x="169585" y="127895"/>
                  <a:pt x="139201" y="158279"/>
                  <a:pt x="101751" y="158279"/>
                </a:cubicBezTo>
                <a:cubicBezTo>
                  <a:pt x="78716" y="158279"/>
                  <a:pt x="58330" y="146797"/>
                  <a:pt x="46070" y="129202"/>
                </a:cubicBezTo>
                <a:cubicBezTo>
                  <a:pt x="42502" y="124079"/>
                  <a:pt x="35436" y="122843"/>
                  <a:pt x="30313" y="126411"/>
                </a:cubicBezTo>
                <a:cubicBezTo>
                  <a:pt x="25190" y="129980"/>
                  <a:pt x="23954" y="137046"/>
                  <a:pt x="27522" y="142168"/>
                </a:cubicBezTo>
                <a:cubicBezTo>
                  <a:pt x="43845" y="165557"/>
                  <a:pt x="71014" y="180890"/>
                  <a:pt x="101751" y="180890"/>
                </a:cubicBezTo>
                <a:cubicBezTo>
                  <a:pt x="151708" y="180890"/>
                  <a:pt x="192196" y="140402"/>
                  <a:pt x="192196" y="90445"/>
                </a:cubicBezTo>
                <a:cubicBezTo>
                  <a:pt x="192196" y="40488"/>
                  <a:pt x="151708" y="0"/>
                  <a:pt x="101751" y="0"/>
                </a:cubicBezTo>
                <a:cubicBezTo>
                  <a:pt x="71473" y="0"/>
                  <a:pt x="44693" y="14874"/>
                  <a:pt x="28264" y="37697"/>
                </a:cubicBezTo>
                <a:lnTo>
                  <a:pt x="28264" y="28264"/>
                </a:lnTo>
                <a:cubicBezTo>
                  <a:pt x="28264" y="22011"/>
                  <a:pt x="23212" y="16958"/>
                  <a:pt x="16958" y="16958"/>
                </a:cubicBezTo>
                <a:cubicBezTo>
                  <a:pt x="10705" y="16958"/>
                  <a:pt x="5653" y="22011"/>
                  <a:pt x="5653" y="28264"/>
                </a:cubicBezTo>
                <a:lnTo>
                  <a:pt x="5653" y="67834"/>
                </a:lnTo>
                <a:cubicBezTo>
                  <a:pt x="5653" y="74087"/>
                  <a:pt x="10705" y="79139"/>
                  <a:pt x="16958" y="79139"/>
                </a:cubicBezTo>
                <a:lnTo>
                  <a:pt x="25650" y="79139"/>
                </a:lnTo>
                <a:cubicBezTo>
                  <a:pt x="25826" y="79139"/>
                  <a:pt x="26003" y="79139"/>
                  <a:pt x="26180" y="79139"/>
                </a:cubicBezTo>
                <a:lnTo>
                  <a:pt x="56564" y="79139"/>
                </a:lnTo>
                <a:cubicBezTo>
                  <a:pt x="62817" y="79139"/>
                  <a:pt x="67869" y="74087"/>
                  <a:pt x="67869" y="67834"/>
                </a:cubicBezTo>
                <a:cubicBezTo>
                  <a:pt x="67869" y="61580"/>
                  <a:pt x="62817" y="56528"/>
                  <a:pt x="56564" y="56528"/>
                </a:cubicBezTo>
                <a:lnTo>
                  <a:pt x="43032" y="56528"/>
                </a:lnTo>
                <a:cubicBezTo>
                  <a:pt x="54726" y="36249"/>
                  <a:pt x="76666" y="22611"/>
                  <a:pt x="101751" y="22611"/>
                </a:cubicBezTo>
                <a:close/>
                <a:moveTo>
                  <a:pt x="110230" y="53702"/>
                </a:moveTo>
                <a:cubicBezTo>
                  <a:pt x="110230" y="49003"/>
                  <a:pt x="106450" y="45223"/>
                  <a:pt x="101751" y="45223"/>
                </a:cubicBezTo>
                <a:cubicBezTo>
                  <a:pt x="97052" y="45223"/>
                  <a:pt x="93272" y="49003"/>
                  <a:pt x="93272" y="53702"/>
                </a:cubicBezTo>
                <a:lnTo>
                  <a:pt x="93272" y="90445"/>
                </a:lnTo>
                <a:cubicBezTo>
                  <a:pt x="93272" y="92706"/>
                  <a:pt x="94155" y="94861"/>
                  <a:pt x="95745" y="96451"/>
                </a:cubicBezTo>
                <a:lnTo>
                  <a:pt x="121182" y="121889"/>
                </a:lnTo>
                <a:cubicBezTo>
                  <a:pt x="124503" y="125210"/>
                  <a:pt x="129874" y="125210"/>
                  <a:pt x="133159" y="121889"/>
                </a:cubicBezTo>
                <a:cubicBezTo>
                  <a:pt x="136445" y="118568"/>
                  <a:pt x="136480" y="113198"/>
                  <a:pt x="133159" y="109912"/>
                </a:cubicBezTo>
                <a:lnTo>
                  <a:pt x="110195" y="86947"/>
                </a:lnTo>
                <a:lnTo>
                  <a:pt x="110195" y="53702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5" name="Text 33"/>
          <p:cNvSpPr/>
          <p:nvPr/>
        </p:nvSpPr>
        <p:spPr>
          <a:xfrm>
            <a:off x="5980259" y="1582789"/>
            <a:ext cx="5779442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三大历史经验规律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72235" y="1944570"/>
            <a:ext cx="5897021" cy="1302409"/>
          </a:xfrm>
          <a:custGeom>
            <a:avLst/>
            <a:gdLst/>
            <a:ahLst/>
            <a:cxnLst/>
            <a:rect l="l" t="t" r="r" b="b"/>
            <a:pathLst>
              <a:path w="5897021" h="1302409">
                <a:moveTo>
                  <a:pt x="36178" y="0"/>
                </a:moveTo>
                <a:lnTo>
                  <a:pt x="5824659" y="0"/>
                </a:lnTo>
                <a:cubicBezTo>
                  <a:pt x="5864623" y="0"/>
                  <a:pt x="5897021" y="32398"/>
                  <a:pt x="5897021" y="72362"/>
                </a:cubicBezTo>
                <a:lnTo>
                  <a:pt x="5897021" y="1230048"/>
                </a:lnTo>
                <a:cubicBezTo>
                  <a:pt x="5897021" y="1270012"/>
                  <a:pt x="5864623" y="1302409"/>
                  <a:pt x="5824659" y="1302409"/>
                </a:cubicBezTo>
                <a:lnTo>
                  <a:pt x="36178" y="1302409"/>
                </a:lnTo>
                <a:cubicBezTo>
                  <a:pt x="16197" y="1302409"/>
                  <a:pt x="0" y="1286212"/>
                  <a:pt x="0" y="1266231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72235" y="1944570"/>
            <a:ext cx="36178" cy="1302409"/>
          </a:xfrm>
          <a:custGeom>
            <a:avLst/>
            <a:gdLst/>
            <a:ahLst/>
            <a:cxnLst/>
            <a:rect l="l" t="t" r="r" b="b"/>
            <a:pathLst>
              <a:path w="36178" h="1302409">
                <a:moveTo>
                  <a:pt x="36178" y="0"/>
                </a:moveTo>
                <a:lnTo>
                  <a:pt x="36178" y="0"/>
                </a:lnTo>
                <a:lnTo>
                  <a:pt x="36178" y="1302409"/>
                </a:lnTo>
                <a:lnTo>
                  <a:pt x="36178" y="1302409"/>
                </a:lnTo>
                <a:cubicBezTo>
                  <a:pt x="16197" y="1302409"/>
                  <a:pt x="0" y="1286212"/>
                  <a:pt x="0" y="1266231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" name="Shape 36"/>
          <p:cNvSpPr/>
          <p:nvPr/>
        </p:nvSpPr>
        <p:spPr>
          <a:xfrm>
            <a:off x="5898858" y="2053104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144712" y="0"/>
                </a:moveTo>
                <a:lnTo>
                  <a:pt x="144712" y="0"/>
                </a:lnTo>
                <a:cubicBezTo>
                  <a:pt x="224581" y="0"/>
                  <a:pt x="289424" y="64843"/>
                  <a:pt x="289424" y="144712"/>
                </a:cubicBezTo>
                <a:lnTo>
                  <a:pt x="289424" y="144712"/>
                </a:lnTo>
                <a:cubicBezTo>
                  <a:pt x="289424" y="224581"/>
                  <a:pt x="224581" y="289424"/>
                  <a:pt x="144712" y="289424"/>
                </a:cubicBezTo>
                <a:lnTo>
                  <a:pt x="144712" y="289424"/>
                </a:lnTo>
                <a:cubicBezTo>
                  <a:pt x="64843" y="289424"/>
                  <a:pt x="0" y="224581"/>
                  <a:pt x="0" y="144712"/>
                </a:cubicBezTo>
                <a:lnTo>
                  <a:pt x="0" y="144712"/>
                </a:lnTo>
                <a:cubicBezTo>
                  <a:pt x="0" y="64843"/>
                  <a:pt x="64843" y="0"/>
                  <a:pt x="144712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9" name="Text 37"/>
          <p:cNvSpPr/>
          <p:nvPr/>
        </p:nvSpPr>
        <p:spPr>
          <a:xfrm>
            <a:off x="6018556" y="2107371"/>
            <a:ext cx="11757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60638" y="2071193"/>
            <a:ext cx="138381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泰勒规则反应函数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98858" y="2414884"/>
            <a:ext cx="5734220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当核心PCE回落至2.5%以下且失业率上升至4%以上时，美联储在随后12个月内降息的概率为</a:t>
            </a:r>
            <a:pPr>
              <a:lnSpc>
                <a:spcPct val="140000"/>
              </a:lnSpc>
            </a:pPr>
            <a:r>
              <a:rPr lang="en-US" sz="1139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24861" y="2984688"/>
            <a:ext cx="110795" cy="126623"/>
          </a:xfrm>
          <a:custGeom>
            <a:avLst/>
            <a:gdLst/>
            <a:ahLst/>
            <a:cxnLst/>
            <a:rect l="l" t="t" r="r" b="b"/>
            <a:pathLst>
              <a:path w="110795" h="126623">
                <a:moveTo>
                  <a:pt x="31656" y="0"/>
                </a:moveTo>
                <a:cubicBezTo>
                  <a:pt x="36033" y="0"/>
                  <a:pt x="39570" y="3537"/>
                  <a:pt x="39570" y="7914"/>
                </a:cubicBezTo>
                <a:lnTo>
                  <a:pt x="39570" y="15828"/>
                </a:lnTo>
                <a:lnTo>
                  <a:pt x="71226" y="15828"/>
                </a:lnTo>
                <a:lnTo>
                  <a:pt x="71226" y="7914"/>
                </a:lnTo>
                <a:cubicBezTo>
                  <a:pt x="71226" y="3537"/>
                  <a:pt x="74762" y="0"/>
                  <a:pt x="79139" y="0"/>
                </a:cubicBezTo>
                <a:cubicBezTo>
                  <a:pt x="83517" y="0"/>
                  <a:pt x="87053" y="3537"/>
                  <a:pt x="87053" y="7914"/>
                </a:cubicBezTo>
                <a:lnTo>
                  <a:pt x="87053" y="15828"/>
                </a:lnTo>
                <a:lnTo>
                  <a:pt x="94967" y="15828"/>
                </a:lnTo>
                <a:cubicBezTo>
                  <a:pt x="103697" y="15828"/>
                  <a:pt x="110795" y="22926"/>
                  <a:pt x="110795" y="31656"/>
                </a:cubicBezTo>
                <a:lnTo>
                  <a:pt x="110795" y="102881"/>
                </a:lnTo>
                <a:cubicBezTo>
                  <a:pt x="110795" y="111611"/>
                  <a:pt x="103697" y="118709"/>
                  <a:pt x="94967" y="118709"/>
                </a:cubicBezTo>
                <a:lnTo>
                  <a:pt x="15828" y="118709"/>
                </a:lnTo>
                <a:cubicBezTo>
                  <a:pt x="7098" y="118709"/>
                  <a:pt x="0" y="111611"/>
                  <a:pt x="0" y="102881"/>
                </a:cubicBezTo>
                <a:lnTo>
                  <a:pt x="0" y="31656"/>
                </a:lnTo>
                <a:cubicBezTo>
                  <a:pt x="0" y="22926"/>
                  <a:pt x="7098" y="15828"/>
                  <a:pt x="15828" y="15828"/>
                </a:cubicBezTo>
                <a:lnTo>
                  <a:pt x="23742" y="15828"/>
                </a:lnTo>
                <a:lnTo>
                  <a:pt x="23742" y="7914"/>
                </a:lnTo>
                <a:cubicBezTo>
                  <a:pt x="23742" y="3537"/>
                  <a:pt x="27278" y="0"/>
                  <a:pt x="31656" y="0"/>
                </a:cubicBezTo>
                <a:close/>
                <a:moveTo>
                  <a:pt x="15828" y="59355"/>
                </a:moveTo>
                <a:lnTo>
                  <a:pt x="15828" y="67269"/>
                </a:lnTo>
                <a:cubicBezTo>
                  <a:pt x="15828" y="69445"/>
                  <a:pt x="17609" y="71226"/>
                  <a:pt x="19785" y="71226"/>
                </a:cubicBezTo>
                <a:lnTo>
                  <a:pt x="27699" y="71226"/>
                </a:lnTo>
                <a:cubicBezTo>
                  <a:pt x="29875" y="71226"/>
                  <a:pt x="31656" y="69445"/>
                  <a:pt x="31656" y="67269"/>
                </a:cubicBezTo>
                <a:lnTo>
                  <a:pt x="31656" y="59355"/>
                </a:lnTo>
                <a:cubicBezTo>
                  <a:pt x="31656" y="57178"/>
                  <a:pt x="29875" y="55398"/>
                  <a:pt x="27699" y="55398"/>
                </a:cubicBezTo>
                <a:lnTo>
                  <a:pt x="19785" y="55398"/>
                </a:lnTo>
                <a:cubicBezTo>
                  <a:pt x="17609" y="55398"/>
                  <a:pt x="15828" y="57178"/>
                  <a:pt x="15828" y="59355"/>
                </a:cubicBezTo>
                <a:close/>
                <a:moveTo>
                  <a:pt x="47484" y="59355"/>
                </a:moveTo>
                <a:lnTo>
                  <a:pt x="47484" y="67269"/>
                </a:lnTo>
                <a:cubicBezTo>
                  <a:pt x="47484" y="69445"/>
                  <a:pt x="49264" y="71226"/>
                  <a:pt x="51441" y="71226"/>
                </a:cubicBezTo>
                <a:lnTo>
                  <a:pt x="59355" y="71226"/>
                </a:lnTo>
                <a:cubicBezTo>
                  <a:pt x="61531" y="71226"/>
                  <a:pt x="63312" y="69445"/>
                  <a:pt x="63312" y="67269"/>
                </a:cubicBezTo>
                <a:lnTo>
                  <a:pt x="63312" y="59355"/>
                </a:lnTo>
                <a:cubicBezTo>
                  <a:pt x="63312" y="57178"/>
                  <a:pt x="61531" y="55398"/>
                  <a:pt x="59355" y="55398"/>
                </a:cubicBezTo>
                <a:lnTo>
                  <a:pt x="51441" y="55398"/>
                </a:lnTo>
                <a:cubicBezTo>
                  <a:pt x="49264" y="55398"/>
                  <a:pt x="47484" y="57178"/>
                  <a:pt x="47484" y="59355"/>
                </a:cubicBezTo>
                <a:close/>
                <a:moveTo>
                  <a:pt x="83096" y="55398"/>
                </a:moveTo>
                <a:cubicBezTo>
                  <a:pt x="80920" y="55398"/>
                  <a:pt x="79139" y="57178"/>
                  <a:pt x="79139" y="59355"/>
                </a:cubicBezTo>
                <a:lnTo>
                  <a:pt x="79139" y="67269"/>
                </a:lnTo>
                <a:cubicBezTo>
                  <a:pt x="79139" y="69445"/>
                  <a:pt x="80920" y="71226"/>
                  <a:pt x="83096" y="71226"/>
                </a:cubicBezTo>
                <a:lnTo>
                  <a:pt x="91010" y="71226"/>
                </a:lnTo>
                <a:cubicBezTo>
                  <a:pt x="93187" y="71226"/>
                  <a:pt x="94967" y="69445"/>
                  <a:pt x="94967" y="67269"/>
                </a:cubicBezTo>
                <a:lnTo>
                  <a:pt x="94967" y="59355"/>
                </a:lnTo>
                <a:cubicBezTo>
                  <a:pt x="94967" y="57178"/>
                  <a:pt x="93187" y="55398"/>
                  <a:pt x="91010" y="55398"/>
                </a:cubicBezTo>
                <a:lnTo>
                  <a:pt x="83096" y="55398"/>
                </a:lnTo>
                <a:close/>
                <a:moveTo>
                  <a:pt x="15828" y="91010"/>
                </a:moveTo>
                <a:lnTo>
                  <a:pt x="15828" y="98924"/>
                </a:lnTo>
                <a:cubicBezTo>
                  <a:pt x="15828" y="101101"/>
                  <a:pt x="17609" y="102881"/>
                  <a:pt x="19785" y="102881"/>
                </a:cubicBezTo>
                <a:lnTo>
                  <a:pt x="27699" y="102881"/>
                </a:lnTo>
                <a:cubicBezTo>
                  <a:pt x="29875" y="102881"/>
                  <a:pt x="31656" y="101101"/>
                  <a:pt x="31656" y="98924"/>
                </a:cubicBezTo>
                <a:lnTo>
                  <a:pt x="31656" y="91010"/>
                </a:lnTo>
                <a:cubicBezTo>
                  <a:pt x="31656" y="88834"/>
                  <a:pt x="29875" y="87053"/>
                  <a:pt x="27699" y="87053"/>
                </a:cubicBezTo>
                <a:lnTo>
                  <a:pt x="19785" y="87053"/>
                </a:lnTo>
                <a:cubicBezTo>
                  <a:pt x="17609" y="87053"/>
                  <a:pt x="15828" y="88834"/>
                  <a:pt x="15828" y="91010"/>
                </a:cubicBezTo>
                <a:close/>
                <a:moveTo>
                  <a:pt x="51441" y="87053"/>
                </a:moveTo>
                <a:cubicBezTo>
                  <a:pt x="49264" y="87053"/>
                  <a:pt x="47484" y="88834"/>
                  <a:pt x="47484" y="91010"/>
                </a:cubicBezTo>
                <a:lnTo>
                  <a:pt x="47484" y="98924"/>
                </a:lnTo>
                <a:cubicBezTo>
                  <a:pt x="47484" y="101101"/>
                  <a:pt x="49264" y="102881"/>
                  <a:pt x="51441" y="102881"/>
                </a:cubicBezTo>
                <a:lnTo>
                  <a:pt x="59355" y="102881"/>
                </a:lnTo>
                <a:cubicBezTo>
                  <a:pt x="61531" y="102881"/>
                  <a:pt x="63312" y="101101"/>
                  <a:pt x="63312" y="98924"/>
                </a:cubicBezTo>
                <a:lnTo>
                  <a:pt x="63312" y="91010"/>
                </a:lnTo>
                <a:cubicBezTo>
                  <a:pt x="63312" y="88834"/>
                  <a:pt x="61531" y="87053"/>
                  <a:pt x="59355" y="87053"/>
                </a:cubicBezTo>
                <a:lnTo>
                  <a:pt x="51441" y="87053"/>
                </a:lnTo>
                <a:close/>
                <a:moveTo>
                  <a:pt x="79139" y="91010"/>
                </a:moveTo>
                <a:lnTo>
                  <a:pt x="79139" y="98924"/>
                </a:lnTo>
                <a:cubicBezTo>
                  <a:pt x="79139" y="101101"/>
                  <a:pt x="80920" y="102881"/>
                  <a:pt x="83096" y="102881"/>
                </a:cubicBezTo>
                <a:lnTo>
                  <a:pt x="91010" y="102881"/>
                </a:lnTo>
                <a:cubicBezTo>
                  <a:pt x="93187" y="102881"/>
                  <a:pt x="94967" y="101101"/>
                  <a:pt x="94967" y="98924"/>
                </a:cubicBezTo>
                <a:lnTo>
                  <a:pt x="94967" y="91010"/>
                </a:lnTo>
                <a:cubicBezTo>
                  <a:pt x="94967" y="88834"/>
                  <a:pt x="93187" y="87053"/>
                  <a:pt x="91010" y="87053"/>
                </a:cubicBezTo>
                <a:lnTo>
                  <a:pt x="83096" y="87053"/>
                </a:lnTo>
                <a:cubicBezTo>
                  <a:pt x="80920" y="87053"/>
                  <a:pt x="79139" y="88834"/>
                  <a:pt x="79139" y="9101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3" name="Text 41"/>
          <p:cNvSpPr/>
          <p:nvPr/>
        </p:nvSpPr>
        <p:spPr>
          <a:xfrm>
            <a:off x="6129493" y="2957555"/>
            <a:ext cx="158278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基于1990-2024年数据验证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772235" y="3355513"/>
            <a:ext cx="5897021" cy="1067252"/>
          </a:xfrm>
          <a:custGeom>
            <a:avLst/>
            <a:gdLst/>
            <a:ahLst/>
            <a:cxnLst/>
            <a:rect l="l" t="t" r="r" b="b"/>
            <a:pathLst>
              <a:path w="5897021" h="1067252">
                <a:moveTo>
                  <a:pt x="36178" y="0"/>
                </a:moveTo>
                <a:lnTo>
                  <a:pt x="5824661" y="0"/>
                </a:lnTo>
                <a:cubicBezTo>
                  <a:pt x="5864624" y="0"/>
                  <a:pt x="5897021" y="32397"/>
                  <a:pt x="5897021" y="72360"/>
                </a:cubicBezTo>
                <a:lnTo>
                  <a:pt x="5897021" y="994893"/>
                </a:lnTo>
                <a:cubicBezTo>
                  <a:pt x="5897021" y="1034856"/>
                  <a:pt x="5864624" y="1067252"/>
                  <a:pt x="5824661" y="1067252"/>
                </a:cubicBezTo>
                <a:lnTo>
                  <a:pt x="36178" y="1067252"/>
                </a:lnTo>
                <a:cubicBezTo>
                  <a:pt x="16197" y="1067252"/>
                  <a:pt x="0" y="1051055"/>
                  <a:pt x="0" y="1031074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72235" y="3355513"/>
            <a:ext cx="36178" cy="1067252"/>
          </a:xfrm>
          <a:custGeom>
            <a:avLst/>
            <a:gdLst/>
            <a:ahLst/>
            <a:cxnLst/>
            <a:rect l="l" t="t" r="r" b="b"/>
            <a:pathLst>
              <a:path w="36178" h="1067252">
                <a:moveTo>
                  <a:pt x="36178" y="0"/>
                </a:moveTo>
                <a:lnTo>
                  <a:pt x="36178" y="0"/>
                </a:lnTo>
                <a:lnTo>
                  <a:pt x="36178" y="1067252"/>
                </a:lnTo>
                <a:lnTo>
                  <a:pt x="36178" y="1067252"/>
                </a:lnTo>
                <a:cubicBezTo>
                  <a:pt x="16197" y="1067252"/>
                  <a:pt x="0" y="1051055"/>
                  <a:pt x="0" y="1031074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6" name="Shape 44"/>
          <p:cNvSpPr/>
          <p:nvPr/>
        </p:nvSpPr>
        <p:spPr>
          <a:xfrm>
            <a:off x="5898858" y="3464047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144712" y="0"/>
                </a:moveTo>
                <a:lnTo>
                  <a:pt x="144712" y="0"/>
                </a:lnTo>
                <a:cubicBezTo>
                  <a:pt x="224581" y="0"/>
                  <a:pt x="289424" y="64843"/>
                  <a:pt x="289424" y="144712"/>
                </a:cubicBezTo>
                <a:lnTo>
                  <a:pt x="289424" y="144712"/>
                </a:lnTo>
                <a:cubicBezTo>
                  <a:pt x="289424" y="224581"/>
                  <a:pt x="224581" y="289424"/>
                  <a:pt x="144712" y="289424"/>
                </a:cubicBezTo>
                <a:lnTo>
                  <a:pt x="144712" y="289424"/>
                </a:lnTo>
                <a:cubicBezTo>
                  <a:pt x="64843" y="289424"/>
                  <a:pt x="0" y="224581"/>
                  <a:pt x="0" y="144712"/>
                </a:cubicBezTo>
                <a:lnTo>
                  <a:pt x="0" y="144712"/>
                </a:lnTo>
                <a:cubicBezTo>
                  <a:pt x="0" y="64843"/>
                  <a:pt x="64843" y="0"/>
                  <a:pt x="144712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7" name="Text 45"/>
          <p:cNvSpPr/>
          <p:nvPr/>
        </p:nvSpPr>
        <p:spPr>
          <a:xfrm>
            <a:off x="6007957" y="3518315"/>
            <a:ext cx="13566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60638" y="3482136"/>
            <a:ext cx="1709412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加息周期后的政策转向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898858" y="3825828"/>
            <a:ext cx="5734220" cy="23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1980年以来的8个完整加息周期中，</a:t>
            </a:r>
            <a:pPr>
              <a:lnSpc>
                <a:spcPct val="140000"/>
              </a:lnSpc>
            </a:pPr>
            <a:r>
              <a:rPr lang="en-US" sz="1139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6个周期后12个月内开始降息</a:t>
            </a:r>
            <a:pPr>
              <a:lnSpc>
                <a:spcPct val="14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（75%概率）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932775" y="4160475"/>
            <a:ext cx="94967" cy="126623"/>
          </a:xfrm>
          <a:custGeom>
            <a:avLst/>
            <a:gdLst/>
            <a:ahLst/>
            <a:cxnLst/>
            <a:rect l="l" t="t" r="r" b="b"/>
            <a:pathLst>
              <a:path w="94967" h="126623">
                <a:moveTo>
                  <a:pt x="41894" y="124298"/>
                </a:moveTo>
                <a:cubicBezTo>
                  <a:pt x="44986" y="127390"/>
                  <a:pt x="50006" y="127390"/>
                  <a:pt x="53098" y="124298"/>
                </a:cubicBezTo>
                <a:lnTo>
                  <a:pt x="92667" y="84729"/>
                </a:lnTo>
                <a:cubicBezTo>
                  <a:pt x="95759" y="81637"/>
                  <a:pt x="95759" y="76617"/>
                  <a:pt x="92667" y="73526"/>
                </a:cubicBezTo>
                <a:cubicBezTo>
                  <a:pt x="89576" y="70434"/>
                  <a:pt x="84556" y="70434"/>
                  <a:pt x="81464" y="73526"/>
                </a:cubicBezTo>
                <a:lnTo>
                  <a:pt x="55398" y="99592"/>
                </a:lnTo>
                <a:lnTo>
                  <a:pt x="55398" y="7914"/>
                </a:lnTo>
                <a:cubicBezTo>
                  <a:pt x="55398" y="3537"/>
                  <a:pt x="51861" y="0"/>
                  <a:pt x="47484" y="0"/>
                </a:cubicBezTo>
                <a:cubicBezTo>
                  <a:pt x="43106" y="0"/>
                  <a:pt x="39570" y="3537"/>
                  <a:pt x="39570" y="7914"/>
                </a:cubicBezTo>
                <a:lnTo>
                  <a:pt x="39570" y="99592"/>
                </a:lnTo>
                <a:lnTo>
                  <a:pt x="13503" y="73526"/>
                </a:lnTo>
                <a:cubicBezTo>
                  <a:pt x="10412" y="70434"/>
                  <a:pt x="5391" y="70434"/>
                  <a:pt x="2300" y="73526"/>
                </a:cubicBezTo>
                <a:cubicBezTo>
                  <a:pt x="-791" y="76617"/>
                  <a:pt x="-791" y="81637"/>
                  <a:pt x="2300" y="84729"/>
                </a:cubicBezTo>
                <a:lnTo>
                  <a:pt x="41870" y="12429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1" name="Text 49"/>
          <p:cNvSpPr/>
          <p:nvPr/>
        </p:nvSpPr>
        <p:spPr>
          <a:xfrm>
            <a:off x="6129493" y="4133341"/>
            <a:ext cx="154661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平均降息幅度: 225-300bp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785611" y="4160475"/>
            <a:ext cx="126623" cy="126623"/>
          </a:xfrm>
          <a:custGeom>
            <a:avLst/>
            <a:gdLst/>
            <a:ahLst/>
            <a:cxnLst/>
            <a:rect l="l" t="t" r="r" b="b"/>
            <a:pathLst>
              <a:path w="126623" h="126623">
                <a:moveTo>
                  <a:pt x="63312" y="0"/>
                </a:moveTo>
                <a:cubicBezTo>
                  <a:pt x="98254" y="0"/>
                  <a:pt x="126623" y="28369"/>
                  <a:pt x="126623" y="63312"/>
                </a:cubicBezTo>
                <a:cubicBezTo>
                  <a:pt x="126623" y="98254"/>
                  <a:pt x="98254" y="126623"/>
                  <a:pt x="63312" y="126623"/>
                </a:cubicBezTo>
                <a:cubicBezTo>
                  <a:pt x="28369" y="126623"/>
                  <a:pt x="0" y="98254"/>
                  <a:pt x="0" y="63312"/>
                </a:cubicBezTo>
                <a:cubicBezTo>
                  <a:pt x="0" y="28369"/>
                  <a:pt x="28369" y="0"/>
                  <a:pt x="63312" y="0"/>
                </a:cubicBezTo>
                <a:close/>
                <a:moveTo>
                  <a:pt x="57376" y="29677"/>
                </a:moveTo>
                <a:lnTo>
                  <a:pt x="57376" y="63312"/>
                </a:lnTo>
                <a:cubicBezTo>
                  <a:pt x="57376" y="65290"/>
                  <a:pt x="58365" y="67145"/>
                  <a:pt x="60022" y="68258"/>
                </a:cubicBezTo>
                <a:lnTo>
                  <a:pt x="83764" y="84086"/>
                </a:lnTo>
                <a:cubicBezTo>
                  <a:pt x="86485" y="85916"/>
                  <a:pt x="90170" y="85174"/>
                  <a:pt x="92000" y="82429"/>
                </a:cubicBezTo>
                <a:cubicBezTo>
                  <a:pt x="93830" y="79684"/>
                  <a:pt x="93088" y="76023"/>
                  <a:pt x="90343" y="74193"/>
                </a:cubicBezTo>
                <a:lnTo>
                  <a:pt x="69247" y="60146"/>
                </a:lnTo>
                <a:lnTo>
                  <a:pt x="69247" y="29677"/>
                </a:lnTo>
                <a:cubicBezTo>
                  <a:pt x="69247" y="26388"/>
                  <a:pt x="66601" y="23742"/>
                  <a:pt x="63312" y="23742"/>
                </a:cubicBezTo>
                <a:cubicBezTo>
                  <a:pt x="60022" y="23742"/>
                  <a:pt x="57376" y="26388"/>
                  <a:pt x="57376" y="29677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3" name="Text 51"/>
          <p:cNvSpPr/>
          <p:nvPr/>
        </p:nvSpPr>
        <p:spPr>
          <a:xfrm>
            <a:off x="8998157" y="4133341"/>
            <a:ext cx="1275276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平均周期长度: 18个月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772235" y="4531300"/>
            <a:ext cx="5897021" cy="814006"/>
          </a:xfrm>
          <a:custGeom>
            <a:avLst/>
            <a:gdLst/>
            <a:ahLst/>
            <a:cxnLst/>
            <a:rect l="l" t="t" r="r" b="b"/>
            <a:pathLst>
              <a:path w="5897021" h="814006">
                <a:moveTo>
                  <a:pt x="36178" y="0"/>
                </a:moveTo>
                <a:lnTo>
                  <a:pt x="5824664" y="0"/>
                </a:lnTo>
                <a:cubicBezTo>
                  <a:pt x="5864625" y="0"/>
                  <a:pt x="5897021" y="32395"/>
                  <a:pt x="5897021" y="72357"/>
                </a:cubicBezTo>
                <a:lnTo>
                  <a:pt x="5897021" y="741649"/>
                </a:lnTo>
                <a:cubicBezTo>
                  <a:pt x="5897021" y="781611"/>
                  <a:pt x="5864625" y="814006"/>
                  <a:pt x="5824664" y="814006"/>
                </a:cubicBezTo>
                <a:lnTo>
                  <a:pt x="36178" y="814006"/>
                </a:lnTo>
                <a:cubicBezTo>
                  <a:pt x="16197" y="814006"/>
                  <a:pt x="0" y="797808"/>
                  <a:pt x="0" y="77782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772235" y="4531300"/>
            <a:ext cx="36178" cy="814006"/>
          </a:xfrm>
          <a:custGeom>
            <a:avLst/>
            <a:gdLst/>
            <a:ahLst/>
            <a:cxnLst/>
            <a:rect l="l" t="t" r="r" b="b"/>
            <a:pathLst>
              <a:path w="36178" h="814006">
                <a:moveTo>
                  <a:pt x="36178" y="0"/>
                </a:moveTo>
                <a:lnTo>
                  <a:pt x="36178" y="0"/>
                </a:lnTo>
                <a:lnTo>
                  <a:pt x="36178" y="814006"/>
                </a:lnTo>
                <a:lnTo>
                  <a:pt x="36178" y="814006"/>
                </a:lnTo>
                <a:cubicBezTo>
                  <a:pt x="16197" y="814006"/>
                  <a:pt x="0" y="797808"/>
                  <a:pt x="0" y="77782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6" name="Shape 54"/>
          <p:cNvSpPr/>
          <p:nvPr/>
        </p:nvSpPr>
        <p:spPr>
          <a:xfrm>
            <a:off x="5898858" y="4639834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144712" y="0"/>
                </a:moveTo>
                <a:lnTo>
                  <a:pt x="144712" y="0"/>
                </a:lnTo>
                <a:cubicBezTo>
                  <a:pt x="224581" y="0"/>
                  <a:pt x="289424" y="64843"/>
                  <a:pt x="289424" y="144712"/>
                </a:cubicBezTo>
                <a:lnTo>
                  <a:pt x="289424" y="144712"/>
                </a:lnTo>
                <a:cubicBezTo>
                  <a:pt x="289424" y="224581"/>
                  <a:pt x="224581" y="289424"/>
                  <a:pt x="144712" y="289424"/>
                </a:cubicBezTo>
                <a:lnTo>
                  <a:pt x="144712" y="289424"/>
                </a:lnTo>
                <a:cubicBezTo>
                  <a:pt x="64843" y="289424"/>
                  <a:pt x="0" y="224581"/>
                  <a:pt x="0" y="144712"/>
                </a:cubicBezTo>
                <a:lnTo>
                  <a:pt x="0" y="144712"/>
                </a:lnTo>
                <a:cubicBezTo>
                  <a:pt x="0" y="64843"/>
                  <a:pt x="64843" y="0"/>
                  <a:pt x="144712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7" name="Text 55"/>
          <p:cNvSpPr/>
          <p:nvPr/>
        </p:nvSpPr>
        <p:spPr>
          <a:xfrm>
            <a:off x="6006261" y="4694101"/>
            <a:ext cx="13566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60638" y="4657923"/>
            <a:ext cx="138381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缩表政策退出时机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898858" y="5001614"/>
            <a:ext cx="5734220" cy="23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历史上QT（量化紧缩）通常在</a:t>
            </a:r>
            <a:pPr>
              <a:lnSpc>
                <a:spcPct val="140000"/>
              </a:lnSpc>
            </a:pPr>
            <a:r>
              <a:rPr lang="en-US" sz="1139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首次降息前3-6个月</a:t>
            </a:r>
            <a:pPr>
              <a:lnSpc>
                <a:spcPct val="14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放缓或暂停，以避免流动性冲击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66303" y="6389947"/>
            <a:ext cx="11459395" cy="461270"/>
          </a:xfrm>
          <a:custGeom>
            <a:avLst/>
            <a:gdLst/>
            <a:ahLst/>
            <a:cxnLst/>
            <a:rect l="l" t="t" r="r" b="b"/>
            <a:pathLst>
              <a:path w="11459395" h="461270">
                <a:moveTo>
                  <a:pt x="72355" y="0"/>
                </a:moveTo>
                <a:lnTo>
                  <a:pt x="11387040" y="0"/>
                </a:lnTo>
                <a:cubicBezTo>
                  <a:pt x="11427000" y="0"/>
                  <a:pt x="11459395" y="32394"/>
                  <a:pt x="11459395" y="72355"/>
                </a:cubicBezTo>
                <a:lnTo>
                  <a:pt x="11459395" y="388915"/>
                </a:lnTo>
                <a:cubicBezTo>
                  <a:pt x="11459395" y="428876"/>
                  <a:pt x="11427000" y="461270"/>
                  <a:pt x="11387040" y="461270"/>
                </a:cubicBezTo>
                <a:lnTo>
                  <a:pt x="72355" y="461270"/>
                </a:lnTo>
                <a:cubicBezTo>
                  <a:pt x="32394" y="461270"/>
                  <a:pt x="0" y="428876"/>
                  <a:pt x="0" y="388915"/>
                </a:cubicBezTo>
                <a:lnTo>
                  <a:pt x="0" y="72355"/>
                </a:lnTo>
                <a:cubicBezTo>
                  <a:pt x="0" y="32394"/>
                  <a:pt x="32394" y="0"/>
                  <a:pt x="7235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7448" y="6539181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63312" y="45223"/>
                </a:moveTo>
                <a:cubicBezTo>
                  <a:pt x="63312" y="40231"/>
                  <a:pt x="67364" y="36178"/>
                  <a:pt x="72356" y="36178"/>
                </a:cubicBezTo>
                <a:cubicBezTo>
                  <a:pt x="77348" y="36178"/>
                  <a:pt x="81401" y="40231"/>
                  <a:pt x="81401" y="45223"/>
                </a:cubicBezTo>
                <a:cubicBezTo>
                  <a:pt x="81401" y="50214"/>
                  <a:pt x="77348" y="54267"/>
                  <a:pt x="72356" y="54267"/>
                </a:cubicBezTo>
                <a:cubicBezTo>
                  <a:pt x="67364" y="54267"/>
                  <a:pt x="63312" y="50214"/>
                  <a:pt x="63312" y="45223"/>
                </a:cubicBezTo>
                <a:close/>
                <a:moveTo>
                  <a:pt x="61050" y="63312"/>
                </a:moveTo>
                <a:lnTo>
                  <a:pt x="74617" y="63312"/>
                </a:lnTo>
                <a:cubicBezTo>
                  <a:pt x="78376" y="63312"/>
                  <a:pt x="81401" y="66336"/>
                  <a:pt x="81401" y="70095"/>
                </a:cubicBezTo>
                <a:lnTo>
                  <a:pt x="81401" y="94967"/>
                </a:lnTo>
                <a:lnTo>
                  <a:pt x="83662" y="94967"/>
                </a:lnTo>
                <a:cubicBezTo>
                  <a:pt x="87421" y="94967"/>
                  <a:pt x="90445" y="97992"/>
                  <a:pt x="90445" y="101751"/>
                </a:cubicBezTo>
                <a:cubicBezTo>
                  <a:pt x="90445" y="105510"/>
                  <a:pt x="87421" y="108534"/>
                  <a:pt x="83662" y="108534"/>
                </a:cubicBezTo>
                <a:lnTo>
                  <a:pt x="61050" y="108534"/>
                </a:lnTo>
                <a:cubicBezTo>
                  <a:pt x="57291" y="108534"/>
                  <a:pt x="54267" y="105510"/>
                  <a:pt x="54267" y="101751"/>
                </a:cubicBezTo>
                <a:cubicBezTo>
                  <a:pt x="54267" y="97992"/>
                  <a:pt x="57291" y="94967"/>
                  <a:pt x="61050" y="94967"/>
                </a:cubicBezTo>
                <a:lnTo>
                  <a:pt x="67834" y="94967"/>
                </a:lnTo>
                <a:lnTo>
                  <a:pt x="67834" y="76878"/>
                </a:lnTo>
                <a:lnTo>
                  <a:pt x="61050" y="76878"/>
                </a:lnTo>
                <a:cubicBezTo>
                  <a:pt x="57291" y="76878"/>
                  <a:pt x="54267" y="73854"/>
                  <a:pt x="54267" y="70095"/>
                </a:cubicBezTo>
                <a:cubicBezTo>
                  <a:pt x="54267" y="66336"/>
                  <a:pt x="57291" y="63312"/>
                  <a:pt x="61050" y="6331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2" name="Text 60"/>
          <p:cNvSpPr/>
          <p:nvPr/>
        </p:nvSpPr>
        <p:spPr>
          <a:xfrm>
            <a:off x="711779" y="6503003"/>
            <a:ext cx="11073218" cy="23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数据来源说明：</a:t>
            </a:r>
            <a:pPr>
              <a:lnSpc>
                <a:spcPct val="140000"/>
              </a:lnSpc>
            </a:pPr>
            <a:r>
              <a:rPr lang="en-US" sz="113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由于原始数据文件编码问题，本分析采用历史经济周期规律、美联储政策反应函数及财政政策典型模式进行推断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410" y="364410"/>
            <a:ext cx="2411407" cy="332918"/>
          </a:xfrm>
          <a:custGeom>
            <a:avLst/>
            <a:gdLst/>
            <a:ahLst/>
            <a:cxnLst/>
            <a:rect l="l" t="t" r="r" b="b"/>
            <a:pathLst>
              <a:path w="2411407" h="332918">
                <a:moveTo>
                  <a:pt x="166459" y="0"/>
                </a:moveTo>
                <a:lnTo>
                  <a:pt x="2244948" y="0"/>
                </a:lnTo>
                <a:cubicBezTo>
                  <a:pt x="2336880" y="0"/>
                  <a:pt x="2411407" y="74526"/>
                  <a:pt x="2411407" y="166459"/>
                </a:cubicBezTo>
                <a:lnTo>
                  <a:pt x="2411407" y="166459"/>
                </a:lnTo>
                <a:cubicBezTo>
                  <a:pt x="2411407" y="258392"/>
                  <a:pt x="2336880" y="332918"/>
                  <a:pt x="2244948" y="332918"/>
                </a:cubicBezTo>
                <a:lnTo>
                  <a:pt x="166459" y="332918"/>
                </a:lnTo>
                <a:cubicBezTo>
                  <a:pt x="74526" y="332918"/>
                  <a:pt x="0" y="258392"/>
                  <a:pt x="0" y="166459"/>
                </a:cubicBezTo>
                <a:lnTo>
                  <a:pt x="0" y="166459"/>
                </a:lnTo>
                <a:cubicBezTo>
                  <a:pt x="0" y="74526"/>
                  <a:pt x="74526" y="0"/>
                  <a:pt x="166459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874" y="458887"/>
            <a:ext cx="217943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spc="99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MONETARY POLICY FORECAST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809801"/>
            <a:ext cx="11634137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货币政策预测：三情景分析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911" y="1277686"/>
            <a:ext cx="863787" cy="35991"/>
          </a:xfrm>
          <a:custGeom>
            <a:avLst/>
            <a:gdLst/>
            <a:ahLst/>
            <a:cxnLst/>
            <a:rect l="l" t="t" r="r" b="b"/>
            <a:pathLst>
              <a:path w="863787" h="35991">
                <a:moveTo>
                  <a:pt x="0" y="0"/>
                </a:moveTo>
                <a:lnTo>
                  <a:pt x="863787" y="0"/>
                </a:lnTo>
                <a:lnTo>
                  <a:pt x="863787" y="35991"/>
                </a:lnTo>
                <a:lnTo>
                  <a:pt x="0" y="35991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68909" y="1430648"/>
            <a:ext cx="5641612" cy="3563123"/>
          </a:xfrm>
          <a:custGeom>
            <a:avLst/>
            <a:gdLst/>
            <a:ahLst/>
            <a:cxnLst/>
            <a:rect l="l" t="t" r="r" b="b"/>
            <a:pathLst>
              <a:path w="5641612" h="3563123">
                <a:moveTo>
                  <a:pt x="107963" y="0"/>
                </a:moveTo>
                <a:lnTo>
                  <a:pt x="5533649" y="0"/>
                </a:lnTo>
                <a:cubicBezTo>
                  <a:pt x="5593275" y="0"/>
                  <a:pt x="5641612" y="48337"/>
                  <a:pt x="5641612" y="107963"/>
                </a:cubicBezTo>
                <a:lnTo>
                  <a:pt x="5641612" y="3455161"/>
                </a:lnTo>
                <a:cubicBezTo>
                  <a:pt x="5641612" y="3514747"/>
                  <a:pt x="5593235" y="3563123"/>
                  <a:pt x="5533649" y="3563123"/>
                </a:cubicBezTo>
                <a:lnTo>
                  <a:pt x="107963" y="3563123"/>
                </a:lnTo>
                <a:cubicBezTo>
                  <a:pt x="48337" y="3563123"/>
                  <a:pt x="0" y="3514787"/>
                  <a:pt x="0" y="3455161"/>
                </a:cubicBezTo>
                <a:lnTo>
                  <a:pt x="0" y="107963"/>
                </a:lnTo>
                <a:cubicBezTo>
                  <a:pt x="0" y="48376"/>
                  <a:pt x="48376" y="0"/>
                  <a:pt x="107963" y="0"/>
                </a:cubicBezTo>
                <a:close/>
              </a:path>
            </a:pathLst>
          </a:custGeom>
          <a:gradFill rotWithShape="1" flip="none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2700000" scaled="1"/>
          </a:gradFill>
          <a:ln w="25400">
            <a:solidFill>
              <a:srgbClr val="C0A0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872" y="1637597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215947" y="0"/>
                </a:moveTo>
                <a:lnTo>
                  <a:pt x="215947" y="0"/>
                </a:lnTo>
                <a:cubicBezTo>
                  <a:pt x="335131" y="0"/>
                  <a:pt x="431894" y="96763"/>
                  <a:pt x="431894" y="215947"/>
                </a:cubicBezTo>
                <a:lnTo>
                  <a:pt x="431894" y="215947"/>
                </a:lnTo>
                <a:cubicBezTo>
                  <a:pt x="431894" y="335131"/>
                  <a:pt x="335131" y="431894"/>
                  <a:pt x="215947" y="431894"/>
                </a:cubicBezTo>
                <a:lnTo>
                  <a:pt x="215947" y="431894"/>
                </a:lnTo>
                <a:cubicBezTo>
                  <a:pt x="96763" y="431894"/>
                  <a:pt x="0" y="335131"/>
                  <a:pt x="0" y="215947"/>
                </a:cubicBezTo>
                <a:lnTo>
                  <a:pt x="0" y="215947"/>
                </a:lnTo>
                <a:cubicBezTo>
                  <a:pt x="0" y="96763"/>
                  <a:pt x="96763" y="0"/>
                  <a:pt x="215947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Shape 6"/>
          <p:cNvSpPr/>
          <p:nvPr/>
        </p:nvSpPr>
        <p:spPr>
          <a:xfrm>
            <a:off x="647841" y="1763566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22494" y="22494"/>
                </a:moveTo>
                <a:cubicBezTo>
                  <a:pt x="22494" y="16273"/>
                  <a:pt x="17468" y="11247"/>
                  <a:pt x="11247" y="11247"/>
                </a:cubicBezTo>
                <a:cubicBezTo>
                  <a:pt x="5026" y="11247"/>
                  <a:pt x="0" y="16273"/>
                  <a:pt x="0" y="22494"/>
                </a:cubicBezTo>
                <a:lnTo>
                  <a:pt x="0" y="140590"/>
                </a:lnTo>
                <a:cubicBezTo>
                  <a:pt x="0" y="156126"/>
                  <a:pt x="12583" y="168708"/>
                  <a:pt x="28118" y="168708"/>
                </a:cubicBezTo>
                <a:lnTo>
                  <a:pt x="168708" y="168708"/>
                </a:lnTo>
                <a:cubicBezTo>
                  <a:pt x="174930" y="168708"/>
                  <a:pt x="179956" y="163682"/>
                  <a:pt x="179956" y="157461"/>
                </a:cubicBezTo>
                <a:cubicBezTo>
                  <a:pt x="179956" y="151240"/>
                  <a:pt x="174930" y="146214"/>
                  <a:pt x="168708" y="146214"/>
                </a:cubicBezTo>
                <a:lnTo>
                  <a:pt x="28118" y="146214"/>
                </a:lnTo>
                <a:cubicBezTo>
                  <a:pt x="25025" y="146214"/>
                  <a:pt x="22494" y="143683"/>
                  <a:pt x="22494" y="140590"/>
                </a:cubicBezTo>
                <a:lnTo>
                  <a:pt x="22494" y="22494"/>
                </a:lnTo>
                <a:close/>
                <a:moveTo>
                  <a:pt x="165405" y="52932"/>
                </a:moveTo>
                <a:cubicBezTo>
                  <a:pt x="169798" y="48539"/>
                  <a:pt x="169798" y="41404"/>
                  <a:pt x="165405" y="37010"/>
                </a:cubicBezTo>
                <a:cubicBezTo>
                  <a:pt x="161011" y="32617"/>
                  <a:pt x="153876" y="32617"/>
                  <a:pt x="149483" y="37010"/>
                </a:cubicBezTo>
                <a:lnTo>
                  <a:pt x="112472" y="74056"/>
                </a:lnTo>
                <a:lnTo>
                  <a:pt x="92298" y="53916"/>
                </a:lnTo>
                <a:cubicBezTo>
                  <a:pt x="87904" y="49523"/>
                  <a:pt x="80769" y="49523"/>
                  <a:pt x="76376" y="53916"/>
                </a:cubicBezTo>
                <a:lnTo>
                  <a:pt x="42634" y="87658"/>
                </a:lnTo>
                <a:cubicBezTo>
                  <a:pt x="38241" y="92052"/>
                  <a:pt x="38241" y="99187"/>
                  <a:pt x="42634" y="103580"/>
                </a:cubicBezTo>
                <a:cubicBezTo>
                  <a:pt x="47027" y="107973"/>
                  <a:pt x="54162" y="107973"/>
                  <a:pt x="58556" y="103580"/>
                </a:cubicBezTo>
                <a:lnTo>
                  <a:pt x="84354" y="77782"/>
                </a:lnTo>
                <a:lnTo>
                  <a:pt x="104529" y="97956"/>
                </a:lnTo>
                <a:cubicBezTo>
                  <a:pt x="108922" y="102350"/>
                  <a:pt x="116057" y="102350"/>
                  <a:pt x="120451" y="97956"/>
                </a:cubicBezTo>
                <a:lnTo>
                  <a:pt x="165440" y="52967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061739" y="1601606"/>
            <a:ext cx="1052741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基线情景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1739" y="1889535"/>
            <a:ext cx="101675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Gradual Easing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46774" y="1583610"/>
            <a:ext cx="809801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551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45749" y="1943522"/>
            <a:ext cx="71082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872" y="2231451"/>
            <a:ext cx="5335687" cy="719823"/>
          </a:xfrm>
          <a:custGeom>
            <a:avLst/>
            <a:gdLst/>
            <a:ahLst/>
            <a:cxnLst/>
            <a:rect l="l" t="t" r="r" b="b"/>
            <a:pathLst>
              <a:path w="5335687" h="719823">
                <a:moveTo>
                  <a:pt x="71982" y="0"/>
                </a:moveTo>
                <a:lnTo>
                  <a:pt x="5263705" y="0"/>
                </a:lnTo>
                <a:cubicBezTo>
                  <a:pt x="5303460" y="0"/>
                  <a:pt x="5335687" y="32228"/>
                  <a:pt x="5335687" y="71982"/>
                </a:cubicBezTo>
                <a:lnTo>
                  <a:pt x="5335687" y="647841"/>
                </a:lnTo>
                <a:cubicBezTo>
                  <a:pt x="5335687" y="687595"/>
                  <a:pt x="5303460" y="719823"/>
                  <a:pt x="5263705" y="719823"/>
                </a:cubicBezTo>
                <a:lnTo>
                  <a:pt x="71982" y="719823"/>
                </a:lnTo>
                <a:cubicBezTo>
                  <a:pt x="32228" y="719823"/>
                  <a:pt x="0" y="687595"/>
                  <a:pt x="0" y="647841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9845" y="2339424"/>
            <a:ext cx="519172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9845" y="2591362"/>
            <a:ext cx="520072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1995年、2019年软着陆模式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1872" y="3023256"/>
            <a:ext cx="5335687" cy="719823"/>
          </a:xfrm>
          <a:custGeom>
            <a:avLst/>
            <a:gdLst/>
            <a:ahLst/>
            <a:cxnLst/>
            <a:rect l="l" t="t" r="r" b="b"/>
            <a:pathLst>
              <a:path w="5335687" h="719823">
                <a:moveTo>
                  <a:pt x="71982" y="0"/>
                </a:moveTo>
                <a:lnTo>
                  <a:pt x="5263705" y="0"/>
                </a:lnTo>
                <a:cubicBezTo>
                  <a:pt x="5303460" y="0"/>
                  <a:pt x="5335687" y="32228"/>
                  <a:pt x="5335687" y="71982"/>
                </a:cubicBezTo>
                <a:lnTo>
                  <a:pt x="5335687" y="647841"/>
                </a:lnTo>
                <a:cubicBezTo>
                  <a:pt x="5335687" y="687595"/>
                  <a:pt x="5303460" y="719823"/>
                  <a:pt x="5263705" y="719823"/>
                </a:cubicBezTo>
                <a:lnTo>
                  <a:pt x="71982" y="719823"/>
                </a:lnTo>
                <a:cubicBezTo>
                  <a:pt x="32228" y="719823"/>
                  <a:pt x="0" y="687595"/>
                  <a:pt x="0" y="647841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9845" y="3131230"/>
            <a:ext cx="519172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关键假设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845" y="3383168"/>
            <a:ext cx="520072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经济软着陆，通胀温和回落至2-2.5%，就业保持稳定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1872" y="3815061"/>
            <a:ext cx="5335687" cy="719823"/>
          </a:xfrm>
          <a:custGeom>
            <a:avLst/>
            <a:gdLst/>
            <a:ahLst/>
            <a:cxnLst/>
            <a:rect l="l" t="t" r="r" b="b"/>
            <a:pathLst>
              <a:path w="5335687" h="719823">
                <a:moveTo>
                  <a:pt x="71982" y="0"/>
                </a:moveTo>
                <a:lnTo>
                  <a:pt x="5263705" y="0"/>
                </a:lnTo>
                <a:cubicBezTo>
                  <a:pt x="5303460" y="0"/>
                  <a:pt x="5335687" y="32228"/>
                  <a:pt x="5335687" y="71982"/>
                </a:cubicBezTo>
                <a:lnTo>
                  <a:pt x="5335687" y="647841"/>
                </a:lnTo>
                <a:cubicBezTo>
                  <a:pt x="5335687" y="687595"/>
                  <a:pt x="5303460" y="719823"/>
                  <a:pt x="5263705" y="719823"/>
                </a:cubicBezTo>
                <a:lnTo>
                  <a:pt x="71982" y="719823"/>
                </a:lnTo>
                <a:cubicBezTo>
                  <a:pt x="32228" y="719823"/>
                  <a:pt x="0" y="687595"/>
                  <a:pt x="0" y="647841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9845" y="3923035"/>
            <a:ext cx="519172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利率路径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9845" y="4174973"/>
            <a:ext cx="520072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降息2-3次，年底利率</a:t>
            </a:r>
            <a:pPr>
              <a:lnSpc>
                <a:spcPct val="130000"/>
              </a:lnSpc>
            </a:pPr>
            <a:r>
              <a:rPr lang="en-US" sz="12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3.5-3.75%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4410" y="5115241"/>
            <a:ext cx="2771318" cy="1160714"/>
          </a:xfrm>
          <a:custGeom>
            <a:avLst/>
            <a:gdLst/>
            <a:ahLst/>
            <a:cxnLst/>
            <a:rect l="l" t="t" r="r" b="b"/>
            <a:pathLst>
              <a:path w="2771318" h="1160714">
                <a:moveTo>
                  <a:pt x="107970" y="0"/>
                </a:moveTo>
                <a:lnTo>
                  <a:pt x="2663348" y="0"/>
                </a:lnTo>
                <a:cubicBezTo>
                  <a:pt x="2722978" y="0"/>
                  <a:pt x="2771318" y="48340"/>
                  <a:pt x="2771318" y="107970"/>
                </a:cubicBezTo>
                <a:lnTo>
                  <a:pt x="2771318" y="1052745"/>
                </a:lnTo>
                <a:cubicBezTo>
                  <a:pt x="2771318" y="1112375"/>
                  <a:pt x="2722978" y="1160714"/>
                  <a:pt x="2663348" y="1160714"/>
                </a:cubicBezTo>
                <a:lnTo>
                  <a:pt x="107970" y="1160714"/>
                </a:lnTo>
                <a:cubicBezTo>
                  <a:pt x="48340" y="1160714"/>
                  <a:pt x="0" y="1112375"/>
                  <a:pt x="0" y="1052745"/>
                </a:cubicBezTo>
                <a:lnTo>
                  <a:pt x="0" y="107970"/>
                </a:lnTo>
                <a:cubicBezTo>
                  <a:pt x="0" y="48340"/>
                  <a:pt x="48340" y="0"/>
                  <a:pt x="10797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883" y="5245709"/>
            <a:ext cx="72882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鹰派情景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85598" y="5227714"/>
            <a:ext cx="53986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25%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6883" y="5587625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维持高利率更久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3631" y="5857559"/>
            <a:ext cx="121470" cy="107973"/>
          </a:xfrm>
          <a:custGeom>
            <a:avLst/>
            <a:gdLst/>
            <a:ahLst/>
            <a:cxnLst/>
            <a:rect l="l" t="t" r="r" b="b"/>
            <a:pathLst>
              <a:path w="121470" h="107973">
                <a:moveTo>
                  <a:pt x="60735" y="13497"/>
                </a:moveTo>
                <a:cubicBezTo>
                  <a:pt x="83089" y="13497"/>
                  <a:pt x="101225" y="31633"/>
                  <a:pt x="101225" y="53987"/>
                </a:cubicBezTo>
                <a:cubicBezTo>
                  <a:pt x="101225" y="76341"/>
                  <a:pt x="83089" y="94477"/>
                  <a:pt x="60735" y="94477"/>
                </a:cubicBezTo>
                <a:cubicBezTo>
                  <a:pt x="46985" y="94477"/>
                  <a:pt x="34817" y="87623"/>
                  <a:pt x="27499" y="77121"/>
                </a:cubicBezTo>
                <a:cubicBezTo>
                  <a:pt x="25370" y="74063"/>
                  <a:pt x="21152" y="73325"/>
                  <a:pt x="18094" y="75455"/>
                </a:cubicBezTo>
                <a:cubicBezTo>
                  <a:pt x="15036" y="77585"/>
                  <a:pt x="14298" y="81803"/>
                  <a:pt x="16428" y="84860"/>
                </a:cubicBezTo>
                <a:cubicBezTo>
                  <a:pt x="26171" y="98821"/>
                  <a:pt x="42388" y="107973"/>
                  <a:pt x="60735" y="107973"/>
                </a:cubicBezTo>
                <a:cubicBezTo>
                  <a:pt x="90554" y="107973"/>
                  <a:pt x="114722" y="83806"/>
                  <a:pt x="114722" y="53987"/>
                </a:cubicBezTo>
                <a:cubicBezTo>
                  <a:pt x="114722" y="24167"/>
                  <a:pt x="90554" y="0"/>
                  <a:pt x="60735" y="0"/>
                </a:cubicBezTo>
                <a:cubicBezTo>
                  <a:pt x="42662" y="0"/>
                  <a:pt x="26677" y="8878"/>
                  <a:pt x="16871" y="22501"/>
                </a:cubicBezTo>
                <a:lnTo>
                  <a:pt x="16871" y="16871"/>
                </a:lnTo>
                <a:cubicBezTo>
                  <a:pt x="16871" y="13138"/>
                  <a:pt x="13855" y="10123"/>
                  <a:pt x="10123" y="10123"/>
                </a:cubicBezTo>
                <a:cubicBezTo>
                  <a:pt x="6390" y="10123"/>
                  <a:pt x="3374" y="13138"/>
                  <a:pt x="3374" y="16871"/>
                </a:cubicBezTo>
                <a:lnTo>
                  <a:pt x="3374" y="40490"/>
                </a:lnTo>
                <a:cubicBezTo>
                  <a:pt x="3374" y="44223"/>
                  <a:pt x="6390" y="47238"/>
                  <a:pt x="10123" y="47238"/>
                </a:cubicBezTo>
                <a:lnTo>
                  <a:pt x="15310" y="47238"/>
                </a:lnTo>
                <a:cubicBezTo>
                  <a:pt x="15416" y="47238"/>
                  <a:pt x="15521" y="47238"/>
                  <a:pt x="15627" y="47238"/>
                </a:cubicBezTo>
                <a:lnTo>
                  <a:pt x="33763" y="47238"/>
                </a:lnTo>
                <a:cubicBezTo>
                  <a:pt x="37495" y="47238"/>
                  <a:pt x="40511" y="44223"/>
                  <a:pt x="40511" y="40490"/>
                </a:cubicBezTo>
                <a:cubicBezTo>
                  <a:pt x="40511" y="36757"/>
                  <a:pt x="37495" y="33742"/>
                  <a:pt x="33763" y="33742"/>
                </a:cubicBezTo>
                <a:lnTo>
                  <a:pt x="25686" y="33742"/>
                </a:lnTo>
                <a:cubicBezTo>
                  <a:pt x="32666" y="21637"/>
                  <a:pt x="45762" y="13497"/>
                  <a:pt x="60735" y="13497"/>
                </a:cubicBezTo>
                <a:close/>
                <a:moveTo>
                  <a:pt x="65796" y="32055"/>
                </a:moveTo>
                <a:cubicBezTo>
                  <a:pt x="65796" y="29250"/>
                  <a:pt x="63540" y="26993"/>
                  <a:pt x="60735" y="26993"/>
                </a:cubicBezTo>
                <a:cubicBezTo>
                  <a:pt x="57930" y="26993"/>
                  <a:pt x="55674" y="29250"/>
                  <a:pt x="55674" y="32055"/>
                </a:cubicBezTo>
                <a:lnTo>
                  <a:pt x="55674" y="53987"/>
                </a:lnTo>
                <a:cubicBezTo>
                  <a:pt x="55674" y="55336"/>
                  <a:pt x="56201" y="56623"/>
                  <a:pt x="57150" y="57572"/>
                </a:cubicBezTo>
                <a:lnTo>
                  <a:pt x="72334" y="72756"/>
                </a:lnTo>
                <a:cubicBezTo>
                  <a:pt x="74316" y="74738"/>
                  <a:pt x="77522" y="74738"/>
                  <a:pt x="79483" y="72756"/>
                </a:cubicBezTo>
                <a:cubicBezTo>
                  <a:pt x="81444" y="70773"/>
                  <a:pt x="81465" y="67568"/>
                  <a:pt x="79483" y="65607"/>
                </a:cubicBezTo>
                <a:lnTo>
                  <a:pt x="65775" y="51899"/>
                </a:lnTo>
                <a:lnTo>
                  <a:pt x="65775" y="32055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49" y="5839563"/>
            <a:ext cx="2439894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历史类比: 2006-2007年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0379" y="6037514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53987" y="0"/>
                </a:moveTo>
                <a:cubicBezTo>
                  <a:pt x="57087" y="0"/>
                  <a:pt x="59934" y="1708"/>
                  <a:pt x="61410" y="4429"/>
                </a:cubicBezTo>
                <a:lnTo>
                  <a:pt x="106961" y="88783"/>
                </a:lnTo>
                <a:cubicBezTo>
                  <a:pt x="108374" y="91398"/>
                  <a:pt x="108311" y="94561"/>
                  <a:pt x="106792" y="97113"/>
                </a:cubicBezTo>
                <a:cubicBezTo>
                  <a:pt x="105274" y="99665"/>
                  <a:pt x="102511" y="101225"/>
                  <a:pt x="99538" y="101225"/>
                </a:cubicBezTo>
                <a:lnTo>
                  <a:pt x="8435" y="101225"/>
                </a:lnTo>
                <a:cubicBezTo>
                  <a:pt x="5462" y="101225"/>
                  <a:pt x="2720" y="99665"/>
                  <a:pt x="1181" y="97113"/>
                </a:cubicBezTo>
                <a:cubicBezTo>
                  <a:pt x="-359" y="94561"/>
                  <a:pt x="-401" y="91398"/>
                  <a:pt x="1012" y="88783"/>
                </a:cubicBezTo>
                <a:lnTo>
                  <a:pt x="46564" y="4429"/>
                </a:lnTo>
                <a:cubicBezTo>
                  <a:pt x="48040" y="1708"/>
                  <a:pt x="50887" y="0"/>
                  <a:pt x="53987" y="0"/>
                </a:cubicBezTo>
                <a:close/>
                <a:moveTo>
                  <a:pt x="53987" y="35429"/>
                </a:moveTo>
                <a:cubicBezTo>
                  <a:pt x="51182" y="35429"/>
                  <a:pt x="48925" y="37685"/>
                  <a:pt x="48925" y="40490"/>
                </a:cubicBezTo>
                <a:lnTo>
                  <a:pt x="48925" y="64109"/>
                </a:lnTo>
                <a:cubicBezTo>
                  <a:pt x="48925" y="66914"/>
                  <a:pt x="51182" y="69170"/>
                  <a:pt x="53987" y="69170"/>
                </a:cubicBezTo>
                <a:cubicBezTo>
                  <a:pt x="56791" y="69170"/>
                  <a:pt x="59048" y="66914"/>
                  <a:pt x="59048" y="64109"/>
                </a:cubicBezTo>
                <a:lnTo>
                  <a:pt x="59048" y="40490"/>
                </a:lnTo>
                <a:cubicBezTo>
                  <a:pt x="59048" y="37685"/>
                  <a:pt x="56791" y="35429"/>
                  <a:pt x="53987" y="35429"/>
                </a:cubicBezTo>
                <a:close/>
                <a:moveTo>
                  <a:pt x="59617" y="80980"/>
                </a:moveTo>
                <a:cubicBezTo>
                  <a:pt x="59745" y="78890"/>
                  <a:pt x="58703" y="76902"/>
                  <a:pt x="56911" y="75818"/>
                </a:cubicBezTo>
                <a:cubicBezTo>
                  <a:pt x="55120" y="74734"/>
                  <a:pt x="52875" y="74734"/>
                  <a:pt x="51083" y="75818"/>
                </a:cubicBezTo>
                <a:cubicBezTo>
                  <a:pt x="49291" y="76902"/>
                  <a:pt x="48249" y="78890"/>
                  <a:pt x="48377" y="80980"/>
                </a:cubicBezTo>
                <a:cubicBezTo>
                  <a:pt x="48249" y="83070"/>
                  <a:pt x="49291" y="85059"/>
                  <a:pt x="51083" y="86142"/>
                </a:cubicBezTo>
                <a:cubicBezTo>
                  <a:pt x="52875" y="87226"/>
                  <a:pt x="55120" y="87226"/>
                  <a:pt x="56911" y="86142"/>
                </a:cubicBezTo>
                <a:cubicBezTo>
                  <a:pt x="58703" y="85059"/>
                  <a:pt x="59745" y="83070"/>
                  <a:pt x="59617" y="8098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9" name="Text 27"/>
          <p:cNvSpPr/>
          <p:nvPr/>
        </p:nvSpPr>
        <p:spPr>
          <a:xfrm>
            <a:off x="637349" y="6019519"/>
            <a:ext cx="2439894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触发: 通胀反弹至3%以上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49607" y="5115241"/>
            <a:ext cx="2771318" cy="1160714"/>
          </a:xfrm>
          <a:custGeom>
            <a:avLst/>
            <a:gdLst/>
            <a:ahLst/>
            <a:cxnLst/>
            <a:rect l="l" t="t" r="r" b="b"/>
            <a:pathLst>
              <a:path w="2771318" h="1160714">
                <a:moveTo>
                  <a:pt x="107970" y="0"/>
                </a:moveTo>
                <a:lnTo>
                  <a:pt x="2663348" y="0"/>
                </a:lnTo>
                <a:cubicBezTo>
                  <a:pt x="2722978" y="0"/>
                  <a:pt x="2771318" y="48340"/>
                  <a:pt x="2771318" y="107970"/>
                </a:cubicBezTo>
                <a:lnTo>
                  <a:pt x="2771318" y="1052745"/>
                </a:lnTo>
                <a:cubicBezTo>
                  <a:pt x="2771318" y="1112375"/>
                  <a:pt x="2722978" y="1160714"/>
                  <a:pt x="2663348" y="1160714"/>
                </a:cubicBezTo>
                <a:lnTo>
                  <a:pt x="107970" y="1160714"/>
                </a:lnTo>
                <a:cubicBezTo>
                  <a:pt x="48340" y="1160714"/>
                  <a:pt x="0" y="1112375"/>
                  <a:pt x="0" y="1052745"/>
                </a:cubicBezTo>
                <a:lnTo>
                  <a:pt x="0" y="107970"/>
                </a:lnTo>
                <a:cubicBezTo>
                  <a:pt x="0" y="48340"/>
                  <a:pt x="48340" y="0"/>
                  <a:pt x="10797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2079" y="5245709"/>
            <a:ext cx="72882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鸽派情景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70935" y="5227714"/>
            <a:ext cx="53986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62079" y="5587625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加速降息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368827" y="5857559"/>
            <a:ext cx="121470" cy="107973"/>
          </a:xfrm>
          <a:custGeom>
            <a:avLst/>
            <a:gdLst/>
            <a:ahLst/>
            <a:cxnLst/>
            <a:rect l="l" t="t" r="r" b="b"/>
            <a:pathLst>
              <a:path w="121470" h="107973">
                <a:moveTo>
                  <a:pt x="60735" y="13497"/>
                </a:moveTo>
                <a:cubicBezTo>
                  <a:pt x="83089" y="13497"/>
                  <a:pt x="101225" y="31633"/>
                  <a:pt x="101225" y="53987"/>
                </a:cubicBezTo>
                <a:cubicBezTo>
                  <a:pt x="101225" y="76341"/>
                  <a:pt x="83089" y="94477"/>
                  <a:pt x="60735" y="94477"/>
                </a:cubicBezTo>
                <a:cubicBezTo>
                  <a:pt x="46985" y="94477"/>
                  <a:pt x="34817" y="87623"/>
                  <a:pt x="27499" y="77121"/>
                </a:cubicBezTo>
                <a:cubicBezTo>
                  <a:pt x="25370" y="74063"/>
                  <a:pt x="21152" y="73325"/>
                  <a:pt x="18094" y="75455"/>
                </a:cubicBezTo>
                <a:cubicBezTo>
                  <a:pt x="15036" y="77585"/>
                  <a:pt x="14298" y="81803"/>
                  <a:pt x="16428" y="84860"/>
                </a:cubicBezTo>
                <a:cubicBezTo>
                  <a:pt x="26171" y="98821"/>
                  <a:pt x="42388" y="107973"/>
                  <a:pt x="60735" y="107973"/>
                </a:cubicBezTo>
                <a:cubicBezTo>
                  <a:pt x="90554" y="107973"/>
                  <a:pt x="114722" y="83806"/>
                  <a:pt x="114722" y="53987"/>
                </a:cubicBezTo>
                <a:cubicBezTo>
                  <a:pt x="114722" y="24167"/>
                  <a:pt x="90554" y="0"/>
                  <a:pt x="60735" y="0"/>
                </a:cubicBezTo>
                <a:cubicBezTo>
                  <a:pt x="42662" y="0"/>
                  <a:pt x="26677" y="8878"/>
                  <a:pt x="16871" y="22501"/>
                </a:cubicBezTo>
                <a:lnTo>
                  <a:pt x="16871" y="16871"/>
                </a:lnTo>
                <a:cubicBezTo>
                  <a:pt x="16871" y="13138"/>
                  <a:pt x="13855" y="10123"/>
                  <a:pt x="10123" y="10123"/>
                </a:cubicBezTo>
                <a:cubicBezTo>
                  <a:pt x="6390" y="10123"/>
                  <a:pt x="3374" y="13138"/>
                  <a:pt x="3374" y="16871"/>
                </a:cubicBezTo>
                <a:lnTo>
                  <a:pt x="3374" y="40490"/>
                </a:lnTo>
                <a:cubicBezTo>
                  <a:pt x="3374" y="44223"/>
                  <a:pt x="6390" y="47238"/>
                  <a:pt x="10123" y="47238"/>
                </a:cubicBezTo>
                <a:lnTo>
                  <a:pt x="15310" y="47238"/>
                </a:lnTo>
                <a:cubicBezTo>
                  <a:pt x="15416" y="47238"/>
                  <a:pt x="15521" y="47238"/>
                  <a:pt x="15627" y="47238"/>
                </a:cubicBezTo>
                <a:lnTo>
                  <a:pt x="33763" y="47238"/>
                </a:lnTo>
                <a:cubicBezTo>
                  <a:pt x="37495" y="47238"/>
                  <a:pt x="40511" y="44223"/>
                  <a:pt x="40511" y="40490"/>
                </a:cubicBezTo>
                <a:cubicBezTo>
                  <a:pt x="40511" y="36757"/>
                  <a:pt x="37495" y="33742"/>
                  <a:pt x="33763" y="33742"/>
                </a:cubicBezTo>
                <a:lnTo>
                  <a:pt x="25686" y="33742"/>
                </a:lnTo>
                <a:cubicBezTo>
                  <a:pt x="32666" y="21637"/>
                  <a:pt x="45762" y="13497"/>
                  <a:pt x="60735" y="13497"/>
                </a:cubicBezTo>
                <a:close/>
                <a:moveTo>
                  <a:pt x="65796" y="32055"/>
                </a:moveTo>
                <a:cubicBezTo>
                  <a:pt x="65796" y="29250"/>
                  <a:pt x="63540" y="26993"/>
                  <a:pt x="60735" y="26993"/>
                </a:cubicBezTo>
                <a:cubicBezTo>
                  <a:pt x="57930" y="26993"/>
                  <a:pt x="55674" y="29250"/>
                  <a:pt x="55674" y="32055"/>
                </a:cubicBezTo>
                <a:lnTo>
                  <a:pt x="55674" y="53987"/>
                </a:lnTo>
                <a:cubicBezTo>
                  <a:pt x="55674" y="55336"/>
                  <a:pt x="56201" y="56623"/>
                  <a:pt x="57150" y="57572"/>
                </a:cubicBezTo>
                <a:lnTo>
                  <a:pt x="72334" y="72756"/>
                </a:lnTo>
                <a:cubicBezTo>
                  <a:pt x="74316" y="74738"/>
                  <a:pt x="77522" y="74738"/>
                  <a:pt x="79483" y="72756"/>
                </a:cubicBezTo>
                <a:cubicBezTo>
                  <a:pt x="81444" y="70773"/>
                  <a:pt x="81465" y="67568"/>
                  <a:pt x="79483" y="65607"/>
                </a:cubicBezTo>
                <a:lnTo>
                  <a:pt x="65775" y="51899"/>
                </a:lnTo>
                <a:lnTo>
                  <a:pt x="65775" y="32055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5" name="Text 33"/>
          <p:cNvSpPr/>
          <p:nvPr/>
        </p:nvSpPr>
        <p:spPr>
          <a:xfrm>
            <a:off x="3522545" y="5839563"/>
            <a:ext cx="2439894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历史类比: 2001年、2019年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375576" y="6037514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53987" y="0"/>
                </a:moveTo>
                <a:cubicBezTo>
                  <a:pt x="57087" y="0"/>
                  <a:pt x="59934" y="1708"/>
                  <a:pt x="61410" y="4429"/>
                </a:cubicBezTo>
                <a:lnTo>
                  <a:pt x="106961" y="88783"/>
                </a:lnTo>
                <a:cubicBezTo>
                  <a:pt x="108374" y="91398"/>
                  <a:pt x="108311" y="94561"/>
                  <a:pt x="106792" y="97113"/>
                </a:cubicBezTo>
                <a:cubicBezTo>
                  <a:pt x="105274" y="99665"/>
                  <a:pt x="102511" y="101225"/>
                  <a:pt x="99538" y="101225"/>
                </a:cubicBezTo>
                <a:lnTo>
                  <a:pt x="8435" y="101225"/>
                </a:lnTo>
                <a:cubicBezTo>
                  <a:pt x="5462" y="101225"/>
                  <a:pt x="2720" y="99665"/>
                  <a:pt x="1181" y="97113"/>
                </a:cubicBezTo>
                <a:cubicBezTo>
                  <a:pt x="-359" y="94561"/>
                  <a:pt x="-401" y="91398"/>
                  <a:pt x="1012" y="88783"/>
                </a:cubicBezTo>
                <a:lnTo>
                  <a:pt x="46564" y="4429"/>
                </a:lnTo>
                <a:cubicBezTo>
                  <a:pt x="48040" y="1708"/>
                  <a:pt x="50887" y="0"/>
                  <a:pt x="53987" y="0"/>
                </a:cubicBezTo>
                <a:close/>
                <a:moveTo>
                  <a:pt x="53987" y="35429"/>
                </a:moveTo>
                <a:cubicBezTo>
                  <a:pt x="51182" y="35429"/>
                  <a:pt x="48925" y="37685"/>
                  <a:pt x="48925" y="40490"/>
                </a:cubicBezTo>
                <a:lnTo>
                  <a:pt x="48925" y="64109"/>
                </a:lnTo>
                <a:cubicBezTo>
                  <a:pt x="48925" y="66914"/>
                  <a:pt x="51182" y="69170"/>
                  <a:pt x="53987" y="69170"/>
                </a:cubicBezTo>
                <a:cubicBezTo>
                  <a:pt x="56791" y="69170"/>
                  <a:pt x="59048" y="66914"/>
                  <a:pt x="59048" y="64109"/>
                </a:cubicBezTo>
                <a:lnTo>
                  <a:pt x="59048" y="40490"/>
                </a:lnTo>
                <a:cubicBezTo>
                  <a:pt x="59048" y="37685"/>
                  <a:pt x="56791" y="35429"/>
                  <a:pt x="53987" y="35429"/>
                </a:cubicBezTo>
                <a:close/>
                <a:moveTo>
                  <a:pt x="59617" y="80980"/>
                </a:moveTo>
                <a:cubicBezTo>
                  <a:pt x="59745" y="78890"/>
                  <a:pt x="58703" y="76902"/>
                  <a:pt x="56911" y="75818"/>
                </a:cubicBezTo>
                <a:cubicBezTo>
                  <a:pt x="55120" y="74734"/>
                  <a:pt x="52875" y="74734"/>
                  <a:pt x="51083" y="75818"/>
                </a:cubicBezTo>
                <a:cubicBezTo>
                  <a:pt x="49291" y="76902"/>
                  <a:pt x="48249" y="78890"/>
                  <a:pt x="48377" y="80980"/>
                </a:cubicBezTo>
                <a:cubicBezTo>
                  <a:pt x="48249" y="83070"/>
                  <a:pt x="49291" y="85059"/>
                  <a:pt x="51083" y="86142"/>
                </a:cubicBezTo>
                <a:cubicBezTo>
                  <a:pt x="52875" y="87226"/>
                  <a:pt x="55120" y="87226"/>
                  <a:pt x="56911" y="86142"/>
                </a:cubicBezTo>
                <a:cubicBezTo>
                  <a:pt x="58703" y="85059"/>
                  <a:pt x="59745" y="83070"/>
                  <a:pt x="59617" y="8098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7" name="Text 35"/>
          <p:cNvSpPr/>
          <p:nvPr/>
        </p:nvSpPr>
        <p:spPr>
          <a:xfrm>
            <a:off x="3522545" y="6019519"/>
            <a:ext cx="2439894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触发: 失业率快速上升至4.5%以上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0935" y="1426149"/>
            <a:ext cx="5650610" cy="4849807"/>
          </a:xfrm>
          <a:custGeom>
            <a:avLst/>
            <a:gdLst/>
            <a:ahLst/>
            <a:cxnLst/>
            <a:rect l="l" t="t" r="r" b="b"/>
            <a:pathLst>
              <a:path w="5650610" h="4849807">
                <a:moveTo>
                  <a:pt x="107957" y="0"/>
                </a:moveTo>
                <a:lnTo>
                  <a:pt x="5542653" y="0"/>
                </a:lnTo>
                <a:cubicBezTo>
                  <a:pt x="5602276" y="0"/>
                  <a:pt x="5650610" y="48334"/>
                  <a:pt x="5650610" y="107957"/>
                </a:cubicBezTo>
                <a:lnTo>
                  <a:pt x="5650610" y="4741850"/>
                </a:lnTo>
                <a:cubicBezTo>
                  <a:pt x="5650610" y="4801473"/>
                  <a:pt x="5602276" y="4849807"/>
                  <a:pt x="5542653" y="4849807"/>
                </a:cubicBezTo>
                <a:lnTo>
                  <a:pt x="107957" y="4849807"/>
                </a:lnTo>
                <a:cubicBezTo>
                  <a:pt x="48334" y="4849807"/>
                  <a:pt x="0" y="4801473"/>
                  <a:pt x="0" y="4741850"/>
                </a:cubicBezTo>
                <a:lnTo>
                  <a:pt x="0" y="107957"/>
                </a:lnTo>
                <a:cubicBezTo>
                  <a:pt x="0" y="48374"/>
                  <a:pt x="48374" y="0"/>
                  <a:pt x="10795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1893" y="1610604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179956" y="33742"/>
                </a:moveTo>
                <a:cubicBezTo>
                  <a:pt x="179956" y="51386"/>
                  <a:pt x="159183" y="77711"/>
                  <a:pt x="150221" y="88220"/>
                </a:cubicBezTo>
                <a:cubicBezTo>
                  <a:pt x="148885" y="89767"/>
                  <a:pt x="146917" y="90364"/>
                  <a:pt x="145124" y="89978"/>
                </a:cubicBezTo>
                <a:lnTo>
                  <a:pt x="112472" y="89978"/>
                </a:lnTo>
                <a:cubicBezTo>
                  <a:pt x="106251" y="89978"/>
                  <a:pt x="101225" y="95004"/>
                  <a:pt x="101225" y="101225"/>
                </a:cubicBezTo>
                <a:cubicBezTo>
                  <a:pt x="101225" y="107446"/>
                  <a:pt x="106251" y="112472"/>
                  <a:pt x="112472" y="112472"/>
                </a:cubicBezTo>
                <a:lnTo>
                  <a:pt x="146214" y="112472"/>
                </a:lnTo>
                <a:cubicBezTo>
                  <a:pt x="164842" y="112472"/>
                  <a:pt x="179956" y="127586"/>
                  <a:pt x="179956" y="146214"/>
                </a:cubicBezTo>
                <a:cubicBezTo>
                  <a:pt x="179956" y="164842"/>
                  <a:pt x="164842" y="179956"/>
                  <a:pt x="146214" y="179956"/>
                </a:cubicBezTo>
                <a:lnTo>
                  <a:pt x="49066" y="179956"/>
                </a:lnTo>
                <a:cubicBezTo>
                  <a:pt x="52124" y="176476"/>
                  <a:pt x="55850" y="172012"/>
                  <a:pt x="59610" y="167021"/>
                </a:cubicBezTo>
                <a:cubicBezTo>
                  <a:pt x="61825" y="164069"/>
                  <a:pt x="64109" y="160835"/>
                  <a:pt x="66288" y="157461"/>
                </a:cubicBezTo>
                <a:lnTo>
                  <a:pt x="146214" y="157461"/>
                </a:lnTo>
                <a:cubicBezTo>
                  <a:pt x="152435" y="157461"/>
                  <a:pt x="157461" y="152435"/>
                  <a:pt x="157461" y="146214"/>
                </a:cubicBezTo>
                <a:cubicBezTo>
                  <a:pt x="157461" y="139993"/>
                  <a:pt x="152435" y="134967"/>
                  <a:pt x="146214" y="134967"/>
                </a:cubicBezTo>
                <a:lnTo>
                  <a:pt x="112472" y="134967"/>
                </a:lnTo>
                <a:cubicBezTo>
                  <a:pt x="93844" y="134967"/>
                  <a:pt x="78731" y="119853"/>
                  <a:pt x="78731" y="101225"/>
                </a:cubicBezTo>
                <a:cubicBezTo>
                  <a:pt x="78731" y="82597"/>
                  <a:pt x="93844" y="67483"/>
                  <a:pt x="112472" y="67483"/>
                </a:cubicBezTo>
                <a:lnTo>
                  <a:pt x="126461" y="67483"/>
                </a:lnTo>
                <a:cubicBezTo>
                  <a:pt x="119080" y="56412"/>
                  <a:pt x="112472" y="43688"/>
                  <a:pt x="112472" y="33742"/>
                </a:cubicBezTo>
                <a:cubicBezTo>
                  <a:pt x="112472" y="15113"/>
                  <a:pt x="127586" y="0"/>
                  <a:pt x="146214" y="0"/>
                </a:cubicBezTo>
                <a:cubicBezTo>
                  <a:pt x="164842" y="0"/>
                  <a:pt x="179956" y="15113"/>
                  <a:pt x="179956" y="33742"/>
                </a:cubicBezTo>
                <a:close/>
                <a:moveTo>
                  <a:pt x="41158" y="171907"/>
                </a:moveTo>
                <a:cubicBezTo>
                  <a:pt x="39822" y="173418"/>
                  <a:pt x="38627" y="174754"/>
                  <a:pt x="37608" y="175879"/>
                </a:cubicBezTo>
                <a:lnTo>
                  <a:pt x="36975" y="176582"/>
                </a:lnTo>
                <a:lnTo>
                  <a:pt x="36905" y="176511"/>
                </a:lnTo>
                <a:cubicBezTo>
                  <a:pt x="34796" y="178128"/>
                  <a:pt x="31773" y="177917"/>
                  <a:pt x="29875" y="175879"/>
                </a:cubicBezTo>
                <a:cubicBezTo>
                  <a:pt x="21018" y="166248"/>
                  <a:pt x="0" y="141469"/>
                  <a:pt x="0" y="123720"/>
                </a:cubicBezTo>
                <a:cubicBezTo>
                  <a:pt x="0" y="105091"/>
                  <a:pt x="15113" y="89978"/>
                  <a:pt x="33742" y="89978"/>
                </a:cubicBezTo>
                <a:cubicBezTo>
                  <a:pt x="52370" y="89978"/>
                  <a:pt x="67483" y="105091"/>
                  <a:pt x="67483" y="123720"/>
                </a:cubicBezTo>
                <a:cubicBezTo>
                  <a:pt x="67483" y="134264"/>
                  <a:pt x="60067" y="147268"/>
                  <a:pt x="52194" y="158129"/>
                </a:cubicBezTo>
                <a:cubicBezTo>
                  <a:pt x="48433" y="163296"/>
                  <a:pt x="44567" y="167970"/>
                  <a:pt x="41369" y="171661"/>
                </a:cubicBezTo>
                <a:lnTo>
                  <a:pt x="41158" y="171907"/>
                </a:lnTo>
                <a:close/>
                <a:moveTo>
                  <a:pt x="44989" y="123720"/>
                </a:moveTo>
                <a:cubicBezTo>
                  <a:pt x="44989" y="117512"/>
                  <a:pt x="39949" y="112472"/>
                  <a:pt x="33742" y="112472"/>
                </a:cubicBezTo>
                <a:cubicBezTo>
                  <a:pt x="27534" y="112472"/>
                  <a:pt x="22494" y="117512"/>
                  <a:pt x="22494" y="123720"/>
                </a:cubicBezTo>
                <a:cubicBezTo>
                  <a:pt x="22494" y="129927"/>
                  <a:pt x="27534" y="134967"/>
                  <a:pt x="33742" y="134967"/>
                </a:cubicBezTo>
                <a:cubicBezTo>
                  <a:pt x="39949" y="134967"/>
                  <a:pt x="44989" y="129927"/>
                  <a:pt x="44989" y="123720"/>
                </a:cubicBezTo>
                <a:close/>
                <a:moveTo>
                  <a:pt x="146214" y="44989"/>
                </a:moveTo>
                <a:cubicBezTo>
                  <a:pt x="152422" y="44989"/>
                  <a:pt x="157461" y="39949"/>
                  <a:pt x="157461" y="33742"/>
                </a:cubicBezTo>
                <a:cubicBezTo>
                  <a:pt x="157461" y="27534"/>
                  <a:pt x="152422" y="22494"/>
                  <a:pt x="146214" y="22494"/>
                </a:cubicBezTo>
                <a:cubicBezTo>
                  <a:pt x="140007" y="22494"/>
                  <a:pt x="134967" y="27534"/>
                  <a:pt x="134967" y="33742"/>
                </a:cubicBezTo>
                <a:cubicBezTo>
                  <a:pt x="134967" y="39949"/>
                  <a:pt x="140007" y="44989"/>
                  <a:pt x="146214" y="4498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/>
          <p:cNvSpPr/>
          <p:nvPr/>
        </p:nvSpPr>
        <p:spPr>
          <a:xfrm>
            <a:off x="6544343" y="1574613"/>
            <a:ext cx="5218716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基线情景降息路径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87906" y="1934524"/>
            <a:ext cx="92677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2026年3月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78908" y="2114480"/>
            <a:ext cx="944768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4.25-4.50%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291159" y="2240449"/>
            <a:ext cx="3266196" cy="71982"/>
          </a:xfrm>
          <a:custGeom>
            <a:avLst/>
            <a:gdLst/>
            <a:ahLst/>
            <a:cxnLst/>
            <a:rect l="l" t="t" r="r" b="b"/>
            <a:pathLst>
              <a:path w="3266196" h="71982">
                <a:moveTo>
                  <a:pt x="35991" y="0"/>
                </a:moveTo>
                <a:lnTo>
                  <a:pt x="3230205" y="0"/>
                </a:lnTo>
                <a:cubicBezTo>
                  <a:pt x="3250083" y="0"/>
                  <a:pt x="3266196" y="16114"/>
                  <a:pt x="3266196" y="35991"/>
                </a:cubicBezTo>
                <a:lnTo>
                  <a:pt x="3266196" y="35991"/>
                </a:lnTo>
                <a:cubicBezTo>
                  <a:pt x="3266196" y="55869"/>
                  <a:pt x="3250083" y="71982"/>
                  <a:pt x="3230205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291159" y="2240449"/>
            <a:ext cx="3266196" cy="71982"/>
          </a:xfrm>
          <a:custGeom>
            <a:avLst/>
            <a:gdLst/>
            <a:ahLst/>
            <a:cxnLst/>
            <a:rect l="l" t="t" r="r" b="b"/>
            <a:pathLst>
              <a:path w="3266196" h="71982">
                <a:moveTo>
                  <a:pt x="35991" y="0"/>
                </a:moveTo>
                <a:lnTo>
                  <a:pt x="3230205" y="0"/>
                </a:lnTo>
                <a:cubicBezTo>
                  <a:pt x="3250083" y="0"/>
                  <a:pt x="3266196" y="16114"/>
                  <a:pt x="3266196" y="35991"/>
                </a:cubicBezTo>
                <a:lnTo>
                  <a:pt x="3266196" y="35991"/>
                </a:lnTo>
                <a:cubicBezTo>
                  <a:pt x="3266196" y="55869"/>
                  <a:pt x="3250083" y="71982"/>
                  <a:pt x="3230205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5" name="Text 43"/>
          <p:cNvSpPr/>
          <p:nvPr/>
        </p:nvSpPr>
        <p:spPr>
          <a:xfrm>
            <a:off x="10605297" y="2114480"/>
            <a:ext cx="107073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维持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614294" y="2294435"/>
            <a:ext cx="106173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观察期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87906" y="2690338"/>
            <a:ext cx="92677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2026年5-6月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78908" y="2870294"/>
            <a:ext cx="944768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4.00-4.25%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291159" y="2996263"/>
            <a:ext cx="3014258" cy="71982"/>
          </a:xfrm>
          <a:custGeom>
            <a:avLst/>
            <a:gdLst/>
            <a:ahLst/>
            <a:cxnLst/>
            <a:rect l="l" t="t" r="r" b="b"/>
            <a:pathLst>
              <a:path w="3014258" h="71982">
                <a:moveTo>
                  <a:pt x="35991" y="0"/>
                </a:moveTo>
                <a:lnTo>
                  <a:pt x="2978267" y="0"/>
                </a:lnTo>
                <a:cubicBezTo>
                  <a:pt x="2998145" y="0"/>
                  <a:pt x="3014258" y="16114"/>
                  <a:pt x="3014258" y="35991"/>
                </a:cubicBezTo>
                <a:lnTo>
                  <a:pt x="3014258" y="35991"/>
                </a:lnTo>
                <a:cubicBezTo>
                  <a:pt x="3014258" y="55869"/>
                  <a:pt x="2998145" y="71982"/>
                  <a:pt x="2978267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291159" y="2996263"/>
            <a:ext cx="2654347" cy="71982"/>
          </a:xfrm>
          <a:custGeom>
            <a:avLst/>
            <a:gdLst/>
            <a:ahLst/>
            <a:cxnLst/>
            <a:rect l="l" t="t" r="r" b="b"/>
            <a:pathLst>
              <a:path w="2654347" h="71982">
                <a:moveTo>
                  <a:pt x="35991" y="0"/>
                </a:moveTo>
                <a:lnTo>
                  <a:pt x="2618356" y="0"/>
                </a:lnTo>
                <a:cubicBezTo>
                  <a:pt x="2638233" y="0"/>
                  <a:pt x="2654347" y="16114"/>
                  <a:pt x="2654347" y="35991"/>
                </a:cubicBezTo>
                <a:lnTo>
                  <a:pt x="2654347" y="35991"/>
                </a:lnTo>
                <a:cubicBezTo>
                  <a:pt x="2654347" y="55869"/>
                  <a:pt x="2638233" y="71982"/>
                  <a:pt x="2618356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1" name="Shape 49"/>
          <p:cNvSpPr/>
          <p:nvPr/>
        </p:nvSpPr>
        <p:spPr>
          <a:xfrm>
            <a:off x="10416343" y="2960272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47632" y="141321"/>
                </a:moveTo>
                <a:cubicBezTo>
                  <a:pt x="51147" y="144836"/>
                  <a:pt x="56855" y="144836"/>
                  <a:pt x="60370" y="141321"/>
                </a:cubicBezTo>
                <a:lnTo>
                  <a:pt x="105358" y="96333"/>
                </a:lnTo>
                <a:cubicBezTo>
                  <a:pt x="108873" y="92818"/>
                  <a:pt x="108873" y="87110"/>
                  <a:pt x="105358" y="83595"/>
                </a:cubicBezTo>
                <a:cubicBezTo>
                  <a:pt x="101844" y="80080"/>
                  <a:pt x="96136" y="80080"/>
                  <a:pt x="92621" y="83595"/>
                </a:cubicBezTo>
                <a:lnTo>
                  <a:pt x="62985" y="113232"/>
                </a:lnTo>
                <a:lnTo>
                  <a:pt x="62985" y="8998"/>
                </a:lnTo>
                <a:cubicBezTo>
                  <a:pt x="62985" y="4021"/>
                  <a:pt x="58964" y="0"/>
                  <a:pt x="53987" y="0"/>
                </a:cubicBezTo>
                <a:cubicBezTo>
                  <a:pt x="49010" y="0"/>
                  <a:pt x="44989" y="4021"/>
                  <a:pt x="44989" y="8998"/>
                </a:cubicBezTo>
                <a:lnTo>
                  <a:pt x="44989" y="113232"/>
                </a:lnTo>
                <a:lnTo>
                  <a:pt x="15352" y="83595"/>
                </a:lnTo>
                <a:cubicBezTo>
                  <a:pt x="11838" y="80080"/>
                  <a:pt x="6130" y="80080"/>
                  <a:pt x="2615" y="83595"/>
                </a:cubicBezTo>
                <a:cubicBezTo>
                  <a:pt x="-900" y="87110"/>
                  <a:pt x="-900" y="92818"/>
                  <a:pt x="2615" y="96333"/>
                </a:cubicBezTo>
                <a:lnTo>
                  <a:pt x="47604" y="14132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2" name="Text 50"/>
          <p:cNvSpPr/>
          <p:nvPr/>
        </p:nvSpPr>
        <p:spPr>
          <a:xfrm>
            <a:off x="10605297" y="2870294"/>
            <a:ext cx="107073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降息25bp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614294" y="3050249"/>
            <a:ext cx="106173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首次降息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87906" y="3446152"/>
            <a:ext cx="92677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2026年9月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78908" y="3626108"/>
            <a:ext cx="944768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3.75-4.00%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291159" y="3752077"/>
            <a:ext cx="3014258" cy="71982"/>
          </a:xfrm>
          <a:custGeom>
            <a:avLst/>
            <a:gdLst/>
            <a:ahLst/>
            <a:cxnLst/>
            <a:rect l="l" t="t" r="r" b="b"/>
            <a:pathLst>
              <a:path w="3014258" h="71982">
                <a:moveTo>
                  <a:pt x="35991" y="0"/>
                </a:moveTo>
                <a:lnTo>
                  <a:pt x="2978267" y="0"/>
                </a:lnTo>
                <a:cubicBezTo>
                  <a:pt x="2998145" y="0"/>
                  <a:pt x="3014258" y="16114"/>
                  <a:pt x="3014258" y="35991"/>
                </a:cubicBezTo>
                <a:lnTo>
                  <a:pt x="3014258" y="35991"/>
                </a:lnTo>
                <a:cubicBezTo>
                  <a:pt x="3014258" y="55869"/>
                  <a:pt x="2998145" y="71982"/>
                  <a:pt x="2978267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91159" y="3752077"/>
            <a:ext cx="2357420" cy="71982"/>
          </a:xfrm>
          <a:custGeom>
            <a:avLst/>
            <a:gdLst/>
            <a:ahLst/>
            <a:cxnLst/>
            <a:rect l="l" t="t" r="r" b="b"/>
            <a:pathLst>
              <a:path w="2357420" h="71982">
                <a:moveTo>
                  <a:pt x="35991" y="0"/>
                </a:moveTo>
                <a:lnTo>
                  <a:pt x="2321429" y="0"/>
                </a:lnTo>
                <a:cubicBezTo>
                  <a:pt x="2341306" y="0"/>
                  <a:pt x="2357420" y="16114"/>
                  <a:pt x="2357420" y="35991"/>
                </a:cubicBezTo>
                <a:lnTo>
                  <a:pt x="2357420" y="35991"/>
                </a:lnTo>
                <a:cubicBezTo>
                  <a:pt x="2357420" y="55869"/>
                  <a:pt x="2341306" y="71982"/>
                  <a:pt x="232142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8" name="Shape 56"/>
          <p:cNvSpPr/>
          <p:nvPr/>
        </p:nvSpPr>
        <p:spPr>
          <a:xfrm>
            <a:off x="10416343" y="3716086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47632" y="141321"/>
                </a:moveTo>
                <a:cubicBezTo>
                  <a:pt x="51147" y="144836"/>
                  <a:pt x="56855" y="144836"/>
                  <a:pt x="60370" y="141321"/>
                </a:cubicBezTo>
                <a:lnTo>
                  <a:pt x="105358" y="96333"/>
                </a:lnTo>
                <a:cubicBezTo>
                  <a:pt x="108873" y="92818"/>
                  <a:pt x="108873" y="87110"/>
                  <a:pt x="105358" y="83595"/>
                </a:cubicBezTo>
                <a:cubicBezTo>
                  <a:pt x="101844" y="80080"/>
                  <a:pt x="96136" y="80080"/>
                  <a:pt x="92621" y="83595"/>
                </a:cubicBezTo>
                <a:lnTo>
                  <a:pt x="62985" y="113232"/>
                </a:lnTo>
                <a:lnTo>
                  <a:pt x="62985" y="8998"/>
                </a:lnTo>
                <a:cubicBezTo>
                  <a:pt x="62985" y="4021"/>
                  <a:pt x="58964" y="0"/>
                  <a:pt x="53987" y="0"/>
                </a:cubicBezTo>
                <a:cubicBezTo>
                  <a:pt x="49010" y="0"/>
                  <a:pt x="44989" y="4021"/>
                  <a:pt x="44989" y="8998"/>
                </a:cubicBezTo>
                <a:lnTo>
                  <a:pt x="44989" y="113232"/>
                </a:lnTo>
                <a:lnTo>
                  <a:pt x="15352" y="83595"/>
                </a:lnTo>
                <a:cubicBezTo>
                  <a:pt x="11838" y="80080"/>
                  <a:pt x="6130" y="80080"/>
                  <a:pt x="2615" y="83595"/>
                </a:cubicBezTo>
                <a:cubicBezTo>
                  <a:pt x="-900" y="87110"/>
                  <a:pt x="-900" y="92818"/>
                  <a:pt x="2615" y="96333"/>
                </a:cubicBezTo>
                <a:lnTo>
                  <a:pt x="47604" y="14132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9" name="Text 57"/>
          <p:cNvSpPr/>
          <p:nvPr/>
        </p:nvSpPr>
        <p:spPr>
          <a:xfrm>
            <a:off x="10605297" y="3626108"/>
            <a:ext cx="107073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降息25bp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614294" y="3806063"/>
            <a:ext cx="106173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间隔3个月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287906" y="4201966"/>
            <a:ext cx="92677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2026年12月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78908" y="4381922"/>
            <a:ext cx="944768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3.50-3.75%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291159" y="4507891"/>
            <a:ext cx="3014258" cy="71982"/>
          </a:xfrm>
          <a:custGeom>
            <a:avLst/>
            <a:gdLst/>
            <a:ahLst/>
            <a:cxnLst/>
            <a:rect l="l" t="t" r="r" b="b"/>
            <a:pathLst>
              <a:path w="3014258" h="71982">
                <a:moveTo>
                  <a:pt x="35991" y="0"/>
                </a:moveTo>
                <a:lnTo>
                  <a:pt x="2978267" y="0"/>
                </a:lnTo>
                <a:cubicBezTo>
                  <a:pt x="2998145" y="0"/>
                  <a:pt x="3014258" y="16114"/>
                  <a:pt x="3014258" y="35991"/>
                </a:cubicBezTo>
                <a:lnTo>
                  <a:pt x="3014258" y="35991"/>
                </a:lnTo>
                <a:cubicBezTo>
                  <a:pt x="3014258" y="55869"/>
                  <a:pt x="2998145" y="71982"/>
                  <a:pt x="2978267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291159" y="4507891"/>
            <a:ext cx="2024502" cy="71982"/>
          </a:xfrm>
          <a:custGeom>
            <a:avLst/>
            <a:gdLst/>
            <a:ahLst/>
            <a:cxnLst/>
            <a:rect l="l" t="t" r="r" b="b"/>
            <a:pathLst>
              <a:path w="2024502" h="71982">
                <a:moveTo>
                  <a:pt x="35991" y="0"/>
                </a:moveTo>
                <a:lnTo>
                  <a:pt x="1988511" y="0"/>
                </a:lnTo>
                <a:cubicBezTo>
                  <a:pt x="2008388" y="0"/>
                  <a:pt x="2024502" y="16114"/>
                  <a:pt x="2024502" y="35991"/>
                </a:cubicBezTo>
                <a:lnTo>
                  <a:pt x="2024502" y="35991"/>
                </a:lnTo>
                <a:cubicBezTo>
                  <a:pt x="2024502" y="55869"/>
                  <a:pt x="2008388" y="71982"/>
                  <a:pt x="1988511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5" name="Shape 63"/>
          <p:cNvSpPr/>
          <p:nvPr/>
        </p:nvSpPr>
        <p:spPr>
          <a:xfrm>
            <a:off x="10416343" y="4471900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47632" y="141321"/>
                </a:moveTo>
                <a:cubicBezTo>
                  <a:pt x="51147" y="144836"/>
                  <a:pt x="56855" y="144836"/>
                  <a:pt x="60370" y="141321"/>
                </a:cubicBezTo>
                <a:lnTo>
                  <a:pt x="105358" y="96333"/>
                </a:lnTo>
                <a:cubicBezTo>
                  <a:pt x="108873" y="92818"/>
                  <a:pt x="108873" y="87110"/>
                  <a:pt x="105358" y="83595"/>
                </a:cubicBezTo>
                <a:cubicBezTo>
                  <a:pt x="101844" y="80080"/>
                  <a:pt x="96136" y="80080"/>
                  <a:pt x="92621" y="83595"/>
                </a:cubicBezTo>
                <a:lnTo>
                  <a:pt x="62985" y="113232"/>
                </a:lnTo>
                <a:lnTo>
                  <a:pt x="62985" y="8998"/>
                </a:lnTo>
                <a:cubicBezTo>
                  <a:pt x="62985" y="4021"/>
                  <a:pt x="58964" y="0"/>
                  <a:pt x="53987" y="0"/>
                </a:cubicBezTo>
                <a:cubicBezTo>
                  <a:pt x="49010" y="0"/>
                  <a:pt x="44989" y="4021"/>
                  <a:pt x="44989" y="8998"/>
                </a:cubicBezTo>
                <a:lnTo>
                  <a:pt x="44989" y="113232"/>
                </a:lnTo>
                <a:lnTo>
                  <a:pt x="15352" y="83595"/>
                </a:lnTo>
                <a:cubicBezTo>
                  <a:pt x="11838" y="80080"/>
                  <a:pt x="6130" y="80080"/>
                  <a:pt x="2615" y="83595"/>
                </a:cubicBezTo>
                <a:cubicBezTo>
                  <a:pt x="-900" y="87110"/>
                  <a:pt x="-900" y="92818"/>
                  <a:pt x="2615" y="96333"/>
                </a:cubicBezTo>
                <a:lnTo>
                  <a:pt x="47604" y="14132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6" name="Text 64"/>
          <p:cNvSpPr/>
          <p:nvPr/>
        </p:nvSpPr>
        <p:spPr>
          <a:xfrm>
            <a:off x="10605297" y="4381922"/>
            <a:ext cx="107073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降息25bp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614294" y="4561877"/>
            <a:ext cx="106173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累计75-100bp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23897" y="4998270"/>
            <a:ext cx="5344685" cy="1124723"/>
          </a:xfrm>
          <a:custGeom>
            <a:avLst/>
            <a:gdLst/>
            <a:ahLst/>
            <a:cxnLst/>
            <a:rect l="l" t="t" r="r" b="b"/>
            <a:pathLst>
              <a:path w="5344685" h="1124723">
                <a:moveTo>
                  <a:pt x="71982" y="0"/>
                </a:moveTo>
                <a:lnTo>
                  <a:pt x="5272703" y="0"/>
                </a:lnTo>
                <a:cubicBezTo>
                  <a:pt x="5312457" y="0"/>
                  <a:pt x="5344685" y="32228"/>
                  <a:pt x="5344685" y="71982"/>
                </a:cubicBezTo>
                <a:lnTo>
                  <a:pt x="5344685" y="1052741"/>
                </a:lnTo>
                <a:cubicBezTo>
                  <a:pt x="5344685" y="1092496"/>
                  <a:pt x="5312457" y="1124723"/>
                  <a:pt x="5272703" y="1124723"/>
                </a:cubicBezTo>
                <a:lnTo>
                  <a:pt x="71982" y="1124723"/>
                </a:lnTo>
                <a:cubicBezTo>
                  <a:pt x="32228" y="1124723"/>
                  <a:pt x="0" y="1092496"/>
                  <a:pt x="0" y="1052741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36369" y="5110742"/>
            <a:ext cx="519172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触发条件（基于历史）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454365" y="5425665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62985" y="125969"/>
                </a:moveTo>
                <a:cubicBezTo>
                  <a:pt x="97747" y="125969"/>
                  <a:pt x="125969" y="97747"/>
                  <a:pt x="125969" y="62985"/>
                </a:cubicBezTo>
                <a:cubicBezTo>
                  <a:pt x="125969" y="28222"/>
                  <a:pt x="97747" y="0"/>
                  <a:pt x="62985" y="0"/>
                </a:cubicBezTo>
                <a:cubicBezTo>
                  <a:pt x="28222" y="0"/>
                  <a:pt x="0" y="28222"/>
                  <a:pt x="0" y="62985"/>
                </a:cubicBezTo>
                <a:cubicBezTo>
                  <a:pt x="0" y="97747"/>
                  <a:pt x="28222" y="125969"/>
                  <a:pt x="62985" y="125969"/>
                </a:cubicBezTo>
                <a:close/>
                <a:moveTo>
                  <a:pt x="83750" y="52331"/>
                </a:moveTo>
                <a:lnTo>
                  <a:pt x="64067" y="83824"/>
                </a:lnTo>
                <a:cubicBezTo>
                  <a:pt x="63034" y="85472"/>
                  <a:pt x="61262" y="86505"/>
                  <a:pt x="59319" y="86604"/>
                </a:cubicBezTo>
                <a:cubicBezTo>
                  <a:pt x="57375" y="86702"/>
                  <a:pt x="55505" y="85816"/>
                  <a:pt x="54349" y="84242"/>
                </a:cubicBezTo>
                <a:lnTo>
                  <a:pt x="42539" y="68496"/>
                </a:lnTo>
                <a:cubicBezTo>
                  <a:pt x="40571" y="65888"/>
                  <a:pt x="41112" y="62197"/>
                  <a:pt x="43720" y="60229"/>
                </a:cubicBezTo>
                <a:cubicBezTo>
                  <a:pt x="46328" y="58261"/>
                  <a:pt x="50019" y="58802"/>
                  <a:pt x="51987" y="61410"/>
                </a:cubicBezTo>
                <a:lnTo>
                  <a:pt x="58630" y="70267"/>
                </a:lnTo>
                <a:lnTo>
                  <a:pt x="73736" y="46082"/>
                </a:lnTo>
                <a:cubicBezTo>
                  <a:pt x="75458" y="43326"/>
                  <a:pt x="79100" y="42465"/>
                  <a:pt x="81880" y="44212"/>
                </a:cubicBezTo>
                <a:cubicBezTo>
                  <a:pt x="84660" y="45959"/>
                  <a:pt x="85497" y="49576"/>
                  <a:pt x="83750" y="5235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1" name="Text 69"/>
          <p:cNvSpPr/>
          <p:nvPr/>
        </p:nvSpPr>
        <p:spPr>
          <a:xfrm>
            <a:off x="6665813" y="5398672"/>
            <a:ext cx="134067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核心PCE持续低于2.5%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454365" y="5641612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62985" y="125969"/>
                </a:moveTo>
                <a:cubicBezTo>
                  <a:pt x="97747" y="125969"/>
                  <a:pt x="125969" y="97747"/>
                  <a:pt x="125969" y="62985"/>
                </a:cubicBezTo>
                <a:cubicBezTo>
                  <a:pt x="125969" y="28222"/>
                  <a:pt x="97747" y="0"/>
                  <a:pt x="62985" y="0"/>
                </a:cubicBezTo>
                <a:cubicBezTo>
                  <a:pt x="28222" y="0"/>
                  <a:pt x="0" y="28222"/>
                  <a:pt x="0" y="62985"/>
                </a:cubicBezTo>
                <a:cubicBezTo>
                  <a:pt x="0" y="97747"/>
                  <a:pt x="28222" y="125969"/>
                  <a:pt x="62985" y="125969"/>
                </a:cubicBezTo>
                <a:close/>
                <a:moveTo>
                  <a:pt x="83750" y="52331"/>
                </a:moveTo>
                <a:lnTo>
                  <a:pt x="64067" y="83824"/>
                </a:lnTo>
                <a:cubicBezTo>
                  <a:pt x="63034" y="85472"/>
                  <a:pt x="61262" y="86505"/>
                  <a:pt x="59319" y="86604"/>
                </a:cubicBezTo>
                <a:cubicBezTo>
                  <a:pt x="57375" y="86702"/>
                  <a:pt x="55505" y="85816"/>
                  <a:pt x="54349" y="84242"/>
                </a:cubicBezTo>
                <a:lnTo>
                  <a:pt x="42539" y="68496"/>
                </a:lnTo>
                <a:cubicBezTo>
                  <a:pt x="40571" y="65888"/>
                  <a:pt x="41112" y="62197"/>
                  <a:pt x="43720" y="60229"/>
                </a:cubicBezTo>
                <a:cubicBezTo>
                  <a:pt x="46328" y="58261"/>
                  <a:pt x="50019" y="58802"/>
                  <a:pt x="51987" y="61410"/>
                </a:cubicBezTo>
                <a:lnTo>
                  <a:pt x="58630" y="70267"/>
                </a:lnTo>
                <a:lnTo>
                  <a:pt x="73736" y="46082"/>
                </a:lnTo>
                <a:cubicBezTo>
                  <a:pt x="75458" y="43326"/>
                  <a:pt x="79100" y="42465"/>
                  <a:pt x="81880" y="44212"/>
                </a:cubicBezTo>
                <a:cubicBezTo>
                  <a:pt x="84660" y="45959"/>
                  <a:pt x="85497" y="49576"/>
                  <a:pt x="83750" y="5235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3" name="Text 71"/>
          <p:cNvSpPr/>
          <p:nvPr/>
        </p:nvSpPr>
        <p:spPr>
          <a:xfrm>
            <a:off x="6665813" y="5614618"/>
            <a:ext cx="134966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失业率维持在4.0-4.5%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454365" y="5857559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62985" y="125969"/>
                </a:moveTo>
                <a:cubicBezTo>
                  <a:pt x="97747" y="125969"/>
                  <a:pt x="125969" y="97747"/>
                  <a:pt x="125969" y="62985"/>
                </a:cubicBezTo>
                <a:cubicBezTo>
                  <a:pt x="125969" y="28222"/>
                  <a:pt x="97747" y="0"/>
                  <a:pt x="62985" y="0"/>
                </a:cubicBezTo>
                <a:cubicBezTo>
                  <a:pt x="28222" y="0"/>
                  <a:pt x="0" y="28222"/>
                  <a:pt x="0" y="62985"/>
                </a:cubicBezTo>
                <a:cubicBezTo>
                  <a:pt x="0" y="97747"/>
                  <a:pt x="28222" y="125969"/>
                  <a:pt x="62985" y="125969"/>
                </a:cubicBezTo>
                <a:close/>
                <a:moveTo>
                  <a:pt x="83750" y="52331"/>
                </a:moveTo>
                <a:lnTo>
                  <a:pt x="64067" y="83824"/>
                </a:lnTo>
                <a:cubicBezTo>
                  <a:pt x="63034" y="85472"/>
                  <a:pt x="61262" y="86505"/>
                  <a:pt x="59319" y="86604"/>
                </a:cubicBezTo>
                <a:cubicBezTo>
                  <a:pt x="57375" y="86702"/>
                  <a:pt x="55505" y="85816"/>
                  <a:pt x="54349" y="84242"/>
                </a:cubicBezTo>
                <a:lnTo>
                  <a:pt x="42539" y="68496"/>
                </a:lnTo>
                <a:cubicBezTo>
                  <a:pt x="40571" y="65888"/>
                  <a:pt x="41112" y="62197"/>
                  <a:pt x="43720" y="60229"/>
                </a:cubicBezTo>
                <a:cubicBezTo>
                  <a:pt x="46328" y="58261"/>
                  <a:pt x="50019" y="58802"/>
                  <a:pt x="51987" y="61410"/>
                </a:cubicBezTo>
                <a:lnTo>
                  <a:pt x="58630" y="70267"/>
                </a:lnTo>
                <a:lnTo>
                  <a:pt x="73736" y="46082"/>
                </a:lnTo>
                <a:cubicBezTo>
                  <a:pt x="75458" y="43326"/>
                  <a:pt x="79100" y="42465"/>
                  <a:pt x="81880" y="44212"/>
                </a:cubicBezTo>
                <a:cubicBezTo>
                  <a:pt x="84660" y="45959"/>
                  <a:pt x="85497" y="49576"/>
                  <a:pt x="83750" y="5235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5" name="Text 73"/>
          <p:cNvSpPr/>
          <p:nvPr/>
        </p:nvSpPr>
        <p:spPr>
          <a:xfrm>
            <a:off x="6665813" y="5830565"/>
            <a:ext cx="1385659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GDP增速保持在2%以上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64410" y="6392927"/>
            <a:ext cx="11463179" cy="458887"/>
          </a:xfrm>
          <a:custGeom>
            <a:avLst/>
            <a:gdLst/>
            <a:ahLst/>
            <a:cxnLst/>
            <a:rect l="l" t="t" r="r" b="b"/>
            <a:pathLst>
              <a:path w="11463179" h="458887">
                <a:moveTo>
                  <a:pt x="71981" y="0"/>
                </a:moveTo>
                <a:lnTo>
                  <a:pt x="11391198" y="0"/>
                </a:lnTo>
                <a:cubicBezTo>
                  <a:pt x="11430952" y="0"/>
                  <a:pt x="11463179" y="32227"/>
                  <a:pt x="11463179" y="71981"/>
                </a:cubicBezTo>
                <a:lnTo>
                  <a:pt x="11463179" y="386906"/>
                </a:lnTo>
                <a:cubicBezTo>
                  <a:pt x="11463179" y="426660"/>
                  <a:pt x="11430952" y="458887"/>
                  <a:pt x="11391198" y="458887"/>
                </a:cubicBezTo>
                <a:lnTo>
                  <a:pt x="71981" y="458887"/>
                </a:lnTo>
                <a:cubicBezTo>
                  <a:pt x="32254" y="458887"/>
                  <a:pt x="0" y="426633"/>
                  <a:pt x="0" y="386906"/>
                </a:cubicBezTo>
                <a:lnTo>
                  <a:pt x="0" y="71981"/>
                </a:lnTo>
                <a:cubicBezTo>
                  <a:pt x="0" y="32254"/>
                  <a:pt x="32254" y="0"/>
                  <a:pt x="7198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2874" y="6541390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82358" y="107973"/>
                </a:moveTo>
                <a:cubicBezTo>
                  <a:pt x="84410" y="101703"/>
                  <a:pt x="88516" y="96023"/>
                  <a:pt x="93155" y="91131"/>
                </a:cubicBezTo>
                <a:cubicBezTo>
                  <a:pt x="102350" y="81458"/>
                  <a:pt x="107973" y="68383"/>
                  <a:pt x="107973" y="53987"/>
                </a:cubicBezTo>
                <a:cubicBezTo>
                  <a:pt x="107973" y="24182"/>
                  <a:pt x="83792" y="0"/>
                  <a:pt x="53987" y="0"/>
                </a:cubicBezTo>
                <a:cubicBezTo>
                  <a:pt x="24182" y="0"/>
                  <a:pt x="0" y="24182"/>
                  <a:pt x="0" y="53987"/>
                </a:cubicBezTo>
                <a:cubicBezTo>
                  <a:pt x="0" y="68383"/>
                  <a:pt x="5624" y="81458"/>
                  <a:pt x="14818" y="91131"/>
                </a:cubicBezTo>
                <a:cubicBezTo>
                  <a:pt x="19458" y="96023"/>
                  <a:pt x="23591" y="101703"/>
                  <a:pt x="25616" y="107973"/>
                </a:cubicBezTo>
                <a:lnTo>
                  <a:pt x="82330" y="107973"/>
                </a:lnTo>
                <a:close/>
                <a:moveTo>
                  <a:pt x="80980" y="121470"/>
                </a:moveTo>
                <a:lnTo>
                  <a:pt x="26993" y="121470"/>
                </a:lnTo>
                <a:lnTo>
                  <a:pt x="26993" y="125969"/>
                </a:lnTo>
                <a:cubicBezTo>
                  <a:pt x="26993" y="138397"/>
                  <a:pt x="37060" y="148463"/>
                  <a:pt x="49488" y="148463"/>
                </a:cubicBezTo>
                <a:lnTo>
                  <a:pt x="58486" y="148463"/>
                </a:lnTo>
                <a:cubicBezTo>
                  <a:pt x="70914" y="148463"/>
                  <a:pt x="80980" y="138397"/>
                  <a:pt x="80980" y="125969"/>
                </a:cubicBezTo>
                <a:lnTo>
                  <a:pt x="80980" y="121470"/>
                </a:lnTo>
                <a:close/>
                <a:moveTo>
                  <a:pt x="51737" y="31492"/>
                </a:moveTo>
                <a:cubicBezTo>
                  <a:pt x="40546" y="31492"/>
                  <a:pt x="31492" y="40546"/>
                  <a:pt x="31492" y="51737"/>
                </a:cubicBezTo>
                <a:cubicBezTo>
                  <a:pt x="31492" y="55477"/>
                  <a:pt x="28484" y="58486"/>
                  <a:pt x="24744" y="58486"/>
                </a:cubicBezTo>
                <a:cubicBezTo>
                  <a:pt x="21004" y="58486"/>
                  <a:pt x="17996" y="55477"/>
                  <a:pt x="17996" y="51737"/>
                </a:cubicBezTo>
                <a:cubicBezTo>
                  <a:pt x="17996" y="33095"/>
                  <a:pt x="33095" y="17996"/>
                  <a:pt x="51737" y="17996"/>
                </a:cubicBezTo>
                <a:cubicBezTo>
                  <a:pt x="55477" y="17996"/>
                  <a:pt x="58486" y="21004"/>
                  <a:pt x="58486" y="24744"/>
                </a:cubicBezTo>
                <a:cubicBezTo>
                  <a:pt x="58486" y="28484"/>
                  <a:pt x="55477" y="31492"/>
                  <a:pt x="51737" y="3149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8" name="Text 76"/>
          <p:cNvSpPr/>
          <p:nvPr/>
        </p:nvSpPr>
        <p:spPr>
          <a:xfrm>
            <a:off x="707837" y="6505399"/>
            <a:ext cx="11079263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核心洞察：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历史经验显示，当前最可能的情景是1995年式软着陆，美联储将在2026年实施渐进式降息，全年累计降息75-100个基点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428750" cy="352425"/>
          </a:xfrm>
          <a:custGeom>
            <a:avLst/>
            <a:gdLst/>
            <a:ahLst/>
            <a:cxnLst/>
            <a:rect l="l" t="t" r="r" b="b"/>
            <a:pathLst>
              <a:path w="1428750" h="352425">
                <a:moveTo>
                  <a:pt x="176213" y="0"/>
                </a:moveTo>
                <a:lnTo>
                  <a:pt x="1252538" y="0"/>
                </a:lnTo>
                <a:cubicBezTo>
                  <a:pt x="1349792" y="0"/>
                  <a:pt x="1428750" y="78958"/>
                  <a:pt x="1428750" y="176213"/>
                </a:cubicBezTo>
                <a:lnTo>
                  <a:pt x="1428750" y="176213"/>
                </a:lnTo>
                <a:cubicBezTo>
                  <a:pt x="1428750" y="273467"/>
                  <a:pt x="1349792" y="352425"/>
                  <a:pt x="1252538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85775"/>
            <a:ext cx="11764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FISCAL POLICY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572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财政政策分析：支出方向与约束因素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525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85763" y="1509713"/>
            <a:ext cx="6191250" cy="4962525"/>
          </a:xfrm>
          <a:custGeom>
            <a:avLst/>
            <a:gdLst/>
            <a:ahLst/>
            <a:cxnLst/>
            <a:rect l="l" t="t" r="r" b="b"/>
            <a:pathLst>
              <a:path w="6191250" h="4962525">
                <a:moveTo>
                  <a:pt x="114287" y="0"/>
                </a:moveTo>
                <a:lnTo>
                  <a:pt x="6076963" y="0"/>
                </a:lnTo>
                <a:cubicBezTo>
                  <a:pt x="6140082" y="0"/>
                  <a:pt x="6191250" y="51168"/>
                  <a:pt x="6191250" y="114287"/>
                </a:cubicBezTo>
                <a:lnTo>
                  <a:pt x="6191250" y="4848238"/>
                </a:lnTo>
                <a:cubicBezTo>
                  <a:pt x="6191250" y="4911357"/>
                  <a:pt x="6140082" y="4962525"/>
                  <a:pt x="6076963" y="4962525"/>
                </a:cubicBezTo>
                <a:lnTo>
                  <a:pt x="114287" y="4962525"/>
                </a:lnTo>
                <a:cubicBezTo>
                  <a:pt x="51168" y="4962525"/>
                  <a:pt x="0" y="4911357"/>
                  <a:pt x="0" y="4848238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738" y="1704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6789"/>
                </a:moveTo>
                <a:cubicBezTo>
                  <a:pt x="0" y="21878"/>
                  <a:pt x="3981" y="17859"/>
                  <a:pt x="8930" y="17859"/>
                </a:cubicBezTo>
                <a:lnTo>
                  <a:pt x="26789" y="17859"/>
                </a:lnTo>
                <a:cubicBezTo>
                  <a:pt x="31738" y="17859"/>
                  <a:pt x="35719" y="21841"/>
                  <a:pt x="35719" y="26789"/>
                </a:cubicBezTo>
                <a:lnTo>
                  <a:pt x="35719" y="65484"/>
                </a:lnTo>
                <a:lnTo>
                  <a:pt x="44648" y="65484"/>
                </a:lnTo>
                <a:cubicBezTo>
                  <a:pt x="49597" y="65484"/>
                  <a:pt x="53578" y="69466"/>
                  <a:pt x="53578" y="74414"/>
                </a:cubicBezTo>
                <a:cubicBezTo>
                  <a:pt x="53578" y="79363"/>
                  <a:pt x="49597" y="83344"/>
                  <a:pt x="44648" y="83344"/>
                </a:cubicBezTo>
                <a:lnTo>
                  <a:pt x="8930" y="83344"/>
                </a:lnTo>
                <a:cubicBezTo>
                  <a:pt x="3981" y="83344"/>
                  <a:pt x="0" y="79363"/>
                  <a:pt x="0" y="74414"/>
                </a:cubicBezTo>
                <a:cubicBezTo>
                  <a:pt x="0" y="69466"/>
                  <a:pt x="3981" y="65484"/>
                  <a:pt x="8930" y="65484"/>
                </a:cubicBezTo>
                <a:lnTo>
                  <a:pt x="17859" y="65484"/>
                </a:lnTo>
                <a:lnTo>
                  <a:pt x="17859" y="35719"/>
                </a:lnTo>
                <a:lnTo>
                  <a:pt x="8930" y="35719"/>
                </a:lnTo>
                <a:cubicBezTo>
                  <a:pt x="3981" y="35719"/>
                  <a:pt x="0" y="31738"/>
                  <a:pt x="0" y="26789"/>
                </a:cubicBezTo>
                <a:close/>
                <a:moveTo>
                  <a:pt x="11311" y="112068"/>
                </a:moveTo>
                <a:cubicBezTo>
                  <a:pt x="15553" y="108868"/>
                  <a:pt x="20724" y="107156"/>
                  <a:pt x="26045" y="107156"/>
                </a:cubicBezTo>
                <a:lnTo>
                  <a:pt x="27868" y="107156"/>
                </a:lnTo>
                <a:cubicBezTo>
                  <a:pt x="40407" y="107156"/>
                  <a:pt x="50602" y="117351"/>
                  <a:pt x="50602" y="129890"/>
                </a:cubicBezTo>
                <a:cubicBezTo>
                  <a:pt x="50602" y="137182"/>
                  <a:pt x="47104" y="143991"/>
                  <a:pt x="41225" y="148270"/>
                </a:cubicBezTo>
                <a:lnTo>
                  <a:pt x="32296" y="154781"/>
                </a:lnTo>
                <a:lnTo>
                  <a:pt x="44648" y="154781"/>
                </a:lnTo>
                <a:cubicBezTo>
                  <a:pt x="49597" y="154781"/>
                  <a:pt x="53578" y="158762"/>
                  <a:pt x="53578" y="163711"/>
                </a:cubicBezTo>
                <a:cubicBezTo>
                  <a:pt x="53578" y="168659"/>
                  <a:pt x="49597" y="172641"/>
                  <a:pt x="44648" y="172641"/>
                </a:cubicBezTo>
                <a:lnTo>
                  <a:pt x="10902" y="172641"/>
                </a:lnTo>
                <a:cubicBezTo>
                  <a:pt x="4874" y="172641"/>
                  <a:pt x="0" y="167767"/>
                  <a:pt x="0" y="161739"/>
                </a:cubicBezTo>
                <a:cubicBezTo>
                  <a:pt x="0" y="158242"/>
                  <a:pt x="1674" y="154967"/>
                  <a:pt x="4502" y="152921"/>
                </a:cubicBezTo>
                <a:lnTo>
                  <a:pt x="30733" y="133834"/>
                </a:lnTo>
                <a:cubicBezTo>
                  <a:pt x="31998" y="132904"/>
                  <a:pt x="32742" y="131452"/>
                  <a:pt x="32742" y="129890"/>
                </a:cubicBezTo>
                <a:cubicBezTo>
                  <a:pt x="32742" y="127211"/>
                  <a:pt x="30547" y="125016"/>
                  <a:pt x="27868" y="125016"/>
                </a:cubicBezTo>
                <a:lnTo>
                  <a:pt x="26045" y="125016"/>
                </a:lnTo>
                <a:cubicBezTo>
                  <a:pt x="24594" y="125016"/>
                  <a:pt x="23180" y="125499"/>
                  <a:pt x="22027" y="126355"/>
                </a:cubicBezTo>
                <a:lnTo>
                  <a:pt x="14288" y="132159"/>
                </a:lnTo>
                <a:cubicBezTo>
                  <a:pt x="10344" y="135136"/>
                  <a:pt x="4762" y="134317"/>
                  <a:pt x="1786" y="130373"/>
                </a:cubicBezTo>
                <a:cubicBezTo>
                  <a:pt x="-1191" y="126429"/>
                  <a:pt x="-372" y="120848"/>
                  <a:pt x="3572" y="117872"/>
                </a:cubicBezTo>
                <a:lnTo>
                  <a:pt x="11311" y="112068"/>
                </a:lnTo>
                <a:close/>
                <a:moveTo>
                  <a:pt x="83344" y="23812"/>
                </a:move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83344" y="47625"/>
                </a:lnTo>
                <a:cubicBezTo>
                  <a:pt x="76758" y="47625"/>
                  <a:pt x="71438" y="42304"/>
                  <a:pt x="71438" y="35719"/>
                </a:cubicBezTo>
                <a:cubicBezTo>
                  <a:pt x="71438" y="29133"/>
                  <a:pt x="76758" y="23812"/>
                  <a:pt x="83344" y="23812"/>
                </a:cubicBezTo>
                <a:close/>
                <a:moveTo>
                  <a:pt x="83344" y="83344"/>
                </a:move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83344" y="107156"/>
                </a:lnTo>
                <a:cubicBezTo>
                  <a:pt x="76758" y="107156"/>
                  <a:pt x="71438" y="101836"/>
                  <a:pt x="71438" y="95250"/>
                </a:cubicBezTo>
                <a:cubicBezTo>
                  <a:pt x="71438" y="88664"/>
                  <a:pt x="76758" y="83344"/>
                  <a:pt x="83344" y="83344"/>
                </a:cubicBez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781050" y="1666875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财政支出优先级排序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975" y="2047875"/>
            <a:ext cx="5857875" cy="990600"/>
          </a:xfrm>
          <a:custGeom>
            <a:avLst/>
            <a:gdLst/>
            <a:ahLst/>
            <a:cxnLst/>
            <a:rect l="l" t="t" r="r" b="b"/>
            <a:pathLst>
              <a:path w="5857875" h="990600">
                <a:moveTo>
                  <a:pt x="38100" y="0"/>
                </a:moveTo>
                <a:lnTo>
                  <a:pt x="5781678" y="0"/>
                </a:lnTo>
                <a:cubicBezTo>
                  <a:pt x="5823760" y="0"/>
                  <a:pt x="5857875" y="34115"/>
                  <a:pt x="5857875" y="76197"/>
                </a:cubicBezTo>
                <a:lnTo>
                  <a:pt x="5857875" y="914403"/>
                </a:lnTo>
                <a:cubicBezTo>
                  <a:pt x="5857875" y="956485"/>
                  <a:pt x="5823760" y="990600"/>
                  <a:pt x="578167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561975" y="2047875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Shape 9"/>
          <p:cNvSpPr/>
          <p:nvPr/>
        </p:nvSpPr>
        <p:spPr>
          <a:xfrm>
            <a:off x="695325" y="2219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" name="Text 10"/>
          <p:cNvSpPr/>
          <p:nvPr/>
        </p:nvSpPr>
        <p:spPr>
          <a:xfrm>
            <a:off x="835223" y="22764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90625" y="218122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AI基础设施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0625" y="2447925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最高优先级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407" y="2162175"/>
            <a:ext cx="1095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0.5-1.0%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60032" y="246697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占GDP比例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6041" y="27527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16669"/>
                </a:moveTo>
                <a:cubicBezTo>
                  <a:pt x="102617" y="16669"/>
                  <a:pt x="125016" y="39067"/>
                  <a:pt x="125016" y="66675"/>
                </a:cubicBezTo>
                <a:cubicBezTo>
                  <a:pt x="125016" y="94283"/>
                  <a:pt x="102617" y="116681"/>
                  <a:pt x="75009" y="116681"/>
                </a:cubicBezTo>
                <a:cubicBezTo>
                  <a:pt x="58028" y="116681"/>
                  <a:pt x="43000" y="108217"/>
                  <a:pt x="33963" y="95246"/>
                </a:cubicBezTo>
                <a:cubicBezTo>
                  <a:pt x="31332" y="91470"/>
                  <a:pt x="26123" y="90558"/>
                  <a:pt x="22347" y="93189"/>
                </a:cubicBezTo>
                <a:cubicBezTo>
                  <a:pt x="18570" y="95819"/>
                  <a:pt x="17658" y="101028"/>
                  <a:pt x="20289" y="104805"/>
                </a:cubicBezTo>
                <a:cubicBezTo>
                  <a:pt x="32322" y="122047"/>
                  <a:pt x="52350" y="133350"/>
                  <a:pt x="75009" y="133350"/>
                </a:cubicBezTo>
                <a:cubicBezTo>
                  <a:pt x="111837" y="133350"/>
                  <a:pt x="141684" y="103503"/>
                  <a:pt x="141684" y="66675"/>
                </a:cubicBezTo>
                <a:cubicBezTo>
                  <a:pt x="141684" y="29847"/>
                  <a:pt x="111837" y="0"/>
                  <a:pt x="75009" y="0"/>
                </a:cubicBezTo>
                <a:cubicBezTo>
                  <a:pt x="52689" y="0"/>
                  <a:pt x="32947" y="10965"/>
                  <a:pt x="20836" y="27790"/>
                </a:cubicBezTo>
                <a:lnTo>
                  <a:pt x="20836" y="20836"/>
                </a:lnTo>
                <a:cubicBezTo>
                  <a:pt x="20836" y="16226"/>
                  <a:pt x="17112" y="12502"/>
                  <a:pt x="12502" y="12502"/>
                </a:cubicBezTo>
                <a:cubicBezTo>
                  <a:pt x="7892" y="12502"/>
                  <a:pt x="4167" y="16226"/>
                  <a:pt x="4167" y="20836"/>
                </a:cubicBezTo>
                <a:lnTo>
                  <a:pt x="4167" y="50006"/>
                </a:lnTo>
                <a:cubicBezTo>
                  <a:pt x="4167" y="54616"/>
                  <a:pt x="7892" y="58341"/>
                  <a:pt x="12502" y="58341"/>
                </a:cubicBezTo>
                <a:lnTo>
                  <a:pt x="18909" y="58341"/>
                </a:lnTo>
                <a:cubicBezTo>
                  <a:pt x="19039" y="58341"/>
                  <a:pt x="19169" y="58341"/>
                  <a:pt x="19299" y="58341"/>
                </a:cubicBezTo>
                <a:lnTo>
                  <a:pt x="41698" y="58341"/>
                </a:lnTo>
                <a:cubicBezTo>
                  <a:pt x="46308" y="58341"/>
                  <a:pt x="50032" y="54616"/>
                  <a:pt x="50032" y="50006"/>
                </a:cubicBezTo>
                <a:cubicBezTo>
                  <a:pt x="50032" y="45396"/>
                  <a:pt x="46308" y="41672"/>
                  <a:pt x="41698" y="41672"/>
                </a:cubicBezTo>
                <a:lnTo>
                  <a:pt x="31723" y="41672"/>
                </a:lnTo>
                <a:cubicBezTo>
                  <a:pt x="40344" y="26722"/>
                  <a:pt x="56517" y="16669"/>
                  <a:pt x="75009" y="16669"/>
                </a:cubicBezTo>
                <a:close/>
                <a:moveTo>
                  <a:pt x="81260" y="39588"/>
                </a:moveTo>
                <a:cubicBezTo>
                  <a:pt x="81260" y="36124"/>
                  <a:pt x="78473" y="33337"/>
                  <a:pt x="75009" y="33337"/>
                </a:cubicBezTo>
                <a:cubicBezTo>
                  <a:pt x="71545" y="33337"/>
                  <a:pt x="68759" y="36124"/>
                  <a:pt x="68759" y="39588"/>
                </a:cubicBezTo>
                <a:lnTo>
                  <a:pt x="68759" y="66675"/>
                </a:lnTo>
                <a:cubicBezTo>
                  <a:pt x="68759" y="68342"/>
                  <a:pt x="69410" y="69931"/>
                  <a:pt x="70582" y="71103"/>
                </a:cubicBezTo>
                <a:lnTo>
                  <a:pt x="89334" y="89855"/>
                </a:lnTo>
                <a:cubicBezTo>
                  <a:pt x="91782" y="92303"/>
                  <a:pt x="95741" y="92303"/>
                  <a:pt x="98163" y="89855"/>
                </a:cubicBezTo>
                <a:cubicBezTo>
                  <a:pt x="100585" y="87407"/>
                  <a:pt x="100612" y="83448"/>
                  <a:pt x="98163" y="81026"/>
                </a:cubicBezTo>
                <a:lnTo>
                  <a:pt x="81234" y="64097"/>
                </a:lnTo>
                <a:lnTo>
                  <a:pt x="81234" y="3958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" name="Text 16"/>
          <p:cNvSpPr/>
          <p:nvPr/>
        </p:nvSpPr>
        <p:spPr>
          <a:xfrm>
            <a:off x="923925" y="2733675"/>
            <a:ext cx="544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历史依据：类比1960年代太空竞赛、1990年代互联网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1975" y="3114675"/>
            <a:ext cx="5857875" cy="990600"/>
          </a:xfrm>
          <a:custGeom>
            <a:avLst/>
            <a:gdLst/>
            <a:ahLst/>
            <a:cxnLst/>
            <a:rect l="l" t="t" r="r" b="b"/>
            <a:pathLst>
              <a:path w="5857875" h="990600">
                <a:moveTo>
                  <a:pt x="38100" y="0"/>
                </a:moveTo>
                <a:lnTo>
                  <a:pt x="5781678" y="0"/>
                </a:lnTo>
                <a:cubicBezTo>
                  <a:pt x="5823760" y="0"/>
                  <a:pt x="5857875" y="34115"/>
                  <a:pt x="5857875" y="76197"/>
                </a:cubicBezTo>
                <a:lnTo>
                  <a:pt x="5857875" y="914403"/>
                </a:lnTo>
                <a:cubicBezTo>
                  <a:pt x="5857875" y="956485"/>
                  <a:pt x="5823760" y="990600"/>
                  <a:pt x="578167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561975" y="3114675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695325" y="3286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835223" y="33432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90625" y="32480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传统基建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0625" y="3514725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高优先级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2407" y="3228975"/>
            <a:ext cx="1095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0.3-0.5%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60032" y="353377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占GDP比例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6041" y="38195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16669"/>
                </a:moveTo>
                <a:cubicBezTo>
                  <a:pt x="102617" y="16669"/>
                  <a:pt x="125016" y="39067"/>
                  <a:pt x="125016" y="66675"/>
                </a:cubicBezTo>
                <a:cubicBezTo>
                  <a:pt x="125016" y="94283"/>
                  <a:pt x="102617" y="116681"/>
                  <a:pt x="75009" y="116681"/>
                </a:cubicBezTo>
                <a:cubicBezTo>
                  <a:pt x="58028" y="116681"/>
                  <a:pt x="43000" y="108217"/>
                  <a:pt x="33963" y="95246"/>
                </a:cubicBezTo>
                <a:cubicBezTo>
                  <a:pt x="31332" y="91470"/>
                  <a:pt x="26123" y="90558"/>
                  <a:pt x="22347" y="93189"/>
                </a:cubicBezTo>
                <a:cubicBezTo>
                  <a:pt x="18570" y="95819"/>
                  <a:pt x="17658" y="101028"/>
                  <a:pt x="20289" y="104805"/>
                </a:cubicBezTo>
                <a:cubicBezTo>
                  <a:pt x="32322" y="122047"/>
                  <a:pt x="52350" y="133350"/>
                  <a:pt x="75009" y="133350"/>
                </a:cubicBezTo>
                <a:cubicBezTo>
                  <a:pt x="111837" y="133350"/>
                  <a:pt x="141684" y="103503"/>
                  <a:pt x="141684" y="66675"/>
                </a:cubicBezTo>
                <a:cubicBezTo>
                  <a:pt x="141684" y="29847"/>
                  <a:pt x="111837" y="0"/>
                  <a:pt x="75009" y="0"/>
                </a:cubicBezTo>
                <a:cubicBezTo>
                  <a:pt x="52689" y="0"/>
                  <a:pt x="32947" y="10965"/>
                  <a:pt x="20836" y="27790"/>
                </a:cubicBezTo>
                <a:lnTo>
                  <a:pt x="20836" y="20836"/>
                </a:lnTo>
                <a:cubicBezTo>
                  <a:pt x="20836" y="16226"/>
                  <a:pt x="17112" y="12502"/>
                  <a:pt x="12502" y="12502"/>
                </a:cubicBezTo>
                <a:cubicBezTo>
                  <a:pt x="7892" y="12502"/>
                  <a:pt x="4167" y="16226"/>
                  <a:pt x="4167" y="20836"/>
                </a:cubicBezTo>
                <a:lnTo>
                  <a:pt x="4167" y="50006"/>
                </a:lnTo>
                <a:cubicBezTo>
                  <a:pt x="4167" y="54616"/>
                  <a:pt x="7892" y="58341"/>
                  <a:pt x="12502" y="58341"/>
                </a:cubicBezTo>
                <a:lnTo>
                  <a:pt x="18909" y="58341"/>
                </a:lnTo>
                <a:cubicBezTo>
                  <a:pt x="19039" y="58341"/>
                  <a:pt x="19169" y="58341"/>
                  <a:pt x="19299" y="58341"/>
                </a:cubicBezTo>
                <a:lnTo>
                  <a:pt x="41698" y="58341"/>
                </a:lnTo>
                <a:cubicBezTo>
                  <a:pt x="46308" y="58341"/>
                  <a:pt x="50032" y="54616"/>
                  <a:pt x="50032" y="50006"/>
                </a:cubicBezTo>
                <a:cubicBezTo>
                  <a:pt x="50032" y="45396"/>
                  <a:pt x="46308" y="41672"/>
                  <a:pt x="41698" y="41672"/>
                </a:cubicBezTo>
                <a:lnTo>
                  <a:pt x="31723" y="41672"/>
                </a:lnTo>
                <a:cubicBezTo>
                  <a:pt x="40344" y="26722"/>
                  <a:pt x="56517" y="16669"/>
                  <a:pt x="75009" y="16669"/>
                </a:cubicBezTo>
                <a:close/>
                <a:moveTo>
                  <a:pt x="81260" y="39588"/>
                </a:moveTo>
                <a:cubicBezTo>
                  <a:pt x="81260" y="36124"/>
                  <a:pt x="78473" y="33337"/>
                  <a:pt x="75009" y="33337"/>
                </a:cubicBezTo>
                <a:cubicBezTo>
                  <a:pt x="71545" y="33337"/>
                  <a:pt x="68759" y="36124"/>
                  <a:pt x="68759" y="39588"/>
                </a:cubicBezTo>
                <a:lnTo>
                  <a:pt x="68759" y="66675"/>
                </a:lnTo>
                <a:cubicBezTo>
                  <a:pt x="68759" y="68342"/>
                  <a:pt x="69410" y="69931"/>
                  <a:pt x="70582" y="71103"/>
                </a:cubicBezTo>
                <a:lnTo>
                  <a:pt x="89334" y="89855"/>
                </a:lnTo>
                <a:cubicBezTo>
                  <a:pt x="91782" y="92303"/>
                  <a:pt x="95741" y="92303"/>
                  <a:pt x="98163" y="89855"/>
                </a:cubicBezTo>
                <a:cubicBezTo>
                  <a:pt x="100585" y="87407"/>
                  <a:pt x="100612" y="83448"/>
                  <a:pt x="98163" y="81026"/>
                </a:cubicBezTo>
                <a:lnTo>
                  <a:pt x="81234" y="64097"/>
                </a:lnTo>
                <a:lnTo>
                  <a:pt x="81234" y="3958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8" name="Text 26"/>
          <p:cNvSpPr/>
          <p:nvPr/>
        </p:nvSpPr>
        <p:spPr>
          <a:xfrm>
            <a:off x="923925" y="3800475"/>
            <a:ext cx="544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历史依据：跨党派支持，就业创造效应显著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1975" y="4181475"/>
            <a:ext cx="2867025" cy="1066800"/>
          </a:xfrm>
          <a:custGeom>
            <a:avLst/>
            <a:gdLst/>
            <a:ahLst/>
            <a:cxnLst/>
            <a:rect l="l" t="t" r="r" b="b"/>
            <a:pathLst>
              <a:path w="2867025" h="1066800">
                <a:moveTo>
                  <a:pt x="38100" y="0"/>
                </a:moveTo>
                <a:lnTo>
                  <a:pt x="2790823" y="0"/>
                </a:lnTo>
                <a:cubicBezTo>
                  <a:pt x="2832908" y="0"/>
                  <a:pt x="2867025" y="34117"/>
                  <a:pt x="2867025" y="76202"/>
                </a:cubicBezTo>
                <a:lnTo>
                  <a:pt x="2867025" y="990598"/>
                </a:lnTo>
                <a:cubicBezTo>
                  <a:pt x="2867025" y="1032683"/>
                  <a:pt x="2832908" y="1066800"/>
                  <a:pt x="279082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61975" y="418147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695325" y="4295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808434" y="43529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6325" y="43148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清洁能源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5325" y="4676775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0.2-0.3%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5325" y="4981575"/>
            <a:ext cx="2676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中-高优先级 | 拜登政策延续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58480" y="4181475"/>
            <a:ext cx="2867025" cy="1066800"/>
          </a:xfrm>
          <a:custGeom>
            <a:avLst/>
            <a:gdLst/>
            <a:ahLst/>
            <a:cxnLst/>
            <a:rect l="l" t="t" r="r" b="b"/>
            <a:pathLst>
              <a:path w="2867025" h="1066800">
                <a:moveTo>
                  <a:pt x="38100" y="0"/>
                </a:moveTo>
                <a:lnTo>
                  <a:pt x="2790823" y="0"/>
                </a:lnTo>
                <a:cubicBezTo>
                  <a:pt x="2832908" y="0"/>
                  <a:pt x="2867025" y="34117"/>
                  <a:pt x="2867025" y="76202"/>
                </a:cubicBezTo>
                <a:lnTo>
                  <a:pt x="2867025" y="990598"/>
                </a:lnTo>
                <a:cubicBezTo>
                  <a:pt x="2867025" y="1032683"/>
                  <a:pt x="2832908" y="1066800"/>
                  <a:pt x="279082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58480" y="418147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Shape 36"/>
          <p:cNvSpPr/>
          <p:nvPr/>
        </p:nvSpPr>
        <p:spPr>
          <a:xfrm>
            <a:off x="3691830" y="4295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9" name="Text 37"/>
          <p:cNvSpPr/>
          <p:nvPr/>
        </p:nvSpPr>
        <p:spPr>
          <a:xfrm>
            <a:off x="3805089" y="43529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072830" y="431482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国防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691830" y="4676775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0.1-0.2%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691830" y="4981575"/>
            <a:ext cx="2676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中优先级 | 地缘政治紧张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40872" y="1509713"/>
            <a:ext cx="5067300" cy="3838575"/>
          </a:xfrm>
          <a:custGeom>
            <a:avLst/>
            <a:gdLst/>
            <a:ahLst/>
            <a:cxnLst/>
            <a:rect l="l" t="t" r="r" b="b"/>
            <a:pathLst>
              <a:path w="5067300" h="3838575">
                <a:moveTo>
                  <a:pt x="114313" y="0"/>
                </a:moveTo>
                <a:lnTo>
                  <a:pt x="4952987" y="0"/>
                </a:lnTo>
                <a:cubicBezTo>
                  <a:pt x="5016120" y="0"/>
                  <a:pt x="5067300" y="51180"/>
                  <a:pt x="5067300" y="114313"/>
                </a:cubicBezTo>
                <a:lnTo>
                  <a:pt x="5067300" y="3724262"/>
                </a:lnTo>
                <a:cubicBezTo>
                  <a:pt x="5067300" y="3787395"/>
                  <a:pt x="5016120" y="3838575"/>
                  <a:pt x="4952987" y="3838575"/>
                </a:cubicBezTo>
                <a:lnTo>
                  <a:pt x="114313" y="3838575"/>
                </a:lnTo>
                <a:cubicBezTo>
                  <a:pt x="51180" y="3838575"/>
                  <a:pt x="0" y="3787395"/>
                  <a:pt x="0" y="3724262"/>
                </a:cubicBezTo>
                <a:lnTo>
                  <a:pt x="0" y="114313"/>
                </a:lnTo>
                <a:cubicBezTo>
                  <a:pt x="0" y="51180"/>
                  <a:pt x="51180" y="0"/>
                  <a:pt x="11431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21847" y="1704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5" name="Text 43"/>
          <p:cNvSpPr/>
          <p:nvPr/>
        </p:nvSpPr>
        <p:spPr>
          <a:xfrm>
            <a:off x="7136160" y="1666875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约束因素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17085" y="2047875"/>
            <a:ext cx="4733925" cy="1514475"/>
          </a:xfrm>
          <a:custGeom>
            <a:avLst/>
            <a:gdLst/>
            <a:ahLst/>
            <a:cxnLst/>
            <a:rect l="l" t="t" r="r" b="b"/>
            <a:pathLst>
              <a:path w="4733925" h="1514475">
                <a:moveTo>
                  <a:pt x="38100" y="0"/>
                </a:moveTo>
                <a:lnTo>
                  <a:pt x="4657732" y="0"/>
                </a:lnTo>
                <a:cubicBezTo>
                  <a:pt x="4699812" y="0"/>
                  <a:pt x="4733925" y="34113"/>
                  <a:pt x="4733925" y="76193"/>
                </a:cubicBezTo>
                <a:lnTo>
                  <a:pt x="4733925" y="1438282"/>
                </a:lnTo>
                <a:cubicBezTo>
                  <a:pt x="4733925" y="1480362"/>
                  <a:pt x="4699812" y="1514475"/>
                  <a:pt x="4657732" y="1514475"/>
                </a:cubicBezTo>
                <a:lnTo>
                  <a:pt x="38100" y="1514475"/>
                </a:lnTo>
                <a:cubicBezTo>
                  <a:pt x="17072" y="1514475"/>
                  <a:pt x="0" y="1497403"/>
                  <a:pt x="0" y="1476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17085" y="2047875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3810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38100" y="1514475"/>
                </a:lnTo>
                <a:cubicBezTo>
                  <a:pt x="17072" y="1514475"/>
                  <a:pt x="0" y="1497403"/>
                  <a:pt x="0" y="1476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8" name="Shape 46"/>
          <p:cNvSpPr/>
          <p:nvPr/>
        </p:nvSpPr>
        <p:spPr>
          <a:xfrm>
            <a:off x="7063532" y="2209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9" name="Text 47"/>
          <p:cNvSpPr/>
          <p:nvPr/>
        </p:nvSpPr>
        <p:spPr>
          <a:xfrm>
            <a:off x="7340947" y="2162175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债务可持续性担忧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50435" y="2505075"/>
            <a:ext cx="4552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历史类比：2010年欧洲债务危机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102822" y="2836069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2" name="Text 50"/>
          <p:cNvSpPr/>
          <p:nvPr/>
        </p:nvSpPr>
        <p:spPr>
          <a:xfrm>
            <a:off x="7293322" y="2797969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当债务/GDP超过100%，财政刺激空间受限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02822" y="3064669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4" name="Text 52"/>
          <p:cNvSpPr/>
          <p:nvPr/>
        </p:nvSpPr>
        <p:spPr>
          <a:xfrm>
            <a:off x="7293322" y="3026569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市场可能对过度财政扩张产生负面反应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102822" y="3293269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6" name="Text 54"/>
          <p:cNvSpPr/>
          <p:nvPr/>
        </p:nvSpPr>
        <p:spPr>
          <a:xfrm>
            <a:off x="7293322" y="3255169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信用评级下调风险（历史案例：2011年美国AAA降级）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917085" y="3674269"/>
            <a:ext cx="4733925" cy="1514475"/>
          </a:xfrm>
          <a:custGeom>
            <a:avLst/>
            <a:gdLst/>
            <a:ahLst/>
            <a:cxnLst/>
            <a:rect l="l" t="t" r="r" b="b"/>
            <a:pathLst>
              <a:path w="4733925" h="1514475">
                <a:moveTo>
                  <a:pt x="38100" y="0"/>
                </a:moveTo>
                <a:lnTo>
                  <a:pt x="4657732" y="0"/>
                </a:lnTo>
                <a:cubicBezTo>
                  <a:pt x="4699812" y="0"/>
                  <a:pt x="4733925" y="34113"/>
                  <a:pt x="4733925" y="76193"/>
                </a:cubicBezTo>
                <a:lnTo>
                  <a:pt x="4733925" y="1438282"/>
                </a:lnTo>
                <a:cubicBezTo>
                  <a:pt x="4733925" y="1480362"/>
                  <a:pt x="4699812" y="1514475"/>
                  <a:pt x="4657732" y="1514475"/>
                </a:cubicBezTo>
                <a:lnTo>
                  <a:pt x="38100" y="1514475"/>
                </a:lnTo>
                <a:cubicBezTo>
                  <a:pt x="17072" y="1514475"/>
                  <a:pt x="0" y="1497403"/>
                  <a:pt x="0" y="1476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917085" y="3674269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3810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38100" y="1514475"/>
                </a:lnTo>
                <a:cubicBezTo>
                  <a:pt x="17072" y="1514475"/>
                  <a:pt x="0" y="1497403"/>
                  <a:pt x="0" y="1476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9" name="Shape 57"/>
          <p:cNvSpPr/>
          <p:nvPr/>
        </p:nvSpPr>
        <p:spPr>
          <a:xfrm>
            <a:off x="7063532" y="3836194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0" name="Text 58"/>
          <p:cNvSpPr/>
          <p:nvPr/>
        </p:nvSpPr>
        <p:spPr>
          <a:xfrm>
            <a:off x="7340947" y="3788569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债务上限谈判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050435" y="4131469"/>
            <a:ext cx="4552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历史模式：2011、2013、2023年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102822" y="4462463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3" name="Text 61"/>
          <p:cNvSpPr/>
          <p:nvPr/>
        </p:nvSpPr>
        <p:spPr>
          <a:xfrm>
            <a:off x="7293322" y="4424363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预计2026年可能出现债务上限僵局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102822" y="4691063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5" name="Text 63"/>
          <p:cNvSpPr/>
          <p:nvPr/>
        </p:nvSpPr>
        <p:spPr>
          <a:xfrm>
            <a:off x="7293322" y="4652963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历史解决时间：平均在最后期限前2-4周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102822" y="4919663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64357" y="60789"/>
                </a:moveTo>
                <a:cubicBezTo>
                  <a:pt x="67613" y="64044"/>
                  <a:pt x="67613" y="69332"/>
                  <a:pt x="64357" y="72587"/>
                </a:cubicBezTo>
                <a:lnTo>
                  <a:pt x="22685" y="114259"/>
                </a:lnTo>
                <a:cubicBezTo>
                  <a:pt x="19430" y="117515"/>
                  <a:pt x="14142" y="117515"/>
                  <a:pt x="10887" y="114259"/>
                </a:cubicBezTo>
                <a:cubicBezTo>
                  <a:pt x="7631" y="111003"/>
                  <a:pt x="7631" y="105716"/>
                  <a:pt x="10887" y="102461"/>
                </a:cubicBezTo>
                <a:lnTo>
                  <a:pt x="46673" y="66675"/>
                </a:lnTo>
                <a:lnTo>
                  <a:pt x="10913" y="30889"/>
                </a:lnTo>
                <a:cubicBezTo>
                  <a:pt x="7657" y="27634"/>
                  <a:pt x="7657" y="22347"/>
                  <a:pt x="10913" y="19091"/>
                </a:cubicBezTo>
                <a:cubicBezTo>
                  <a:pt x="14168" y="15835"/>
                  <a:pt x="19456" y="15835"/>
                  <a:pt x="22711" y="19091"/>
                </a:cubicBezTo>
                <a:lnTo>
                  <a:pt x="64383" y="60763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7" name="Text 65"/>
          <p:cNvSpPr/>
          <p:nvPr/>
        </p:nvSpPr>
        <p:spPr>
          <a:xfrm>
            <a:off x="7293322" y="4881563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对市场冲击：VIX通常上升10-20点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740872" y="5467350"/>
            <a:ext cx="5067300" cy="1000125"/>
          </a:xfrm>
          <a:custGeom>
            <a:avLst/>
            <a:gdLst/>
            <a:ahLst/>
            <a:cxnLst/>
            <a:rect l="l" t="t" r="r" b="b"/>
            <a:pathLst>
              <a:path w="5067300" h="1000125">
                <a:moveTo>
                  <a:pt x="114304" y="0"/>
                </a:moveTo>
                <a:lnTo>
                  <a:pt x="4952996" y="0"/>
                </a:lnTo>
                <a:cubicBezTo>
                  <a:pt x="5016124" y="0"/>
                  <a:pt x="5067300" y="51176"/>
                  <a:pt x="5067300" y="114304"/>
                </a:cubicBezTo>
                <a:lnTo>
                  <a:pt x="5067300" y="885821"/>
                </a:lnTo>
                <a:cubicBezTo>
                  <a:pt x="5067300" y="948949"/>
                  <a:pt x="5016124" y="1000125"/>
                  <a:pt x="4952996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40897" y="585311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0" name="Text 68"/>
          <p:cNvSpPr/>
          <p:nvPr/>
        </p:nvSpPr>
        <p:spPr>
          <a:xfrm>
            <a:off x="7298085" y="5624513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当前财政状况推断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298085" y="5929313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财政赤字率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298085" y="6119813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5.5-6.5%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079135" y="5929313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债务/GDP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079135" y="6119813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120-125%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860185" y="5929313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利息/GDP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860185" y="6119813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3.0-3.5%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033" y="357033"/>
            <a:ext cx="2089302" cy="326178"/>
          </a:xfrm>
          <a:custGeom>
            <a:avLst/>
            <a:gdLst/>
            <a:ahLst/>
            <a:cxnLst/>
            <a:rect l="l" t="t" r="r" b="b"/>
            <a:pathLst>
              <a:path w="2089302" h="326178">
                <a:moveTo>
                  <a:pt x="163089" y="0"/>
                </a:moveTo>
                <a:lnTo>
                  <a:pt x="1926213" y="0"/>
                </a:lnTo>
                <a:cubicBezTo>
                  <a:pt x="2016224" y="0"/>
                  <a:pt x="2089302" y="73078"/>
                  <a:pt x="2089302" y="163089"/>
                </a:cubicBezTo>
                <a:lnTo>
                  <a:pt x="2089302" y="163089"/>
                </a:lnTo>
                <a:cubicBezTo>
                  <a:pt x="2089302" y="253100"/>
                  <a:pt x="2016224" y="326178"/>
                  <a:pt x="1926213" y="326178"/>
                </a:cubicBezTo>
                <a:lnTo>
                  <a:pt x="163089" y="326178"/>
                </a:lnTo>
                <a:cubicBezTo>
                  <a:pt x="73078" y="326178"/>
                  <a:pt x="0" y="253100"/>
                  <a:pt x="0" y="163089"/>
                </a:cubicBezTo>
                <a:lnTo>
                  <a:pt x="0" y="163089"/>
                </a:lnTo>
                <a:cubicBezTo>
                  <a:pt x="0" y="73078"/>
                  <a:pt x="73078" y="0"/>
                  <a:pt x="163089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490" y="449597"/>
            <a:ext cx="186106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spc="97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2625" y="793406"/>
            <a:ext cx="1164543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历史情景对比：相似度评估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625" y="1251818"/>
            <a:ext cx="846299" cy="35262"/>
          </a:xfrm>
          <a:custGeom>
            <a:avLst/>
            <a:gdLst/>
            <a:ahLst/>
            <a:cxnLst/>
            <a:rect l="l" t="t" r="r" b="b"/>
            <a:pathLst>
              <a:path w="846299" h="35262">
                <a:moveTo>
                  <a:pt x="0" y="0"/>
                </a:moveTo>
                <a:lnTo>
                  <a:pt x="846299" y="0"/>
                </a:lnTo>
                <a:lnTo>
                  <a:pt x="846299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57033" y="1397275"/>
            <a:ext cx="5668443" cy="4663462"/>
          </a:xfrm>
          <a:custGeom>
            <a:avLst/>
            <a:gdLst/>
            <a:ahLst/>
            <a:cxnLst/>
            <a:rect l="l" t="t" r="r" b="b"/>
            <a:pathLst>
              <a:path w="5668443" h="4663462">
                <a:moveTo>
                  <a:pt x="105767" y="0"/>
                </a:moveTo>
                <a:lnTo>
                  <a:pt x="5562675" y="0"/>
                </a:lnTo>
                <a:cubicBezTo>
                  <a:pt x="5621089" y="0"/>
                  <a:pt x="5668443" y="47354"/>
                  <a:pt x="5668443" y="105767"/>
                </a:cubicBezTo>
                <a:lnTo>
                  <a:pt x="5668443" y="4557695"/>
                </a:lnTo>
                <a:cubicBezTo>
                  <a:pt x="5668443" y="4616108"/>
                  <a:pt x="5621089" y="4663462"/>
                  <a:pt x="5562675" y="4663462"/>
                </a:cubicBezTo>
                <a:lnTo>
                  <a:pt x="105767" y="4663462"/>
                </a:lnTo>
                <a:cubicBezTo>
                  <a:pt x="47354" y="4663462"/>
                  <a:pt x="0" y="4616108"/>
                  <a:pt x="0" y="4557695"/>
                </a:cubicBezTo>
                <a:lnTo>
                  <a:pt x="0" y="105767"/>
                </a:lnTo>
                <a:cubicBezTo>
                  <a:pt x="0" y="47393"/>
                  <a:pt x="47393" y="0"/>
                  <a:pt x="10576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490" y="1577996"/>
            <a:ext cx="220390" cy="176312"/>
          </a:xfrm>
          <a:custGeom>
            <a:avLst/>
            <a:gdLst/>
            <a:ahLst/>
            <a:cxnLst/>
            <a:rect l="l" t="t" r="r" b="b"/>
            <a:pathLst>
              <a:path w="220390" h="176312">
                <a:moveTo>
                  <a:pt x="132234" y="11020"/>
                </a:moveTo>
                <a:lnTo>
                  <a:pt x="176312" y="11020"/>
                </a:lnTo>
                <a:cubicBezTo>
                  <a:pt x="182408" y="11020"/>
                  <a:pt x="187332" y="15944"/>
                  <a:pt x="187332" y="22039"/>
                </a:cubicBezTo>
                <a:cubicBezTo>
                  <a:pt x="187332" y="28134"/>
                  <a:pt x="182408" y="33059"/>
                  <a:pt x="176312" y="33059"/>
                </a:cubicBezTo>
                <a:lnTo>
                  <a:pt x="137193" y="33059"/>
                </a:lnTo>
                <a:cubicBezTo>
                  <a:pt x="135402" y="41943"/>
                  <a:pt x="129307" y="49278"/>
                  <a:pt x="121215" y="52790"/>
                </a:cubicBezTo>
                <a:lnTo>
                  <a:pt x="121215" y="154273"/>
                </a:lnTo>
                <a:lnTo>
                  <a:pt x="176312" y="154273"/>
                </a:lnTo>
                <a:cubicBezTo>
                  <a:pt x="182408" y="154273"/>
                  <a:pt x="187332" y="159198"/>
                  <a:pt x="187332" y="165293"/>
                </a:cubicBezTo>
                <a:cubicBezTo>
                  <a:pt x="187332" y="171388"/>
                  <a:pt x="182408" y="176312"/>
                  <a:pt x="176312" y="176312"/>
                </a:cubicBezTo>
                <a:lnTo>
                  <a:pt x="44078" y="176312"/>
                </a:lnTo>
                <a:cubicBezTo>
                  <a:pt x="37983" y="176312"/>
                  <a:pt x="33059" y="171388"/>
                  <a:pt x="33059" y="165293"/>
                </a:cubicBezTo>
                <a:cubicBezTo>
                  <a:pt x="33059" y="159198"/>
                  <a:pt x="37983" y="154273"/>
                  <a:pt x="44078" y="154273"/>
                </a:cubicBezTo>
                <a:lnTo>
                  <a:pt x="99176" y="154273"/>
                </a:lnTo>
                <a:lnTo>
                  <a:pt x="99176" y="52790"/>
                </a:lnTo>
                <a:cubicBezTo>
                  <a:pt x="91083" y="49243"/>
                  <a:pt x="84988" y="41909"/>
                  <a:pt x="83197" y="33059"/>
                </a:cubicBezTo>
                <a:lnTo>
                  <a:pt x="44078" y="33059"/>
                </a:lnTo>
                <a:cubicBezTo>
                  <a:pt x="37983" y="33059"/>
                  <a:pt x="33059" y="28134"/>
                  <a:pt x="33059" y="22039"/>
                </a:cubicBezTo>
                <a:cubicBezTo>
                  <a:pt x="33059" y="15944"/>
                  <a:pt x="37983" y="11020"/>
                  <a:pt x="44078" y="11020"/>
                </a:cubicBezTo>
                <a:lnTo>
                  <a:pt x="88156" y="11020"/>
                </a:lnTo>
                <a:cubicBezTo>
                  <a:pt x="93184" y="4339"/>
                  <a:pt x="101173" y="0"/>
                  <a:pt x="110195" y="0"/>
                </a:cubicBezTo>
                <a:cubicBezTo>
                  <a:pt x="119217" y="0"/>
                  <a:pt x="127207" y="4339"/>
                  <a:pt x="132234" y="11020"/>
                </a:cubicBezTo>
                <a:close/>
                <a:moveTo>
                  <a:pt x="151381" y="110195"/>
                </a:moveTo>
                <a:lnTo>
                  <a:pt x="201244" y="110195"/>
                </a:lnTo>
                <a:lnTo>
                  <a:pt x="176312" y="67426"/>
                </a:lnTo>
                <a:lnTo>
                  <a:pt x="151381" y="110195"/>
                </a:lnTo>
                <a:close/>
                <a:moveTo>
                  <a:pt x="176312" y="143254"/>
                </a:moveTo>
                <a:cubicBezTo>
                  <a:pt x="154652" y="143254"/>
                  <a:pt x="136642" y="131546"/>
                  <a:pt x="132923" y="116084"/>
                </a:cubicBezTo>
                <a:cubicBezTo>
                  <a:pt x="132028" y="112296"/>
                  <a:pt x="133267" y="108405"/>
                  <a:pt x="135230" y="105030"/>
                </a:cubicBezTo>
                <a:lnTo>
                  <a:pt x="168013" y="48830"/>
                </a:lnTo>
                <a:cubicBezTo>
                  <a:pt x="169735" y="45869"/>
                  <a:pt x="172903" y="44078"/>
                  <a:pt x="176312" y="44078"/>
                </a:cubicBezTo>
                <a:cubicBezTo>
                  <a:pt x="179722" y="44078"/>
                  <a:pt x="182890" y="45903"/>
                  <a:pt x="184611" y="48830"/>
                </a:cubicBezTo>
                <a:lnTo>
                  <a:pt x="217395" y="105030"/>
                </a:lnTo>
                <a:cubicBezTo>
                  <a:pt x="219357" y="108405"/>
                  <a:pt x="220597" y="112296"/>
                  <a:pt x="219702" y="116084"/>
                </a:cubicBezTo>
                <a:cubicBezTo>
                  <a:pt x="215983" y="131511"/>
                  <a:pt x="197973" y="143254"/>
                  <a:pt x="176312" y="143254"/>
                </a:cubicBezTo>
                <a:close/>
                <a:moveTo>
                  <a:pt x="43665" y="67426"/>
                </a:moveTo>
                <a:lnTo>
                  <a:pt x="18733" y="110195"/>
                </a:lnTo>
                <a:lnTo>
                  <a:pt x="68631" y="110195"/>
                </a:lnTo>
                <a:lnTo>
                  <a:pt x="43665" y="67426"/>
                </a:lnTo>
                <a:close/>
                <a:moveTo>
                  <a:pt x="310" y="116084"/>
                </a:moveTo>
                <a:cubicBezTo>
                  <a:pt x="-585" y="112296"/>
                  <a:pt x="654" y="108405"/>
                  <a:pt x="2617" y="105030"/>
                </a:cubicBezTo>
                <a:lnTo>
                  <a:pt x="35400" y="48830"/>
                </a:lnTo>
                <a:cubicBezTo>
                  <a:pt x="37122" y="45869"/>
                  <a:pt x="40290" y="44078"/>
                  <a:pt x="43699" y="44078"/>
                </a:cubicBezTo>
                <a:cubicBezTo>
                  <a:pt x="47108" y="44078"/>
                  <a:pt x="50277" y="45903"/>
                  <a:pt x="51998" y="48830"/>
                </a:cubicBezTo>
                <a:lnTo>
                  <a:pt x="84781" y="105030"/>
                </a:lnTo>
                <a:cubicBezTo>
                  <a:pt x="86744" y="108405"/>
                  <a:pt x="87984" y="112296"/>
                  <a:pt x="87089" y="116084"/>
                </a:cubicBezTo>
                <a:cubicBezTo>
                  <a:pt x="83370" y="131511"/>
                  <a:pt x="65360" y="143254"/>
                  <a:pt x="43699" y="143254"/>
                </a:cubicBezTo>
                <a:cubicBezTo>
                  <a:pt x="22039" y="143254"/>
                  <a:pt x="4029" y="131546"/>
                  <a:pt x="310" y="11608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722881" y="1542733"/>
            <a:ext cx="5245293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与历史周期的相似度评估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0121" y="1895358"/>
            <a:ext cx="5359896" cy="1040243"/>
          </a:xfrm>
          <a:custGeom>
            <a:avLst/>
            <a:gdLst/>
            <a:ahLst/>
            <a:cxnLst/>
            <a:rect l="l" t="t" r="r" b="b"/>
            <a:pathLst>
              <a:path w="5359896" h="1040243">
                <a:moveTo>
                  <a:pt x="35262" y="0"/>
                </a:moveTo>
                <a:lnTo>
                  <a:pt x="5289367" y="0"/>
                </a:lnTo>
                <a:cubicBezTo>
                  <a:pt x="5328319" y="0"/>
                  <a:pt x="5359896" y="31577"/>
                  <a:pt x="5359896" y="70528"/>
                </a:cubicBezTo>
                <a:lnTo>
                  <a:pt x="5359896" y="969714"/>
                </a:lnTo>
                <a:cubicBezTo>
                  <a:pt x="5359896" y="1008666"/>
                  <a:pt x="5328319" y="1040243"/>
                  <a:pt x="5289367" y="1040243"/>
                </a:cubicBezTo>
                <a:lnTo>
                  <a:pt x="35262" y="1040243"/>
                </a:lnTo>
                <a:cubicBezTo>
                  <a:pt x="15788" y="1040243"/>
                  <a:pt x="0" y="1024455"/>
                  <a:pt x="0" y="1004980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gradFill rotWithShape="1" flip="none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520121" y="1895358"/>
            <a:ext cx="35262" cy="1040243"/>
          </a:xfrm>
          <a:custGeom>
            <a:avLst/>
            <a:gdLst/>
            <a:ahLst/>
            <a:cxnLst/>
            <a:rect l="l" t="t" r="r" b="b"/>
            <a:pathLst>
              <a:path w="35262" h="1040243">
                <a:moveTo>
                  <a:pt x="35262" y="0"/>
                </a:moveTo>
                <a:lnTo>
                  <a:pt x="35262" y="0"/>
                </a:lnTo>
                <a:lnTo>
                  <a:pt x="35262" y="1040243"/>
                </a:lnTo>
                <a:lnTo>
                  <a:pt x="35262" y="1040243"/>
                </a:lnTo>
                <a:cubicBezTo>
                  <a:pt x="15788" y="1040243"/>
                  <a:pt x="0" y="1024455"/>
                  <a:pt x="0" y="1004980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Shape 9"/>
          <p:cNvSpPr/>
          <p:nvPr/>
        </p:nvSpPr>
        <p:spPr>
          <a:xfrm>
            <a:off x="654560" y="2177458"/>
            <a:ext cx="198351" cy="176312"/>
          </a:xfrm>
          <a:custGeom>
            <a:avLst/>
            <a:gdLst/>
            <a:ahLst/>
            <a:cxnLst/>
            <a:rect l="l" t="t" r="r" b="b"/>
            <a:pathLst>
              <a:path w="198351" h="176312">
                <a:moveTo>
                  <a:pt x="106579" y="-6508"/>
                </a:moveTo>
                <a:cubicBezTo>
                  <a:pt x="105168" y="-9263"/>
                  <a:pt x="102309" y="-11020"/>
                  <a:pt x="99210" y="-11020"/>
                </a:cubicBezTo>
                <a:cubicBezTo>
                  <a:pt x="96111" y="-11020"/>
                  <a:pt x="93253" y="-9263"/>
                  <a:pt x="91841" y="-6508"/>
                </a:cubicBezTo>
                <a:lnTo>
                  <a:pt x="66496" y="43148"/>
                </a:lnTo>
                <a:lnTo>
                  <a:pt x="11433" y="51895"/>
                </a:lnTo>
                <a:cubicBezTo>
                  <a:pt x="8368" y="52377"/>
                  <a:pt x="5820" y="54547"/>
                  <a:pt x="4855" y="57508"/>
                </a:cubicBezTo>
                <a:cubicBezTo>
                  <a:pt x="3891" y="60470"/>
                  <a:pt x="4683" y="63707"/>
                  <a:pt x="6853" y="65911"/>
                </a:cubicBezTo>
                <a:lnTo>
                  <a:pt x="46248" y="105340"/>
                </a:lnTo>
                <a:lnTo>
                  <a:pt x="37570" y="160403"/>
                </a:lnTo>
                <a:cubicBezTo>
                  <a:pt x="37088" y="163468"/>
                  <a:pt x="38362" y="166567"/>
                  <a:pt x="40876" y="168392"/>
                </a:cubicBezTo>
                <a:cubicBezTo>
                  <a:pt x="43389" y="170217"/>
                  <a:pt x="46695" y="170493"/>
                  <a:pt x="49485" y="169081"/>
                </a:cubicBezTo>
                <a:lnTo>
                  <a:pt x="99210" y="143805"/>
                </a:lnTo>
                <a:lnTo>
                  <a:pt x="148901" y="169081"/>
                </a:lnTo>
                <a:cubicBezTo>
                  <a:pt x="151656" y="170493"/>
                  <a:pt x="154996" y="170217"/>
                  <a:pt x="157510" y="168392"/>
                </a:cubicBezTo>
                <a:cubicBezTo>
                  <a:pt x="160024" y="166567"/>
                  <a:pt x="161298" y="163502"/>
                  <a:pt x="160816" y="160403"/>
                </a:cubicBezTo>
                <a:lnTo>
                  <a:pt x="152104" y="105340"/>
                </a:lnTo>
                <a:lnTo>
                  <a:pt x="191499" y="65911"/>
                </a:lnTo>
                <a:cubicBezTo>
                  <a:pt x="193703" y="63707"/>
                  <a:pt x="194460" y="60470"/>
                  <a:pt x="193496" y="57508"/>
                </a:cubicBezTo>
                <a:cubicBezTo>
                  <a:pt x="192532" y="54547"/>
                  <a:pt x="190018" y="52377"/>
                  <a:pt x="186919" y="51895"/>
                </a:cubicBezTo>
                <a:lnTo>
                  <a:pt x="131890" y="43148"/>
                </a:lnTo>
                <a:lnTo>
                  <a:pt x="106579" y="-650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" name="Text 10"/>
          <p:cNvSpPr/>
          <p:nvPr/>
        </p:nvSpPr>
        <p:spPr>
          <a:xfrm>
            <a:off x="969718" y="2054039"/>
            <a:ext cx="1207740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1995年软着陆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718" y="2300876"/>
            <a:ext cx="1181293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最佳匹配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72973" y="2001145"/>
            <a:ext cx="793406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499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69945" y="2353770"/>
            <a:ext cx="696434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相似度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540" y="2600607"/>
            <a:ext cx="5201215" cy="229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通胀回落、温和降息、经济持续增长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0121" y="3006126"/>
            <a:ext cx="5359896" cy="775774"/>
          </a:xfrm>
          <a:custGeom>
            <a:avLst/>
            <a:gdLst/>
            <a:ahLst/>
            <a:cxnLst/>
            <a:rect l="l" t="t" r="r" b="b"/>
            <a:pathLst>
              <a:path w="5359896" h="775774">
                <a:moveTo>
                  <a:pt x="35262" y="0"/>
                </a:moveTo>
                <a:lnTo>
                  <a:pt x="5289370" y="0"/>
                </a:lnTo>
                <a:cubicBezTo>
                  <a:pt x="5328320" y="0"/>
                  <a:pt x="5359896" y="31575"/>
                  <a:pt x="5359896" y="70526"/>
                </a:cubicBezTo>
                <a:lnTo>
                  <a:pt x="5359896" y="705249"/>
                </a:lnTo>
                <a:cubicBezTo>
                  <a:pt x="5359896" y="744199"/>
                  <a:pt x="5328320" y="775774"/>
                  <a:pt x="5289370" y="775774"/>
                </a:cubicBez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20121" y="3006126"/>
            <a:ext cx="35262" cy="775774"/>
          </a:xfrm>
          <a:custGeom>
            <a:avLst/>
            <a:gdLst/>
            <a:ahLst/>
            <a:cxnLst/>
            <a:rect l="l" t="t" r="r" b="b"/>
            <a:pathLst>
              <a:path w="35262" h="775774">
                <a:moveTo>
                  <a:pt x="35262" y="0"/>
                </a:moveTo>
                <a:lnTo>
                  <a:pt x="35262" y="0"/>
                </a:lnTo>
                <a:lnTo>
                  <a:pt x="35262" y="775774"/>
                </a:ln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655662" y="3191254"/>
            <a:ext cx="178516" cy="158681"/>
          </a:xfrm>
          <a:custGeom>
            <a:avLst/>
            <a:gdLst/>
            <a:ahLst/>
            <a:cxnLst/>
            <a:rect l="l" t="t" r="r" b="b"/>
            <a:pathLst>
              <a:path w="178516" h="158681">
                <a:moveTo>
                  <a:pt x="89289" y="109589"/>
                </a:moveTo>
                <a:cubicBezTo>
                  <a:pt x="92388" y="109589"/>
                  <a:pt x="95457" y="110302"/>
                  <a:pt x="98277" y="111759"/>
                </a:cubicBezTo>
                <a:lnTo>
                  <a:pt x="121335" y="123505"/>
                </a:lnTo>
                <a:lnTo>
                  <a:pt x="117306" y="97936"/>
                </a:lnTo>
                <a:cubicBezTo>
                  <a:pt x="116315" y="91676"/>
                  <a:pt x="118391" y="85322"/>
                  <a:pt x="122854" y="80828"/>
                </a:cubicBezTo>
                <a:lnTo>
                  <a:pt x="141139" y="62512"/>
                </a:lnTo>
                <a:lnTo>
                  <a:pt x="115571" y="58452"/>
                </a:lnTo>
                <a:cubicBezTo>
                  <a:pt x="109310" y="57460"/>
                  <a:pt x="103887" y="53524"/>
                  <a:pt x="101004" y="47883"/>
                </a:cubicBezTo>
                <a:lnTo>
                  <a:pt x="89227" y="24825"/>
                </a:lnTo>
                <a:lnTo>
                  <a:pt x="89227" y="109620"/>
                </a:lnTo>
                <a:close/>
                <a:moveTo>
                  <a:pt x="141759" y="151553"/>
                </a:moveTo>
                <a:cubicBezTo>
                  <a:pt x="139497" y="153195"/>
                  <a:pt x="136491" y="153443"/>
                  <a:pt x="134011" y="152173"/>
                </a:cubicBezTo>
                <a:lnTo>
                  <a:pt x="89289" y="129424"/>
                </a:lnTo>
                <a:lnTo>
                  <a:pt x="44567" y="152173"/>
                </a:lnTo>
                <a:cubicBezTo>
                  <a:pt x="42088" y="153443"/>
                  <a:pt x="39081" y="153195"/>
                  <a:pt x="36819" y="151553"/>
                </a:cubicBezTo>
                <a:cubicBezTo>
                  <a:pt x="34557" y="149910"/>
                  <a:pt x="33410" y="147152"/>
                  <a:pt x="33844" y="144363"/>
                </a:cubicBezTo>
                <a:lnTo>
                  <a:pt x="41654" y="94806"/>
                </a:lnTo>
                <a:lnTo>
                  <a:pt x="6198" y="59319"/>
                </a:lnTo>
                <a:cubicBezTo>
                  <a:pt x="4215" y="57336"/>
                  <a:pt x="3533" y="54423"/>
                  <a:pt x="4401" y="51757"/>
                </a:cubicBezTo>
                <a:cubicBezTo>
                  <a:pt x="5269" y="49092"/>
                  <a:pt x="7531" y="47139"/>
                  <a:pt x="10320" y="46706"/>
                </a:cubicBezTo>
                <a:lnTo>
                  <a:pt x="59877" y="38833"/>
                </a:lnTo>
                <a:lnTo>
                  <a:pt x="82688" y="-5858"/>
                </a:lnTo>
                <a:cubicBezTo>
                  <a:pt x="83958" y="-8337"/>
                  <a:pt x="86531" y="-9918"/>
                  <a:pt x="89320" y="-9918"/>
                </a:cubicBezTo>
                <a:cubicBezTo>
                  <a:pt x="92109" y="-9918"/>
                  <a:pt x="94682" y="-8337"/>
                  <a:pt x="95952" y="-5858"/>
                </a:cubicBezTo>
                <a:lnTo>
                  <a:pt x="118701" y="38833"/>
                </a:lnTo>
                <a:lnTo>
                  <a:pt x="168258" y="46706"/>
                </a:lnTo>
                <a:cubicBezTo>
                  <a:pt x="171016" y="47139"/>
                  <a:pt x="173310" y="49092"/>
                  <a:pt x="174177" y="51757"/>
                </a:cubicBezTo>
                <a:cubicBezTo>
                  <a:pt x="175045" y="54423"/>
                  <a:pt x="174332" y="57336"/>
                  <a:pt x="172380" y="59319"/>
                </a:cubicBezTo>
                <a:lnTo>
                  <a:pt x="136893" y="94806"/>
                </a:lnTo>
                <a:lnTo>
                  <a:pt x="144735" y="144363"/>
                </a:lnTo>
                <a:cubicBezTo>
                  <a:pt x="145168" y="147121"/>
                  <a:pt x="144022" y="149910"/>
                  <a:pt x="141759" y="15155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947679" y="3147176"/>
            <a:ext cx="1401683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2019年预防性降息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05758" y="3111913"/>
            <a:ext cx="661171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82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540" y="3499800"/>
            <a:ext cx="519239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贸易紧张、预防性宽松、财政刺激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0121" y="3852425"/>
            <a:ext cx="5359896" cy="775774"/>
          </a:xfrm>
          <a:custGeom>
            <a:avLst/>
            <a:gdLst/>
            <a:ahLst/>
            <a:cxnLst/>
            <a:rect l="l" t="t" r="r" b="b"/>
            <a:pathLst>
              <a:path w="5359896" h="775774">
                <a:moveTo>
                  <a:pt x="35262" y="0"/>
                </a:moveTo>
                <a:lnTo>
                  <a:pt x="5289370" y="0"/>
                </a:lnTo>
                <a:cubicBezTo>
                  <a:pt x="5328320" y="0"/>
                  <a:pt x="5359896" y="31575"/>
                  <a:pt x="5359896" y="70526"/>
                </a:cubicBezTo>
                <a:lnTo>
                  <a:pt x="5359896" y="705249"/>
                </a:lnTo>
                <a:cubicBezTo>
                  <a:pt x="5359896" y="744199"/>
                  <a:pt x="5328320" y="775774"/>
                  <a:pt x="5289370" y="775774"/>
                </a:cubicBez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20121" y="3852425"/>
            <a:ext cx="35262" cy="775774"/>
          </a:xfrm>
          <a:custGeom>
            <a:avLst/>
            <a:gdLst/>
            <a:ahLst/>
            <a:cxnLst/>
            <a:rect l="l" t="t" r="r" b="b"/>
            <a:pathLst>
              <a:path w="35262" h="775774">
                <a:moveTo>
                  <a:pt x="35262" y="0"/>
                </a:moveTo>
                <a:lnTo>
                  <a:pt x="35262" y="0"/>
                </a:lnTo>
                <a:lnTo>
                  <a:pt x="35262" y="775774"/>
                </a:ln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Shape 23"/>
          <p:cNvSpPr/>
          <p:nvPr/>
        </p:nvSpPr>
        <p:spPr>
          <a:xfrm>
            <a:off x="665579" y="4037553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79341" y="158681"/>
                </a:moveTo>
                <a:cubicBezTo>
                  <a:pt x="123130" y="158681"/>
                  <a:pt x="158681" y="123130"/>
                  <a:pt x="158681" y="79341"/>
                </a:cubicBezTo>
                <a:cubicBezTo>
                  <a:pt x="158681" y="35551"/>
                  <a:pt x="123130" y="0"/>
                  <a:pt x="79341" y="0"/>
                </a:cubicBezTo>
                <a:cubicBezTo>
                  <a:pt x="35551" y="0"/>
                  <a:pt x="0" y="35551"/>
                  <a:pt x="0" y="79341"/>
                </a:cubicBezTo>
                <a:cubicBezTo>
                  <a:pt x="0" y="123130"/>
                  <a:pt x="35551" y="158681"/>
                  <a:pt x="79341" y="158681"/>
                </a:cubicBezTo>
                <a:close/>
                <a:moveTo>
                  <a:pt x="52067" y="71902"/>
                </a:moveTo>
                <a:lnTo>
                  <a:pt x="106614" y="71902"/>
                </a:lnTo>
                <a:cubicBezTo>
                  <a:pt x="110736" y="71902"/>
                  <a:pt x="114052" y="75219"/>
                  <a:pt x="114052" y="79341"/>
                </a:cubicBezTo>
                <a:cubicBezTo>
                  <a:pt x="114052" y="83463"/>
                  <a:pt x="110736" y="86779"/>
                  <a:pt x="106614" y="86779"/>
                </a:cubicBezTo>
                <a:lnTo>
                  <a:pt x="52067" y="86779"/>
                </a:lnTo>
                <a:cubicBezTo>
                  <a:pt x="47945" y="86779"/>
                  <a:pt x="44629" y="83463"/>
                  <a:pt x="44629" y="79341"/>
                </a:cubicBezTo>
                <a:cubicBezTo>
                  <a:pt x="44629" y="75219"/>
                  <a:pt x="47945" y="71902"/>
                  <a:pt x="52067" y="71902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4"/>
          <p:cNvSpPr/>
          <p:nvPr/>
        </p:nvSpPr>
        <p:spPr>
          <a:xfrm>
            <a:off x="947679" y="3993475"/>
            <a:ext cx="105787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2006-2007年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5758" y="3958213"/>
            <a:ext cx="661171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82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540" y="4346100"/>
            <a:ext cx="519239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通胀反复、地产泡沫（当前不同）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0121" y="4698725"/>
            <a:ext cx="5359896" cy="775774"/>
          </a:xfrm>
          <a:custGeom>
            <a:avLst/>
            <a:gdLst/>
            <a:ahLst/>
            <a:cxnLst/>
            <a:rect l="l" t="t" r="r" b="b"/>
            <a:pathLst>
              <a:path w="5359896" h="775774">
                <a:moveTo>
                  <a:pt x="35262" y="0"/>
                </a:moveTo>
                <a:lnTo>
                  <a:pt x="5289370" y="0"/>
                </a:lnTo>
                <a:cubicBezTo>
                  <a:pt x="5328320" y="0"/>
                  <a:pt x="5359896" y="31575"/>
                  <a:pt x="5359896" y="70526"/>
                </a:cubicBezTo>
                <a:lnTo>
                  <a:pt x="5359896" y="705249"/>
                </a:lnTo>
                <a:cubicBezTo>
                  <a:pt x="5359896" y="744199"/>
                  <a:pt x="5328320" y="775774"/>
                  <a:pt x="5289370" y="775774"/>
                </a:cubicBez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20121" y="4698725"/>
            <a:ext cx="35262" cy="775774"/>
          </a:xfrm>
          <a:custGeom>
            <a:avLst/>
            <a:gdLst/>
            <a:ahLst/>
            <a:cxnLst/>
            <a:rect l="l" t="t" r="r" b="b"/>
            <a:pathLst>
              <a:path w="35262" h="775774">
                <a:moveTo>
                  <a:pt x="35262" y="0"/>
                </a:moveTo>
                <a:lnTo>
                  <a:pt x="35262" y="0"/>
                </a:lnTo>
                <a:lnTo>
                  <a:pt x="35262" y="775774"/>
                </a:ln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665579" y="4883852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79341" y="158681"/>
                </a:moveTo>
                <a:cubicBezTo>
                  <a:pt x="123130" y="158681"/>
                  <a:pt x="158681" y="123130"/>
                  <a:pt x="158681" y="79341"/>
                </a:cubicBezTo>
                <a:cubicBezTo>
                  <a:pt x="158681" y="35551"/>
                  <a:pt x="123130" y="0"/>
                  <a:pt x="79341" y="0"/>
                </a:cubicBezTo>
                <a:cubicBezTo>
                  <a:pt x="35551" y="0"/>
                  <a:pt x="0" y="35551"/>
                  <a:pt x="0" y="79341"/>
                </a:cubicBezTo>
                <a:cubicBezTo>
                  <a:pt x="0" y="123130"/>
                  <a:pt x="35551" y="158681"/>
                  <a:pt x="79341" y="158681"/>
                </a:cubicBezTo>
                <a:close/>
                <a:moveTo>
                  <a:pt x="52067" y="71902"/>
                </a:moveTo>
                <a:lnTo>
                  <a:pt x="106614" y="71902"/>
                </a:lnTo>
                <a:cubicBezTo>
                  <a:pt x="110736" y="71902"/>
                  <a:pt x="114052" y="75219"/>
                  <a:pt x="114052" y="79341"/>
                </a:cubicBezTo>
                <a:cubicBezTo>
                  <a:pt x="114052" y="83463"/>
                  <a:pt x="110736" y="86779"/>
                  <a:pt x="106614" y="86779"/>
                </a:cubicBezTo>
                <a:lnTo>
                  <a:pt x="52067" y="86779"/>
                </a:lnTo>
                <a:cubicBezTo>
                  <a:pt x="47945" y="86779"/>
                  <a:pt x="44629" y="83463"/>
                  <a:pt x="44629" y="79341"/>
                </a:cubicBezTo>
                <a:cubicBezTo>
                  <a:pt x="44629" y="75219"/>
                  <a:pt x="47945" y="71902"/>
                  <a:pt x="52067" y="71902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947679" y="4839774"/>
            <a:ext cx="108432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2001年衰退前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05758" y="4804512"/>
            <a:ext cx="661171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82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3540" y="5192399"/>
            <a:ext cx="519239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科技泡沫破裂（当前不同）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1346" y="1397275"/>
            <a:ext cx="5668443" cy="4663462"/>
          </a:xfrm>
          <a:custGeom>
            <a:avLst/>
            <a:gdLst/>
            <a:ahLst/>
            <a:cxnLst/>
            <a:rect l="l" t="t" r="r" b="b"/>
            <a:pathLst>
              <a:path w="5668443" h="4663462">
                <a:moveTo>
                  <a:pt x="105767" y="0"/>
                </a:moveTo>
                <a:lnTo>
                  <a:pt x="5562675" y="0"/>
                </a:lnTo>
                <a:cubicBezTo>
                  <a:pt x="5621089" y="0"/>
                  <a:pt x="5668443" y="47354"/>
                  <a:pt x="5668443" y="105767"/>
                </a:cubicBezTo>
                <a:lnTo>
                  <a:pt x="5668443" y="4557695"/>
                </a:lnTo>
                <a:cubicBezTo>
                  <a:pt x="5668443" y="4616108"/>
                  <a:pt x="5621089" y="4663462"/>
                  <a:pt x="5562675" y="4663462"/>
                </a:cubicBezTo>
                <a:lnTo>
                  <a:pt x="105767" y="4663462"/>
                </a:lnTo>
                <a:cubicBezTo>
                  <a:pt x="47354" y="4663462"/>
                  <a:pt x="0" y="4616108"/>
                  <a:pt x="0" y="4557695"/>
                </a:cubicBezTo>
                <a:lnTo>
                  <a:pt x="0" y="105767"/>
                </a:lnTo>
                <a:cubicBezTo>
                  <a:pt x="0" y="47393"/>
                  <a:pt x="47393" y="0"/>
                  <a:pt x="10576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49862" y="1577996"/>
            <a:ext cx="154273" cy="176312"/>
          </a:xfrm>
          <a:custGeom>
            <a:avLst/>
            <a:gdLst/>
            <a:ahLst/>
            <a:cxnLst/>
            <a:rect l="l" t="t" r="r" b="b"/>
            <a:pathLst>
              <a:path w="154273" h="176312">
                <a:moveTo>
                  <a:pt x="130375" y="28169"/>
                </a:moveTo>
                <a:cubicBezTo>
                  <a:pt x="133749" y="23107"/>
                  <a:pt x="132372" y="16254"/>
                  <a:pt x="127310" y="12879"/>
                </a:cubicBezTo>
                <a:cubicBezTo>
                  <a:pt x="122248" y="9504"/>
                  <a:pt x="115395" y="10882"/>
                  <a:pt x="112020" y="15944"/>
                </a:cubicBezTo>
                <a:lnTo>
                  <a:pt x="93287" y="44078"/>
                </a:lnTo>
                <a:lnTo>
                  <a:pt x="11020" y="44078"/>
                </a:lnTo>
                <a:cubicBezTo>
                  <a:pt x="4924" y="44078"/>
                  <a:pt x="0" y="49002"/>
                  <a:pt x="0" y="55098"/>
                </a:cubicBezTo>
                <a:cubicBezTo>
                  <a:pt x="0" y="61193"/>
                  <a:pt x="4924" y="66117"/>
                  <a:pt x="11020" y="66117"/>
                </a:cubicBezTo>
                <a:lnTo>
                  <a:pt x="78583" y="66117"/>
                </a:lnTo>
                <a:lnTo>
                  <a:pt x="49209" y="110195"/>
                </a:lnTo>
                <a:lnTo>
                  <a:pt x="11020" y="110195"/>
                </a:lnTo>
                <a:cubicBezTo>
                  <a:pt x="4924" y="110195"/>
                  <a:pt x="0" y="115120"/>
                  <a:pt x="0" y="121215"/>
                </a:cubicBezTo>
                <a:cubicBezTo>
                  <a:pt x="0" y="127310"/>
                  <a:pt x="4924" y="132234"/>
                  <a:pt x="11020" y="132234"/>
                </a:cubicBezTo>
                <a:lnTo>
                  <a:pt x="34505" y="132234"/>
                </a:lnTo>
                <a:lnTo>
                  <a:pt x="23899" y="148144"/>
                </a:lnTo>
                <a:cubicBezTo>
                  <a:pt x="20524" y="153206"/>
                  <a:pt x="21901" y="160059"/>
                  <a:pt x="26963" y="163433"/>
                </a:cubicBezTo>
                <a:cubicBezTo>
                  <a:pt x="32025" y="166808"/>
                  <a:pt x="38878" y="165431"/>
                  <a:pt x="42253" y="160368"/>
                </a:cubicBezTo>
                <a:lnTo>
                  <a:pt x="60986" y="132234"/>
                </a:lnTo>
                <a:lnTo>
                  <a:pt x="143254" y="132234"/>
                </a:lnTo>
                <a:cubicBezTo>
                  <a:pt x="149349" y="132234"/>
                  <a:pt x="154273" y="127310"/>
                  <a:pt x="154273" y="121215"/>
                </a:cubicBezTo>
                <a:cubicBezTo>
                  <a:pt x="154273" y="115120"/>
                  <a:pt x="149349" y="110195"/>
                  <a:pt x="143254" y="110195"/>
                </a:cubicBezTo>
                <a:lnTo>
                  <a:pt x="75690" y="110195"/>
                </a:lnTo>
                <a:lnTo>
                  <a:pt x="105064" y="66117"/>
                </a:lnTo>
                <a:lnTo>
                  <a:pt x="143254" y="66117"/>
                </a:lnTo>
                <a:cubicBezTo>
                  <a:pt x="149349" y="66117"/>
                  <a:pt x="154273" y="61193"/>
                  <a:pt x="154273" y="55098"/>
                </a:cubicBezTo>
                <a:cubicBezTo>
                  <a:pt x="154273" y="49002"/>
                  <a:pt x="149349" y="44078"/>
                  <a:pt x="143254" y="44078"/>
                </a:cubicBezTo>
                <a:lnTo>
                  <a:pt x="119768" y="44078"/>
                </a:lnTo>
                <a:lnTo>
                  <a:pt x="130375" y="2816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194" y="1542733"/>
            <a:ext cx="5245293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与历史周期的关键差异点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4435" y="1895358"/>
            <a:ext cx="5359896" cy="952087"/>
          </a:xfrm>
          <a:custGeom>
            <a:avLst/>
            <a:gdLst/>
            <a:ahLst/>
            <a:cxnLst/>
            <a:rect l="l" t="t" r="r" b="b"/>
            <a:pathLst>
              <a:path w="5359896" h="952087">
                <a:moveTo>
                  <a:pt x="35262" y="0"/>
                </a:moveTo>
                <a:lnTo>
                  <a:pt x="5289375" y="0"/>
                </a:lnTo>
                <a:cubicBezTo>
                  <a:pt x="5328323" y="0"/>
                  <a:pt x="5359896" y="31573"/>
                  <a:pt x="5359896" y="70521"/>
                </a:cubicBezTo>
                <a:lnTo>
                  <a:pt x="5359896" y="881566"/>
                </a:lnTo>
                <a:cubicBezTo>
                  <a:pt x="5359896" y="920513"/>
                  <a:pt x="5328323" y="952087"/>
                  <a:pt x="5289375" y="952087"/>
                </a:cubicBez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34435" y="1895358"/>
            <a:ext cx="35262" cy="952087"/>
          </a:xfrm>
          <a:custGeom>
            <a:avLst/>
            <a:gdLst/>
            <a:ahLst/>
            <a:cxnLst/>
            <a:rect l="l" t="t" r="r" b="b"/>
            <a:pathLst>
              <a:path w="35262" h="952087">
                <a:moveTo>
                  <a:pt x="35262" y="0"/>
                </a:moveTo>
                <a:lnTo>
                  <a:pt x="35262" y="0"/>
                </a:lnTo>
                <a:lnTo>
                  <a:pt x="35262" y="952087"/>
                </a:ln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Shape 38"/>
          <p:cNvSpPr/>
          <p:nvPr/>
        </p:nvSpPr>
        <p:spPr>
          <a:xfrm>
            <a:off x="6457854" y="2001145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1" name="Shape 39"/>
          <p:cNvSpPr/>
          <p:nvPr/>
        </p:nvSpPr>
        <p:spPr>
          <a:xfrm>
            <a:off x="6537194" y="2098117"/>
            <a:ext cx="198351" cy="158681"/>
          </a:xfrm>
          <a:custGeom>
            <a:avLst/>
            <a:gdLst/>
            <a:ahLst/>
            <a:cxnLst/>
            <a:rect l="l" t="t" r="r" b="b"/>
            <a:pathLst>
              <a:path w="198351" h="158681">
                <a:moveTo>
                  <a:pt x="109093" y="0"/>
                </a:moveTo>
                <a:cubicBezTo>
                  <a:pt x="109093" y="-5486"/>
                  <a:pt x="104661" y="-9918"/>
                  <a:pt x="99176" y="-9918"/>
                </a:cubicBezTo>
                <a:cubicBezTo>
                  <a:pt x="93690" y="-9918"/>
                  <a:pt x="89258" y="-5486"/>
                  <a:pt x="89258" y="0"/>
                </a:cubicBezTo>
                <a:lnTo>
                  <a:pt x="89258" y="19835"/>
                </a:lnTo>
                <a:lnTo>
                  <a:pt x="59505" y="19835"/>
                </a:lnTo>
                <a:cubicBezTo>
                  <a:pt x="43079" y="19835"/>
                  <a:pt x="29753" y="33162"/>
                  <a:pt x="29753" y="49588"/>
                </a:cubicBezTo>
                <a:lnTo>
                  <a:pt x="29753" y="119011"/>
                </a:lnTo>
                <a:cubicBezTo>
                  <a:pt x="29753" y="135437"/>
                  <a:pt x="43079" y="148764"/>
                  <a:pt x="59505" y="148764"/>
                </a:cubicBezTo>
                <a:lnTo>
                  <a:pt x="138846" y="148764"/>
                </a:lnTo>
                <a:cubicBezTo>
                  <a:pt x="155272" y="148764"/>
                  <a:pt x="168599" y="135437"/>
                  <a:pt x="168599" y="119011"/>
                </a:cubicBezTo>
                <a:lnTo>
                  <a:pt x="168599" y="49588"/>
                </a:lnTo>
                <a:cubicBezTo>
                  <a:pt x="168599" y="33162"/>
                  <a:pt x="155272" y="19835"/>
                  <a:pt x="138846" y="19835"/>
                </a:cubicBezTo>
                <a:lnTo>
                  <a:pt x="109093" y="19835"/>
                </a:lnTo>
                <a:lnTo>
                  <a:pt x="109093" y="0"/>
                </a:lnTo>
                <a:close/>
                <a:moveTo>
                  <a:pt x="49588" y="114052"/>
                </a:moveTo>
                <a:cubicBezTo>
                  <a:pt x="49588" y="109930"/>
                  <a:pt x="52904" y="106614"/>
                  <a:pt x="57026" y="106614"/>
                </a:cubicBezTo>
                <a:lnTo>
                  <a:pt x="66944" y="106614"/>
                </a:lnTo>
                <a:cubicBezTo>
                  <a:pt x="71066" y="106614"/>
                  <a:pt x="74382" y="109930"/>
                  <a:pt x="74382" y="114052"/>
                </a:cubicBezTo>
                <a:cubicBezTo>
                  <a:pt x="74382" y="118174"/>
                  <a:pt x="71066" y="121490"/>
                  <a:pt x="66944" y="121490"/>
                </a:cubicBezTo>
                <a:lnTo>
                  <a:pt x="57026" y="121490"/>
                </a:lnTo>
                <a:cubicBezTo>
                  <a:pt x="52904" y="121490"/>
                  <a:pt x="49588" y="118174"/>
                  <a:pt x="49588" y="114052"/>
                </a:cubicBezTo>
                <a:close/>
                <a:moveTo>
                  <a:pt x="86779" y="114052"/>
                </a:moveTo>
                <a:cubicBezTo>
                  <a:pt x="86779" y="109930"/>
                  <a:pt x="90095" y="106614"/>
                  <a:pt x="94217" y="106614"/>
                </a:cubicBezTo>
                <a:lnTo>
                  <a:pt x="104134" y="106614"/>
                </a:lnTo>
                <a:cubicBezTo>
                  <a:pt x="108256" y="106614"/>
                  <a:pt x="111573" y="109930"/>
                  <a:pt x="111573" y="114052"/>
                </a:cubicBezTo>
                <a:cubicBezTo>
                  <a:pt x="111573" y="118174"/>
                  <a:pt x="108256" y="121490"/>
                  <a:pt x="104134" y="121490"/>
                </a:cubicBezTo>
                <a:lnTo>
                  <a:pt x="94217" y="121490"/>
                </a:lnTo>
                <a:cubicBezTo>
                  <a:pt x="90095" y="121490"/>
                  <a:pt x="86779" y="118174"/>
                  <a:pt x="86779" y="114052"/>
                </a:cubicBezTo>
                <a:close/>
                <a:moveTo>
                  <a:pt x="123970" y="114052"/>
                </a:moveTo>
                <a:cubicBezTo>
                  <a:pt x="123970" y="109930"/>
                  <a:pt x="127286" y="106614"/>
                  <a:pt x="131408" y="106614"/>
                </a:cubicBezTo>
                <a:lnTo>
                  <a:pt x="141325" y="106614"/>
                </a:lnTo>
                <a:cubicBezTo>
                  <a:pt x="145447" y="106614"/>
                  <a:pt x="148764" y="109930"/>
                  <a:pt x="148764" y="114052"/>
                </a:cubicBezTo>
                <a:cubicBezTo>
                  <a:pt x="148764" y="118174"/>
                  <a:pt x="145447" y="121490"/>
                  <a:pt x="141325" y="121490"/>
                </a:cubicBezTo>
                <a:lnTo>
                  <a:pt x="131408" y="121490"/>
                </a:lnTo>
                <a:cubicBezTo>
                  <a:pt x="127286" y="121490"/>
                  <a:pt x="123970" y="118174"/>
                  <a:pt x="123970" y="114052"/>
                </a:cubicBezTo>
                <a:close/>
                <a:moveTo>
                  <a:pt x="69423" y="54547"/>
                </a:moveTo>
                <a:cubicBezTo>
                  <a:pt x="77633" y="54547"/>
                  <a:pt x="84299" y="61213"/>
                  <a:pt x="84299" y="69423"/>
                </a:cubicBezTo>
                <a:cubicBezTo>
                  <a:pt x="84299" y="77633"/>
                  <a:pt x="77633" y="84299"/>
                  <a:pt x="69423" y="84299"/>
                </a:cubicBezTo>
                <a:cubicBezTo>
                  <a:pt x="61213" y="84299"/>
                  <a:pt x="54547" y="77633"/>
                  <a:pt x="54547" y="69423"/>
                </a:cubicBezTo>
                <a:cubicBezTo>
                  <a:pt x="54547" y="61213"/>
                  <a:pt x="61213" y="54547"/>
                  <a:pt x="69423" y="54547"/>
                </a:cubicBezTo>
                <a:close/>
                <a:moveTo>
                  <a:pt x="114052" y="69423"/>
                </a:moveTo>
                <a:cubicBezTo>
                  <a:pt x="114052" y="61213"/>
                  <a:pt x="120718" y="54547"/>
                  <a:pt x="128928" y="54547"/>
                </a:cubicBezTo>
                <a:cubicBezTo>
                  <a:pt x="137139" y="54547"/>
                  <a:pt x="143805" y="61213"/>
                  <a:pt x="143805" y="69423"/>
                </a:cubicBezTo>
                <a:cubicBezTo>
                  <a:pt x="143805" y="77633"/>
                  <a:pt x="137139" y="84299"/>
                  <a:pt x="128928" y="84299"/>
                </a:cubicBezTo>
                <a:cubicBezTo>
                  <a:pt x="120718" y="84299"/>
                  <a:pt x="114052" y="77633"/>
                  <a:pt x="114052" y="69423"/>
                </a:cubicBezTo>
                <a:close/>
                <a:moveTo>
                  <a:pt x="19835" y="69423"/>
                </a:moveTo>
                <a:cubicBezTo>
                  <a:pt x="19835" y="63937"/>
                  <a:pt x="15403" y="59505"/>
                  <a:pt x="9918" y="59505"/>
                </a:cubicBezTo>
                <a:cubicBezTo>
                  <a:pt x="4432" y="59505"/>
                  <a:pt x="0" y="63937"/>
                  <a:pt x="0" y="69423"/>
                </a:cubicBezTo>
                <a:lnTo>
                  <a:pt x="0" y="99176"/>
                </a:lnTo>
                <a:cubicBezTo>
                  <a:pt x="0" y="104661"/>
                  <a:pt x="4432" y="109093"/>
                  <a:pt x="9918" y="109093"/>
                </a:cubicBezTo>
                <a:cubicBezTo>
                  <a:pt x="15403" y="109093"/>
                  <a:pt x="19835" y="104661"/>
                  <a:pt x="19835" y="99176"/>
                </a:cubicBezTo>
                <a:lnTo>
                  <a:pt x="19835" y="69423"/>
                </a:lnTo>
                <a:close/>
                <a:moveTo>
                  <a:pt x="188434" y="59505"/>
                </a:moveTo>
                <a:cubicBezTo>
                  <a:pt x="182948" y="59505"/>
                  <a:pt x="178516" y="63937"/>
                  <a:pt x="178516" y="69423"/>
                </a:cubicBezTo>
                <a:lnTo>
                  <a:pt x="178516" y="99176"/>
                </a:lnTo>
                <a:cubicBezTo>
                  <a:pt x="178516" y="104661"/>
                  <a:pt x="182948" y="109093"/>
                  <a:pt x="188434" y="109093"/>
                </a:cubicBezTo>
                <a:cubicBezTo>
                  <a:pt x="193919" y="109093"/>
                  <a:pt x="198351" y="104661"/>
                  <a:pt x="198351" y="99176"/>
                </a:cubicBezTo>
                <a:lnTo>
                  <a:pt x="198351" y="69423"/>
                </a:lnTo>
                <a:cubicBezTo>
                  <a:pt x="198351" y="63937"/>
                  <a:pt x="193919" y="59505"/>
                  <a:pt x="188434" y="5950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6916266" y="2001145"/>
            <a:ext cx="47516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AI技术革命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16266" y="2283245"/>
            <a:ext cx="4742803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无历史先例，可能改变生产率增长轨迹。AI革命速度更快、影响更广，难以用历史经验量化评估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4435" y="2917970"/>
            <a:ext cx="5359896" cy="952087"/>
          </a:xfrm>
          <a:custGeom>
            <a:avLst/>
            <a:gdLst/>
            <a:ahLst/>
            <a:cxnLst/>
            <a:rect l="l" t="t" r="r" b="b"/>
            <a:pathLst>
              <a:path w="5359896" h="952087">
                <a:moveTo>
                  <a:pt x="35262" y="0"/>
                </a:moveTo>
                <a:lnTo>
                  <a:pt x="5289375" y="0"/>
                </a:lnTo>
                <a:cubicBezTo>
                  <a:pt x="5328323" y="0"/>
                  <a:pt x="5359896" y="31573"/>
                  <a:pt x="5359896" y="70521"/>
                </a:cubicBezTo>
                <a:lnTo>
                  <a:pt x="5359896" y="881566"/>
                </a:lnTo>
                <a:cubicBezTo>
                  <a:pt x="5359896" y="920513"/>
                  <a:pt x="5328323" y="952087"/>
                  <a:pt x="5289375" y="952087"/>
                </a:cubicBez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334435" y="2917970"/>
            <a:ext cx="35262" cy="952087"/>
          </a:xfrm>
          <a:custGeom>
            <a:avLst/>
            <a:gdLst/>
            <a:ahLst/>
            <a:cxnLst/>
            <a:rect l="l" t="t" r="r" b="b"/>
            <a:pathLst>
              <a:path w="35262" h="952087">
                <a:moveTo>
                  <a:pt x="35262" y="0"/>
                </a:moveTo>
                <a:lnTo>
                  <a:pt x="35262" y="0"/>
                </a:lnTo>
                <a:lnTo>
                  <a:pt x="35262" y="952087"/>
                </a:ln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6" name="Shape 44"/>
          <p:cNvSpPr/>
          <p:nvPr/>
        </p:nvSpPr>
        <p:spPr>
          <a:xfrm>
            <a:off x="6457854" y="3023757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7" name="Shape 45"/>
          <p:cNvSpPr/>
          <p:nvPr/>
        </p:nvSpPr>
        <p:spPr>
          <a:xfrm>
            <a:off x="6557029" y="3120729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17263" y="61892"/>
                </a:moveTo>
                <a:lnTo>
                  <a:pt x="26839" y="71468"/>
                </a:lnTo>
                <a:cubicBezTo>
                  <a:pt x="28699" y="73328"/>
                  <a:pt x="31209" y="74382"/>
                  <a:pt x="33844" y="74382"/>
                </a:cubicBezTo>
                <a:lnTo>
                  <a:pt x="40507" y="74382"/>
                </a:lnTo>
                <a:cubicBezTo>
                  <a:pt x="43141" y="74382"/>
                  <a:pt x="45652" y="75436"/>
                  <a:pt x="47511" y="77295"/>
                </a:cubicBezTo>
                <a:lnTo>
                  <a:pt x="56592" y="86376"/>
                </a:lnTo>
                <a:cubicBezTo>
                  <a:pt x="58452" y="88235"/>
                  <a:pt x="59505" y="90746"/>
                  <a:pt x="59505" y="93380"/>
                </a:cubicBezTo>
                <a:lnTo>
                  <a:pt x="59505" y="105002"/>
                </a:lnTo>
                <a:cubicBezTo>
                  <a:pt x="59505" y="107637"/>
                  <a:pt x="60559" y="110147"/>
                  <a:pt x="62419" y="112007"/>
                </a:cubicBezTo>
                <a:lnTo>
                  <a:pt x="66541" y="116129"/>
                </a:lnTo>
                <a:cubicBezTo>
                  <a:pt x="68400" y="117988"/>
                  <a:pt x="69454" y="120498"/>
                  <a:pt x="69454" y="123133"/>
                </a:cubicBezTo>
                <a:lnTo>
                  <a:pt x="69454" y="128928"/>
                </a:lnTo>
                <a:cubicBezTo>
                  <a:pt x="69454" y="134414"/>
                  <a:pt x="73886" y="138846"/>
                  <a:pt x="79372" y="138846"/>
                </a:cubicBezTo>
                <a:cubicBezTo>
                  <a:pt x="84857" y="138846"/>
                  <a:pt x="89289" y="134414"/>
                  <a:pt x="89289" y="128928"/>
                </a:cubicBezTo>
                <a:lnTo>
                  <a:pt x="89289" y="128092"/>
                </a:lnTo>
                <a:cubicBezTo>
                  <a:pt x="89289" y="125457"/>
                  <a:pt x="90343" y="122947"/>
                  <a:pt x="92202" y="121087"/>
                </a:cubicBezTo>
                <a:lnTo>
                  <a:pt x="106242" y="107048"/>
                </a:lnTo>
                <a:cubicBezTo>
                  <a:pt x="108102" y="105188"/>
                  <a:pt x="109155" y="102678"/>
                  <a:pt x="109155" y="100043"/>
                </a:cubicBezTo>
                <a:lnTo>
                  <a:pt x="109155" y="89289"/>
                </a:lnTo>
                <a:cubicBezTo>
                  <a:pt x="109155" y="83803"/>
                  <a:pt x="104723" y="79372"/>
                  <a:pt x="99238" y="79372"/>
                </a:cubicBezTo>
                <a:lnTo>
                  <a:pt x="73607" y="79372"/>
                </a:lnTo>
                <a:cubicBezTo>
                  <a:pt x="70973" y="79372"/>
                  <a:pt x="68462" y="78318"/>
                  <a:pt x="66603" y="76458"/>
                </a:cubicBezTo>
                <a:lnTo>
                  <a:pt x="61644" y="71499"/>
                </a:lnTo>
                <a:cubicBezTo>
                  <a:pt x="60342" y="70198"/>
                  <a:pt x="59598" y="68400"/>
                  <a:pt x="59598" y="66541"/>
                </a:cubicBezTo>
                <a:cubicBezTo>
                  <a:pt x="59598" y="62667"/>
                  <a:pt x="62729" y="59536"/>
                  <a:pt x="66603" y="59536"/>
                </a:cubicBezTo>
                <a:lnTo>
                  <a:pt x="77357" y="59536"/>
                </a:lnTo>
                <a:cubicBezTo>
                  <a:pt x="81231" y="59536"/>
                  <a:pt x="84361" y="56406"/>
                  <a:pt x="84361" y="52532"/>
                </a:cubicBezTo>
                <a:cubicBezTo>
                  <a:pt x="84361" y="50673"/>
                  <a:pt x="83618" y="48875"/>
                  <a:pt x="82316" y="47573"/>
                </a:cubicBezTo>
                <a:lnTo>
                  <a:pt x="76210" y="41468"/>
                </a:lnTo>
                <a:cubicBezTo>
                  <a:pt x="75002" y="40290"/>
                  <a:pt x="74382" y="38772"/>
                  <a:pt x="74382" y="37191"/>
                </a:cubicBezTo>
                <a:cubicBezTo>
                  <a:pt x="74382" y="35610"/>
                  <a:pt x="75002" y="34092"/>
                  <a:pt x="76148" y="32945"/>
                </a:cubicBezTo>
                <a:lnTo>
                  <a:pt x="81510" y="27583"/>
                </a:lnTo>
                <a:cubicBezTo>
                  <a:pt x="83308" y="25786"/>
                  <a:pt x="84330" y="23337"/>
                  <a:pt x="84330" y="20796"/>
                </a:cubicBezTo>
                <a:cubicBezTo>
                  <a:pt x="84330" y="18564"/>
                  <a:pt x="83587" y="16550"/>
                  <a:pt x="82347" y="14938"/>
                </a:cubicBezTo>
                <a:cubicBezTo>
                  <a:pt x="81355" y="14907"/>
                  <a:pt x="80363" y="14876"/>
                  <a:pt x="79372" y="14876"/>
                </a:cubicBezTo>
                <a:cubicBezTo>
                  <a:pt x="49805" y="14876"/>
                  <a:pt x="24918" y="34773"/>
                  <a:pt x="17294" y="61892"/>
                </a:cubicBezTo>
                <a:close/>
                <a:moveTo>
                  <a:pt x="143805" y="79341"/>
                </a:moveTo>
                <a:cubicBezTo>
                  <a:pt x="143805" y="68617"/>
                  <a:pt x="141201" y="58514"/>
                  <a:pt x="136553" y="49650"/>
                </a:cubicBezTo>
                <a:cubicBezTo>
                  <a:pt x="134569" y="49929"/>
                  <a:pt x="132617" y="50859"/>
                  <a:pt x="131005" y="52470"/>
                </a:cubicBezTo>
                <a:lnTo>
                  <a:pt x="126852" y="56623"/>
                </a:lnTo>
                <a:cubicBezTo>
                  <a:pt x="124992" y="58483"/>
                  <a:pt x="123939" y="60993"/>
                  <a:pt x="123939" y="63627"/>
                </a:cubicBezTo>
                <a:lnTo>
                  <a:pt x="123939" y="74382"/>
                </a:lnTo>
                <a:cubicBezTo>
                  <a:pt x="123939" y="79867"/>
                  <a:pt x="128371" y="84299"/>
                  <a:pt x="133856" y="84299"/>
                </a:cubicBezTo>
                <a:lnTo>
                  <a:pt x="141325" y="84299"/>
                </a:lnTo>
                <a:cubicBezTo>
                  <a:pt x="142100" y="84299"/>
                  <a:pt x="142875" y="84206"/>
                  <a:pt x="143588" y="84051"/>
                </a:cubicBezTo>
                <a:cubicBezTo>
                  <a:pt x="143712" y="82502"/>
                  <a:pt x="143743" y="80921"/>
                  <a:pt x="143743" y="79341"/>
                </a:cubicBezTo>
                <a:close/>
                <a:moveTo>
                  <a:pt x="0" y="79341"/>
                </a:moveTo>
                <a:cubicBezTo>
                  <a:pt x="0" y="35551"/>
                  <a:pt x="35551" y="0"/>
                  <a:pt x="79341" y="0"/>
                </a:cubicBezTo>
                <a:cubicBezTo>
                  <a:pt x="123130" y="0"/>
                  <a:pt x="158681" y="35551"/>
                  <a:pt x="158681" y="79341"/>
                </a:cubicBezTo>
                <a:cubicBezTo>
                  <a:pt x="158681" y="123130"/>
                  <a:pt x="123130" y="158681"/>
                  <a:pt x="79341" y="158681"/>
                </a:cubicBezTo>
                <a:cubicBezTo>
                  <a:pt x="35551" y="158681"/>
                  <a:pt x="0" y="123130"/>
                  <a:pt x="0" y="7934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Text 46"/>
          <p:cNvSpPr/>
          <p:nvPr/>
        </p:nvSpPr>
        <p:spPr>
          <a:xfrm>
            <a:off x="6916266" y="3023757"/>
            <a:ext cx="47516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供应链重构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16266" y="3305857"/>
            <a:ext cx="4742803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全球化逆转，通胀粘性可能更强。逆全球化趋势下，供应链重构带来持续的供给约束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4435" y="3940581"/>
            <a:ext cx="5359896" cy="952087"/>
          </a:xfrm>
          <a:custGeom>
            <a:avLst/>
            <a:gdLst/>
            <a:ahLst/>
            <a:cxnLst/>
            <a:rect l="l" t="t" r="r" b="b"/>
            <a:pathLst>
              <a:path w="5359896" h="952087">
                <a:moveTo>
                  <a:pt x="35262" y="0"/>
                </a:moveTo>
                <a:lnTo>
                  <a:pt x="5289375" y="0"/>
                </a:lnTo>
                <a:cubicBezTo>
                  <a:pt x="5328323" y="0"/>
                  <a:pt x="5359896" y="31573"/>
                  <a:pt x="5359896" y="70521"/>
                </a:cubicBezTo>
                <a:lnTo>
                  <a:pt x="5359896" y="881566"/>
                </a:lnTo>
                <a:cubicBezTo>
                  <a:pt x="5359896" y="920513"/>
                  <a:pt x="5328323" y="952087"/>
                  <a:pt x="5289375" y="952087"/>
                </a:cubicBez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34435" y="3940581"/>
            <a:ext cx="35262" cy="952087"/>
          </a:xfrm>
          <a:custGeom>
            <a:avLst/>
            <a:gdLst/>
            <a:ahLst/>
            <a:cxnLst/>
            <a:rect l="l" t="t" r="r" b="b"/>
            <a:pathLst>
              <a:path w="35262" h="952087">
                <a:moveTo>
                  <a:pt x="35262" y="0"/>
                </a:moveTo>
                <a:lnTo>
                  <a:pt x="35262" y="0"/>
                </a:lnTo>
                <a:lnTo>
                  <a:pt x="35262" y="952087"/>
                </a:ln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2" name="Shape 50"/>
          <p:cNvSpPr/>
          <p:nvPr/>
        </p:nvSpPr>
        <p:spPr>
          <a:xfrm>
            <a:off x="6457854" y="4046369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3" name="Shape 51"/>
          <p:cNvSpPr/>
          <p:nvPr/>
        </p:nvSpPr>
        <p:spPr>
          <a:xfrm>
            <a:off x="6557029" y="4143341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19835" y="19835"/>
                </a:moveTo>
                <a:cubicBezTo>
                  <a:pt x="19835" y="14349"/>
                  <a:pt x="15403" y="9918"/>
                  <a:pt x="9918" y="9918"/>
                </a:cubicBezTo>
                <a:cubicBezTo>
                  <a:pt x="4432" y="9918"/>
                  <a:pt x="0" y="14349"/>
                  <a:pt x="0" y="19835"/>
                </a:cubicBezTo>
                <a:lnTo>
                  <a:pt x="0" y="123970"/>
                </a:lnTo>
                <a:cubicBezTo>
                  <a:pt x="0" y="137668"/>
                  <a:pt x="11095" y="148764"/>
                  <a:pt x="24794" y="148764"/>
                </a:cubicBezTo>
                <a:lnTo>
                  <a:pt x="148764" y="148764"/>
                </a:lnTo>
                <a:cubicBezTo>
                  <a:pt x="154249" y="148764"/>
                  <a:pt x="158681" y="144332"/>
                  <a:pt x="158681" y="138846"/>
                </a:cubicBezTo>
                <a:cubicBezTo>
                  <a:pt x="158681" y="133360"/>
                  <a:pt x="154249" y="128928"/>
                  <a:pt x="148764" y="128928"/>
                </a:cubicBezTo>
                <a:lnTo>
                  <a:pt x="24794" y="128928"/>
                </a:lnTo>
                <a:cubicBezTo>
                  <a:pt x="22067" y="128928"/>
                  <a:pt x="19835" y="126697"/>
                  <a:pt x="19835" y="123970"/>
                </a:cubicBezTo>
                <a:lnTo>
                  <a:pt x="19835" y="19835"/>
                </a:lnTo>
                <a:close/>
                <a:moveTo>
                  <a:pt x="145850" y="46675"/>
                </a:moveTo>
                <a:cubicBezTo>
                  <a:pt x="149724" y="42801"/>
                  <a:pt x="149724" y="36509"/>
                  <a:pt x="145850" y="32635"/>
                </a:cubicBezTo>
                <a:cubicBezTo>
                  <a:pt x="141976" y="28761"/>
                  <a:pt x="135685" y="28761"/>
                  <a:pt x="131811" y="32635"/>
                </a:cubicBezTo>
                <a:lnTo>
                  <a:pt x="99176" y="65301"/>
                </a:lnTo>
                <a:lnTo>
                  <a:pt x="81386" y="47542"/>
                </a:lnTo>
                <a:cubicBezTo>
                  <a:pt x="77512" y="43668"/>
                  <a:pt x="71221" y="43668"/>
                  <a:pt x="67347" y="47542"/>
                </a:cubicBezTo>
                <a:lnTo>
                  <a:pt x="37594" y="77295"/>
                </a:lnTo>
                <a:cubicBezTo>
                  <a:pt x="33720" y="81169"/>
                  <a:pt x="33720" y="87461"/>
                  <a:pt x="37594" y="91335"/>
                </a:cubicBezTo>
                <a:cubicBezTo>
                  <a:pt x="41468" y="95209"/>
                  <a:pt x="47759" y="95209"/>
                  <a:pt x="51633" y="91335"/>
                </a:cubicBezTo>
                <a:lnTo>
                  <a:pt x="74382" y="68586"/>
                </a:lnTo>
                <a:lnTo>
                  <a:pt x="92171" y="86376"/>
                </a:lnTo>
                <a:cubicBezTo>
                  <a:pt x="96045" y="90250"/>
                  <a:pt x="102337" y="90250"/>
                  <a:pt x="106211" y="86376"/>
                </a:cubicBezTo>
                <a:lnTo>
                  <a:pt x="145881" y="46706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54" name="Text 52"/>
          <p:cNvSpPr/>
          <p:nvPr/>
        </p:nvSpPr>
        <p:spPr>
          <a:xfrm>
            <a:off x="6916266" y="4046369"/>
            <a:ext cx="47516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债务水平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16266" y="4328469"/>
            <a:ext cx="4742803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政府债务/GDP处于历史高位（120-125%），政策空间受限。高债务约束是前所未有的挑战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34435" y="4963193"/>
            <a:ext cx="5359896" cy="952087"/>
          </a:xfrm>
          <a:custGeom>
            <a:avLst/>
            <a:gdLst/>
            <a:ahLst/>
            <a:cxnLst/>
            <a:rect l="l" t="t" r="r" b="b"/>
            <a:pathLst>
              <a:path w="5359896" h="952087">
                <a:moveTo>
                  <a:pt x="35262" y="0"/>
                </a:moveTo>
                <a:lnTo>
                  <a:pt x="5289375" y="0"/>
                </a:lnTo>
                <a:cubicBezTo>
                  <a:pt x="5328323" y="0"/>
                  <a:pt x="5359896" y="31573"/>
                  <a:pt x="5359896" y="70521"/>
                </a:cubicBezTo>
                <a:lnTo>
                  <a:pt x="5359896" y="881566"/>
                </a:lnTo>
                <a:cubicBezTo>
                  <a:pt x="5359896" y="920513"/>
                  <a:pt x="5328323" y="952087"/>
                  <a:pt x="5289375" y="952087"/>
                </a:cubicBez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334435" y="4963193"/>
            <a:ext cx="35262" cy="952087"/>
          </a:xfrm>
          <a:custGeom>
            <a:avLst/>
            <a:gdLst/>
            <a:ahLst/>
            <a:cxnLst/>
            <a:rect l="l" t="t" r="r" b="b"/>
            <a:pathLst>
              <a:path w="35262" h="952087">
                <a:moveTo>
                  <a:pt x="35262" y="0"/>
                </a:moveTo>
                <a:lnTo>
                  <a:pt x="35262" y="0"/>
                </a:lnTo>
                <a:lnTo>
                  <a:pt x="35262" y="952087"/>
                </a:ln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8" name="Shape 56"/>
          <p:cNvSpPr/>
          <p:nvPr/>
        </p:nvSpPr>
        <p:spPr>
          <a:xfrm>
            <a:off x="6457854" y="5068980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9" name="Shape 57"/>
          <p:cNvSpPr/>
          <p:nvPr/>
        </p:nvSpPr>
        <p:spPr>
          <a:xfrm>
            <a:off x="6537194" y="5165952"/>
            <a:ext cx="198351" cy="158681"/>
          </a:xfrm>
          <a:custGeom>
            <a:avLst/>
            <a:gdLst/>
            <a:ahLst/>
            <a:cxnLst/>
            <a:rect l="l" t="t" r="r" b="b"/>
            <a:pathLst>
              <a:path w="198351" h="158681">
                <a:moveTo>
                  <a:pt x="99176" y="4959"/>
                </a:moveTo>
                <a:cubicBezTo>
                  <a:pt x="116965" y="4959"/>
                  <a:pt x="131408" y="19402"/>
                  <a:pt x="131408" y="37191"/>
                </a:cubicBezTo>
                <a:cubicBezTo>
                  <a:pt x="131408" y="54980"/>
                  <a:pt x="116965" y="69423"/>
                  <a:pt x="99176" y="69423"/>
                </a:cubicBezTo>
                <a:cubicBezTo>
                  <a:pt x="81386" y="69423"/>
                  <a:pt x="66944" y="54980"/>
                  <a:pt x="66944" y="37191"/>
                </a:cubicBezTo>
                <a:cubicBezTo>
                  <a:pt x="66944" y="19402"/>
                  <a:pt x="81386" y="4959"/>
                  <a:pt x="99176" y="4959"/>
                </a:cubicBezTo>
                <a:close/>
                <a:moveTo>
                  <a:pt x="29753" y="27273"/>
                </a:moveTo>
                <a:cubicBezTo>
                  <a:pt x="42068" y="27273"/>
                  <a:pt x="52067" y="37272"/>
                  <a:pt x="52067" y="49588"/>
                </a:cubicBezTo>
                <a:cubicBezTo>
                  <a:pt x="52067" y="61904"/>
                  <a:pt x="42068" y="71902"/>
                  <a:pt x="29753" y="71902"/>
                </a:cubicBezTo>
                <a:cubicBezTo>
                  <a:pt x="17437" y="71902"/>
                  <a:pt x="7438" y="61904"/>
                  <a:pt x="7438" y="49588"/>
                </a:cubicBezTo>
                <a:cubicBezTo>
                  <a:pt x="7438" y="37272"/>
                  <a:pt x="17437" y="27273"/>
                  <a:pt x="29753" y="27273"/>
                </a:cubicBezTo>
                <a:close/>
                <a:moveTo>
                  <a:pt x="0" y="128928"/>
                </a:moveTo>
                <a:cubicBezTo>
                  <a:pt x="0" y="107017"/>
                  <a:pt x="17759" y="89258"/>
                  <a:pt x="39670" y="89258"/>
                </a:cubicBezTo>
                <a:cubicBezTo>
                  <a:pt x="43637" y="89258"/>
                  <a:pt x="47480" y="89847"/>
                  <a:pt x="51106" y="90932"/>
                </a:cubicBezTo>
                <a:cubicBezTo>
                  <a:pt x="40910" y="102337"/>
                  <a:pt x="34711" y="117399"/>
                  <a:pt x="34711" y="133887"/>
                </a:cubicBezTo>
                <a:lnTo>
                  <a:pt x="34711" y="138846"/>
                </a:lnTo>
                <a:cubicBezTo>
                  <a:pt x="34711" y="142379"/>
                  <a:pt x="35455" y="145726"/>
                  <a:pt x="36788" y="148764"/>
                </a:cubicBezTo>
                <a:lnTo>
                  <a:pt x="9918" y="148764"/>
                </a:lnTo>
                <a:cubicBezTo>
                  <a:pt x="4432" y="148764"/>
                  <a:pt x="0" y="144332"/>
                  <a:pt x="0" y="138846"/>
                </a:cubicBezTo>
                <a:lnTo>
                  <a:pt x="0" y="128928"/>
                </a:lnTo>
                <a:close/>
                <a:moveTo>
                  <a:pt x="161563" y="148764"/>
                </a:moveTo>
                <a:cubicBezTo>
                  <a:pt x="162896" y="145726"/>
                  <a:pt x="163640" y="142379"/>
                  <a:pt x="163640" y="138846"/>
                </a:cubicBezTo>
                <a:lnTo>
                  <a:pt x="163640" y="133887"/>
                </a:lnTo>
                <a:cubicBezTo>
                  <a:pt x="163640" y="117399"/>
                  <a:pt x="157441" y="102337"/>
                  <a:pt x="147245" y="90932"/>
                </a:cubicBezTo>
                <a:cubicBezTo>
                  <a:pt x="150871" y="89847"/>
                  <a:pt x="154714" y="89258"/>
                  <a:pt x="158681" y="89258"/>
                </a:cubicBezTo>
                <a:cubicBezTo>
                  <a:pt x="180593" y="89258"/>
                  <a:pt x="198351" y="107017"/>
                  <a:pt x="198351" y="128928"/>
                </a:cubicBezTo>
                <a:lnTo>
                  <a:pt x="198351" y="138846"/>
                </a:lnTo>
                <a:cubicBezTo>
                  <a:pt x="198351" y="144332"/>
                  <a:pt x="193919" y="148764"/>
                  <a:pt x="188434" y="148764"/>
                </a:cubicBezTo>
                <a:lnTo>
                  <a:pt x="161563" y="148764"/>
                </a:lnTo>
                <a:close/>
                <a:moveTo>
                  <a:pt x="146284" y="49588"/>
                </a:moveTo>
                <a:cubicBezTo>
                  <a:pt x="146284" y="37272"/>
                  <a:pt x="156283" y="27273"/>
                  <a:pt x="168599" y="27273"/>
                </a:cubicBezTo>
                <a:cubicBezTo>
                  <a:pt x="180914" y="27273"/>
                  <a:pt x="190913" y="37272"/>
                  <a:pt x="190913" y="49588"/>
                </a:cubicBezTo>
                <a:cubicBezTo>
                  <a:pt x="190913" y="61904"/>
                  <a:pt x="180914" y="71902"/>
                  <a:pt x="168599" y="71902"/>
                </a:cubicBezTo>
                <a:cubicBezTo>
                  <a:pt x="156283" y="71902"/>
                  <a:pt x="146284" y="61904"/>
                  <a:pt x="146284" y="49588"/>
                </a:cubicBezTo>
                <a:close/>
                <a:moveTo>
                  <a:pt x="49588" y="133887"/>
                </a:moveTo>
                <a:cubicBezTo>
                  <a:pt x="49588" y="106490"/>
                  <a:pt x="71778" y="84299"/>
                  <a:pt x="99176" y="84299"/>
                </a:cubicBezTo>
                <a:cubicBezTo>
                  <a:pt x="126573" y="84299"/>
                  <a:pt x="148764" y="106490"/>
                  <a:pt x="148764" y="133887"/>
                </a:cubicBezTo>
                <a:lnTo>
                  <a:pt x="148764" y="138846"/>
                </a:lnTo>
                <a:cubicBezTo>
                  <a:pt x="148764" y="144332"/>
                  <a:pt x="144332" y="148764"/>
                  <a:pt x="138846" y="148764"/>
                </a:cubicBezTo>
                <a:lnTo>
                  <a:pt x="59505" y="148764"/>
                </a:lnTo>
                <a:cubicBezTo>
                  <a:pt x="54020" y="148764"/>
                  <a:pt x="49588" y="144332"/>
                  <a:pt x="49588" y="138846"/>
                </a:cubicBezTo>
                <a:lnTo>
                  <a:pt x="49588" y="133887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60" name="Text 58"/>
          <p:cNvSpPr/>
          <p:nvPr/>
        </p:nvSpPr>
        <p:spPr>
          <a:xfrm>
            <a:off x="6916266" y="5068980"/>
            <a:ext cx="47516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人口结构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916266" y="5351080"/>
            <a:ext cx="4742803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老龄化加剧，财政压力持续增大。人口老龄化对财政可持续性的长期影响尚未充分显现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57033" y="6175341"/>
            <a:ext cx="11477935" cy="678803"/>
          </a:xfrm>
          <a:custGeom>
            <a:avLst/>
            <a:gdLst/>
            <a:ahLst/>
            <a:cxnLst/>
            <a:rect l="l" t="t" r="r" b="b"/>
            <a:pathLst>
              <a:path w="11477935" h="678803">
                <a:moveTo>
                  <a:pt x="70528" y="0"/>
                </a:moveTo>
                <a:lnTo>
                  <a:pt x="11407407" y="0"/>
                </a:lnTo>
                <a:cubicBezTo>
                  <a:pt x="11446359" y="0"/>
                  <a:pt x="11477935" y="31576"/>
                  <a:pt x="11477935" y="70528"/>
                </a:cubicBezTo>
                <a:lnTo>
                  <a:pt x="11477935" y="608275"/>
                </a:lnTo>
                <a:cubicBezTo>
                  <a:pt x="11477935" y="647226"/>
                  <a:pt x="11446359" y="678803"/>
                  <a:pt x="11407407" y="678803"/>
                </a:cubicBezTo>
                <a:lnTo>
                  <a:pt x="70528" y="678803"/>
                </a:lnTo>
                <a:cubicBezTo>
                  <a:pt x="31576" y="678803"/>
                  <a:pt x="0" y="647226"/>
                  <a:pt x="0" y="608275"/>
                </a:cubicBezTo>
                <a:lnTo>
                  <a:pt x="0" y="70528"/>
                </a:lnTo>
                <a:cubicBezTo>
                  <a:pt x="0" y="31602"/>
                  <a:pt x="31602" y="0"/>
                  <a:pt x="7052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0121" y="6408954"/>
            <a:ext cx="158681" cy="211575"/>
          </a:xfrm>
          <a:custGeom>
            <a:avLst/>
            <a:gdLst/>
            <a:ahLst/>
            <a:cxnLst/>
            <a:rect l="l" t="t" r="r" b="b"/>
            <a:pathLst>
              <a:path w="158681" h="211575">
                <a:moveTo>
                  <a:pt x="121036" y="158681"/>
                </a:moveTo>
                <a:cubicBezTo>
                  <a:pt x="124052" y="149466"/>
                  <a:pt x="130085" y="141119"/>
                  <a:pt x="136904" y="133929"/>
                </a:cubicBezTo>
                <a:cubicBezTo>
                  <a:pt x="150416" y="119713"/>
                  <a:pt x="158681" y="100498"/>
                  <a:pt x="158681" y="79341"/>
                </a:cubicBezTo>
                <a:cubicBezTo>
                  <a:pt x="158681" y="35538"/>
                  <a:pt x="123143" y="0"/>
                  <a:pt x="79341" y="0"/>
                </a:cubicBezTo>
                <a:cubicBezTo>
                  <a:pt x="35538" y="0"/>
                  <a:pt x="0" y="35538"/>
                  <a:pt x="0" y="79341"/>
                </a:cubicBezTo>
                <a:cubicBezTo>
                  <a:pt x="0" y="100498"/>
                  <a:pt x="8265" y="119713"/>
                  <a:pt x="21777" y="133929"/>
                </a:cubicBezTo>
                <a:cubicBezTo>
                  <a:pt x="28596" y="141119"/>
                  <a:pt x="34670" y="149466"/>
                  <a:pt x="37645" y="158681"/>
                </a:cubicBezTo>
                <a:lnTo>
                  <a:pt x="120994" y="158681"/>
                </a:lnTo>
                <a:close/>
                <a:moveTo>
                  <a:pt x="119011" y="178516"/>
                </a:moveTo>
                <a:lnTo>
                  <a:pt x="39670" y="178516"/>
                </a:lnTo>
                <a:lnTo>
                  <a:pt x="39670" y="185128"/>
                </a:lnTo>
                <a:cubicBezTo>
                  <a:pt x="39670" y="203393"/>
                  <a:pt x="54464" y="218187"/>
                  <a:pt x="72729" y="218187"/>
                </a:cubicBezTo>
                <a:lnTo>
                  <a:pt x="85952" y="218187"/>
                </a:lnTo>
                <a:cubicBezTo>
                  <a:pt x="104217" y="218187"/>
                  <a:pt x="119011" y="203393"/>
                  <a:pt x="119011" y="185128"/>
                </a:cubicBezTo>
                <a:lnTo>
                  <a:pt x="119011" y="178516"/>
                </a:lnTo>
                <a:close/>
                <a:moveTo>
                  <a:pt x="76035" y="46282"/>
                </a:moveTo>
                <a:cubicBezTo>
                  <a:pt x="59588" y="46282"/>
                  <a:pt x="46282" y="59588"/>
                  <a:pt x="46282" y="76035"/>
                </a:cubicBezTo>
                <a:cubicBezTo>
                  <a:pt x="46282" y="81531"/>
                  <a:pt x="41860" y="85952"/>
                  <a:pt x="36364" y="85952"/>
                </a:cubicBezTo>
                <a:cubicBezTo>
                  <a:pt x="30868" y="85952"/>
                  <a:pt x="26447" y="81531"/>
                  <a:pt x="26447" y="76035"/>
                </a:cubicBezTo>
                <a:cubicBezTo>
                  <a:pt x="26447" y="48637"/>
                  <a:pt x="48637" y="26447"/>
                  <a:pt x="76035" y="26447"/>
                </a:cubicBezTo>
                <a:cubicBezTo>
                  <a:pt x="81531" y="26447"/>
                  <a:pt x="85952" y="30868"/>
                  <a:pt x="85952" y="36364"/>
                </a:cubicBezTo>
                <a:cubicBezTo>
                  <a:pt x="85952" y="41860"/>
                  <a:pt x="81531" y="46282"/>
                  <a:pt x="76035" y="4628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4" name="Text 62"/>
          <p:cNvSpPr/>
          <p:nvPr/>
        </p:nvSpPr>
        <p:spPr>
          <a:xfrm>
            <a:off x="872746" y="6408954"/>
            <a:ext cx="699078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核心判断：</a:t>
            </a:r>
            <a:pPr>
              <a:lnSpc>
                <a:spcPct val="130000"/>
              </a:lnSpc>
            </a:pPr>
            <a:r>
              <a:rPr lang="en-US" sz="111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当前最可能的情景是1995年式软着陆（70%相似度），但AI革命、高债务等结构性差异需要谨慎对待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895553" y="6285536"/>
            <a:ext cx="82866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整体置信度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851475" y="6461848"/>
            <a:ext cx="872746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666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60-70%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285875" cy="293688"/>
          </a:xfrm>
          <a:custGeom>
            <a:avLst/>
            <a:gdLst/>
            <a:ahLst/>
            <a:cxnLst/>
            <a:rect l="l" t="t" r="r" b="b"/>
            <a:pathLst>
              <a:path w="1285875" h="293688">
                <a:moveTo>
                  <a:pt x="146844" y="0"/>
                </a:moveTo>
                <a:lnTo>
                  <a:pt x="1139031" y="0"/>
                </a:lnTo>
                <a:cubicBezTo>
                  <a:pt x="1220077" y="0"/>
                  <a:pt x="1285875" y="65798"/>
                  <a:pt x="1285875" y="146844"/>
                </a:cubicBezTo>
                <a:lnTo>
                  <a:pt x="1285875" y="146844"/>
                </a:lnTo>
                <a:cubicBezTo>
                  <a:pt x="1285875" y="227889"/>
                  <a:pt x="1220077" y="293688"/>
                  <a:pt x="1139031" y="293688"/>
                </a:cubicBezTo>
                <a:lnTo>
                  <a:pt x="146844" y="293688"/>
                </a:lnTo>
                <a:cubicBezTo>
                  <a:pt x="65798" y="293688"/>
                  <a:pt x="0" y="227889"/>
                  <a:pt x="0" y="146844"/>
                </a:cubicBezTo>
                <a:lnTo>
                  <a:pt x="0" y="146844"/>
                </a:lnTo>
                <a:cubicBezTo>
                  <a:pt x="0" y="65798"/>
                  <a:pt x="65798" y="0"/>
                  <a:pt x="146844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2438" y="404813"/>
            <a:ext cx="107888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7143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市场影响分析：股票与债券市场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12712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707063" cy="3182938"/>
          </a:xfrm>
          <a:custGeom>
            <a:avLst/>
            <a:gdLst/>
            <a:ahLst/>
            <a:cxnLst/>
            <a:rect l="l" t="t" r="r" b="b"/>
            <a:pathLst>
              <a:path w="5707063" h="3182938">
                <a:moveTo>
                  <a:pt x="95265" y="0"/>
                </a:moveTo>
                <a:lnTo>
                  <a:pt x="5611797" y="0"/>
                </a:lnTo>
                <a:cubicBezTo>
                  <a:pt x="5664411" y="0"/>
                  <a:pt x="5707063" y="42652"/>
                  <a:pt x="5707063" y="95265"/>
                </a:cubicBezTo>
                <a:lnTo>
                  <a:pt x="5707063" y="3087672"/>
                </a:lnTo>
                <a:cubicBezTo>
                  <a:pt x="5707062" y="3140286"/>
                  <a:pt x="5664411" y="3182938"/>
                  <a:pt x="5611797" y="3182938"/>
                </a:cubicBezTo>
                <a:lnTo>
                  <a:pt x="95265" y="3182938"/>
                </a:lnTo>
                <a:cubicBezTo>
                  <a:pt x="42652" y="3182938"/>
                  <a:pt x="0" y="3140286"/>
                  <a:pt x="0" y="3087672"/>
                </a:cubicBezTo>
                <a:lnTo>
                  <a:pt x="0" y="95265"/>
                </a:lnTo>
                <a:cubicBezTo>
                  <a:pt x="0" y="42687"/>
                  <a:pt x="42687" y="0"/>
                  <a:pt x="9526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281" y="14208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650875" y="138906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股票市场：情景分析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8313" y="1706563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3175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468313" y="1706563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Text 9"/>
          <p:cNvSpPr/>
          <p:nvPr/>
        </p:nvSpPr>
        <p:spPr>
          <a:xfrm>
            <a:off x="579438" y="1897063"/>
            <a:ext cx="1230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软着陆 + 温和降息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2606" y="1801813"/>
            <a:ext cx="1262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+8% 至 +15%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2294" y="2055813"/>
            <a:ext cx="122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8367" y="2293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2278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历史置信区间：1995年、2019年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8313" y="2595563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3175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68313" y="2595563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579438" y="2786063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经济衰退 + 快速降息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69147" y="2690813"/>
            <a:ext cx="1230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-10% 至 +5%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08835" y="2944813"/>
            <a:ext cx="1190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8367" y="3182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167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历史置信区间：2001年、2007年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8313" y="3484563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3175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8313" y="3484563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579438" y="3675063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通胀反弹 + 暂停降息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81513" y="3579813"/>
            <a:ext cx="1119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-5% 至 +5%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21200" y="3833812"/>
            <a:ext cx="107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8367" y="4071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4056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历史置信区间：2006-2007年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1469" y="4544219"/>
            <a:ext cx="5707063" cy="2674938"/>
          </a:xfrm>
          <a:custGeom>
            <a:avLst/>
            <a:gdLst/>
            <a:ahLst/>
            <a:cxnLst/>
            <a:rect l="l" t="t" r="r" b="b"/>
            <a:pathLst>
              <a:path w="5707063" h="2674938">
                <a:moveTo>
                  <a:pt x="95255" y="0"/>
                </a:moveTo>
                <a:lnTo>
                  <a:pt x="5611808" y="0"/>
                </a:lnTo>
                <a:cubicBezTo>
                  <a:pt x="5664416" y="0"/>
                  <a:pt x="5707063" y="42647"/>
                  <a:pt x="5707063" y="95255"/>
                </a:cubicBezTo>
                <a:lnTo>
                  <a:pt x="5707063" y="2579683"/>
                </a:lnTo>
                <a:cubicBezTo>
                  <a:pt x="5707063" y="2632291"/>
                  <a:pt x="5664416" y="2674938"/>
                  <a:pt x="5611808" y="2674938"/>
                </a:cubicBezTo>
                <a:lnTo>
                  <a:pt x="95255" y="2674938"/>
                </a:lnTo>
                <a:cubicBezTo>
                  <a:pt x="42647" y="2674938"/>
                  <a:pt x="0" y="2632291"/>
                  <a:pt x="0" y="2579683"/>
                </a:cubicBezTo>
                <a:lnTo>
                  <a:pt x="0" y="95255"/>
                </a:lnTo>
                <a:cubicBezTo>
                  <a:pt x="0" y="42647"/>
                  <a:pt x="42647" y="0"/>
                  <a:pt x="9525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281" y="4706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4434" y="9922"/>
                  <a:pt x="0" y="14356"/>
                  <a:pt x="0" y="19844"/>
                </a:cubicBezTo>
                <a:lnTo>
                  <a:pt x="0" y="133945"/>
                </a:lnTo>
                <a:cubicBezTo>
                  <a:pt x="0" y="142162"/>
                  <a:pt x="6666" y="148828"/>
                  <a:pt x="14883" y="148828"/>
                </a:cubicBezTo>
                <a:lnTo>
                  <a:pt x="143867" y="148828"/>
                </a:lnTo>
                <a:cubicBezTo>
                  <a:pt x="152084" y="148828"/>
                  <a:pt x="158750" y="142162"/>
                  <a:pt x="158750" y="133945"/>
                </a:cubicBezTo>
                <a:lnTo>
                  <a:pt x="158750" y="47191"/>
                </a:lnTo>
                <a:cubicBezTo>
                  <a:pt x="158750" y="41548"/>
                  <a:pt x="152735" y="37982"/>
                  <a:pt x="147774" y="40649"/>
                </a:cubicBezTo>
                <a:lnTo>
                  <a:pt x="99219" y="66787"/>
                </a:lnTo>
                <a:lnTo>
                  <a:pt x="99219" y="47191"/>
                </a:lnTo>
                <a:cubicBezTo>
                  <a:pt x="99219" y="41548"/>
                  <a:pt x="93204" y="37982"/>
                  <a:pt x="88243" y="40649"/>
                </a:cubicBezTo>
                <a:lnTo>
                  <a:pt x="39688" y="66787"/>
                </a:lnTo>
                <a:lnTo>
                  <a:pt x="39688" y="19844"/>
                </a:lnTo>
                <a:cubicBezTo>
                  <a:pt x="39688" y="14356"/>
                  <a:pt x="35254" y="9922"/>
                  <a:pt x="29766" y="9922"/>
                </a:cubicBezTo>
                <a:lnTo>
                  <a:pt x="9922" y="9922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2" name="Text 30"/>
          <p:cNvSpPr/>
          <p:nvPr/>
        </p:nvSpPr>
        <p:spPr>
          <a:xfrm>
            <a:off x="650875" y="4675188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分行业历史表现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2438" y="499268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7922" y="5159375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7859" y="26789"/>
                </a:moveTo>
                <a:cubicBezTo>
                  <a:pt x="17859" y="16939"/>
                  <a:pt x="25868" y="8930"/>
                  <a:pt x="35719" y="8930"/>
                </a:cubicBezTo>
                <a:lnTo>
                  <a:pt x="142875" y="8930"/>
                </a:lnTo>
                <a:cubicBezTo>
                  <a:pt x="152726" y="8930"/>
                  <a:pt x="160734" y="16939"/>
                  <a:pt x="160734" y="26789"/>
                </a:cubicBezTo>
                <a:lnTo>
                  <a:pt x="160734" y="93762"/>
                </a:lnTo>
                <a:lnTo>
                  <a:pt x="142875" y="93762"/>
                </a:lnTo>
                <a:lnTo>
                  <a:pt x="142875" y="26789"/>
                </a:lnTo>
                <a:lnTo>
                  <a:pt x="35719" y="26789"/>
                </a:lnTo>
                <a:lnTo>
                  <a:pt x="35719" y="93762"/>
                </a:lnTo>
                <a:lnTo>
                  <a:pt x="17859" y="93762"/>
                </a:lnTo>
                <a:lnTo>
                  <a:pt x="17859" y="26789"/>
                </a:lnTo>
                <a:close/>
                <a:moveTo>
                  <a:pt x="0" y="112514"/>
                </a:moveTo>
                <a:cubicBezTo>
                  <a:pt x="0" y="109556"/>
                  <a:pt x="2400" y="107156"/>
                  <a:pt x="5358" y="107156"/>
                </a:cubicBezTo>
                <a:lnTo>
                  <a:pt x="173236" y="107156"/>
                </a:lnTo>
                <a:cubicBezTo>
                  <a:pt x="176194" y="107156"/>
                  <a:pt x="178594" y="109556"/>
                  <a:pt x="178594" y="112514"/>
                </a:cubicBezTo>
                <a:cubicBezTo>
                  <a:pt x="178594" y="124346"/>
                  <a:pt x="168994" y="133945"/>
                  <a:pt x="157163" y="133945"/>
                </a:cubicBezTo>
                <a:lnTo>
                  <a:pt x="21431" y="133945"/>
                </a:lnTo>
                <a:cubicBezTo>
                  <a:pt x="9599" y="133945"/>
                  <a:pt x="0" y="124346"/>
                  <a:pt x="0" y="112514"/>
                </a:cubicBezTo>
                <a:close/>
                <a:moveTo>
                  <a:pt x="78414" y="58322"/>
                </a:moveTo>
                <a:lnTo>
                  <a:pt x="69763" y="66973"/>
                </a:lnTo>
                <a:lnTo>
                  <a:pt x="78414" y="75623"/>
                </a:lnTo>
                <a:cubicBezTo>
                  <a:pt x="81037" y="78246"/>
                  <a:pt x="81037" y="82488"/>
                  <a:pt x="78414" y="85083"/>
                </a:cubicBezTo>
                <a:cubicBezTo>
                  <a:pt x="75791" y="87678"/>
                  <a:pt x="71549" y="87706"/>
                  <a:pt x="68954" y="85083"/>
                </a:cubicBezTo>
                <a:lnTo>
                  <a:pt x="55559" y="71689"/>
                </a:lnTo>
                <a:cubicBezTo>
                  <a:pt x="52936" y="69066"/>
                  <a:pt x="52936" y="64824"/>
                  <a:pt x="55559" y="62229"/>
                </a:cubicBezTo>
                <a:lnTo>
                  <a:pt x="68954" y="48834"/>
                </a:lnTo>
                <a:cubicBezTo>
                  <a:pt x="71577" y="46211"/>
                  <a:pt x="75819" y="46211"/>
                  <a:pt x="78414" y="48834"/>
                </a:cubicBezTo>
                <a:cubicBezTo>
                  <a:pt x="81009" y="51457"/>
                  <a:pt x="81037" y="55699"/>
                  <a:pt x="78414" y="58294"/>
                </a:cubicBezTo>
                <a:close/>
                <a:moveTo>
                  <a:pt x="109668" y="48834"/>
                </a:moveTo>
                <a:lnTo>
                  <a:pt x="123062" y="62229"/>
                </a:lnTo>
                <a:cubicBezTo>
                  <a:pt x="125685" y="64852"/>
                  <a:pt x="125685" y="69093"/>
                  <a:pt x="123062" y="71689"/>
                </a:cubicBezTo>
                <a:lnTo>
                  <a:pt x="109668" y="85083"/>
                </a:lnTo>
                <a:cubicBezTo>
                  <a:pt x="107045" y="87706"/>
                  <a:pt x="102803" y="87706"/>
                  <a:pt x="100208" y="85083"/>
                </a:cubicBezTo>
                <a:cubicBezTo>
                  <a:pt x="97613" y="82460"/>
                  <a:pt x="97585" y="78218"/>
                  <a:pt x="100208" y="75623"/>
                </a:cubicBezTo>
                <a:lnTo>
                  <a:pt x="108858" y="66973"/>
                </a:lnTo>
                <a:lnTo>
                  <a:pt x="100208" y="58322"/>
                </a:lnTo>
                <a:cubicBezTo>
                  <a:pt x="97585" y="55699"/>
                  <a:pt x="97585" y="51457"/>
                  <a:pt x="100208" y="48862"/>
                </a:cubicBezTo>
                <a:cubicBezTo>
                  <a:pt x="102831" y="46267"/>
                  <a:pt x="107073" y="46239"/>
                  <a:pt x="109668" y="4886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5" name="Text 33"/>
          <p:cNvSpPr/>
          <p:nvPr/>
        </p:nvSpPr>
        <p:spPr>
          <a:xfrm>
            <a:off x="789781" y="5135563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222750" y="505618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214813" y="521493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r=0.65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94250" y="505618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86313" y="521493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r=0.45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21313" y="5119688"/>
            <a:ext cx="412750" cy="222250"/>
          </a:xfrm>
          <a:custGeom>
            <a:avLst/>
            <a:gdLst/>
            <a:ahLst/>
            <a:cxnLst/>
            <a:rect l="l" t="t" r="r" b="b"/>
            <a:pathLst>
              <a:path w="412750" h="222250">
                <a:moveTo>
                  <a:pt x="111125" y="0"/>
                </a:moveTo>
                <a:lnTo>
                  <a:pt x="301625" y="0"/>
                </a:lnTo>
                <a:cubicBezTo>
                  <a:pt x="362957" y="0"/>
                  <a:pt x="412750" y="49793"/>
                  <a:pt x="412750" y="111125"/>
                </a:cubicBezTo>
                <a:lnTo>
                  <a:pt x="412750" y="111125"/>
                </a:lnTo>
                <a:cubicBezTo>
                  <a:pt x="412750" y="172457"/>
                  <a:pt x="362957" y="222250"/>
                  <a:pt x="301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421313" y="5119688"/>
            <a:ext cx="468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2438" y="553243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44711" y="569912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94543" y="-2763"/>
                </a:moveTo>
                <a:cubicBezTo>
                  <a:pt x="97864" y="-363"/>
                  <a:pt x="99092" y="3990"/>
                  <a:pt x="97585" y="7786"/>
                </a:cubicBezTo>
                <a:lnTo>
                  <a:pt x="75707" y="62508"/>
                </a:lnTo>
                <a:lnTo>
                  <a:pt x="116086" y="62508"/>
                </a:lnTo>
                <a:cubicBezTo>
                  <a:pt x="119853" y="62508"/>
                  <a:pt x="123202" y="64852"/>
                  <a:pt x="124485" y="68396"/>
                </a:cubicBezTo>
                <a:cubicBezTo>
                  <a:pt x="125769" y="71940"/>
                  <a:pt x="124681" y="75902"/>
                  <a:pt x="121807" y="78302"/>
                </a:cubicBezTo>
                <a:lnTo>
                  <a:pt x="41439" y="145275"/>
                </a:lnTo>
                <a:cubicBezTo>
                  <a:pt x="38286" y="147898"/>
                  <a:pt x="33793" y="148037"/>
                  <a:pt x="30473" y="145638"/>
                </a:cubicBezTo>
                <a:cubicBezTo>
                  <a:pt x="27152" y="143238"/>
                  <a:pt x="25924" y="138885"/>
                  <a:pt x="27431" y="135089"/>
                </a:cubicBezTo>
                <a:lnTo>
                  <a:pt x="49309" y="80367"/>
                </a:lnTo>
                <a:lnTo>
                  <a:pt x="8930" y="80367"/>
                </a:lnTo>
                <a:cubicBezTo>
                  <a:pt x="5162" y="80367"/>
                  <a:pt x="1814" y="78023"/>
                  <a:pt x="530" y="74479"/>
                </a:cubicBezTo>
                <a:cubicBezTo>
                  <a:pt x="-753" y="70935"/>
                  <a:pt x="335" y="66973"/>
                  <a:pt x="3209" y="64573"/>
                </a:cubicBezTo>
                <a:lnTo>
                  <a:pt x="83576" y="-2400"/>
                </a:lnTo>
                <a:cubicBezTo>
                  <a:pt x="86730" y="-5023"/>
                  <a:pt x="91222" y="-5162"/>
                  <a:pt x="94543" y="-276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4" name="Text 42"/>
          <p:cNvSpPr/>
          <p:nvPr/>
        </p:nvSpPr>
        <p:spPr>
          <a:xfrm>
            <a:off x="789781" y="5675313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公用事业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222750" y="559593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214813" y="575468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r=0.70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94250" y="559593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786313" y="575468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r=0.40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421313" y="5659438"/>
            <a:ext cx="412750" cy="222250"/>
          </a:xfrm>
          <a:custGeom>
            <a:avLst/>
            <a:gdLst/>
            <a:ahLst/>
            <a:cxnLst/>
            <a:rect l="l" t="t" r="r" b="b"/>
            <a:pathLst>
              <a:path w="412750" h="222250">
                <a:moveTo>
                  <a:pt x="111125" y="0"/>
                </a:moveTo>
                <a:lnTo>
                  <a:pt x="301625" y="0"/>
                </a:lnTo>
                <a:cubicBezTo>
                  <a:pt x="362957" y="0"/>
                  <a:pt x="412750" y="49793"/>
                  <a:pt x="412750" y="111125"/>
                </a:cubicBezTo>
                <a:lnTo>
                  <a:pt x="412750" y="111125"/>
                </a:lnTo>
                <a:cubicBezTo>
                  <a:pt x="412750" y="172457"/>
                  <a:pt x="362957" y="222250"/>
                  <a:pt x="301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21313" y="5659438"/>
            <a:ext cx="468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2438" y="607218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17922" y="6238875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68898" y="5107"/>
                </a:moveTo>
                <a:lnTo>
                  <a:pt x="75623" y="1060"/>
                </a:lnTo>
                <a:cubicBezTo>
                  <a:pt x="81651" y="-2567"/>
                  <a:pt x="88543" y="-4465"/>
                  <a:pt x="95576" y="-4465"/>
                </a:cubicBezTo>
                <a:cubicBezTo>
                  <a:pt x="105845" y="-4465"/>
                  <a:pt x="115723" y="-391"/>
                  <a:pt x="122979" y="6893"/>
                </a:cubicBezTo>
                <a:lnTo>
                  <a:pt x="140810" y="24724"/>
                </a:lnTo>
                <a:cubicBezTo>
                  <a:pt x="144996" y="28910"/>
                  <a:pt x="147340" y="34603"/>
                  <a:pt x="147340" y="40518"/>
                </a:cubicBezTo>
                <a:lnTo>
                  <a:pt x="147340" y="49141"/>
                </a:lnTo>
                <a:lnTo>
                  <a:pt x="152837" y="54639"/>
                </a:lnTo>
                <a:lnTo>
                  <a:pt x="152837" y="54639"/>
                </a:lnTo>
                <a:cubicBezTo>
                  <a:pt x="157190" y="50285"/>
                  <a:pt x="164250" y="50285"/>
                  <a:pt x="168632" y="54639"/>
                </a:cubicBezTo>
                <a:cubicBezTo>
                  <a:pt x="173013" y="58992"/>
                  <a:pt x="172985" y="66052"/>
                  <a:pt x="168632" y="70433"/>
                </a:cubicBezTo>
                <a:lnTo>
                  <a:pt x="150772" y="88292"/>
                </a:lnTo>
                <a:cubicBezTo>
                  <a:pt x="146419" y="92646"/>
                  <a:pt x="139359" y="92646"/>
                  <a:pt x="134978" y="88292"/>
                </a:cubicBezTo>
                <a:cubicBezTo>
                  <a:pt x="130597" y="83939"/>
                  <a:pt x="130625" y="76879"/>
                  <a:pt x="134978" y="72498"/>
                </a:cubicBezTo>
                <a:lnTo>
                  <a:pt x="129480" y="66973"/>
                </a:lnTo>
                <a:lnTo>
                  <a:pt x="120858" y="66973"/>
                </a:lnTo>
                <a:cubicBezTo>
                  <a:pt x="114942" y="66973"/>
                  <a:pt x="109249" y="64629"/>
                  <a:pt x="105063" y="60443"/>
                </a:cubicBezTo>
                <a:lnTo>
                  <a:pt x="91362" y="46741"/>
                </a:lnTo>
                <a:cubicBezTo>
                  <a:pt x="87176" y="42556"/>
                  <a:pt x="84832" y="36863"/>
                  <a:pt x="84832" y="30947"/>
                </a:cubicBezTo>
                <a:lnTo>
                  <a:pt x="84832" y="27403"/>
                </a:lnTo>
                <a:cubicBezTo>
                  <a:pt x="84832" y="24278"/>
                  <a:pt x="83186" y="21348"/>
                  <a:pt x="80507" y="19757"/>
                </a:cubicBezTo>
                <a:lnTo>
                  <a:pt x="68898" y="12781"/>
                </a:lnTo>
                <a:cubicBezTo>
                  <a:pt x="65996" y="11050"/>
                  <a:pt x="65996" y="6865"/>
                  <a:pt x="68898" y="5135"/>
                </a:cubicBezTo>
                <a:close/>
                <a:moveTo>
                  <a:pt x="14148" y="112375"/>
                </a:moveTo>
                <a:lnTo>
                  <a:pt x="76126" y="50397"/>
                </a:lnTo>
                <a:lnTo>
                  <a:pt x="101380" y="75651"/>
                </a:lnTo>
                <a:lnTo>
                  <a:pt x="39402" y="137629"/>
                </a:lnTo>
                <a:cubicBezTo>
                  <a:pt x="32426" y="144605"/>
                  <a:pt x="21124" y="144605"/>
                  <a:pt x="14148" y="137629"/>
                </a:cubicBezTo>
                <a:cubicBezTo>
                  <a:pt x="7172" y="130652"/>
                  <a:pt x="7172" y="119351"/>
                  <a:pt x="14148" y="11237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3" name="Text 51"/>
          <p:cNvSpPr/>
          <p:nvPr/>
        </p:nvSpPr>
        <p:spPr>
          <a:xfrm>
            <a:off x="789781" y="6215063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周期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222750" y="613568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214813" y="629443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中性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794250" y="613568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786313" y="629443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r=0.60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421313" y="6199188"/>
            <a:ext cx="412750" cy="222250"/>
          </a:xfrm>
          <a:custGeom>
            <a:avLst/>
            <a:gdLst/>
            <a:ahLst/>
            <a:cxnLst/>
            <a:rect l="l" t="t" r="r" b="b"/>
            <a:pathLst>
              <a:path w="412750" h="222250">
                <a:moveTo>
                  <a:pt x="111125" y="0"/>
                </a:moveTo>
                <a:lnTo>
                  <a:pt x="301625" y="0"/>
                </a:lnTo>
                <a:cubicBezTo>
                  <a:pt x="362957" y="0"/>
                  <a:pt x="412750" y="49793"/>
                  <a:pt x="412750" y="111125"/>
                </a:cubicBezTo>
                <a:lnTo>
                  <a:pt x="412750" y="111125"/>
                </a:lnTo>
                <a:cubicBezTo>
                  <a:pt x="412750" y="172457"/>
                  <a:pt x="362957" y="222250"/>
                  <a:pt x="301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421313" y="6199188"/>
            <a:ext cx="468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2438" y="661193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35781" y="67786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5874" y="5637"/>
                </a:moveTo>
                <a:cubicBezTo>
                  <a:pt x="73140" y="4074"/>
                  <a:pt x="69763" y="4074"/>
                  <a:pt x="67001" y="5637"/>
                </a:cubicBezTo>
                <a:lnTo>
                  <a:pt x="4493" y="41356"/>
                </a:lnTo>
                <a:cubicBezTo>
                  <a:pt x="977" y="43365"/>
                  <a:pt x="-753" y="47495"/>
                  <a:pt x="279" y="51402"/>
                </a:cubicBezTo>
                <a:cubicBezTo>
                  <a:pt x="1312" y="55308"/>
                  <a:pt x="4883" y="58043"/>
                  <a:pt x="8930" y="58043"/>
                </a:cubicBezTo>
                <a:lnTo>
                  <a:pt x="17859" y="58043"/>
                </a:lnTo>
                <a:lnTo>
                  <a:pt x="17859" y="116086"/>
                </a:lnTo>
                <a:lnTo>
                  <a:pt x="17859" y="116086"/>
                </a:lnTo>
                <a:lnTo>
                  <a:pt x="3572" y="126802"/>
                </a:lnTo>
                <a:cubicBezTo>
                  <a:pt x="1312" y="128476"/>
                  <a:pt x="0" y="131127"/>
                  <a:pt x="0" y="133945"/>
                </a:cubicBezTo>
                <a:cubicBezTo>
                  <a:pt x="0" y="138885"/>
                  <a:pt x="3990" y="142875"/>
                  <a:pt x="8930" y="142875"/>
                </a:cubicBezTo>
                <a:lnTo>
                  <a:pt x="133945" y="142875"/>
                </a:lnTo>
                <a:cubicBezTo>
                  <a:pt x="138885" y="142875"/>
                  <a:pt x="142875" y="138885"/>
                  <a:pt x="142875" y="133945"/>
                </a:cubicBezTo>
                <a:cubicBezTo>
                  <a:pt x="142875" y="131127"/>
                  <a:pt x="141563" y="128476"/>
                  <a:pt x="139303" y="126802"/>
                </a:cubicBezTo>
                <a:lnTo>
                  <a:pt x="125016" y="116086"/>
                </a:lnTo>
                <a:lnTo>
                  <a:pt x="125016" y="58043"/>
                </a:lnTo>
                <a:lnTo>
                  <a:pt x="133945" y="58043"/>
                </a:lnTo>
                <a:cubicBezTo>
                  <a:pt x="137992" y="58043"/>
                  <a:pt x="141536" y="55308"/>
                  <a:pt x="142568" y="51402"/>
                </a:cubicBezTo>
                <a:cubicBezTo>
                  <a:pt x="143601" y="47495"/>
                  <a:pt x="141870" y="43365"/>
                  <a:pt x="138354" y="41356"/>
                </a:cubicBezTo>
                <a:lnTo>
                  <a:pt x="75847" y="5637"/>
                </a:lnTo>
                <a:close/>
                <a:moveTo>
                  <a:pt x="111621" y="58043"/>
                </a:moveTo>
                <a:lnTo>
                  <a:pt x="111621" y="116086"/>
                </a:lnTo>
                <a:lnTo>
                  <a:pt x="93762" y="116086"/>
                </a:lnTo>
                <a:lnTo>
                  <a:pt x="93762" y="58043"/>
                </a:lnTo>
                <a:lnTo>
                  <a:pt x="111621" y="58043"/>
                </a:lnTo>
                <a:close/>
                <a:moveTo>
                  <a:pt x="80367" y="58043"/>
                </a:moveTo>
                <a:lnTo>
                  <a:pt x="80367" y="116086"/>
                </a:lnTo>
                <a:lnTo>
                  <a:pt x="62508" y="116086"/>
                </a:lnTo>
                <a:lnTo>
                  <a:pt x="62508" y="58043"/>
                </a:lnTo>
                <a:lnTo>
                  <a:pt x="80367" y="58043"/>
                </a:lnTo>
                <a:close/>
                <a:moveTo>
                  <a:pt x="49113" y="58043"/>
                </a:moveTo>
                <a:lnTo>
                  <a:pt x="49113" y="116086"/>
                </a:lnTo>
                <a:lnTo>
                  <a:pt x="31254" y="116086"/>
                </a:lnTo>
                <a:lnTo>
                  <a:pt x="31254" y="58043"/>
                </a:lnTo>
                <a:lnTo>
                  <a:pt x="49113" y="58043"/>
                </a:lnTo>
                <a:close/>
                <a:moveTo>
                  <a:pt x="71438" y="26789"/>
                </a:moveTo>
                <a:cubicBezTo>
                  <a:pt x="76366" y="26789"/>
                  <a:pt x="80367" y="30790"/>
                  <a:pt x="80367" y="35719"/>
                </a:cubicBezTo>
                <a:cubicBezTo>
                  <a:pt x="80367" y="40647"/>
                  <a:pt x="76366" y="44648"/>
                  <a:pt x="71438" y="44648"/>
                </a:cubicBezTo>
                <a:cubicBezTo>
                  <a:pt x="66509" y="44648"/>
                  <a:pt x="62508" y="40647"/>
                  <a:pt x="62508" y="35719"/>
                </a:cubicBezTo>
                <a:cubicBezTo>
                  <a:pt x="62508" y="30790"/>
                  <a:pt x="66509" y="26789"/>
                  <a:pt x="71438" y="26789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2" name="Text 60"/>
          <p:cNvSpPr/>
          <p:nvPr/>
        </p:nvSpPr>
        <p:spPr>
          <a:xfrm>
            <a:off x="789781" y="6754813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219029" y="667543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211092" y="683418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r=-0.30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794250" y="667543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786313" y="683418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中性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421313" y="6738938"/>
            <a:ext cx="412750" cy="222250"/>
          </a:xfrm>
          <a:custGeom>
            <a:avLst/>
            <a:gdLst/>
            <a:ahLst/>
            <a:cxnLst/>
            <a:rect l="l" t="t" r="r" b="b"/>
            <a:pathLst>
              <a:path w="412750" h="222250">
                <a:moveTo>
                  <a:pt x="111125" y="0"/>
                </a:moveTo>
                <a:lnTo>
                  <a:pt x="301625" y="0"/>
                </a:lnTo>
                <a:cubicBezTo>
                  <a:pt x="362957" y="0"/>
                  <a:pt x="412750" y="49793"/>
                  <a:pt x="412750" y="111125"/>
                </a:cubicBezTo>
                <a:lnTo>
                  <a:pt x="412750" y="111125"/>
                </a:lnTo>
                <a:cubicBezTo>
                  <a:pt x="412750" y="172457"/>
                  <a:pt x="362957" y="222250"/>
                  <a:pt x="301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421313" y="6738938"/>
            <a:ext cx="468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低配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63469" y="1258094"/>
            <a:ext cx="5707063" cy="2198688"/>
          </a:xfrm>
          <a:custGeom>
            <a:avLst/>
            <a:gdLst/>
            <a:ahLst/>
            <a:cxnLst/>
            <a:rect l="l" t="t" r="r" b="b"/>
            <a:pathLst>
              <a:path w="5707063" h="2198688">
                <a:moveTo>
                  <a:pt x="95247" y="0"/>
                </a:moveTo>
                <a:lnTo>
                  <a:pt x="5611815" y="0"/>
                </a:lnTo>
                <a:cubicBezTo>
                  <a:pt x="5664419" y="0"/>
                  <a:pt x="5707063" y="42644"/>
                  <a:pt x="5707063" y="95247"/>
                </a:cubicBezTo>
                <a:lnTo>
                  <a:pt x="5707063" y="2103440"/>
                </a:lnTo>
                <a:cubicBezTo>
                  <a:pt x="5707063" y="2156044"/>
                  <a:pt x="5664419" y="2198688"/>
                  <a:pt x="5611815" y="2198688"/>
                </a:cubicBezTo>
                <a:lnTo>
                  <a:pt x="95247" y="2198688"/>
                </a:lnTo>
                <a:cubicBezTo>
                  <a:pt x="42644" y="2198688"/>
                  <a:pt x="0" y="2156044"/>
                  <a:pt x="0" y="2103440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24203" y="14208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59531" y="39688"/>
                </a:moveTo>
                <a:cubicBezTo>
                  <a:pt x="59531" y="23259"/>
                  <a:pt x="46194" y="9922"/>
                  <a:pt x="29766" y="9922"/>
                </a:cubicBezTo>
                <a:cubicBezTo>
                  <a:pt x="13338" y="9922"/>
                  <a:pt x="0" y="23259"/>
                  <a:pt x="0" y="39688"/>
                </a:cubicBezTo>
                <a:cubicBezTo>
                  <a:pt x="0" y="56116"/>
                  <a:pt x="13338" y="69453"/>
                  <a:pt x="29766" y="69453"/>
                </a:cubicBezTo>
                <a:cubicBezTo>
                  <a:pt x="46194" y="69453"/>
                  <a:pt x="59531" y="56116"/>
                  <a:pt x="59531" y="39688"/>
                </a:cubicBezTo>
                <a:close/>
                <a:moveTo>
                  <a:pt x="138906" y="119062"/>
                </a:moveTo>
                <a:cubicBezTo>
                  <a:pt x="138906" y="102634"/>
                  <a:pt x="125569" y="89297"/>
                  <a:pt x="109141" y="89297"/>
                </a:cubicBezTo>
                <a:cubicBezTo>
                  <a:pt x="92713" y="89297"/>
                  <a:pt x="79375" y="102634"/>
                  <a:pt x="79375" y="119062"/>
                </a:cubicBezTo>
                <a:cubicBezTo>
                  <a:pt x="79375" y="135491"/>
                  <a:pt x="92713" y="148828"/>
                  <a:pt x="109141" y="148828"/>
                </a:cubicBezTo>
                <a:cubicBezTo>
                  <a:pt x="125569" y="148828"/>
                  <a:pt x="138906" y="135491"/>
                  <a:pt x="138906" y="119062"/>
                </a:cubicBezTo>
                <a:close/>
                <a:moveTo>
                  <a:pt x="135992" y="26851"/>
                </a:moveTo>
                <a:cubicBezTo>
                  <a:pt x="139867" y="22975"/>
                  <a:pt x="139867" y="16681"/>
                  <a:pt x="135992" y="12805"/>
                </a:cubicBezTo>
                <a:cubicBezTo>
                  <a:pt x="132116" y="8930"/>
                  <a:pt x="125822" y="8930"/>
                  <a:pt x="121946" y="12805"/>
                </a:cubicBezTo>
                <a:lnTo>
                  <a:pt x="2884" y="131868"/>
                </a:lnTo>
                <a:cubicBezTo>
                  <a:pt x="-992" y="135744"/>
                  <a:pt x="-992" y="142038"/>
                  <a:pt x="2884" y="145914"/>
                </a:cubicBezTo>
                <a:cubicBezTo>
                  <a:pt x="6759" y="149789"/>
                  <a:pt x="13053" y="149789"/>
                  <a:pt x="16929" y="145914"/>
                </a:cubicBezTo>
                <a:lnTo>
                  <a:pt x="135992" y="2685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1" name="Text 69"/>
          <p:cNvSpPr/>
          <p:nvPr/>
        </p:nvSpPr>
        <p:spPr>
          <a:xfrm>
            <a:off x="6492875" y="138906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债券市场：收益率历史模式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94438" y="1706563"/>
            <a:ext cx="5445125" cy="777875"/>
          </a:xfrm>
          <a:custGeom>
            <a:avLst/>
            <a:gdLst/>
            <a:ahLst/>
            <a:cxnLst/>
            <a:rect l="l" t="t" r="r" b="b"/>
            <a:pathLst>
              <a:path w="5445125" h="777875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714377"/>
                </a:lnTo>
                <a:cubicBezTo>
                  <a:pt x="5445125" y="749446"/>
                  <a:pt x="5416696" y="777875"/>
                  <a:pt x="5381627" y="777875"/>
                </a:cubicBezTo>
                <a:lnTo>
                  <a:pt x="63498" y="777875"/>
                </a:lnTo>
                <a:cubicBezTo>
                  <a:pt x="28429" y="777875"/>
                  <a:pt x="0" y="749446"/>
                  <a:pt x="0" y="71437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6389688" y="1801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4" name="Shape 72"/>
          <p:cNvSpPr/>
          <p:nvPr/>
        </p:nvSpPr>
        <p:spPr>
          <a:xfrm>
            <a:off x="6484938" y="1897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5" name="Text 73"/>
          <p:cNvSpPr/>
          <p:nvPr/>
        </p:nvSpPr>
        <p:spPr>
          <a:xfrm>
            <a:off x="6802438" y="1849438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首次降息前3个月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389688" y="2182813"/>
            <a:ext cx="5318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10年期国债收益率通常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下降50-100bp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294438" y="2547938"/>
            <a:ext cx="5445125" cy="777875"/>
          </a:xfrm>
          <a:custGeom>
            <a:avLst/>
            <a:gdLst/>
            <a:ahLst/>
            <a:cxnLst/>
            <a:rect l="l" t="t" r="r" b="b"/>
            <a:pathLst>
              <a:path w="5445125" h="777875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714377"/>
                </a:lnTo>
                <a:cubicBezTo>
                  <a:pt x="5445125" y="749446"/>
                  <a:pt x="5416696" y="777875"/>
                  <a:pt x="5381627" y="777875"/>
                </a:cubicBezTo>
                <a:lnTo>
                  <a:pt x="63498" y="777875"/>
                </a:lnTo>
                <a:cubicBezTo>
                  <a:pt x="28429" y="777875"/>
                  <a:pt x="0" y="749446"/>
                  <a:pt x="0" y="71437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6389688" y="2643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9" name="Shape 77"/>
          <p:cNvSpPr/>
          <p:nvPr/>
        </p:nvSpPr>
        <p:spPr>
          <a:xfrm>
            <a:off x="6492875" y="2738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0"/>
                </a:moveTo>
                <a:cubicBezTo>
                  <a:pt x="27360" y="0"/>
                  <a:pt x="23812" y="3547"/>
                  <a:pt x="23812" y="7938"/>
                </a:cubicBezTo>
                <a:lnTo>
                  <a:pt x="23812" y="15875"/>
                </a:lnTo>
                <a:lnTo>
                  <a:pt x="15875" y="15875"/>
                </a:lnTo>
                <a:cubicBezTo>
                  <a:pt x="7119" y="15875"/>
                  <a:pt x="0" y="22994"/>
                  <a:pt x="0" y="31750"/>
                </a:cubicBezTo>
                <a:lnTo>
                  <a:pt x="0" y="43656"/>
                </a:lnTo>
                <a:lnTo>
                  <a:pt x="111125" y="43656"/>
                </a:lnTo>
                <a:lnTo>
                  <a:pt x="111125" y="31750"/>
                </a:lnTo>
                <a:cubicBezTo>
                  <a:pt x="111125" y="22994"/>
                  <a:pt x="104006" y="15875"/>
                  <a:pt x="95250" y="15875"/>
                </a:cubicBezTo>
                <a:lnTo>
                  <a:pt x="87313" y="15875"/>
                </a:lnTo>
                <a:lnTo>
                  <a:pt x="87313" y="7938"/>
                </a:lnTo>
                <a:cubicBezTo>
                  <a:pt x="87313" y="3547"/>
                  <a:pt x="83765" y="0"/>
                  <a:pt x="79375" y="0"/>
                </a:cubicBezTo>
                <a:cubicBezTo>
                  <a:pt x="74985" y="0"/>
                  <a:pt x="71438" y="3547"/>
                  <a:pt x="71438" y="7938"/>
                </a:cubicBezTo>
                <a:lnTo>
                  <a:pt x="71438" y="15875"/>
                </a:lnTo>
                <a:lnTo>
                  <a:pt x="39688" y="15875"/>
                </a:lnTo>
                <a:lnTo>
                  <a:pt x="39688" y="7938"/>
                </a:lnTo>
                <a:cubicBezTo>
                  <a:pt x="39688" y="3547"/>
                  <a:pt x="36140" y="0"/>
                  <a:pt x="31750" y="0"/>
                </a:cubicBezTo>
                <a:close/>
                <a:moveTo>
                  <a:pt x="0" y="55563"/>
                </a:move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55563"/>
                </a:lnTo>
                <a:lnTo>
                  <a:pt x="0" y="5556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0" name="Text 78"/>
          <p:cNvSpPr/>
          <p:nvPr/>
        </p:nvSpPr>
        <p:spPr>
          <a:xfrm>
            <a:off x="6802438" y="2690813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首次降息后6个月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389688" y="3024188"/>
            <a:ext cx="5318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可能再降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30-50bp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，之后进入区间波动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163469" y="3559969"/>
            <a:ext cx="5707063" cy="3659187"/>
          </a:xfrm>
          <a:custGeom>
            <a:avLst/>
            <a:gdLst/>
            <a:ahLst/>
            <a:cxnLst/>
            <a:rect l="l" t="t" r="r" b="b"/>
            <a:pathLst>
              <a:path w="5707063" h="3659187">
                <a:moveTo>
                  <a:pt x="95249" y="0"/>
                </a:moveTo>
                <a:lnTo>
                  <a:pt x="5611814" y="0"/>
                </a:lnTo>
                <a:cubicBezTo>
                  <a:pt x="5664418" y="0"/>
                  <a:pt x="5707063" y="42644"/>
                  <a:pt x="5707063" y="95249"/>
                </a:cubicBezTo>
                <a:lnTo>
                  <a:pt x="5707063" y="3563939"/>
                </a:lnTo>
                <a:cubicBezTo>
                  <a:pt x="5707063" y="3616543"/>
                  <a:pt x="5664418" y="3659188"/>
                  <a:pt x="5611814" y="3659188"/>
                </a:cubicBezTo>
                <a:lnTo>
                  <a:pt x="95249" y="3659187"/>
                </a:lnTo>
                <a:cubicBezTo>
                  <a:pt x="42644" y="3659188"/>
                  <a:pt x="0" y="3616543"/>
                  <a:pt x="0" y="3563939"/>
                </a:cubicBezTo>
                <a:lnTo>
                  <a:pt x="0" y="95249"/>
                </a:lnTo>
                <a:cubicBezTo>
                  <a:pt x="0" y="42679"/>
                  <a:pt x="42679" y="0"/>
                  <a:pt x="95249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14281" y="3722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95095" y="100800"/>
                </a:moveTo>
                <a:lnTo>
                  <a:pt x="50354" y="118008"/>
                </a:lnTo>
                <a:cubicBezTo>
                  <a:pt x="44338" y="120334"/>
                  <a:pt x="38416" y="114412"/>
                  <a:pt x="40742" y="108396"/>
                </a:cubicBezTo>
                <a:lnTo>
                  <a:pt x="57950" y="63655"/>
                </a:lnTo>
                <a:cubicBezTo>
                  <a:pt x="58973" y="61020"/>
                  <a:pt x="61020" y="58973"/>
                  <a:pt x="63655" y="57950"/>
                </a:cubicBezTo>
                <a:lnTo>
                  <a:pt x="108396" y="40742"/>
                </a:lnTo>
                <a:cubicBezTo>
                  <a:pt x="114412" y="38416"/>
                  <a:pt x="120334" y="44338"/>
                  <a:pt x="118008" y="50354"/>
                </a:cubicBezTo>
                <a:lnTo>
                  <a:pt x="100800" y="95095"/>
                </a:lnTo>
                <a:cubicBezTo>
                  <a:pt x="99808" y="97730"/>
                  <a:pt x="97730" y="99777"/>
                  <a:pt x="95095" y="100800"/>
                </a:cubicBezTo>
                <a:close/>
                <a:moveTo>
                  <a:pt x="89297" y="79375"/>
                </a:moveTo>
                <a:cubicBezTo>
                  <a:pt x="89297" y="73899"/>
                  <a:pt x="84851" y="69453"/>
                  <a:pt x="79375" y="69453"/>
                </a:cubicBezTo>
                <a:cubicBezTo>
                  <a:pt x="73899" y="69453"/>
                  <a:pt x="69453" y="73899"/>
                  <a:pt x="69453" y="79375"/>
                </a:cubicBezTo>
                <a:cubicBezTo>
                  <a:pt x="69453" y="84851"/>
                  <a:pt x="73899" y="89297"/>
                  <a:pt x="79375" y="89297"/>
                </a:cubicBezTo>
                <a:cubicBezTo>
                  <a:pt x="84851" y="89297"/>
                  <a:pt x="89297" y="84851"/>
                  <a:pt x="89297" y="793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4" name="Text 82"/>
          <p:cNvSpPr/>
          <p:nvPr/>
        </p:nvSpPr>
        <p:spPr>
          <a:xfrm>
            <a:off x="6492875" y="3690937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久期建议（基于历史最优策略）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310313" y="4008438"/>
            <a:ext cx="5429250" cy="920750"/>
          </a:xfrm>
          <a:custGeom>
            <a:avLst/>
            <a:gdLst/>
            <a:ahLst/>
            <a:cxnLst/>
            <a:rect l="l" t="t" r="r" b="b"/>
            <a:pathLst>
              <a:path w="5429250" h="920750">
                <a:moveTo>
                  <a:pt x="31750" y="0"/>
                </a:moveTo>
                <a:lnTo>
                  <a:pt x="5365746" y="0"/>
                </a:lnTo>
                <a:cubicBezTo>
                  <a:pt x="5400818" y="0"/>
                  <a:pt x="5429250" y="28432"/>
                  <a:pt x="5429250" y="63504"/>
                </a:cubicBezTo>
                <a:lnTo>
                  <a:pt x="5429250" y="857246"/>
                </a:lnTo>
                <a:cubicBezTo>
                  <a:pt x="5429250" y="892318"/>
                  <a:pt x="5400818" y="920750"/>
                  <a:pt x="536574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6310313" y="4008438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7" name="Text 85"/>
          <p:cNvSpPr/>
          <p:nvPr/>
        </p:nvSpPr>
        <p:spPr>
          <a:xfrm>
            <a:off x="6421438" y="4103688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降息周期前6个月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1120438" y="4103688"/>
            <a:ext cx="523875" cy="222250"/>
          </a:xfrm>
          <a:custGeom>
            <a:avLst/>
            <a:gdLst/>
            <a:ahLst/>
            <a:cxnLst/>
            <a:rect l="l" t="t" r="r" b="b"/>
            <a:pathLst>
              <a:path w="523875" h="222250">
                <a:moveTo>
                  <a:pt x="111125" y="0"/>
                </a:moveTo>
                <a:lnTo>
                  <a:pt x="412750" y="0"/>
                </a:lnTo>
                <a:cubicBezTo>
                  <a:pt x="474082" y="0"/>
                  <a:pt x="523875" y="49793"/>
                  <a:pt x="523875" y="111125"/>
                </a:cubicBezTo>
                <a:lnTo>
                  <a:pt x="523875" y="111125"/>
                </a:lnTo>
                <a:cubicBezTo>
                  <a:pt x="523875" y="172457"/>
                  <a:pt x="474082" y="222250"/>
                  <a:pt x="412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11120438" y="4103688"/>
            <a:ext cx="579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长久期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421438" y="4389438"/>
            <a:ext cx="5318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+1.5年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6421438" y="4675188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延长久期以锁定较高收益率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6310313" y="4992688"/>
            <a:ext cx="5429250" cy="920750"/>
          </a:xfrm>
          <a:custGeom>
            <a:avLst/>
            <a:gdLst/>
            <a:ahLst/>
            <a:cxnLst/>
            <a:rect l="l" t="t" r="r" b="b"/>
            <a:pathLst>
              <a:path w="5429250" h="920750">
                <a:moveTo>
                  <a:pt x="31750" y="0"/>
                </a:moveTo>
                <a:lnTo>
                  <a:pt x="5365746" y="0"/>
                </a:lnTo>
                <a:cubicBezTo>
                  <a:pt x="5400818" y="0"/>
                  <a:pt x="5429250" y="28432"/>
                  <a:pt x="5429250" y="63504"/>
                </a:cubicBezTo>
                <a:lnTo>
                  <a:pt x="5429250" y="857246"/>
                </a:lnTo>
                <a:cubicBezTo>
                  <a:pt x="5429250" y="892318"/>
                  <a:pt x="5400818" y="920750"/>
                  <a:pt x="536574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6310313" y="4992688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4" name="Text 92"/>
          <p:cNvSpPr/>
          <p:nvPr/>
        </p:nvSpPr>
        <p:spPr>
          <a:xfrm>
            <a:off x="6421438" y="5087938"/>
            <a:ext cx="78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降息周期中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11120438" y="5087938"/>
            <a:ext cx="523875" cy="222250"/>
          </a:xfrm>
          <a:custGeom>
            <a:avLst/>
            <a:gdLst/>
            <a:ahLst/>
            <a:cxnLst/>
            <a:rect l="l" t="t" r="r" b="b"/>
            <a:pathLst>
              <a:path w="523875" h="222250">
                <a:moveTo>
                  <a:pt x="111125" y="0"/>
                </a:moveTo>
                <a:lnTo>
                  <a:pt x="412750" y="0"/>
                </a:lnTo>
                <a:cubicBezTo>
                  <a:pt x="474082" y="0"/>
                  <a:pt x="523875" y="49793"/>
                  <a:pt x="523875" y="111125"/>
                </a:cubicBezTo>
                <a:lnTo>
                  <a:pt x="523875" y="111125"/>
                </a:lnTo>
                <a:cubicBezTo>
                  <a:pt x="523875" y="172457"/>
                  <a:pt x="474082" y="222250"/>
                  <a:pt x="412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11120438" y="5087938"/>
            <a:ext cx="579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中久期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6421438" y="5373688"/>
            <a:ext cx="5318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基准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6421438" y="5659438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保持中性久期，灵活调整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6310313" y="5976938"/>
            <a:ext cx="5429250" cy="920750"/>
          </a:xfrm>
          <a:custGeom>
            <a:avLst/>
            <a:gdLst/>
            <a:ahLst/>
            <a:cxnLst/>
            <a:rect l="l" t="t" r="r" b="b"/>
            <a:pathLst>
              <a:path w="5429250" h="920750">
                <a:moveTo>
                  <a:pt x="31750" y="0"/>
                </a:moveTo>
                <a:lnTo>
                  <a:pt x="5365746" y="0"/>
                </a:lnTo>
                <a:cubicBezTo>
                  <a:pt x="5400818" y="0"/>
                  <a:pt x="5429250" y="28432"/>
                  <a:pt x="5429250" y="63504"/>
                </a:cubicBezTo>
                <a:lnTo>
                  <a:pt x="5429250" y="857246"/>
                </a:lnTo>
                <a:cubicBezTo>
                  <a:pt x="5429250" y="892318"/>
                  <a:pt x="5400818" y="920750"/>
                  <a:pt x="536574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6310313" y="5976938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01" name="Text 99"/>
          <p:cNvSpPr/>
          <p:nvPr/>
        </p:nvSpPr>
        <p:spPr>
          <a:xfrm>
            <a:off x="6421438" y="6072188"/>
            <a:ext cx="92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降息周期后期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11120438" y="6072188"/>
            <a:ext cx="523875" cy="222250"/>
          </a:xfrm>
          <a:custGeom>
            <a:avLst/>
            <a:gdLst/>
            <a:ahLst/>
            <a:cxnLst/>
            <a:rect l="l" t="t" r="r" b="b"/>
            <a:pathLst>
              <a:path w="523875" h="222250">
                <a:moveTo>
                  <a:pt x="111125" y="0"/>
                </a:moveTo>
                <a:lnTo>
                  <a:pt x="412750" y="0"/>
                </a:lnTo>
                <a:cubicBezTo>
                  <a:pt x="474082" y="0"/>
                  <a:pt x="523875" y="49793"/>
                  <a:pt x="523875" y="111125"/>
                </a:cubicBezTo>
                <a:lnTo>
                  <a:pt x="523875" y="111125"/>
                </a:lnTo>
                <a:cubicBezTo>
                  <a:pt x="523875" y="172457"/>
                  <a:pt x="474082" y="222250"/>
                  <a:pt x="412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11120438" y="6072188"/>
            <a:ext cx="579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短久期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6421438" y="6357938"/>
            <a:ext cx="5318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-1年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6421438" y="6643688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缩短久期，防范利率反弹风险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380" y="372380"/>
            <a:ext cx="2675620" cy="340199"/>
          </a:xfrm>
          <a:custGeom>
            <a:avLst/>
            <a:gdLst/>
            <a:ahLst/>
            <a:cxnLst/>
            <a:rect l="l" t="t" r="r" b="b"/>
            <a:pathLst>
              <a:path w="2675620" h="340199">
                <a:moveTo>
                  <a:pt x="170100" y="0"/>
                </a:moveTo>
                <a:lnTo>
                  <a:pt x="2505520" y="0"/>
                </a:lnTo>
                <a:cubicBezTo>
                  <a:pt x="2599464" y="0"/>
                  <a:pt x="2675620" y="76156"/>
                  <a:pt x="2675620" y="170100"/>
                </a:cubicBezTo>
                <a:lnTo>
                  <a:pt x="2675620" y="170100"/>
                </a:lnTo>
                <a:cubicBezTo>
                  <a:pt x="2675620" y="264043"/>
                  <a:pt x="2599464" y="340199"/>
                  <a:pt x="2505520" y="340199"/>
                </a:cubicBezTo>
                <a:lnTo>
                  <a:pt x="170100" y="340199"/>
                </a:lnTo>
                <a:cubicBezTo>
                  <a:pt x="76219" y="340199"/>
                  <a:pt x="0" y="263980"/>
                  <a:pt x="0" y="170100"/>
                </a:cubicBezTo>
                <a:lnTo>
                  <a:pt x="0" y="170100"/>
                </a:lnTo>
                <a:cubicBezTo>
                  <a:pt x="0" y="76219"/>
                  <a:pt x="76219" y="0"/>
                  <a:pt x="170100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4090" y="468923"/>
            <a:ext cx="243455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b="1" spc="101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RECOMMENDATION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783" y="827511"/>
            <a:ext cx="11621937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投资建议：资产配置与行业配置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783" y="1305629"/>
            <a:ext cx="882679" cy="36778"/>
          </a:xfrm>
          <a:custGeom>
            <a:avLst/>
            <a:gdLst/>
            <a:ahLst/>
            <a:cxnLst/>
            <a:rect l="l" t="t" r="r" b="b"/>
            <a:pathLst>
              <a:path w="882679" h="36778">
                <a:moveTo>
                  <a:pt x="0" y="0"/>
                </a:moveTo>
                <a:lnTo>
                  <a:pt x="882679" y="0"/>
                </a:lnTo>
                <a:lnTo>
                  <a:pt x="882679" y="36778"/>
                </a:lnTo>
                <a:lnTo>
                  <a:pt x="0" y="36778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72380" y="1457339"/>
            <a:ext cx="5084597" cy="3613466"/>
          </a:xfrm>
          <a:custGeom>
            <a:avLst/>
            <a:gdLst/>
            <a:ahLst/>
            <a:cxnLst/>
            <a:rect l="l" t="t" r="r" b="b"/>
            <a:pathLst>
              <a:path w="5084597" h="3613466">
                <a:moveTo>
                  <a:pt x="110319" y="0"/>
                </a:moveTo>
                <a:lnTo>
                  <a:pt x="4974278" y="0"/>
                </a:lnTo>
                <a:cubicBezTo>
                  <a:pt x="5035206" y="0"/>
                  <a:pt x="5084597" y="49392"/>
                  <a:pt x="5084597" y="110319"/>
                </a:cubicBezTo>
                <a:lnTo>
                  <a:pt x="5084597" y="3503147"/>
                </a:lnTo>
                <a:cubicBezTo>
                  <a:pt x="5084597" y="3564075"/>
                  <a:pt x="5035206" y="3613466"/>
                  <a:pt x="4974278" y="3613466"/>
                </a:cubicBezTo>
                <a:lnTo>
                  <a:pt x="110319" y="3613466"/>
                </a:lnTo>
                <a:cubicBezTo>
                  <a:pt x="49392" y="3613466"/>
                  <a:pt x="0" y="3564075"/>
                  <a:pt x="0" y="3503147"/>
                </a:cubicBezTo>
                <a:lnTo>
                  <a:pt x="0" y="110319"/>
                </a:lnTo>
                <a:cubicBezTo>
                  <a:pt x="0" y="49392"/>
                  <a:pt x="49392" y="0"/>
                  <a:pt x="11031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5584" y="1645828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184035" y="86199"/>
                </a:moveTo>
                <a:lnTo>
                  <a:pt x="120822" y="86199"/>
                </a:lnTo>
                <a:cubicBezTo>
                  <a:pt x="114465" y="86199"/>
                  <a:pt x="109329" y="81063"/>
                  <a:pt x="109329" y="74706"/>
                </a:cubicBezTo>
                <a:lnTo>
                  <a:pt x="109329" y="11493"/>
                </a:lnTo>
                <a:cubicBezTo>
                  <a:pt x="109329" y="5136"/>
                  <a:pt x="114501" y="-72"/>
                  <a:pt x="120786" y="754"/>
                </a:cubicBezTo>
                <a:cubicBezTo>
                  <a:pt x="159217" y="5854"/>
                  <a:pt x="189674" y="36311"/>
                  <a:pt x="194774" y="74742"/>
                </a:cubicBezTo>
                <a:cubicBezTo>
                  <a:pt x="195600" y="81027"/>
                  <a:pt x="190392" y="86199"/>
                  <a:pt x="184035" y="86199"/>
                </a:cubicBezTo>
                <a:close/>
                <a:moveTo>
                  <a:pt x="79950" y="13361"/>
                </a:moveTo>
                <a:cubicBezTo>
                  <a:pt x="86451" y="11996"/>
                  <a:pt x="92089" y="17312"/>
                  <a:pt x="92089" y="23956"/>
                </a:cubicBezTo>
                <a:lnTo>
                  <a:pt x="92089" y="94819"/>
                </a:lnTo>
                <a:cubicBezTo>
                  <a:pt x="92089" y="96830"/>
                  <a:pt x="92808" y="98770"/>
                  <a:pt x="94065" y="100314"/>
                </a:cubicBezTo>
                <a:lnTo>
                  <a:pt x="141510" y="157565"/>
                </a:lnTo>
                <a:cubicBezTo>
                  <a:pt x="145712" y="162629"/>
                  <a:pt x="144814" y="170279"/>
                  <a:pt x="139032" y="173404"/>
                </a:cubicBezTo>
                <a:cubicBezTo>
                  <a:pt x="126785" y="180084"/>
                  <a:pt x="112741" y="183891"/>
                  <a:pt x="97836" y="183891"/>
                </a:cubicBezTo>
                <a:cubicBezTo>
                  <a:pt x="50247" y="183891"/>
                  <a:pt x="11637" y="145281"/>
                  <a:pt x="11637" y="97692"/>
                </a:cubicBezTo>
                <a:cubicBezTo>
                  <a:pt x="11637" y="56209"/>
                  <a:pt x="40909" y="21586"/>
                  <a:pt x="79950" y="13361"/>
                </a:cubicBezTo>
                <a:close/>
                <a:moveTo>
                  <a:pt x="171608" y="103439"/>
                </a:moveTo>
                <a:lnTo>
                  <a:pt x="194594" y="103439"/>
                </a:lnTo>
                <a:cubicBezTo>
                  <a:pt x="201239" y="103439"/>
                  <a:pt x="206555" y="109078"/>
                  <a:pt x="205190" y="115579"/>
                </a:cubicBezTo>
                <a:cubicBezTo>
                  <a:pt x="201526" y="132962"/>
                  <a:pt x="192619" y="148406"/>
                  <a:pt x="180192" y="160187"/>
                </a:cubicBezTo>
                <a:cubicBezTo>
                  <a:pt x="175774" y="164389"/>
                  <a:pt x="168842" y="163491"/>
                  <a:pt x="164964" y="158786"/>
                </a:cubicBezTo>
                <a:lnTo>
                  <a:pt x="134650" y="122259"/>
                </a:lnTo>
                <a:cubicBezTo>
                  <a:pt x="128437" y="114753"/>
                  <a:pt x="133788" y="103439"/>
                  <a:pt x="143486" y="103439"/>
                </a:cubicBezTo>
                <a:lnTo>
                  <a:pt x="171572" y="10343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753955" y="1609050"/>
            <a:ext cx="4643258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资产配置建议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4090" y="1976833"/>
            <a:ext cx="484553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基于历史回测：类似政策组合下的最优配置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480" y="2271059"/>
            <a:ext cx="4762787" cy="809122"/>
          </a:xfrm>
          <a:custGeom>
            <a:avLst/>
            <a:gdLst/>
            <a:ahLst/>
            <a:cxnLst/>
            <a:rect l="l" t="t" r="r" b="b"/>
            <a:pathLst>
              <a:path w="4762787" h="809122">
                <a:moveTo>
                  <a:pt x="36778" y="0"/>
                </a:moveTo>
                <a:lnTo>
                  <a:pt x="4689230" y="0"/>
                </a:lnTo>
                <a:cubicBezTo>
                  <a:pt x="4729855" y="0"/>
                  <a:pt x="4762787" y="32933"/>
                  <a:pt x="4762787" y="73557"/>
                </a:cubicBezTo>
                <a:lnTo>
                  <a:pt x="4762787" y="735565"/>
                </a:lnTo>
                <a:cubicBezTo>
                  <a:pt x="4762787" y="776189"/>
                  <a:pt x="4729855" y="809122"/>
                  <a:pt x="4689230" y="809122"/>
                </a:cubicBezTo>
                <a:lnTo>
                  <a:pt x="36778" y="809122"/>
                </a:lnTo>
                <a:cubicBezTo>
                  <a:pt x="16466" y="809122"/>
                  <a:pt x="0" y="792656"/>
                  <a:pt x="0" y="772344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gradFill rotWithShape="1" flip="none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542480" y="2271059"/>
            <a:ext cx="36778" cy="809122"/>
          </a:xfrm>
          <a:custGeom>
            <a:avLst/>
            <a:gdLst/>
            <a:ahLst/>
            <a:cxnLst/>
            <a:rect l="l" t="t" r="r" b="b"/>
            <a:pathLst>
              <a:path w="36778" h="809122">
                <a:moveTo>
                  <a:pt x="36778" y="0"/>
                </a:moveTo>
                <a:lnTo>
                  <a:pt x="36778" y="0"/>
                </a:lnTo>
                <a:lnTo>
                  <a:pt x="36778" y="809122"/>
                </a:lnTo>
                <a:lnTo>
                  <a:pt x="36778" y="809122"/>
                </a:lnTo>
                <a:cubicBezTo>
                  <a:pt x="16466" y="809122"/>
                  <a:pt x="0" y="792656"/>
                  <a:pt x="0" y="772344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190" y="2454950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22986" y="22986"/>
                </a:moveTo>
                <a:cubicBezTo>
                  <a:pt x="22986" y="16629"/>
                  <a:pt x="17850" y="11493"/>
                  <a:pt x="11493" y="11493"/>
                </a:cubicBezTo>
                <a:cubicBezTo>
                  <a:pt x="5136" y="11493"/>
                  <a:pt x="0" y="16629"/>
                  <a:pt x="0" y="22986"/>
                </a:cubicBezTo>
                <a:lnTo>
                  <a:pt x="0" y="143665"/>
                </a:lnTo>
                <a:cubicBezTo>
                  <a:pt x="0" y="159540"/>
                  <a:pt x="12858" y="172398"/>
                  <a:pt x="28733" y="172398"/>
                </a:cubicBezTo>
                <a:lnTo>
                  <a:pt x="172398" y="172398"/>
                </a:lnTo>
                <a:cubicBezTo>
                  <a:pt x="178755" y="172398"/>
                  <a:pt x="183891" y="167262"/>
                  <a:pt x="183891" y="160905"/>
                </a:cubicBezTo>
                <a:cubicBezTo>
                  <a:pt x="183891" y="154548"/>
                  <a:pt x="178755" y="149412"/>
                  <a:pt x="172398" y="149412"/>
                </a:cubicBezTo>
                <a:lnTo>
                  <a:pt x="28733" y="149412"/>
                </a:lnTo>
                <a:cubicBezTo>
                  <a:pt x="25572" y="149412"/>
                  <a:pt x="22986" y="146826"/>
                  <a:pt x="22986" y="143665"/>
                </a:cubicBezTo>
                <a:lnTo>
                  <a:pt x="22986" y="22986"/>
                </a:lnTo>
                <a:close/>
                <a:moveTo>
                  <a:pt x="169022" y="54090"/>
                </a:moveTo>
                <a:cubicBezTo>
                  <a:pt x="173512" y="49600"/>
                  <a:pt x="173512" y="42309"/>
                  <a:pt x="169022" y="37820"/>
                </a:cubicBezTo>
                <a:cubicBezTo>
                  <a:pt x="164533" y="33330"/>
                  <a:pt x="157242" y="33330"/>
                  <a:pt x="152752" y="37820"/>
                </a:cubicBezTo>
                <a:lnTo>
                  <a:pt x="114932" y="75676"/>
                </a:lnTo>
                <a:lnTo>
                  <a:pt x="94316" y="55096"/>
                </a:lnTo>
                <a:cubicBezTo>
                  <a:pt x="89827" y="50606"/>
                  <a:pt x="82536" y="50606"/>
                  <a:pt x="78046" y="55096"/>
                </a:cubicBezTo>
                <a:lnTo>
                  <a:pt x="43566" y="89575"/>
                </a:lnTo>
                <a:cubicBezTo>
                  <a:pt x="39077" y="94065"/>
                  <a:pt x="39077" y="101356"/>
                  <a:pt x="43566" y="105845"/>
                </a:cubicBezTo>
                <a:cubicBezTo>
                  <a:pt x="48056" y="110335"/>
                  <a:pt x="55347" y="110335"/>
                  <a:pt x="59837" y="105845"/>
                </a:cubicBezTo>
                <a:lnTo>
                  <a:pt x="86199" y="79483"/>
                </a:lnTo>
                <a:lnTo>
                  <a:pt x="106815" y="100099"/>
                </a:lnTo>
                <a:cubicBezTo>
                  <a:pt x="111305" y="104588"/>
                  <a:pt x="118596" y="104588"/>
                  <a:pt x="123085" y="100099"/>
                </a:cubicBezTo>
                <a:lnTo>
                  <a:pt x="169058" y="54126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1"/>
          <p:cNvSpPr/>
          <p:nvPr/>
        </p:nvSpPr>
        <p:spPr>
          <a:xfrm>
            <a:off x="1011403" y="2418172"/>
            <a:ext cx="459729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股票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51357" y="2381394"/>
            <a:ext cx="1140127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72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60-70%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5683" y="2813538"/>
            <a:ext cx="96543" cy="128724"/>
          </a:xfrm>
          <a:custGeom>
            <a:avLst/>
            <a:gdLst/>
            <a:ahLst/>
            <a:cxnLst/>
            <a:rect l="l" t="t" r="r" b="b"/>
            <a:pathLst>
              <a:path w="96543" h="128724">
                <a:moveTo>
                  <a:pt x="53953" y="4375"/>
                </a:moveTo>
                <a:cubicBezTo>
                  <a:pt x="50811" y="1232"/>
                  <a:pt x="45707" y="1232"/>
                  <a:pt x="42564" y="4375"/>
                </a:cubicBezTo>
                <a:lnTo>
                  <a:pt x="2338" y="44601"/>
                </a:lnTo>
                <a:cubicBezTo>
                  <a:pt x="-805" y="47744"/>
                  <a:pt x="-805" y="52847"/>
                  <a:pt x="2338" y="55990"/>
                </a:cubicBezTo>
                <a:cubicBezTo>
                  <a:pt x="5481" y="59133"/>
                  <a:pt x="10585" y="59133"/>
                  <a:pt x="13727" y="55990"/>
                </a:cubicBezTo>
                <a:lnTo>
                  <a:pt x="40226" y="29491"/>
                </a:lnTo>
                <a:lnTo>
                  <a:pt x="40226" y="122690"/>
                </a:lnTo>
                <a:cubicBezTo>
                  <a:pt x="40226" y="127140"/>
                  <a:pt x="43821" y="130735"/>
                  <a:pt x="48271" y="130735"/>
                </a:cubicBezTo>
                <a:cubicBezTo>
                  <a:pt x="52722" y="130735"/>
                  <a:pt x="56317" y="127140"/>
                  <a:pt x="56317" y="122690"/>
                </a:cubicBezTo>
                <a:lnTo>
                  <a:pt x="56317" y="29491"/>
                </a:lnTo>
                <a:lnTo>
                  <a:pt x="82816" y="55990"/>
                </a:lnTo>
                <a:cubicBezTo>
                  <a:pt x="85958" y="59133"/>
                  <a:pt x="91062" y="59133"/>
                  <a:pt x="94205" y="55990"/>
                </a:cubicBezTo>
                <a:cubicBezTo>
                  <a:pt x="97348" y="52847"/>
                  <a:pt x="97348" y="47744"/>
                  <a:pt x="94205" y="44601"/>
                </a:cubicBezTo>
                <a:lnTo>
                  <a:pt x="53979" y="4375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" name="Text 14"/>
          <p:cNvSpPr/>
          <p:nvPr/>
        </p:nvSpPr>
        <p:spPr>
          <a:xfrm>
            <a:off x="905665" y="2785955"/>
            <a:ext cx="126885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历史年化收益: 8-12%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86368" y="2813538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64362" y="0"/>
                </a:moveTo>
                <a:cubicBezTo>
                  <a:pt x="65518" y="0"/>
                  <a:pt x="66675" y="251"/>
                  <a:pt x="67731" y="729"/>
                </a:cubicBezTo>
                <a:lnTo>
                  <a:pt x="115097" y="20817"/>
                </a:lnTo>
                <a:cubicBezTo>
                  <a:pt x="120628" y="23155"/>
                  <a:pt x="124752" y="28611"/>
                  <a:pt x="124726" y="35198"/>
                </a:cubicBezTo>
                <a:cubicBezTo>
                  <a:pt x="124601" y="60138"/>
                  <a:pt x="114343" y="105770"/>
                  <a:pt x="71024" y="126512"/>
                </a:cubicBezTo>
                <a:cubicBezTo>
                  <a:pt x="66826" y="128523"/>
                  <a:pt x="61948" y="128523"/>
                  <a:pt x="57750" y="126512"/>
                </a:cubicBezTo>
                <a:cubicBezTo>
                  <a:pt x="14406" y="105770"/>
                  <a:pt x="4173" y="60138"/>
                  <a:pt x="4048" y="35198"/>
                </a:cubicBezTo>
                <a:cubicBezTo>
                  <a:pt x="4023" y="28611"/>
                  <a:pt x="8146" y="23155"/>
                  <a:pt x="13677" y="20817"/>
                </a:cubicBezTo>
                <a:lnTo>
                  <a:pt x="61018" y="729"/>
                </a:lnTo>
                <a:cubicBezTo>
                  <a:pt x="62074" y="251"/>
                  <a:pt x="63205" y="0"/>
                  <a:pt x="64362" y="0"/>
                </a:cubicBezTo>
                <a:close/>
                <a:moveTo>
                  <a:pt x="64362" y="16794"/>
                </a:moveTo>
                <a:lnTo>
                  <a:pt x="64362" y="111854"/>
                </a:lnTo>
                <a:cubicBezTo>
                  <a:pt x="99057" y="95060"/>
                  <a:pt x="108385" y="57850"/>
                  <a:pt x="108611" y="35575"/>
                </a:cubicBezTo>
                <a:lnTo>
                  <a:pt x="64362" y="16820"/>
                </a:lnTo>
                <a:lnTo>
                  <a:pt x="64362" y="1682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" name="Text 16"/>
          <p:cNvSpPr/>
          <p:nvPr/>
        </p:nvSpPr>
        <p:spPr>
          <a:xfrm>
            <a:off x="3202440" y="2785955"/>
            <a:ext cx="137918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最大回撤: -15%至-20%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480" y="3153738"/>
            <a:ext cx="4762787" cy="809122"/>
          </a:xfrm>
          <a:custGeom>
            <a:avLst/>
            <a:gdLst/>
            <a:ahLst/>
            <a:cxnLst/>
            <a:rect l="l" t="t" r="r" b="b"/>
            <a:pathLst>
              <a:path w="4762787" h="809122">
                <a:moveTo>
                  <a:pt x="36778" y="0"/>
                </a:moveTo>
                <a:lnTo>
                  <a:pt x="4689230" y="0"/>
                </a:lnTo>
                <a:cubicBezTo>
                  <a:pt x="4729855" y="0"/>
                  <a:pt x="4762787" y="32933"/>
                  <a:pt x="4762787" y="73557"/>
                </a:cubicBezTo>
                <a:lnTo>
                  <a:pt x="4762787" y="735565"/>
                </a:lnTo>
                <a:cubicBezTo>
                  <a:pt x="4762787" y="776189"/>
                  <a:pt x="4729855" y="809122"/>
                  <a:pt x="4689230" y="809122"/>
                </a:cubicBezTo>
                <a:lnTo>
                  <a:pt x="36778" y="809122"/>
                </a:lnTo>
                <a:cubicBezTo>
                  <a:pt x="16466" y="809122"/>
                  <a:pt x="0" y="792656"/>
                  <a:pt x="0" y="772344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2480" y="3153738"/>
            <a:ext cx="36778" cy="809122"/>
          </a:xfrm>
          <a:custGeom>
            <a:avLst/>
            <a:gdLst/>
            <a:ahLst/>
            <a:cxnLst/>
            <a:rect l="l" t="t" r="r" b="b"/>
            <a:pathLst>
              <a:path w="36778" h="809122">
                <a:moveTo>
                  <a:pt x="36778" y="0"/>
                </a:moveTo>
                <a:lnTo>
                  <a:pt x="36778" y="0"/>
                </a:lnTo>
                <a:lnTo>
                  <a:pt x="36778" y="809122"/>
                </a:lnTo>
                <a:lnTo>
                  <a:pt x="36778" y="809122"/>
                </a:lnTo>
                <a:cubicBezTo>
                  <a:pt x="16466" y="809122"/>
                  <a:pt x="0" y="792656"/>
                  <a:pt x="0" y="772344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176" y="3337629"/>
            <a:ext cx="137919" cy="183891"/>
          </a:xfrm>
          <a:custGeom>
            <a:avLst/>
            <a:gdLst/>
            <a:ahLst/>
            <a:cxnLst/>
            <a:rect l="l" t="t" r="r" b="b"/>
            <a:pathLst>
              <a:path w="137919" h="183891">
                <a:moveTo>
                  <a:pt x="0" y="22986"/>
                </a:moveTo>
                <a:cubicBezTo>
                  <a:pt x="0" y="10308"/>
                  <a:pt x="10308" y="0"/>
                  <a:pt x="22986" y="0"/>
                </a:cubicBezTo>
                <a:lnTo>
                  <a:pt x="76681" y="0"/>
                </a:lnTo>
                <a:cubicBezTo>
                  <a:pt x="82787" y="0"/>
                  <a:pt x="88641" y="2406"/>
                  <a:pt x="92951" y="6716"/>
                </a:cubicBezTo>
                <a:lnTo>
                  <a:pt x="131202" y="45003"/>
                </a:lnTo>
                <a:cubicBezTo>
                  <a:pt x="135512" y="49313"/>
                  <a:pt x="137919" y="55167"/>
                  <a:pt x="137919" y="61273"/>
                </a:cubicBezTo>
                <a:lnTo>
                  <a:pt x="137919" y="160905"/>
                </a:lnTo>
                <a:cubicBezTo>
                  <a:pt x="137919" y="173583"/>
                  <a:pt x="127611" y="183891"/>
                  <a:pt x="114932" y="183891"/>
                </a:cubicBezTo>
                <a:lnTo>
                  <a:pt x="22986" y="183891"/>
                </a:lnTo>
                <a:cubicBezTo>
                  <a:pt x="10308" y="183891"/>
                  <a:pt x="0" y="173583"/>
                  <a:pt x="0" y="160905"/>
                </a:cubicBezTo>
                <a:lnTo>
                  <a:pt x="0" y="22986"/>
                </a:lnTo>
                <a:close/>
                <a:moveTo>
                  <a:pt x="74706" y="21011"/>
                </a:moveTo>
                <a:lnTo>
                  <a:pt x="74706" y="54593"/>
                </a:lnTo>
                <a:cubicBezTo>
                  <a:pt x="74706" y="59370"/>
                  <a:pt x="78549" y="63213"/>
                  <a:pt x="83326" y="63213"/>
                </a:cubicBezTo>
                <a:lnTo>
                  <a:pt x="116908" y="63213"/>
                </a:lnTo>
                <a:lnTo>
                  <a:pt x="74706" y="21011"/>
                </a:lnTo>
                <a:close/>
                <a:moveTo>
                  <a:pt x="22986" y="31606"/>
                </a:moveTo>
                <a:cubicBezTo>
                  <a:pt x="22986" y="36383"/>
                  <a:pt x="26829" y="40226"/>
                  <a:pt x="31606" y="40226"/>
                </a:cubicBezTo>
                <a:lnTo>
                  <a:pt x="48846" y="40226"/>
                </a:lnTo>
                <a:cubicBezTo>
                  <a:pt x="53623" y="40226"/>
                  <a:pt x="57466" y="36383"/>
                  <a:pt x="57466" y="31606"/>
                </a:cubicBezTo>
                <a:cubicBezTo>
                  <a:pt x="57466" y="26829"/>
                  <a:pt x="53623" y="22986"/>
                  <a:pt x="48846" y="22986"/>
                </a:cubicBezTo>
                <a:lnTo>
                  <a:pt x="31606" y="22986"/>
                </a:lnTo>
                <a:cubicBezTo>
                  <a:pt x="26829" y="22986"/>
                  <a:pt x="22986" y="26829"/>
                  <a:pt x="22986" y="31606"/>
                </a:cubicBezTo>
                <a:close/>
                <a:moveTo>
                  <a:pt x="22986" y="66086"/>
                </a:moveTo>
                <a:cubicBezTo>
                  <a:pt x="22986" y="70863"/>
                  <a:pt x="26829" y="74706"/>
                  <a:pt x="31606" y="74706"/>
                </a:cubicBezTo>
                <a:lnTo>
                  <a:pt x="48846" y="74706"/>
                </a:lnTo>
                <a:cubicBezTo>
                  <a:pt x="53623" y="74706"/>
                  <a:pt x="57466" y="70863"/>
                  <a:pt x="57466" y="66086"/>
                </a:cubicBezTo>
                <a:cubicBezTo>
                  <a:pt x="57466" y="61309"/>
                  <a:pt x="53623" y="57466"/>
                  <a:pt x="48846" y="57466"/>
                </a:cubicBezTo>
                <a:lnTo>
                  <a:pt x="31606" y="57466"/>
                </a:lnTo>
                <a:cubicBezTo>
                  <a:pt x="26829" y="57466"/>
                  <a:pt x="22986" y="61309"/>
                  <a:pt x="22986" y="66086"/>
                </a:cubicBezTo>
                <a:close/>
                <a:moveTo>
                  <a:pt x="63213" y="93382"/>
                </a:moveTo>
                <a:lnTo>
                  <a:pt x="63213" y="94819"/>
                </a:lnTo>
                <a:cubicBezTo>
                  <a:pt x="52869" y="94927"/>
                  <a:pt x="44536" y="103331"/>
                  <a:pt x="44536" y="113675"/>
                </a:cubicBezTo>
                <a:cubicBezTo>
                  <a:pt x="44536" y="122906"/>
                  <a:pt x="51181" y="130771"/>
                  <a:pt x="60303" y="132280"/>
                </a:cubicBezTo>
                <a:lnTo>
                  <a:pt x="75281" y="134794"/>
                </a:lnTo>
                <a:cubicBezTo>
                  <a:pt x="77436" y="135153"/>
                  <a:pt x="79016" y="137021"/>
                  <a:pt x="79016" y="139212"/>
                </a:cubicBezTo>
                <a:cubicBezTo>
                  <a:pt x="79016" y="141690"/>
                  <a:pt x="77005" y="143701"/>
                  <a:pt x="74526" y="143701"/>
                </a:cubicBezTo>
                <a:lnTo>
                  <a:pt x="54593" y="143665"/>
                </a:lnTo>
                <a:cubicBezTo>
                  <a:pt x="50642" y="143665"/>
                  <a:pt x="47410" y="146898"/>
                  <a:pt x="47410" y="150848"/>
                </a:cubicBezTo>
                <a:cubicBezTo>
                  <a:pt x="47410" y="154799"/>
                  <a:pt x="50642" y="158032"/>
                  <a:pt x="54593" y="158032"/>
                </a:cubicBezTo>
                <a:lnTo>
                  <a:pt x="63213" y="158032"/>
                </a:lnTo>
                <a:lnTo>
                  <a:pt x="63213" y="159468"/>
                </a:lnTo>
                <a:cubicBezTo>
                  <a:pt x="63213" y="163419"/>
                  <a:pt x="66445" y="166652"/>
                  <a:pt x="70396" y="166652"/>
                </a:cubicBezTo>
                <a:cubicBezTo>
                  <a:pt x="74347" y="166652"/>
                  <a:pt x="77579" y="163419"/>
                  <a:pt x="77579" y="159468"/>
                </a:cubicBezTo>
                <a:lnTo>
                  <a:pt x="77579" y="157780"/>
                </a:lnTo>
                <a:cubicBezTo>
                  <a:pt x="86558" y="156308"/>
                  <a:pt x="93382" y="148550"/>
                  <a:pt x="93382" y="139176"/>
                </a:cubicBezTo>
                <a:cubicBezTo>
                  <a:pt x="93382" y="129945"/>
                  <a:pt x="86738" y="122079"/>
                  <a:pt x="77615" y="120571"/>
                </a:cubicBezTo>
                <a:lnTo>
                  <a:pt x="62638" y="118057"/>
                </a:lnTo>
                <a:cubicBezTo>
                  <a:pt x="60483" y="117698"/>
                  <a:pt x="58903" y="115830"/>
                  <a:pt x="58903" y="113639"/>
                </a:cubicBezTo>
                <a:cubicBezTo>
                  <a:pt x="58903" y="111161"/>
                  <a:pt x="60914" y="109150"/>
                  <a:pt x="63392" y="109150"/>
                </a:cubicBezTo>
                <a:lnTo>
                  <a:pt x="80452" y="109150"/>
                </a:lnTo>
                <a:cubicBezTo>
                  <a:pt x="84403" y="109150"/>
                  <a:pt x="87636" y="105917"/>
                  <a:pt x="87636" y="101966"/>
                </a:cubicBezTo>
                <a:cubicBezTo>
                  <a:pt x="87636" y="98016"/>
                  <a:pt x="84403" y="94783"/>
                  <a:pt x="80452" y="94783"/>
                </a:cubicBezTo>
                <a:lnTo>
                  <a:pt x="77579" y="94783"/>
                </a:lnTo>
                <a:lnTo>
                  <a:pt x="77579" y="93346"/>
                </a:lnTo>
                <a:cubicBezTo>
                  <a:pt x="77579" y="89396"/>
                  <a:pt x="74347" y="86163"/>
                  <a:pt x="70396" y="86163"/>
                </a:cubicBezTo>
                <a:cubicBezTo>
                  <a:pt x="66445" y="86163"/>
                  <a:pt x="63213" y="89396"/>
                  <a:pt x="63213" y="93346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1011403" y="3300851"/>
            <a:ext cx="459729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债券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51357" y="3264072"/>
            <a:ext cx="1140127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72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20-30%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5683" y="3696217"/>
            <a:ext cx="96543" cy="128724"/>
          </a:xfrm>
          <a:custGeom>
            <a:avLst/>
            <a:gdLst/>
            <a:ahLst/>
            <a:cxnLst/>
            <a:rect l="l" t="t" r="r" b="b"/>
            <a:pathLst>
              <a:path w="96543" h="128724">
                <a:moveTo>
                  <a:pt x="53953" y="4375"/>
                </a:moveTo>
                <a:cubicBezTo>
                  <a:pt x="50811" y="1232"/>
                  <a:pt x="45707" y="1232"/>
                  <a:pt x="42564" y="4375"/>
                </a:cubicBezTo>
                <a:lnTo>
                  <a:pt x="2338" y="44601"/>
                </a:lnTo>
                <a:cubicBezTo>
                  <a:pt x="-805" y="47744"/>
                  <a:pt x="-805" y="52847"/>
                  <a:pt x="2338" y="55990"/>
                </a:cubicBezTo>
                <a:cubicBezTo>
                  <a:pt x="5481" y="59133"/>
                  <a:pt x="10585" y="59133"/>
                  <a:pt x="13727" y="55990"/>
                </a:cubicBezTo>
                <a:lnTo>
                  <a:pt x="40226" y="29491"/>
                </a:lnTo>
                <a:lnTo>
                  <a:pt x="40226" y="122690"/>
                </a:lnTo>
                <a:cubicBezTo>
                  <a:pt x="40226" y="127140"/>
                  <a:pt x="43821" y="130735"/>
                  <a:pt x="48271" y="130735"/>
                </a:cubicBezTo>
                <a:cubicBezTo>
                  <a:pt x="52722" y="130735"/>
                  <a:pt x="56317" y="127140"/>
                  <a:pt x="56317" y="122690"/>
                </a:cubicBezTo>
                <a:lnTo>
                  <a:pt x="56317" y="29491"/>
                </a:lnTo>
                <a:lnTo>
                  <a:pt x="82816" y="55990"/>
                </a:lnTo>
                <a:cubicBezTo>
                  <a:pt x="85958" y="59133"/>
                  <a:pt x="91062" y="59133"/>
                  <a:pt x="94205" y="55990"/>
                </a:cubicBezTo>
                <a:cubicBezTo>
                  <a:pt x="97348" y="52847"/>
                  <a:pt x="97348" y="47744"/>
                  <a:pt x="94205" y="44601"/>
                </a:cubicBezTo>
                <a:lnTo>
                  <a:pt x="53979" y="437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905665" y="3668633"/>
            <a:ext cx="122287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历史年化收益: 3-5%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986368" y="3696217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64362" y="0"/>
                </a:moveTo>
                <a:cubicBezTo>
                  <a:pt x="65518" y="0"/>
                  <a:pt x="66675" y="251"/>
                  <a:pt x="67731" y="729"/>
                </a:cubicBezTo>
                <a:lnTo>
                  <a:pt x="115097" y="20817"/>
                </a:lnTo>
                <a:cubicBezTo>
                  <a:pt x="120628" y="23155"/>
                  <a:pt x="124752" y="28611"/>
                  <a:pt x="124726" y="35198"/>
                </a:cubicBezTo>
                <a:cubicBezTo>
                  <a:pt x="124601" y="60138"/>
                  <a:pt x="114343" y="105770"/>
                  <a:pt x="71024" y="126512"/>
                </a:cubicBezTo>
                <a:cubicBezTo>
                  <a:pt x="66826" y="128523"/>
                  <a:pt x="61948" y="128523"/>
                  <a:pt x="57750" y="126512"/>
                </a:cubicBezTo>
                <a:cubicBezTo>
                  <a:pt x="14406" y="105770"/>
                  <a:pt x="4173" y="60138"/>
                  <a:pt x="4048" y="35198"/>
                </a:cubicBezTo>
                <a:cubicBezTo>
                  <a:pt x="4023" y="28611"/>
                  <a:pt x="8146" y="23155"/>
                  <a:pt x="13677" y="20817"/>
                </a:cubicBezTo>
                <a:lnTo>
                  <a:pt x="61018" y="729"/>
                </a:lnTo>
                <a:cubicBezTo>
                  <a:pt x="62074" y="251"/>
                  <a:pt x="63205" y="0"/>
                  <a:pt x="64362" y="0"/>
                </a:cubicBezTo>
                <a:close/>
                <a:moveTo>
                  <a:pt x="64362" y="16794"/>
                </a:moveTo>
                <a:lnTo>
                  <a:pt x="64362" y="111854"/>
                </a:lnTo>
                <a:cubicBezTo>
                  <a:pt x="99057" y="95060"/>
                  <a:pt x="108385" y="57850"/>
                  <a:pt x="108611" y="35575"/>
                </a:cubicBezTo>
                <a:lnTo>
                  <a:pt x="64362" y="16820"/>
                </a:lnTo>
                <a:lnTo>
                  <a:pt x="64362" y="1682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3202440" y="3668633"/>
            <a:ext cx="131482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最大回撤: -5%至-10%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2480" y="4036416"/>
            <a:ext cx="2317032" cy="882679"/>
          </a:xfrm>
          <a:custGeom>
            <a:avLst/>
            <a:gdLst/>
            <a:ahLst/>
            <a:cxnLst/>
            <a:rect l="l" t="t" r="r" b="b"/>
            <a:pathLst>
              <a:path w="2317032" h="882679">
                <a:moveTo>
                  <a:pt x="36778" y="0"/>
                </a:moveTo>
                <a:lnTo>
                  <a:pt x="2243478" y="0"/>
                </a:lnTo>
                <a:cubicBezTo>
                  <a:pt x="2284101" y="0"/>
                  <a:pt x="2317032" y="32931"/>
                  <a:pt x="2317032" y="73554"/>
                </a:cubicBezTo>
                <a:lnTo>
                  <a:pt x="2317032" y="809125"/>
                </a:lnTo>
                <a:cubicBezTo>
                  <a:pt x="2317032" y="849748"/>
                  <a:pt x="2284101" y="882679"/>
                  <a:pt x="2243478" y="882679"/>
                </a:cubicBezTo>
                <a:lnTo>
                  <a:pt x="36778" y="882679"/>
                </a:lnTo>
                <a:cubicBezTo>
                  <a:pt x="16466" y="882679"/>
                  <a:pt x="0" y="866213"/>
                  <a:pt x="0" y="845900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42480" y="4036416"/>
            <a:ext cx="36778" cy="882679"/>
          </a:xfrm>
          <a:custGeom>
            <a:avLst/>
            <a:gdLst/>
            <a:ahLst/>
            <a:cxnLst/>
            <a:rect l="l" t="t" r="r" b="b"/>
            <a:pathLst>
              <a:path w="36778" h="882679">
                <a:moveTo>
                  <a:pt x="36778" y="0"/>
                </a:moveTo>
                <a:lnTo>
                  <a:pt x="36778" y="0"/>
                </a:lnTo>
                <a:lnTo>
                  <a:pt x="36778" y="882679"/>
                </a:lnTo>
                <a:lnTo>
                  <a:pt x="36778" y="882679"/>
                </a:lnTo>
                <a:cubicBezTo>
                  <a:pt x="16466" y="882679"/>
                  <a:pt x="0" y="866213"/>
                  <a:pt x="0" y="845900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190" y="4211113"/>
            <a:ext cx="165502" cy="165502"/>
          </a:xfrm>
          <a:custGeom>
            <a:avLst/>
            <a:gdLst/>
            <a:ahLst/>
            <a:cxnLst/>
            <a:rect l="l" t="t" r="r" b="b"/>
            <a:pathLst>
              <a:path w="165502" h="165502">
                <a:moveTo>
                  <a:pt x="72407" y="0"/>
                </a:moveTo>
                <a:lnTo>
                  <a:pt x="72407" y="20688"/>
                </a:lnTo>
                <a:cubicBezTo>
                  <a:pt x="72407" y="23532"/>
                  <a:pt x="74735" y="25860"/>
                  <a:pt x="77579" y="25860"/>
                </a:cubicBezTo>
                <a:lnTo>
                  <a:pt x="87923" y="25860"/>
                </a:lnTo>
                <a:cubicBezTo>
                  <a:pt x="90768" y="25860"/>
                  <a:pt x="93095" y="23532"/>
                  <a:pt x="93095" y="20688"/>
                </a:cubicBezTo>
                <a:lnTo>
                  <a:pt x="93095" y="0"/>
                </a:lnTo>
                <a:lnTo>
                  <a:pt x="103439" y="0"/>
                </a:lnTo>
                <a:cubicBezTo>
                  <a:pt x="114850" y="0"/>
                  <a:pt x="124127" y="9277"/>
                  <a:pt x="124127" y="20688"/>
                </a:cubicBezTo>
                <a:lnTo>
                  <a:pt x="124127" y="62063"/>
                </a:lnTo>
                <a:cubicBezTo>
                  <a:pt x="124127" y="63841"/>
                  <a:pt x="123900" y="65587"/>
                  <a:pt x="123480" y="67235"/>
                </a:cubicBezTo>
                <a:lnTo>
                  <a:pt x="42022" y="67235"/>
                </a:lnTo>
                <a:cubicBezTo>
                  <a:pt x="41602" y="65587"/>
                  <a:pt x="41376" y="63841"/>
                  <a:pt x="41376" y="62063"/>
                </a:cubicBezTo>
                <a:lnTo>
                  <a:pt x="41376" y="20688"/>
                </a:lnTo>
                <a:cubicBezTo>
                  <a:pt x="41376" y="9277"/>
                  <a:pt x="50653" y="0"/>
                  <a:pt x="62063" y="0"/>
                </a:cubicBezTo>
                <a:lnTo>
                  <a:pt x="72407" y="0"/>
                </a:lnTo>
                <a:close/>
                <a:moveTo>
                  <a:pt x="103439" y="165502"/>
                </a:moveTo>
                <a:cubicBezTo>
                  <a:pt x="99819" y="165502"/>
                  <a:pt x="96392" y="164565"/>
                  <a:pt x="93418" y="162916"/>
                </a:cubicBezTo>
                <a:cubicBezTo>
                  <a:pt x="96489" y="157583"/>
                  <a:pt x="98267" y="151409"/>
                  <a:pt x="98267" y="144814"/>
                </a:cubicBezTo>
                <a:lnTo>
                  <a:pt x="98267" y="103439"/>
                </a:lnTo>
                <a:cubicBezTo>
                  <a:pt x="98267" y="96845"/>
                  <a:pt x="96489" y="90671"/>
                  <a:pt x="93418" y="85337"/>
                </a:cubicBezTo>
                <a:cubicBezTo>
                  <a:pt x="96392" y="83689"/>
                  <a:pt x="99786" y="82751"/>
                  <a:pt x="103439" y="82751"/>
                </a:cubicBezTo>
                <a:lnTo>
                  <a:pt x="113783" y="82751"/>
                </a:lnTo>
                <a:lnTo>
                  <a:pt x="113783" y="103439"/>
                </a:lnTo>
                <a:cubicBezTo>
                  <a:pt x="113783" y="106283"/>
                  <a:pt x="116110" y="108611"/>
                  <a:pt x="118955" y="108611"/>
                </a:cubicBezTo>
                <a:lnTo>
                  <a:pt x="129299" y="108611"/>
                </a:lnTo>
                <a:cubicBezTo>
                  <a:pt x="132143" y="108611"/>
                  <a:pt x="134471" y="106283"/>
                  <a:pt x="134471" y="103439"/>
                </a:cubicBezTo>
                <a:lnTo>
                  <a:pt x="134471" y="82751"/>
                </a:lnTo>
                <a:lnTo>
                  <a:pt x="144814" y="82751"/>
                </a:lnTo>
                <a:cubicBezTo>
                  <a:pt x="156225" y="82751"/>
                  <a:pt x="165502" y="92028"/>
                  <a:pt x="165502" y="103439"/>
                </a:cubicBezTo>
                <a:lnTo>
                  <a:pt x="165502" y="144814"/>
                </a:lnTo>
                <a:cubicBezTo>
                  <a:pt x="165502" y="156225"/>
                  <a:pt x="156225" y="165502"/>
                  <a:pt x="144814" y="165502"/>
                </a:cubicBezTo>
                <a:lnTo>
                  <a:pt x="103439" y="165502"/>
                </a:lnTo>
                <a:close/>
                <a:moveTo>
                  <a:pt x="0" y="103439"/>
                </a:moveTo>
                <a:cubicBezTo>
                  <a:pt x="0" y="92028"/>
                  <a:pt x="9277" y="82751"/>
                  <a:pt x="20688" y="82751"/>
                </a:cubicBezTo>
                <a:lnTo>
                  <a:pt x="31032" y="82751"/>
                </a:lnTo>
                <a:lnTo>
                  <a:pt x="31032" y="103439"/>
                </a:lnTo>
                <a:cubicBezTo>
                  <a:pt x="31032" y="106283"/>
                  <a:pt x="33359" y="108611"/>
                  <a:pt x="36204" y="108611"/>
                </a:cubicBezTo>
                <a:lnTo>
                  <a:pt x="46548" y="108611"/>
                </a:lnTo>
                <a:cubicBezTo>
                  <a:pt x="49392" y="108611"/>
                  <a:pt x="51719" y="106283"/>
                  <a:pt x="51719" y="103439"/>
                </a:cubicBezTo>
                <a:lnTo>
                  <a:pt x="51719" y="82751"/>
                </a:lnTo>
                <a:lnTo>
                  <a:pt x="62063" y="82751"/>
                </a:lnTo>
                <a:cubicBezTo>
                  <a:pt x="73474" y="82751"/>
                  <a:pt x="82751" y="92028"/>
                  <a:pt x="82751" y="103439"/>
                </a:cubicBezTo>
                <a:lnTo>
                  <a:pt x="82751" y="144814"/>
                </a:lnTo>
                <a:cubicBezTo>
                  <a:pt x="82751" y="156225"/>
                  <a:pt x="73474" y="165502"/>
                  <a:pt x="62063" y="165502"/>
                </a:cubicBezTo>
                <a:lnTo>
                  <a:pt x="20688" y="165502"/>
                </a:lnTo>
                <a:cubicBezTo>
                  <a:pt x="9277" y="165502"/>
                  <a:pt x="0" y="156225"/>
                  <a:pt x="0" y="144814"/>
                </a:cubicBezTo>
                <a:lnTo>
                  <a:pt x="0" y="103439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951638" y="4165140"/>
            <a:ext cx="413756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商品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075962" y="4146751"/>
            <a:ext cx="781538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5-10%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1204" y="4514534"/>
            <a:ext cx="2133140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收益: 5-8%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1204" y="4661647"/>
            <a:ext cx="2133140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回撤: -20%至-30%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986368" y="4036416"/>
            <a:ext cx="2317032" cy="882679"/>
          </a:xfrm>
          <a:custGeom>
            <a:avLst/>
            <a:gdLst/>
            <a:ahLst/>
            <a:cxnLst/>
            <a:rect l="l" t="t" r="r" b="b"/>
            <a:pathLst>
              <a:path w="2317032" h="882679">
                <a:moveTo>
                  <a:pt x="36778" y="0"/>
                </a:moveTo>
                <a:lnTo>
                  <a:pt x="2243478" y="0"/>
                </a:lnTo>
                <a:cubicBezTo>
                  <a:pt x="2284101" y="0"/>
                  <a:pt x="2317032" y="32931"/>
                  <a:pt x="2317032" y="73554"/>
                </a:cubicBezTo>
                <a:lnTo>
                  <a:pt x="2317032" y="809125"/>
                </a:lnTo>
                <a:cubicBezTo>
                  <a:pt x="2317032" y="849748"/>
                  <a:pt x="2284101" y="882679"/>
                  <a:pt x="2243478" y="882679"/>
                </a:cubicBezTo>
                <a:lnTo>
                  <a:pt x="36778" y="882679"/>
                </a:lnTo>
                <a:cubicBezTo>
                  <a:pt x="16466" y="882679"/>
                  <a:pt x="0" y="866213"/>
                  <a:pt x="0" y="845900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986368" y="4036416"/>
            <a:ext cx="36778" cy="882679"/>
          </a:xfrm>
          <a:custGeom>
            <a:avLst/>
            <a:gdLst/>
            <a:ahLst/>
            <a:cxnLst/>
            <a:rect l="l" t="t" r="r" b="b"/>
            <a:pathLst>
              <a:path w="36778" h="882679">
                <a:moveTo>
                  <a:pt x="36778" y="0"/>
                </a:moveTo>
                <a:lnTo>
                  <a:pt x="36778" y="0"/>
                </a:lnTo>
                <a:lnTo>
                  <a:pt x="36778" y="882679"/>
                </a:lnTo>
                <a:lnTo>
                  <a:pt x="36778" y="882679"/>
                </a:lnTo>
                <a:cubicBezTo>
                  <a:pt x="16466" y="882679"/>
                  <a:pt x="0" y="866213"/>
                  <a:pt x="0" y="845900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7" name="Shape 35"/>
          <p:cNvSpPr/>
          <p:nvPr/>
        </p:nvSpPr>
        <p:spPr>
          <a:xfrm>
            <a:off x="3138078" y="4211113"/>
            <a:ext cx="165502" cy="165502"/>
          </a:xfrm>
          <a:custGeom>
            <a:avLst/>
            <a:gdLst/>
            <a:ahLst/>
            <a:cxnLst/>
            <a:rect l="l" t="t" r="r" b="b"/>
            <a:pathLst>
              <a:path w="165502" h="165502">
                <a:moveTo>
                  <a:pt x="0" y="135634"/>
                </a:moveTo>
                <a:lnTo>
                  <a:pt x="0" y="35396"/>
                </a:lnTo>
                <a:cubicBezTo>
                  <a:pt x="0" y="27896"/>
                  <a:pt x="7790" y="22918"/>
                  <a:pt x="14966" y="25052"/>
                </a:cubicBezTo>
                <a:cubicBezTo>
                  <a:pt x="43315" y="33521"/>
                  <a:pt x="63356" y="26829"/>
                  <a:pt x="83527" y="20106"/>
                </a:cubicBezTo>
                <a:cubicBezTo>
                  <a:pt x="104376" y="13156"/>
                  <a:pt x="125355" y="6174"/>
                  <a:pt x="155708" y="15871"/>
                </a:cubicBezTo>
                <a:cubicBezTo>
                  <a:pt x="161688" y="17779"/>
                  <a:pt x="165502" y="23565"/>
                  <a:pt x="165502" y="29868"/>
                </a:cubicBezTo>
                <a:lnTo>
                  <a:pt x="165502" y="130107"/>
                </a:lnTo>
                <a:cubicBezTo>
                  <a:pt x="165502" y="137606"/>
                  <a:pt x="157712" y="142584"/>
                  <a:pt x="150568" y="140451"/>
                </a:cubicBezTo>
                <a:cubicBezTo>
                  <a:pt x="122220" y="131982"/>
                  <a:pt x="102146" y="138673"/>
                  <a:pt x="82008" y="145396"/>
                </a:cubicBezTo>
                <a:cubicBezTo>
                  <a:pt x="61158" y="152346"/>
                  <a:pt x="40180" y="159328"/>
                  <a:pt x="9827" y="149631"/>
                </a:cubicBezTo>
                <a:cubicBezTo>
                  <a:pt x="3847" y="147724"/>
                  <a:pt x="32" y="141938"/>
                  <a:pt x="32" y="135634"/>
                </a:cubicBezTo>
                <a:close/>
                <a:moveTo>
                  <a:pt x="108611" y="82751"/>
                </a:moveTo>
                <a:cubicBezTo>
                  <a:pt x="108611" y="65619"/>
                  <a:pt x="97039" y="51719"/>
                  <a:pt x="82751" y="51719"/>
                </a:cubicBezTo>
                <a:cubicBezTo>
                  <a:pt x="68464" y="51719"/>
                  <a:pt x="56891" y="65619"/>
                  <a:pt x="56891" y="82751"/>
                </a:cubicBezTo>
                <a:cubicBezTo>
                  <a:pt x="56891" y="99883"/>
                  <a:pt x="68464" y="113783"/>
                  <a:pt x="82751" y="113783"/>
                </a:cubicBezTo>
                <a:cubicBezTo>
                  <a:pt x="97039" y="113783"/>
                  <a:pt x="108611" y="99883"/>
                  <a:pt x="108611" y="82751"/>
                </a:cubicBezTo>
                <a:close/>
                <a:moveTo>
                  <a:pt x="38790" y="133695"/>
                </a:moveTo>
                <a:cubicBezTo>
                  <a:pt x="40212" y="133695"/>
                  <a:pt x="41343" y="132466"/>
                  <a:pt x="41117" y="131076"/>
                </a:cubicBezTo>
                <a:cubicBezTo>
                  <a:pt x="39630" y="122090"/>
                  <a:pt x="32389" y="115076"/>
                  <a:pt x="23274" y="113944"/>
                </a:cubicBezTo>
                <a:cubicBezTo>
                  <a:pt x="21851" y="113783"/>
                  <a:pt x="20688" y="114946"/>
                  <a:pt x="20688" y="116369"/>
                </a:cubicBezTo>
                <a:lnTo>
                  <a:pt x="20688" y="129266"/>
                </a:lnTo>
                <a:cubicBezTo>
                  <a:pt x="20688" y="130430"/>
                  <a:pt x="21464" y="131464"/>
                  <a:pt x="22627" y="131755"/>
                </a:cubicBezTo>
                <a:cubicBezTo>
                  <a:pt x="28413" y="133113"/>
                  <a:pt x="33715" y="133727"/>
                  <a:pt x="38790" y="133727"/>
                </a:cubicBezTo>
                <a:close/>
                <a:moveTo>
                  <a:pt x="141744" y="117177"/>
                </a:moveTo>
                <a:cubicBezTo>
                  <a:pt x="143360" y="117435"/>
                  <a:pt x="144814" y="116207"/>
                  <a:pt x="144814" y="114591"/>
                </a:cubicBezTo>
                <a:lnTo>
                  <a:pt x="144814" y="100821"/>
                </a:lnTo>
                <a:cubicBezTo>
                  <a:pt x="144814" y="99398"/>
                  <a:pt x="143651" y="98202"/>
                  <a:pt x="142229" y="98396"/>
                </a:cubicBezTo>
                <a:cubicBezTo>
                  <a:pt x="134083" y="99398"/>
                  <a:pt x="127391" y="105152"/>
                  <a:pt x="125032" y="112813"/>
                </a:cubicBezTo>
                <a:cubicBezTo>
                  <a:pt x="124579" y="114332"/>
                  <a:pt x="125775" y="115755"/>
                  <a:pt x="127359" y="115787"/>
                </a:cubicBezTo>
                <a:cubicBezTo>
                  <a:pt x="131949" y="115916"/>
                  <a:pt x="136733" y="116336"/>
                  <a:pt x="141711" y="117177"/>
                </a:cubicBezTo>
                <a:close/>
                <a:moveTo>
                  <a:pt x="144814" y="49133"/>
                </a:moveTo>
                <a:lnTo>
                  <a:pt x="144814" y="36236"/>
                </a:lnTo>
                <a:cubicBezTo>
                  <a:pt x="144814" y="35072"/>
                  <a:pt x="144006" y="34038"/>
                  <a:pt x="142875" y="33747"/>
                </a:cubicBezTo>
                <a:cubicBezTo>
                  <a:pt x="137089" y="32389"/>
                  <a:pt x="131788" y="31775"/>
                  <a:pt x="126713" y="31775"/>
                </a:cubicBezTo>
                <a:cubicBezTo>
                  <a:pt x="125290" y="31775"/>
                  <a:pt x="124159" y="33003"/>
                  <a:pt x="124385" y="34393"/>
                </a:cubicBezTo>
                <a:cubicBezTo>
                  <a:pt x="125872" y="43380"/>
                  <a:pt x="133113" y="50394"/>
                  <a:pt x="142229" y="51526"/>
                </a:cubicBezTo>
                <a:cubicBezTo>
                  <a:pt x="143651" y="51687"/>
                  <a:pt x="144814" y="50523"/>
                  <a:pt x="144814" y="49101"/>
                </a:cubicBezTo>
                <a:close/>
                <a:moveTo>
                  <a:pt x="40470" y="52657"/>
                </a:moveTo>
                <a:cubicBezTo>
                  <a:pt x="40923" y="51138"/>
                  <a:pt x="39727" y="49715"/>
                  <a:pt x="38143" y="49683"/>
                </a:cubicBezTo>
                <a:cubicBezTo>
                  <a:pt x="33553" y="49554"/>
                  <a:pt x="28769" y="49133"/>
                  <a:pt x="23791" y="48293"/>
                </a:cubicBezTo>
                <a:cubicBezTo>
                  <a:pt x="22175" y="48034"/>
                  <a:pt x="20720" y="49263"/>
                  <a:pt x="20720" y="50879"/>
                </a:cubicBezTo>
                <a:lnTo>
                  <a:pt x="20688" y="64649"/>
                </a:lnTo>
                <a:cubicBezTo>
                  <a:pt x="20688" y="66072"/>
                  <a:pt x="21851" y="67268"/>
                  <a:pt x="23274" y="67074"/>
                </a:cubicBezTo>
                <a:cubicBezTo>
                  <a:pt x="31420" y="66072"/>
                  <a:pt x="38111" y="60318"/>
                  <a:pt x="40470" y="52657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Text 36"/>
          <p:cNvSpPr/>
          <p:nvPr/>
        </p:nvSpPr>
        <p:spPr>
          <a:xfrm>
            <a:off x="3395526" y="4165140"/>
            <a:ext cx="413756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现金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50010" y="4146751"/>
            <a:ext cx="652814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0-5%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115092" y="4514534"/>
            <a:ext cx="2133140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收益: 2-3%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115092" y="4661647"/>
            <a:ext cx="2133140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回撤: 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09550" y="1457339"/>
            <a:ext cx="6215529" cy="4569701"/>
          </a:xfrm>
          <a:custGeom>
            <a:avLst/>
            <a:gdLst/>
            <a:ahLst/>
            <a:cxnLst/>
            <a:rect l="l" t="t" r="r" b="b"/>
            <a:pathLst>
              <a:path w="6215529" h="4569701">
                <a:moveTo>
                  <a:pt x="110313" y="0"/>
                </a:moveTo>
                <a:lnTo>
                  <a:pt x="6105217" y="0"/>
                </a:lnTo>
                <a:cubicBezTo>
                  <a:pt x="6166141" y="0"/>
                  <a:pt x="6215529" y="49389"/>
                  <a:pt x="6215529" y="110313"/>
                </a:cubicBezTo>
                <a:lnTo>
                  <a:pt x="6215529" y="4459389"/>
                </a:lnTo>
                <a:cubicBezTo>
                  <a:pt x="6215529" y="4520272"/>
                  <a:pt x="6166100" y="4569701"/>
                  <a:pt x="6105217" y="4569701"/>
                </a:cubicBezTo>
                <a:lnTo>
                  <a:pt x="110313" y="4569701"/>
                </a:lnTo>
                <a:cubicBezTo>
                  <a:pt x="49389" y="4569701"/>
                  <a:pt x="0" y="4520313"/>
                  <a:pt x="0" y="4459389"/>
                </a:cubicBezTo>
                <a:lnTo>
                  <a:pt x="0" y="110313"/>
                </a:lnTo>
                <a:cubicBezTo>
                  <a:pt x="0" y="49389"/>
                  <a:pt x="49389" y="0"/>
                  <a:pt x="11031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72753" y="1645828"/>
            <a:ext cx="206878" cy="183891"/>
          </a:xfrm>
          <a:custGeom>
            <a:avLst/>
            <a:gdLst/>
            <a:ahLst/>
            <a:cxnLst/>
            <a:rect l="l" t="t" r="r" b="b"/>
            <a:pathLst>
              <a:path w="206878" h="183891">
                <a:moveTo>
                  <a:pt x="54090" y="14869"/>
                </a:moveTo>
                <a:cubicBezTo>
                  <a:pt x="49600" y="10380"/>
                  <a:pt x="42309" y="10380"/>
                  <a:pt x="37820" y="14869"/>
                </a:cubicBezTo>
                <a:lnTo>
                  <a:pt x="3340" y="49349"/>
                </a:lnTo>
                <a:cubicBezTo>
                  <a:pt x="-1149" y="53839"/>
                  <a:pt x="-1149" y="61130"/>
                  <a:pt x="3340" y="65619"/>
                </a:cubicBezTo>
                <a:cubicBezTo>
                  <a:pt x="7830" y="70109"/>
                  <a:pt x="15121" y="70109"/>
                  <a:pt x="19610" y="65619"/>
                </a:cubicBezTo>
                <a:lnTo>
                  <a:pt x="34480" y="50750"/>
                </a:lnTo>
                <a:lnTo>
                  <a:pt x="34480" y="160905"/>
                </a:lnTo>
                <a:cubicBezTo>
                  <a:pt x="34480" y="167262"/>
                  <a:pt x="39616" y="172398"/>
                  <a:pt x="45973" y="172398"/>
                </a:cubicBezTo>
                <a:cubicBezTo>
                  <a:pt x="52330" y="172398"/>
                  <a:pt x="57466" y="167262"/>
                  <a:pt x="57466" y="160905"/>
                </a:cubicBezTo>
                <a:lnTo>
                  <a:pt x="57466" y="50750"/>
                </a:lnTo>
                <a:lnTo>
                  <a:pt x="72335" y="65619"/>
                </a:lnTo>
                <a:cubicBezTo>
                  <a:pt x="76825" y="70109"/>
                  <a:pt x="84116" y="70109"/>
                  <a:pt x="88605" y="65619"/>
                </a:cubicBezTo>
                <a:cubicBezTo>
                  <a:pt x="93095" y="61130"/>
                  <a:pt x="93095" y="53839"/>
                  <a:pt x="88605" y="49349"/>
                </a:cubicBezTo>
                <a:lnTo>
                  <a:pt x="54126" y="14869"/>
                </a:lnTo>
                <a:close/>
                <a:moveTo>
                  <a:pt x="114932" y="172398"/>
                </a:moveTo>
                <a:lnTo>
                  <a:pt x="126425" y="172398"/>
                </a:lnTo>
                <a:cubicBezTo>
                  <a:pt x="132783" y="172398"/>
                  <a:pt x="137919" y="167262"/>
                  <a:pt x="137919" y="160905"/>
                </a:cubicBezTo>
                <a:cubicBezTo>
                  <a:pt x="137919" y="154548"/>
                  <a:pt x="132783" y="149412"/>
                  <a:pt x="126425" y="149412"/>
                </a:cubicBezTo>
                <a:lnTo>
                  <a:pt x="114932" y="149412"/>
                </a:lnTo>
                <a:cubicBezTo>
                  <a:pt x="108575" y="149412"/>
                  <a:pt x="103439" y="154548"/>
                  <a:pt x="103439" y="160905"/>
                </a:cubicBezTo>
                <a:cubicBezTo>
                  <a:pt x="103439" y="167262"/>
                  <a:pt x="108575" y="172398"/>
                  <a:pt x="114932" y="172398"/>
                </a:cubicBezTo>
                <a:close/>
                <a:moveTo>
                  <a:pt x="114932" y="126425"/>
                </a:moveTo>
                <a:lnTo>
                  <a:pt x="149412" y="126425"/>
                </a:lnTo>
                <a:cubicBezTo>
                  <a:pt x="155769" y="126425"/>
                  <a:pt x="160905" y="121289"/>
                  <a:pt x="160905" y="114932"/>
                </a:cubicBezTo>
                <a:cubicBezTo>
                  <a:pt x="160905" y="108575"/>
                  <a:pt x="155769" y="103439"/>
                  <a:pt x="149412" y="103439"/>
                </a:cubicBezTo>
                <a:lnTo>
                  <a:pt x="114932" y="103439"/>
                </a:lnTo>
                <a:cubicBezTo>
                  <a:pt x="108575" y="103439"/>
                  <a:pt x="103439" y="108575"/>
                  <a:pt x="103439" y="114932"/>
                </a:cubicBezTo>
                <a:cubicBezTo>
                  <a:pt x="103439" y="121289"/>
                  <a:pt x="108575" y="126425"/>
                  <a:pt x="114932" y="126425"/>
                </a:cubicBezTo>
                <a:close/>
                <a:moveTo>
                  <a:pt x="114932" y="80452"/>
                </a:moveTo>
                <a:lnTo>
                  <a:pt x="172398" y="80452"/>
                </a:lnTo>
                <a:cubicBezTo>
                  <a:pt x="178755" y="80452"/>
                  <a:pt x="183891" y="75316"/>
                  <a:pt x="183891" y="68959"/>
                </a:cubicBezTo>
                <a:cubicBezTo>
                  <a:pt x="183891" y="62602"/>
                  <a:pt x="178755" y="57466"/>
                  <a:pt x="172398" y="57466"/>
                </a:cubicBezTo>
                <a:lnTo>
                  <a:pt x="114932" y="57466"/>
                </a:lnTo>
                <a:cubicBezTo>
                  <a:pt x="108575" y="57466"/>
                  <a:pt x="103439" y="62602"/>
                  <a:pt x="103439" y="68959"/>
                </a:cubicBezTo>
                <a:cubicBezTo>
                  <a:pt x="103439" y="75316"/>
                  <a:pt x="108575" y="80452"/>
                  <a:pt x="114932" y="80452"/>
                </a:cubicBezTo>
                <a:close/>
                <a:moveTo>
                  <a:pt x="114932" y="34480"/>
                </a:moveTo>
                <a:lnTo>
                  <a:pt x="195385" y="34480"/>
                </a:lnTo>
                <a:cubicBezTo>
                  <a:pt x="201742" y="34480"/>
                  <a:pt x="206878" y="29344"/>
                  <a:pt x="206878" y="22986"/>
                </a:cubicBezTo>
                <a:cubicBezTo>
                  <a:pt x="206878" y="16629"/>
                  <a:pt x="201742" y="11493"/>
                  <a:pt x="195385" y="11493"/>
                </a:cubicBezTo>
                <a:lnTo>
                  <a:pt x="114932" y="11493"/>
                </a:lnTo>
                <a:cubicBezTo>
                  <a:pt x="108575" y="11493"/>
                  <a:pt x="103439" y="16629"/>
                  <a:pt x="103439" y="22986"/>
                </a:cubicBezTo>
                <a:cubicBezTo>
                  <a:pt x="103439" y="29344"/>
                  <a:pt x="108575" y="34480"/>
                  <a:pt x="114932" y="3448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4" name="Text 42"/>
          <p:cNvSpPr/>
          <p:nvPr/>
        </p:nvSpPr>
        <p:spPr>
          <a:xfrm>
            <a:off x="5991124" y="1609050"/>
            <a:ext cx="5774190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行业配置排名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61260" y="1976833"/>
            <a:ext cx="597647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历史回测：降息+财政扩张周期中的行业表现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79649" y="2271059"/>
            <a:ext cx="5893719" cy="662009"/>
          </a:xfrm>
          <a:custGeom>
            <a:avLst/>
            <a:gdLst/>
            <a:ahLst/>
            <a:cxnLst/>
            <a:rect l="l" t="t" r="r" b="b"/>
            <a:pathLst>
              <a:path w="5893719" h="662009">
                <a:moveTo>
                  <a:pt x="36778" y="0"/>
                </a:moveTo>
                <a:lnTo>
                  <a:pt x="5820164" y="0"/>
                </a:lnTo>
                <a:cubicBezTo>
                  <a:pt x="5860787" y="0"/>
                  <a:pt x="5893719" y="32932"/>
                  <a:pt x="5893719" y="73556"/>
                </a:cubicBezTo>
                <a:lnTo>
                  <a:pt x="5893719" y="588453"/>
                </a:lnTo>
                <a:cubicBezTo>
                  <a:pt x="5893719" y="629077"/>
                  <a:pt x="5860787" y="662009"/>
                  <a:pt x="5820164" y="662009"/>
                </a:cubicBez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gradFill rotWithShape="1" flip="none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5779649" y="2271059"/>
            <a:ext cx="36778" cy="662009"/>
          </a:xfrm>
          <a:custGeom>
            <a:avLst/>
            <a:gdLst/>
            <a:ahLst/>
            <a:cxnLst/>
            <a:rect l="l" t="t" r="r" b="b"/>
            <a:pathLst>
              <a:path w="36778" h="662009">
                <a:moveTo>
                  <a:pt x="36778" y="0"/>
                </a:moveTo>
                <a:lnTo>
                  <a:pt x="36778" y="0"/>
                </a:lnTo>
                <a:lnTo>
                  <a:pt x="36778" y="662009"/>
                </a:ln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8" name="Shape 46"/>
          <p:cNvSpPr/>
          <p:nvPr/>
        </p:nvSpPr>
        <p:spPr>
          <a:xfrm>
            <a:off x="5871595" y="2418172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9" name="Text 47"/>
          <p:cNvSpPr/>
          <p:nvPr/>
        </p:nvSpPr>
        <p:spPr>
          <a:xfrm>
            <a:off x="6001181" y="2473339"/>
            <a:ext cx="20228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49713" y="2381394"/>
            <a:ext cx="1112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科技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49713" y="2638842"/>
            <a:ext cx="108495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AI投资、利率敏感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743712" y="2344615"/>
            <a:ext cx="855095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72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+15%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817268" y="2675620"/>
            <a:ext cx="78153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相对收益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779649" y="3006624"/>
            <a:ext cx="5893719" cy="662009"/>
          </a:xfrm>
          <a:custGeom>
            <a:avLst/>
            <a:gdLst/>
            <a:ahLst/>
            <a:cxnLst/>
            <a:rect l="l" t="t" r="r" b="b"/>
            <a:pathLst>
              <a:path w="5893719" h="662009">
                <a:moveTo>
                  <a:pt x="36778" y="0"/>
                </a:moveTo>
                <a:lnTo>
                  <a:pt x="5820164" y="0"/>
                </a:lnTo>
                <a:cubicBezTo>
                  <a:pt x="5860787" y="0"/>
                  <a:pt x="5893719" y="32932"/>
                  <a:pt x="5893719" y="73556"/>
                </a:cubicBezTo>
                <a:lnTo>
                  <a:pt x="5893719" y="588453"/>
                </a:lnTo>
                <a:cubicBezTo>
                  <a:pt x="5893719" y="629077"/>
                  <a:pt x="5860787" y="662009"/>
                  <a:pt x="5820164" y="662009"/>
                </a:cubicBez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779649" y="3006624"/>
            <a:ext cx="36778" cy="662009"/>
          </a:xfrm>
          <a:custGeom>
            <a:avLst/>
            <a:gdLst/>
            <a:ahLst/>
            <a:cxnLst/>
            <a:rect l="l" t="t" r="r" b="b"/>
            <a:pathLst>
              <a:path w="36778" h="662009">
                <a:moveTo>
                  <a:pt x="36778" y="0"/>
                </a:moveTo>
                <a:lnTo>
                  <a:pt x="36778" y="0"/>
                </a:lnTo>
                <a:lnTo>
                  <a:pt x="36778" y="662009"/>
                </a:ln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6" name="Shape 54"/>
          <p:cNvSpPr/>
          <p:nvPr/>
        </p:nvSpPr>
        <p:spPr>
          <a:xfrm>
            <a:off x="5871595" y="3153738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7" name="Text 55"/>
          <p:cNvSpPr/>
          <p:nvPr/>
        </p:nvSpPr>
        <p:spPr>
          <a:xfrm>
            <a:off x="6001181" y="3208905"/>
            <a:ext cx="20228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1A1D21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49713" y="3116959"/>
            <a:ext cx="1121738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公用事业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49713" y="3374407"/>
            <a:ext cx="109415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高股息、利率敏感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743712" y="3080181"/>
            <a:ext cx="855095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72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+12%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817268" y="3411186"/>
            <a:ext cx="78153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相对收益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779649" y="3742190"/>
            <a:ext cx="5893719" cy="662009"/>
          </a:xfrm>
          <a:custGeom>
            <a:avLst/>
            <a:gdLst/>
            <a:ahLst/>
            <a:cxnLst/>
            <a:rect l="l" t="t" r="r" b="b"/>
            <a:pathLst>
              <a:path w="5893719" h="662009">
                <a:moveTo>
                  <a:pt x="36778" y="0"/>
                </a:moveTo>
                <a:lnTo>
                  <a:pt x="5820164" y="0"/>
                </a:lnTo>
                <a:cubicBezTo>
                  <a:pt x="5860787" y="0"/>
                  <a:pt x="5893719" y="32932"/>
                  <a:pt x="5893719" y="73556"/>
                </a:cubicBezTo>
                <a:lnTo>
                  <a:pt x="5893719" y="588453"/>
                </a:lnTo>
                <a:cubicBezTo>
                  <a:pt x="5893719" y="629077"/>
                  <a:pt x="5860787" y="662009"/>
                  <a:pt x="5820164" y="662009"/>
                </a:cubicBez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5779649" y="3742190"/>
            <a:ext cx="36778" cy="662009"/>
          </a:xfrm>
          <a:custGeom>
            <a:avLst/>
            <a:gdLst/>
            <a:ahLst/>
            <a:cxnLst/>
            <a:rect l="l" t="t" r="r" b="b"/>
            <a:pathLst>
              <a:path w="36778" h="662009">
                <a:moveTo>
                  <a:pt x="36778" y="0"/>
                </a:moveTo>
                <a:lnTo>
                  <a:pt x="36778" y="0"/>
                </a:lnTo>
                <a:lnTo>
                  <a:pt x="36778" y="662009"/>
                </a:ln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4" name="Shape 62"/>
          <p:cNvSpPr/>
          <p:nvPr/>
        </p:nvSpPr>
        <p:spPr>
          <a:xfrm>
            <a:off x="5871595" y="3889303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5" name="Text 63"/>
          <p:cNvSpPr/>
          <p:nvPr/>
        </p:nvSpPr>
        <p:spPr>
          <a:xfrm>
            <a:off x="6001181" y="3944471"/>
            <a:ext cx="20228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49713" y="3852525"/>
            <a:ext cx="606842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工业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349713" y="4109973"/>
            <a:ext cx="57925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基建受益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743712" y="3815747"/>
            <a:ext cx="855095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72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+10%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817268" y="4146751"/>
            <a:ext cx="78153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相对收益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779649" y="4477756"/>
            <a:ext cx="5893719" cy="662009"/>
          </a:xfrm>
          <a:custGeom>
            <a:avLst/>
            <a:gdLst/>
            <a:ahLst/>
            <a:cxnLst/>
            <a:rect l="l" t="t" r="r" b="b"/>
            <a:pathLst>
              <a:path w="5893719" h="662009">
                <a:moveTo>
                  <a:pt x="36778" y="0"/>
                </a:moveTo>
                <a:lnTo>
                  <a:pt x="5820164" y="0"/>
                </a:lnTo>
                <a:cubicBezTo>
                  <a:pt x="5860787" y="0"/>
                  <a:pt x="5893719" y="32932"/>
                  <a:pt x="5893719" y="73556"/>
                </a:cubicBezTo>
                <a:lnTo>
                  <a:pt x="5893719" y="588453"/>
                </a:lnTo>
                <a:cubicBezTo>
                  <a:pt x="5893719" y="629077"/>
                  <a:pt x="5860787" y="662009"/>
                  <a:pt x="5820164" y="662009"/>
                </a:cubicBez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779649" y="4477756"/>
            <a:ext cx="36778" cy="662009"/>
          </a:xfrm>
          <a:custGeom>
            <a:avLst/>
            <a:gdLst/>
            <a:ahLst/>
            <a:cxnLst/>
            <a:rect l="l" t="t" r="r" b="b"/>
            <a:pathLst>
              <a:path w="36778" h="662009">
                <a:moveTo>
                  <a:pt x="36778" y="0"/>
                </a:moveTo>
                <a:lnTo>
                  <a:pt x="36778" y="0"/>
                </a:lnTo>
                <a:lnTo>
                  <a:pt x="36778" y="662009"/>
                </a:ln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2" name="Shape 70"/>
          <p:cNvSpPr/>
          <p:nvPr/>
        </p:nvSpPr>
        <p:spPr>
          <a:xfrm>
            <a:off x="5871595" y="4624869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3" name="Text 71"/>
          <p:cNvSpPr/>
          <p:nvPr/>
        </p:nvSpPr>
        <p:spPr>
          <a:xfrm>
            <a:off x="6001181" y="4680036"/>
            <a:ext cx="20228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49713" y="4588090"/>
            <a:ext cx="643620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原材料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349713" y="4845538"/>
            <a:ext cx="61603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需求增加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906484" y="4551312"/>
            <a:ext cx="689593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72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+8%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0980041" y="4882317"/>
            <a:ext cx="61603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相对收益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779649" y="5213321"/>
            <a:ext cx="5893719" cy="662009"/>
          </a:xfrm>
          <a:custGeom>
            <a:avLst/>
            <a:gdLst/>
            <a:ahLst/>
            <a:cxnLst/>
            <a:rect l="l" t="t" r="r" b="b"/>
            <a:pathLst>
              <a:path w="5893719" h="662009">
                <a:moveTo>
                  <a:pt x="36778" y="0"/>
                </a:moveTo>
                <a:lnTo>
                  <a:pt x="5820164" y="0"/>
                </a:lnTo>
                <a:cubicBezTo>
                  <a:pt x="5860787" y="0"/>
                  <a:pt x="5893719" y="32932"/>
                  <a:pt x="5893719" y="73556"/>
                </a:cubicBezTo>
                <a:lnTo>
                  <a:pt x="5893719" y="588453"/>
                </a:lnTo>
                <a:cubicBezTo>
                  <a:pt x="5893719" y="629077"/>
                  <a:pt x="5860787" y="662009"/>
                  <a:pt x="5820164" y="662009"/>
                </a:cubicBez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779649" y="5213321"/>
            <a:ext cx="36778" cy="662009"/>
          </a:xfrm>
          <a:custGeom>
            <a:avLst/>
            <a:gdLst/>
            <a:ahLst/>
            <a:cxnLst/>
            <a:rect l="l" t="t" r="r" b="b"/>
            <a:pathLst>
              <a:path w="36778" h="662009">
                <a:moveTo>
                  <a:pt x="36778" y="0"/>
                </a:moveTo>
                <a:lnTo>
                  <a:pt x="36778" y="0"/>
                </a:lnTo>
                <a:lnTo>
                  <a:pt x="36778" y="662009"/>
                </a:lnTo>
                <a:lnTo>
                  <a:pt x="36778" y="662009"/>
                </a:lnTo>
                <a:cubicBezTo>
                  <a:pt x="16466" y="662009"/>
                  <a:pt x="0" y="645543"/>
                  <a:pt x="0" y="625231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0" name="Shape 78"/>
          <p:cNvSpPr/>
          <p:nvPr/>
        </p:nvSpPr>
        <p:spPr>
          <a:xfrm>
            <a:off x="5871595" y="5360434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1" name="Text 79"/>
          <p:cNvSpPr/>
          <p:nvPr/>
        </p:nvSpPr>
        <p:spPr>
          <a:xfrm>
            <a:off x="6001181" y="5415602"/>
            <a:ext cx="202281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349713" y="5323656"/>
            <a:ext cx="606842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金融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349713" y="5581104"/>
            <a:ext cx="57925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息差收窄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0943550" y="5286878"/>
            <a:ext cx="652814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72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-5%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017106" y="5617882"/>
            <a:ext cx="579258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相对收益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372380" y="6146570"/>
            <a:ext cx="11447240" cy="707982"/>
          </a:xfrm>
          <a:custGeom>
            <a:avLst/>
            <a:gdLst/>
            <a:ahLst/>
            <a:cxnLst/>
            <a:rect l="l" t="t" r="r" b="b"/>
            <a:pathLst>
              <a:path w="11447240" h="707982">
                <a:moveTo>
                  <a:pt x="73559" y="0"/>
                </a:moveTo>
                <a:lnTo>
                  <a:pt x="11373680" y="0"/>
                </a:lnTo>
                <a:cubicBezTo>
                  <a:pt x="11414279" y="0"/>
                  <a:pt x="11447240" y="32961"/>
                  <a:pt x="11447240" y="73559"/>
                </a:cubicBezTo>
                <a:lnTo>
                  <a:pt x="11447240" y="634423"/>
                </a:lnTo>
                <a:cubicBezTo>
                  <a:pt x="11447240" y="675048"/>
                  <a:pt x="11414306" y="707982"/>
                  <a:pt x="11373680" y="707982"/>
                </a:cubicBezTo>
                <a:lnTo>
                  <a:pt x="73559" y="707982"/>
                </a:lnTo>
                <a:cubicBezTo>
                  <a:pt x="32961" y="707982"/>
                  <a:pt x="0" y="675021"/>
                  <a:pt x="0" y="634423"/>
                </a:cubicBezTo>
                <a:lnTo>
                  <a:pt x="0" y="73559"/>
                </a:lnTo>
                <a:cubicBezTo>
                  <a:pt x="0" y="32934"/>
                  <a:pt x="32934" y="0"/>
                  <a:pt x="73559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2480" y="6390226"/>
            <a:ext cx="165502" cy="220670"/>
          </a:xfrm>
          <a:custGeom>
            <a:avLst/>
            <a:gdLst/>
            <a:ahLst/>
            <a:cxnLst/>
            <a:rect l="l" t="t" r="r" b="b"/>
            <a:pathLst>
              <a:path w="165502" h="220670">
                <a:moveTo>
                  <a:pt x="126239" y="165502"/>
                </a:moveTo>
                <a:cubicBezTo>
                  <a:pt x="129385" y="155891"/>
                  <a:pt x="135677" y="147185"/>
                  <a:pt x="142789" y="139686"/>
                </a:cubicBezTo>
                <a:cubicBezTo>
                  <a:pt x="156882" y="124859"/>
                  <a:pt x="165502" y="104818"/>
                  <a:pt x="165502" y="82751"/>
                </a:cubicBezTo>
                <a:cubicBezTo>
                  <a:pt x="165502" y="37066"/>
                  <a:pt x="128437" y="0"/>
                  <a:pt x="82751" y="0"/>
                </a:cubicBezTo>
                <a:cubicBezTo>
                  <a:pt x="37066" y="0"/>
                  <a:pt x="0" y="37066"/>
                  <a:pt x="0" y="82751"/>
                </a:cubicBezTo>
                <a:cubicBezTo>
                  <a:pt x="0" y="104818"/>
                  <a:pt x="8620" y="124859"/>
                  <a:pt x="22713" y="139686"/>
                </a:cubicBezTo>
                <a:cubicBezTo>
                  <a:pt x="29825" y="147185"/>
                  <a:pt x="36161" y="155891"/>
                  <a:pt x="39264" y="165502"/>
                </a:cubicBezTo>
                <a:lnTo>
                  <a:pt x="126195" y="165502"/>
                </a:lnTo>
                <a:close/>
                <a:moveTo>
                  <a:pt x="124127" y="186190"/>
                </a:moveTo>
                <a:lnTo>
                  <a:pt x="41376" y="186190"/>
                </a:lnTo>
                <a:lnTo>
                  <a:pt x="41376" y="193086"/>
                </a:lnTo>
                <a:cubicBezTo>
                  <a:pt x="41376" y="212136"/>
                  <a:pt x="56805" y="227566"/>
                  <a:pt x="75855" y="227566"/>
                </a:cubicBezTo>
                <a:lnTo>
                  <a:pt x="89647" y="227566"/>
                </a:lnTo>
                <a:cubicBezTo>
                  <a:pt x="108697" y="227566"/>
                  <a:pt x="124127" y="212136"/>
                  <a:pt x="124127" y="193086"/>
                </a:cubicBezTo>
                <a:lnTo>
                  <a:pt x="124127" y="186190"/>
                </a:lnTo>
                <a:close/>
                <a:moveTo>
                  <a:pt x="79303" y="48271"/>
                </a:moveTo>
                <a:cubicBezTo>
                  <a:pt x="62150" y="48271"/>
                  <a:pt x="48271" y="62150"/>
                  <a:pt x="48271" y="79303"/>
                </a:cubicBezTo>
                <a:cubicBezTo>
                  <a:pt x="48271" y="85035"/>
                  <a:pt x="43660" y="89647"/>
                  <a:pt x="37928" y="89647"/>
                </a:cubicBezTo>
                <a:cubicBezTo>
                  <a:pt x="32195" y="89647"/>
                  <a:pt x="27584" y="85035"/>
                  <a:pt x="27584" y="79303"/>
                </a:cubicBezTo>
                <a:cubicBezTo>
                  <a:pt x="27584" y="50728"/>
                  <a:pt x="50728" y="27584"/>
                  <a:pt x="79303" y="27584"/>
                </a:cubicBezTo>
                <a:cubicBezTo>
                  <a:pt x="85035" y="27584"/>
                  <a:pt x="89647" y="32195"/>
                  <a:pt x="89647" y="37928"/>
                </a:cubicBezTo>
                <a:cubicBezTo>
                  <a:pt x="89647" y="43660"/>
                  <a:pt x="85035" y="48271"/>
                  <a:pt x="79303" y="4827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8" name="Text 86"/>
          <p:cNvSpPr/>
          <p:nvPr/>
        </p:nvSpPr>
        <p:spPr>
          <a:xfrm>
            <a:off x="910262" y="6390226"/>
            <a:ext cx="507540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核心策略：</a:t>
            </a:r>
            <a:pPr>
              <a:lnSpc>
                <a:spcPct val="120000"/>
              </a:lnSpc>
            </a:pPr>
            <a:r>
              <a:rPr lang="en-US" sz="1158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超配科技股和基建受益板块，债券采用短久期策略，低配金融板块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0840829" y="6261502"/>
            <a:ext cx="864290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策略置信度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10794856" y="6445394"/>
            <a:ext cx="910262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73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55-65%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508125" cy="293688"/>
          </a:xfrm>
          <a:custGeom>
            <a:avLst/>
            <a:gdLst/>
            <a:ahLst/>
            <a:cxnLst/>
            <a:rect l="l" t="t" r="r" b="b"/>
            <a:pathLst>
              <a:path w="1508125" h="293688">
                <a:moveTo>
                  <a:pt x="146844" y="0"/>
                </a:moveTo>
                <a:lnTo>
                  <a:pt x="1361281" y="0"/>
                </a:lnTo>
                <a:cubicBezTo>
                  <a:pt x="1442327" y="0"/>
                  <a:pt x="1508125" y="65798"/>
                  <a:pt x="1508125" y="146844"/>
                </a:cubicBezTo>
                <a:lnTo>
                  <a:pt x="1508125" y="146844"/>
                </a:lnTo>
                <a:cubicBezTo>
                  <a:pt x="1508125" y="227889"/>
                  <a:pt x="1442327" y="293688"/>
                  <a:pt x="1361281" y="293688"/>
                </a:cubicBezTo>
                <a:lnTo>
                  <a:pt x="146844" y="293688"/>
                </a:lnTo>
                <a:cubicBezTo>
                  <a:pt x="65798" y="293688"/>
                  <a:pt x="0" y="227889"/>
                  <a:pt x="0" y="146844"/>
                </a:cubicBezTo>
                <a:lnTo>
                  <a:pt x="0" y="146844"/>
                </a:lnTo>
                <a:cubicBezTo>
                  <a:pt x="0" y="65798"/>
                  <a:pt x="65798" y="0"/>
                  <a:pt x="146844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2438" y="404813"/>
            <a:ext cx="1299766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&amp; MONITORING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7143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风险提示与监测指标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12712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707063" cy="4643438"/>
          </a:xfrm>
          <a:custGeom>
            <a:avLst/>
            <a:gdLst/>
            <a:ahLst/>
            <a:cxnLst/>
            <a:rect l="l" t="t" r="r" b="b"/>
            <a:pathLst>
              <a:path w="5707063" h="4643438">
                <a:moveTo>
                  <a:pt x="95237" y="0"/>
                </a:moveTo>
                <a:lnTo>
                  <a:pt x="5611826" y="0"/>
                </a:lnTo>
                <a:cubicBezTo>
                  <a:pt x="5664423" y="0"/>
                  <a:pt x="5707063" y="42639"/>
                  <a:pt x="5707063" y="95237"/>
                </a:cubicBezTo>
                <a:lnTo>
                  <a:pt x="5707063" y="4548201"/>
                </a:lnTo>
                <a:cubicBezTo>
                  <a:pt x="5707063" y="4600798"/>
                  <a:pt x="5664423" y="4643438"/>
                  <a:pt x="5611826" y="4643438"/>
                </a:cubicBezTo>
                <a:lnTo>
                  <a:pt x="95237" y="4643438"/>
                </a:lnTo>
                <a:cubicBezTo>
                  <a:pt x="42639" y="4643438"/>
                  <a:pt x="0" y="4600798"/>
                  <a:pt x="0" y="4548201"/>
                </a:cubicBezTo>
                <a:lnTo>
                  <a:pt x="0" y="95237"/>
                </a:lnTo>
                <a:cubicBezTo>
                  <a:pt x="0" y="42674"/>
                  <a:pt x="42674" y="0"/>
                  <a:pt x="9523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281" y="14208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650875" y="138906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历史黑天鹅事件回顾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8313" y="1706563"/>
            <a:ext cx="5429250" cy="1016000"/>
          </a:xfrm>
          <a:custGeom>
            <a:avLst/>
            <a:gdLst/>
            <a:ahLst/>
            <a:cxnLst/>
            <a:rect l="l" t="t" r="r" b="b"/>
            <a:pathLst>
              <a:path w="5429250" h="1016000">
                <a:moveTo>
                  <a:pt x="31750" y="0"/>
                </a:moveTo>
                <a:lnTo>
                  <a:pt x="5365750" y="0"/>
                </a:lnTo>
                <a:cubicBezTo>
                  <a:pt x="5400797" y="0"/>
                  <a:pt x="5429250" y="28453"/>
                  <a:pt x="5429250" y="63500"/>
                </a:cubicBezTo>
                <a:lnTo>
                  <a:pt x="5429250" y="952500"/>
                </a:lnTo>
                <a:cubicBezTo>
                  <a:pt x="5429250" y="987547"/>
                  <a:pt x="5400797" y="1016000"/>
                  <a:pt x="5365750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68313" y="1706563"/>
            <a:ext cx="31750" cy="1016000"/>
          </a:xfrm>
          <a:custGeom>
            <a:avLst/>
            <a:gdLst/>
            <a:ahLst/>
            <a:cxnLst/>
            <a:rect l="l" t="t" r="r" b="b"/>
            <a:pathLst>
              <a:path w="31750" h="1016000">
                <a:moveTo>
                  <a:pt x="31750" y="0"/>
                </a:moveTo>
                <a:lnTo>
                  <a:pt x="31750" y="0"/>
                </a:lnTo>
                <a:lnTo>
                  <a:pt x="31750" y="1016000"/>
                </a:ln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Shape 9"/>
          <p:cNvSpPr/>
          <p:nvPr/>
        </p:nvSpPr>
        <p:spPr>
          <a:xfrm>
            <a:off x="608211" y="193675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44788" y="-7367"/>
                </a:moveTo>
                <a:cubicBezTo>
                  <a:pt x="47383" y="-9544"/>
                  <a:pt x="51206" y="-9460"/>
                  <a:pt x="53690" y="-7116"/>
                </a:cubicBezTo>
                <a:cubicBezTo>
                  <a:pt x="57122" y="-3879"/>
                  <a:pt x="60192" y="-307"/>
                  <a:pt x="63150" y="3321"/>
                </a:cubicBezTo>
                <a:cubicBezTo>
                  <a:pt x="66917" y="7925"/>
                  <a:pt x="71438" y="14008"/>
                  <a:pt x="75791" y="21236"/>
                </a:cubicBezTo>
                <a:cubicBezTo>
                  <a:pt x="77242" y="19338"/>
                  <a:pt x="78581" y="17664"/>
                  <a:pt x="79753" y="16241"/>
                </a:cubicBezTo>
                <a:cubicBezTo>
                  <a:pt x="80060" y="15878"/>
                  <a:pt x="80367" y="15487"/>
                  <a:pt x="80674" y="15097"/>
                </a:cubicBezTo>
                <a:cubicBezTo>
                  <a:pt x="82879" y="12362"/>
                  <a:pt x="85613" y="8930"/>
                  <a:pt x="89269" y="8930"/>
                </a:cubicBezTo>
                <a:cubicBezTo>
                  <a:pt x="93008" y="8930"/>
                  <a:pt x="95631" y="12250"/>
                  <a:pt x="97864" y="15097"/>
                </a:cubicBezTo>
                <a:cubicBezTo>
                  <a:pt x="98227" y="15571"/>
                  <a:pt x="98589" y="16018"/>
                  <a:pt x="98952" y="16436"/>
                </a:cubicBezTo>
                <a:cubicBezTo>
                  <a:pt x="101826" y="19896"/>
                  <a:pt x="105649" y="24892"/>
                  <a:pt x="109472" y="31059"/>
                </a:cubicBezTo>
                <a:cubicBezTo>
                  <a:pt x="117063" y="43309"/>
                  <a:pt x="124988" y="60750"/>
                  <a:pt x="124988" y="80339"/>
                </a:cubicBezTo>
                <a:cubicBezTo>
                  <a:pt x="124988" y="114858"/>
                  <a:pt x="96999" y="142847"/>
                  <a:pt x="62480" y="142847"/>
                </a:cubicBezTo>
                <a:cubicBezTo>
                  <a:pt x="27961" y="142847"/>
                  <a:pt x="0" y="114886"/>
                  <a:pt x="0" y="80367"/>
                </a:cubicBezTo>
                <a:cubicBezTo>
                  <a:pt x="0" y="54945"/>
                  <a:pt x="11469" y="32928"/>
                  <a:pt x="22464" y="17580"/>
                </a:cubicBezTo>
                <a:cubicBezTo>
                  <a:pt x="28017" y="9851"/>
                  <a:pt x="33542" y="3656"/>
                  <a:pt x="37700" y="-586"/>
                </a:cubicBezTo>
                <a:cubicBezTo>
                  <a:pt x="39988" y="-2930"/>
                  <a:pt x="42304" y="-5246"/>
                  <a:pt x="44816" y="-7339"/>
                </a:cubicBezTo>
                <a:close/>
                <a:moveTo>
                  <a:pt x="62982" y="116086"/>
                </a:moveTo>
                <a:cubicBezTo>
                  <a:pt x="70042" y="116086"/>
                  <a:pt x="76293" y="114133"/>
                  <a:pt x="82181" y="110226"/>
                </a:cubicBezTo>
                <a:cubicBezTo>
                  <a:pt x="93929" y="102022"/>
                  <a:pt x="97082" y="85613"/>
                  <a:pt x="90022" y="72721"/>
                </a:cubicBezTo>
                <a:cubicBezTo>
                  <a:pt x="88767" y="70210"/>
                  <a:pt x="85558" y="70042"/>
                  <a:pt x="83744" y="72163"/>
                </a:cubicBezTo>
                <a:lnTo>
                  <a:pt x="76712" y="80339"/>
                </a:lnTo>
                <a:cubicBezTo>
                  <a:pt x="74870" y="82460"/>
                  <a:pt x="71549" y="82404"/>
                  <a:pt x="69819" y="80200"/>
                </a:cubicBezTo>
                <a:cubicBezTo>
                  <a:pt x="64991" y="74033"/>
                  <a:pt x="56118" y="62787"/>
                  <a:pt x="51597" y="57038"/>
                </a:cubicBezTo>
                <a:cubicBezTo>
                  <a:pt x="50090" y="55113"/>
                  <a:pt x="47355" y="54806"/>
                  <a:pt x="45597" y="56508"/>
                </a:cubicBezTo>
                <a:cubicBezTo>
                  <a:pt x="40491" y="61475"/>
                  <a:pt x="31226" y="72358"/>
                  <a:pt x="31226" y="85613"/>
                </a:cubicBezTo>
                <a:cubicBezTo>
                  <a:pt x="31226" y="104756"/>
                  <a:pt x="45346" y="116086"/>
                  <a:pt x="62954" y="11608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" name="Text 10"/>
          <p:cNvSpPr/>
          <p:nvPr/>
        </p:nvSpPr>
        <p:spPr>
          <a:xfrm>
            <a:off x="853281" y="1897063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通胀反弹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23706" y="1801813"/>
            <a:ext cx="47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63394" y="2055813"/>
            <a:ext cx="43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8367" y="2293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2278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历史案例：1970年代、2008年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2258" y="24844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0"/>
                </a:moveTo>
                <a:cubicBezTo>
                  <a:pt x="44776" y="0"/>
                  <a:pt x="41672" y="3104"/>
                  <a:pt x="41672" y="6945"/>
                </a:cubicBezTo>
                <a:lnTo>
                  <a:pt x="41672" y="7640"/>
                </a:lnTo>
                <a:cubicBezTo>
                  <a:pt x="25828" y="10852"/>
                  <a:pt x="13891" y="24873"/>
                  <a:pt x="13891" y="41672"/>
                </a:cubicBezTo>
                <a:lnTo>
                  <a:pt x="13891" y="46382"/>
                </a:lnTo>
                <a:cubicBezTo>
                  <a:pt x="13891" y="56821"/>
                  <a:pt x="10331" y="66957"/>
                  <a:pt x="3820" y="75118"/>
                </a:cubicBezTo>
                <a:lnTo>
                  <a:pt x="1693" y="77766"/>
                </a:lnTo>
                <a:cubicBezTo>
                  <a:pt x="586" y="79133"/>
                  <a:pt x="0" y="80826"/>
                  <a:pt x="0" y="82584"/>
                </a:cubicBezTo>
                <a:cubicBezTo>
                  <a:pt x="0" y="86838"/>
                  <a:pt x="3451" y="90289"/>
                  <a:pt x="7705" y="90289"/>
                </a:cubicBezTo>
                <a:lnTo>
                  <a:pt x="89508" y="90289"/>
                </a:lnTo>
                <a:cubicBezTo>
                  <a:pt x="93762" y="90289"/>
                  <a:pt x="97213" y="86838"/>
                  <a:pt x="97213" y="82584"/>
                </a:cubicBezTo>
                <a:cubicBezTo>
                  <a:pt x="97213" y="80826"/>
                  <a:pt x="96627" y="79133"/>
                  <a:pt x="95520" y="77766"/>
                </a:cubicBezTo>
                <a:lnTo>
                  <a:pt x="93393" y="75118"/>
                </a:lnTo>
                <a:cubicBezTo>
                  <a:pt x="86903" y="66957"/>
                  <a:pt x="83344" y="56821"/>
                  <a:pt x="83344" y="46382"/>
                </a:cubicBezTo>
                <a:lnTo>
                  <a:pt x="83344" y="41672"/>
                </a:lnTo>
                <a:cubicBezTo>
                  <a:pt x="83344" y="24873"/>
                  <a:pt x="71406" y="10852"/>
                  <a:pt x="55563" y="7640"/>
                </a:cubicBezTo>
                <a:lnTo>
                  <a:pt x="55563" y="6945"/>
                </a:lnTo>
                <a:cubicBezTo>
                  <a:pt x="55563" y="3104"/>
                  <a:pt x="52459" y="0"/>
                  <a:pt x="48617" y="0"/>
                </a:cubicBezTo>
                <a:close/>
                <a:moveTo>
                  <a:pt x="35161" y="100707"/>
                </a:moveTo>
                <a:cubicBezTo>
                  <a:pt x="36702" y="106697"/>
                  <a:pt x="42149" y="111125"/>
                  <a:pt x="48617" y="111125"/>
                </a:cubicBezTo>
                <a:cubicBezTo>
                  <a:pt x="55085" y="111125"/>
                  <a:pt x="60533" y="106697"/>
                  <a:pt x="62074" y="100707"/>
                </a:cubicBezTo>
                <a:lnTo>
                  <a:pt x="35161" y="10070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24685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预警信号：油价冲击、工资螺旋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8313" y="2786063"/>
            <a:ext cx="5429250" cy="1016000"/>
          </a:xfrm>
          <a:custGeom>
            <a:avLst/>
            <a:gdLst/>
            <a:ahLst/>
            <a:cxnLst/>
            <a:rect l="l" t="t" r="r" b="b"/>
            <a:pathLst>
              <a:path w="5429250" h="1016000">
                <a:moveTo>
                  <a:pt x="31750" y="0"/>
                </a:moveTo>
                <a:lnTo>
                  <a:pt x="5365750" y="0"/>
                </a:lnTo>
                <a:cubicBezTo>
                  <a:pt x="5400797" y="0"/>
                  <a:pt x="5429250" y="28453"/>
                  <a:pt x="5429250" y="63500"/>
                </a:cubicBezTo>
                <a:lnTo>
                  <a:pt x="5429250" y="952500"/>
                </a:lnTo>
                <a:cubicBezTo>
                  <a:pt x="5429250" y="987547"/>
                  <a:pt x="5400797" y="1016000"/>
                  <a:pt x="5365750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68313" y="2786063"/>
            <a:ext cx="31750" cy="1016000"/>
          </a:xfrm>
          <a:custGeom>
            <a:avLst/>
            <a:gdLst/>
            <a:ahLst/>
            <a:cxnLst/>
            <a:rect l="l" t="t" r="r" b="b"/>
            <a:pathLst>
              <a:path w="31750" h="1016000">
                <a:moveTo>
                  <a:pt x="31750" y="0"/>
                </a:moveTo>
                <a:lnTo>
                  <a:pt x="31750" y="0"/>
                </a:lnTo>
                <a:lnTo>
                  <a:pt x="31750" y="1016000"/>
                </a:ln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9281" y="3016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8390" y="63764"/>
                </a:moveTo>
                <a:cubicBezTo>
                  <a:pt x="22101" y="37812"/>
                  <a:pt x="44453" y="17859"/>
                  <a:pt x="71438" y="17859"/>
                </a:cubicBezTo>
                <a:cubicBezTo>
                  <a:pt x="86227" y="17859"/>
                  <a:pt x="99622" y="23859"/>
                  <a:pt x="109333" y="33542"/>
                </a:cubicBezTo>
                <a:cubicBezTo>
                  <a:pt x="109389" y="33598"/>
                  <a:pt x="109444" y="33654"/>
                  <a:pt x="109500" y="33710"/>
                </a:cubicBezTo>
                <a:lnTo>
                  <a:pt x="111621" y="35719"/>
                </a:lnTo>
                <a:lnTo>
                  <a:pt x="98254" y="35719"/>
                </a:lnTo>
                <a:cubicBezTo>
                  <a:pt x="93315" y="35719"/>
                  <a:pt x="89325" y="39709"/>
                  <a:pt x="89325" y="44648"/>
                </a:cubicBezTo>
                <a:cubicBezTo>
                  <a:pt x="89325" y="49588"/>
                  <a:pt x="93315" y="53578"/>
                  <a:pt x="98254" y="53578"/>
                </a:cubicBezTo>
                <a:lnTo>
                  <a:pt x="133973" y="53578"/>
                </a:lnTo>
                <a:cubicBezTo>
                  <a:pt x="138912" y="53578"/>
                  <a:pt x="142903" y="49588"/>
                  <a:pt x="142903" y="44648"/>
                </a:cubicBezTo>
                <a:lnTo>
                  <a:pt x="142903" y="8930"/>
                </a:lnTo>
                <a:cubicBezTo>
                  <a:pt x="142903" y="3990"/>
                  <a:pt x="138912" y="0"/>
                  <a:pt x="133973" y="0"/>
                </a:cubicBezTo>
                <a:cubicBezTo>
                  <a:pt x="129034" y="0"/>
                  <a:pt x="125044" y="3990"/>
                  <a:pt x="125044" y="8930"/>
                </a:cubicBezTo>
                <a:lnTo>
                  <a:pt x="125044" y="23831"/>
                </a:lnTo>
                <a:lnTo>
                  <a:pt x="121890" y="20845"/>
                </a:lnTo>
                <a:cubicBezTo>
                  <a:pt x="108970" y="7981"/>
                  <a:pt x="91111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lose/>
                <a:moveTo>
                  <a:pt x="142149" y="81623"/>
                </a:moveTo>
                <a:cubicBezTo>
                  <a:pt x="142847" y="76740"/>
                  <a:pt x="139443" y="72219"/>
                  <a:pt x="134587" y="71521"/>
                </a:cubicBezTo>
                <a:cubicBezTo>
                  <a:pt x="129732" y="70824"/>
                  <a:pt x="125183" y="74228"/>
                  <a:pt x="124485" y="79084"/>
                </a:cubicBezTo>
                <a:cubicBezTo>
                  <a:pt x="120774" y="105035"/>
                  <a:pt x="98422" y="124988"/>
                  <a:pt x="71438" y="124988"/>
                </a:cubicBezTo>
                <a:cubicBezTo>
                  <a:pt x="56648" y="124988"/>
                  <a:pt x="43253" y="118988"/>
                  <a:pt x="33542" y="109305"/>
                </a:cubicBezTo>
                <a:cubicBezTo>
                  <a:pt x="33486" y="109249"/>
                  <a:pt x="33431" y="109193"/>
                  <a:pt x="33375" y="109138"/>
                </a:cubicBezTo>
                <a:lnTo>
                  <a:pt x="31254" y="107128"/>
                </a:lnTo>
                <a:lnTo>
                  <a:pt x="44621" y="107128"/>
                </a:lnTo>
                <a:cubicBezTo>
                  <a:pt x="49560" y="107128"/>
                  <a:pt x="53550" y="103138"/>
                  <a:pt x="53550" y="98199"/>
                </a:cubicBezTo>
                <a:cubicBezTo>
                  <a:pt x="53550" y="93259"/>
                  <a:pt x="49560" y="89269"/>
                  <a:pt x="44621" y="89269"/>
                </a:cubicBezTo>
                <a:lnTo>
                  <a:pt x="8930" y="89297"/>
                </a:lnTo>
                <a:cubicBezTo>
                  <a:pt x="6558" y="89297"/>
                  <a:pt x="4270" y="90246"/>
                  <a:pt x="2595" y="91948"/>
                </a:cubicBezTo>
                <a:cubicBezTo>
                  <a:pt x="921" y="93650"/>
                  <a:pt x="-28" y="95910"/>
                  <a:pt x="0" y="98310"/>
                </a:cubicBezTo>
                <a:lnTo>
                  <a:pt x="279" y="133750"/>
                </a:lnTo>
                <a:cubicBezTo>
                  <a:pt x="307" y="138689"/>
                  <a:pt x="4353" y="142652"/>
                  <a:pt x="9292" y="142596"/>
                </a:cubicBezTo>
                <a:cubicBezTo>
                  <a:pt x="14232" y="142540"/>
                  <a:pt x="18194" y="138522"/>
                  <a:pt x="18138" y="133583"/>
                </a:cubicBezTo>
                <a:lnTo>
                  <a:pt x="18027" y="119211"/>
                </a:lnTo>
                <a:lnTo>
                  <a:pt x="21013" y="122030"/>
                </a:lnTo>
                <a:cubicBezTo>
                  <a:pt x="33933" y="134894"/>
                  <a:pt x="51764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853281" y="2976563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经济衰退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23706" y="2881313"/>
            <a:ext cx="47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63394" y="3135313"/>
            <a:ext cx="43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8367" y="33734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33575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历史案例：2001年、2008年、2020年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2258" y="35639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0"/>
                </a:moveTo>
                <a:cubicBezTo>
                  <a:pt x="44776" y="0"/>
                  <a:pt x="41672" y="3104"/>
                  <a:pt x="41672" y="6945"/>
                </a:cubicBezTo>
                <a:lnTo>
                  <a:pt x="41672" y="7640"/>
                </a:lnTo>
                <a:cubicBezTo>
                  <a:pt x="25828" y="10852"/>
                  <a:pt x="13891" y="24873"/>
                  <a:pt x="13891" y="41672"/>
                </a:cubicBezTo>
                <a:lnTo>
                  <a:pt x="13891" y="46382"/>
                </a:lnTo>
                <a:cubicBezTo>
                  <a:pt x="13891" y="56821"/>
                  <a:pt x="10331" y="66957"/>
                  <a:pt x="3820" y="75118"/>
                </a:cubicBezTo>
                <a:lnTo>
                  <a:pt x="1693" y="77766"/>
                </a:lnTo>
                <a:cubicBezTo>
                  <a:pt x="586" y="79133"/>
                  <a:pt x="0" y="80826"/>
                  <a:pt x="0" y="82584"/>
                </a:cubicBezTo>
                <a:cubicBezTo>
                  <a:pt x="0" y="86838"/>
                  <a:pt x="3451" y="90289"/>
                  <a:pt x="7705" y="90289"/>
                </a:cubicBezTo>
                <a:lnTo>
                  <a:pt x="89508" y="90289"/>
                </a:lnTo>
                <a:cubicBezTo>
                  <a:pt x="93762" y="90289"/>
                  <a:pt x="97213" y="86838"/>
                  <a:pt x="97213" y="82584"/>
                </a:cubicBezTo>
                <a:cubicBezTo>
                  <a:pt x="97213" y="80826"/>
                  <a:pt x="96627" y="79133"/>
                  <a:pt x="95520" y="77766"/>
                </a:cubicBezTo>
                <a:lnTo>
                  <a:pt x="93393" y="75118"/>
                </a:lnTo>
                <a:cubicBezTo>
                  <a:pt x="86903" y="66957"/>
                  <a:pt x="83344" y="56821"/>
                  <a:pt x="83344" y="46382"/>
                </a:cubicBezTo>
                <a:lnTo>
                  <a:pt x="83344" y="41672"/>
                </a:lnTo>
                <a:cubicBezTo>
                  <a:pt x="83344" y="24873"/>
                  <a:pt x="71406" y="10852"/>
                  <a:pt x="55563" y="7640"/>
                </a:cubicBezTo>
                <a:lnTo>
                  <a:pt x="55563" y="6945"/>
                </a:lnTo>
                <a:cubicBezTo>
                  <a:pt x="55563" y="3104"/>
                  <a:pt x="52459" y="0"/>
                  <a:pt x="48617" y="0"/>
                </a:cubicBezTo>
                <a:close/>
                <a:moveTo>
                  <a:pt x="35161" y="100707"/>
                </a:moveTo>
                <a:cubicBezTo>
                  <a:pt x="36702" y="106697"/>
                  <a:pt x="42149" y="111125"/>
                  <a:pt x="48617" y="111125"/>
                </a:cubicBezTo>
                <a:cubicBezTo>
                  <a:pt x="55085" y="111125"/>
                  <a:pt x="60533" y="106697"/>
                  <a:pt x="62074" y="100707"/>
                </a:cubicBezTo>
                <a:lnTo>
                  <a:pt x="35161" y="10070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3548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预警信号：收益率曲线倒挂、信贷紧缩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8313" y="3865563"/>
            <a:ext cx="5429250" cy="1016000"/>
          </a:xfrm>
          <a:custGeom>
            <a:avLst/>
            <a:gdLst/>
            <a:ahLst/>
            <a:cxnLst/>
            <a:rect l="l" t="t" r="r" b="b"/>
            <a:pathLst>
              <a:path w="5429250" h="1016000">
                <a:moveTo>
                  <a:pt x="31750" y="0"/>
                </a:moveTo>
                <a:lnTo>
                  <a:pt x="5365750" y="0"/>
                </a:lnTo>
                <a:cubicBezTo>
                  <a:pt x="5400797" y="0"/>
                  <a:pt x="5429250" y="28453"/>
                  <a:pt x="5429250" y="63500"/>
                </a:cubicBezTo>
                <a:lnTo>
                  <a:pt x="5429250" y="952500"/>
                </a:lnTo>
                <a:cubicBezTo>
                  <a:pt x="5429250" y="987547"/>
                  <a:pt x="5400797" y="1016000"/>
                  <a:pt x="5365750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8313" y="3865563"/>
            <a:ext cx="31750" cy="1016000"/>
          </a:xfrm>
          <a:custGeom>
            <a:avLst/>
            <a:gdLst/>
            <a:ahLst/>
            <a:cxnLst/>
            <a:rect l="l" t="t" r="r" b="b"/>
            <a:pathLst>
              <a:path w="31750" h="1016000">
                <a:moveTo>
                  <a:pt x="31750" y="0"/>
                </a:moveTo>
                <a:lnTo>
                  <a:pt x="31750" y="0"/>
                </a:lnTo>
                <a:lnTo>
                  <a:pt x="31750" y="1016000"/>
                </a:ln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599281" y="40957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5874" y="5637"/>
                </a:moveTo>
                <a:cubicBezTo>
                  <a:pt x="73140" y="4074"/>
                  <a:pt x="69763" y="4074"/>
                  <a:pt x="67001" y="5637"/>
                </a:cubicBezTo>
                <a:lnTo>
                  <a:pt x="4493" y="41356"/>
                </a:lnTo>
                <a:cubicBezTo>
                  <a:pt x="977" y="43365"/>
                  <a:pt x="-753" y="47495"/>
                  <a:pt x="279" y="51402"/>
                </a:cubicBezTo>
                <a:cubicBezTo>
                  <a:pt x="1312" y="55308"/>
                  <a:pt x="4883" y="58043"/>
                  <a:pt x="8930" y="58043"/>
                </a:cubicBezTo>
                <a:lnTo>
                  <a:pt x="17859" y="58043"/>
                </a:lnTo>
                <a:lnTo>
                  <a:pt x="17859" y="116086"/>
                </a:lnTo>
                <a:lnTo>
                  <a:pt x="17859" y="116086"/>
                </a:lnTo>
                <a:lnTo>
                  <a:pt x="3572" y="126802"/>
                </a:lnTo>
                <a:cubicBezTo>
                  <a:pt x="1312" y="128476"/>
                  <a:pt x="0" y="131127"/>
                  <a:pt x="0" y="133945"/>
                </a:cubicBezTo>
                <a:cubicBezTo>
                  <a:pt x="0" y="138885"/>
                  <a:pt x="3990" y="142875"/>
                  <a:pt x="8930" y="142875"/>
                </a:cubicBezTo>
                <a:lnTo>
                  <a:pt x="133945" y="142875"/>
                </a:lnTo>
                <a:cubicBezTo>
                  <a:pt x="138885" y="142875"/>
                  <a:pt x="142875" y="138885"/>
                  <a:pt x="142875" y="133945"/>
                </a:cubicBezTo>
                <a:cubicBezTo>
                  <a:pt x="142875" y="131127"/>
                  <a:pt x="141563" y="128476"/>
                  <a:pt x="139303" y="126802"/>
                </a:cubicBezTo>
                <a:lnTo>
                  <a:pt x="125016" y="116086"/>
                </a:lnTo>
                <a:lnTo>
                  <a:pt x="125016" y="58043"/>
                </a:lnTo>
                <a:lnTo>
                  <a:pt x="133945" y="58043"/>
                </a:lnTo>
                <a:cubicBezTo>
                  <a:pt x="137992" y="58043"/>
                  <a:pt x="141536" y="55308"/>
                  <a:pt x="142568" y="51402"/>
                </a:cubicBezTo>
                <a:cubicBezTo>
                  <a:pt x="143601" y="47495"/>
                  <a:pt x="141870" y="43365"/>
                  <a:pt x="138354" y="41356"/>
                </a:cubicBezTo>
                <a:lnTo>
                  <a:pt x="75847" y="5637"/>
                </a:lnTo>
                <a:close/>
                <a:moveTo>
                  <a:pt x="111621" y="58043"/>
                </a:moveTo>
                <a:lnTo>
                  <a:pt x="111621" y="116086"/>
                </a:lnTo>
                <a:lnTo>
                  <a:pt x="93762" y="116086"/>
                </a:lnTo>
                <a:lnTo>
                  <a:pt x="93762" y="58043"/>
                </a:lnTo>
                <a:lnTo>
                  <a:pt x="111621" y="58043"/>
                </a:lnTo>
                <a:close/>
                <a:moveTo>
                  <a:pt x="80367" y="58043"/>
                </a:moveTo>
                <a:lnTo>
                  <a:pt x="80367" y="116086"/>
                </a:lnTo>
                <a:lnTo>
                  <a:pt x="62508" y="116086"/>
                </a:lnTo>
                <a:lnTo>
                  <a:pt x="62508" y="58043"/>
                </a:lnTo>
                <a:lnTo>
                  <a:pt x="80367" y="58043"/>
                </a:lnTo>
                <a:close/>
                <a:moveTo>
                  <a:pt x="49113" y="58043"/>
                </a:moveTo>
                <a:lnTo>
                  <a:pt x="49113" y="116086"/>
                </a:lnTo>
                <a:lnTo>
                  <a:pt x="31254" y="116086"/>
                </a:lnTo>
                <a:lnTo>
                  <a:pt x="31254" y="58043"/>
                </a:lnTo>
                <a:lnTo>
                  <a:pt x="49113" y="58043"/>
                </a:lnTo>
                <a:close/>
                <a:moveTo>
                  <a:pt x="71438" y="26789"/>
                </a:moveTo>
                <a:cubicBezTo>
                  <a:pt x="76366" y="26789"/>
                  <a:pt x="80367" y="30790"/>
                  <a:pt x="80367" y="35719"/>
                </a:cubicBezTo>
                <a:cubicBezTo>
                  <a:pt x="80367" y="40647"/>
                  <a:pt x="76366" y="44648"/>
                  <a:pt x="71438" y="44648"/>
                </a:cubicBezTo>
                <a:cubicBezTo>
                  <a:pt x="66509" y="44648"/>
                  <a:pt x="62508" y="40647"/>
                  <a:pt x="62508" y="35719"/>
                </a:cubicBezTo>
                <a:cubicBezTo>
                  <a:pt x="62508" y="30790"/>
                  <a:pt x="66509" y="26789"/>
                  <a:pt x="71438" y="26789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853281" y="4056063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债务危机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23706" y="3960813"/>
            <a:ext cx="47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15%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63394" y="4214813"/>
            <a:ext cx="43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8367" y="4452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4437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历史案例：2011年欧洲、新兴市场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2258" y="46434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0"/>
                </a:moveTo>
                <a:cubicBezTo>
                  <a:pt x="44776" y="0"/>
                  <a:pt x="41672" y="3104"/>
                  <a:pt x="41672" y="6945"/>
                </a:cubicBezTo>
                <a:lnTo>
                  <a:pt x="41672" y="7640"/>
                </a:lnTo>
                <a:cubicBezTo>
                  <a:pt x="25828" y="10852"/>
                  <a:pt x="13891" y="24873"/>
                  <a:pt x="13891" y="41672"/>
                </a:cubicBezTo>
                <a:lnTo>
                  <a:pt x="13891" y="46382"/>
                </a:lnTo>
                <a:cubicBezTo>
                  <a:pt x="13891" y="56821"/>
                  <a:pt x="10331" y="66957"/>
                  <a:pt x="3820" y="75118"/>
                </a:cubicBezTo>
                <a:lnTo>
                  <a:pt x="1693" y="77766"/>
                </a:lnTo>
                <a:cubicBezTo>
                  <a:pt x="586" y="79133"/>
                  <a:pt x="0" y="80826"/>
                  <a:pt x="0" y="82584"/>
                </a:cubicBezTo>
                <a:cubicBezTo>
                  <a:pt x="0" y="86838"/>
                  <a:pt x="3451" y="90289"/>
                  <a:pt x="7705" y="90289"/>
                </a:cubicBezTo>
                <a:lnTo>
                  <a:pt x="89508" y="90289"/>
                </a:lnTo>
                <a:cubicBezTo>
                  <a:pt x="93762" y="90289"/>
                  <a:pt x="97213" y="86838"/>
                  <a:pt x="97213" y="82584"/>
                </a:cubicBezTo>
                <a:cubicBezTo>
                  <a:pt x="97213" y="80826"/>
                  <a:pt x="96627" y="79133"/>
                  <a:pt x="95520" y="77766"/>
                </a:cubicBezTo>
                <a:lnTo>
                  <a:pt x="93393" y="75118"/>
                </a:lnTo>
                <a:cubicBezTo>
                  <a:pt x="86903" y="66957"/>
                  <a:pt x="83344" y="56821"/>
                  <a:pt x="83344" y="46382"/>
                </a:cubicBezTo>
                <a:lnTo>
                  <a:pt x="83344" y="41672"/>
                </a:lnTo>
                <a:cubicBezTo>
                  <a:pt x="83344" y="24873"/>
                  <a:pt x="71406" y="10852"/>
                  <a:pt x="55563" y="7640"/>
                </a:cubicBezTo>
                <a:lnTo>
                  <a:pt x="55563" y="6945"/>
                </a:lnTo>
                <a:cubicBezTo>
                  <a:pt x="55563" y="3104"/>
                  <a:pt x="52459" y="0"/>
                  <a:pt x="48617" y="0"/>
                </a:cubicBezTo>
                <a:close/>
                <a:moveTo>
                  <a:pt x="35161" y="100707"/>
                </a:moveTo>
                <a:cubicBezTo>
                  <a:pt x="36702" y="106697"/>
                  <a:pt x="42149" y="111125"/>
                  <a:pt x="48617" y="111125"/>
                </a:cubicBezTo>
                <a:cubicBezTo>
                  <a:pt x="55085" y="111125"/>
                  <a:pt x="60533" y="106697"/>
                  <a:pt x="62074" y="100707"/>
                </a:cubicBezTo>
                <a:lnTo>
                  <a:pt x="35161" y="10070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46275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预警信号：国债拍卖失败、信用利差扩大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8313" y="4945063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3175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8313" y="4945063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1" name="Shape 39"/>
          <p:cNvSpPr/>
          <p:nvPr/>
        </p:nvSpPr>
        <p:spPr>
          <a:xfrm>
            <a:off x="599281" y="5175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98199" y="78135"/>
                </a:moveTo>
                <a:lnTo>
                  <a:pt x="44927" y="78135"/>
                </a:lnTo>
                <a:cubicBezTo>
                  <a:pt x="45737" y="96134"/>
                  <a:pt x="49727" y="112709"/>
                  <a:pt x="55392" y="124848"/>
                </a:cubicBezTo>
                <a:cubicBezTo>
                  <a:pt x="58573" y="131685"/>
                  <a:pt x="62006" y="136513"/>
                  <a:pt x="65187" y="139471"/>
                </a:cubicBezTo>
                <a:cubicBezTo>
                  <a:pt x="68312" y="142401"/>
                  <a:pt x="70461" y="142875"/>
                  <a:pt x="71577" y="142875"/>
                </a:cubicBezTo>
                <a:cubicBezTo>
                  <a:pt x="72693" y="142875"/>
                  <a:pt x="74842" y="142401"/>
                  <a:pt x="77967" y="139471"/>
                </a:cubicBezTo>
                <a:cubicBezTo>
                  <a:pt x="81149" y="136513"/>
                  <a:pt x="84581" y="131657"/>
                  <a:pt x="87762" y="124848"/>
                </a:cubicBezTo>
                <a:cubicBezTo>
                  <a:pt x="93427" y="112709"/>
                  <a:pt x="97417" y="96134"/>
                  <a:pt x="98227" y="78135"/>
                </a:cubicBezTo>
                <a:close/>
                <a:moveTo>
                  <a:pt x="44900" y="64740"/>
                </a:moveTo>
                <a:lnTo>
                  <a:pt x="98171" y="64740"/>
                </a:lnTo>
                <a:cubicBezTo>
                  <a:pt x="97389" y="46741"/>
                  <a:pt x="93399" y="30166"/>
                  <a:pt x="87734" y="18027"/>
                </a:cubicBezTo>
                <a:cubicBezTo>
                  <a:pt x="84553" y="11218"/>
                  <a:pt x="81121" y="6362"/>
                  <a:pt x="77939" y="3404"/>
                </a:cubicBezTo>
                <a:cubicBezTo>
                  <a:pt x="74814" y="474"/>
                  <a:pt x="72665" y="0"/>
                  <a:pt x="71549" y="0"/>
                </a:cubicBezTo>
                <a:cubicBezTo>
                  <a:pt x="70433" y="0"/>
                  <a:pt x="68284" y="474"/>
                  <a:pt x="65159" y="3404"/>
                </a:cubicBezTo>
                <a:cubicBezTo>
                  <a:pt x="61978" y="6362"/>
                  <a:pt x="58545" y="11218"/>
                  <a:pt x="55364" y="18027"/>
                </a:cubicBezTo>
                <a:cubicBezTo>
                  <a:pt x="49699" y="30166"/>
                  <a:pt x="45709" y="46741"/>
                  <a:pt x="44900" y="64740"/>
                </a:cubicBezTo>
                <a:close/>
                <a:moveTo>
                  <a:pt x="31505" y="64740"/>
                </a:moveTo>
                <a:cubicBezTo>
                  <a:pt x="32482" y="40853"/>
                  <a:pt x="38649" y="18669"/>
                  <a:pt x="47662" y="4102"/>
                </a:cubicBezTo>
                <a:cubicBezTo>
                  <a:pt x="21961" y="13199"/>
                  <a:pt x="3042" y="36612"/>
                  <a:pt x="419" y="64740"/>
                </a:cubicBezTo>
                <a:lnTo>
                  <a:pt x="31505" y="64740"/>
                </a:lnTo>
                <a:close/>
                <a:moveTo>
                  <a:pt x="419" y="78135"/>
                </a:moveTo>
                <a:cubicBezTo>
                  <a:pt x="3042" y="106263"/>
                  <a:pt x="21961" y="129676"/>
                  <a:pt x="47662" y="138773"/>
                </a:cubicBezTo>
                <a:cubicBezTo>
                  <a:pt x="38649" y="124206"/>
                  <a:pt x="32482" y="102022"/>
                  <a:pt x="31505" y="78135"/>
                </a:cubicBezTo>
                <a:lnTo>
                  <a:pt x="419" y="78135"/>
                </a:lnTo>
                <a:close/>
                <a:moveTo>
                  <a:pt x="111593" y="78135"/>
                </a:moveTo>
                <a:cubicBezTo>
                  <a:pt x="110617" y="102022"/>
                  <a:pt x="104449" y="124206"/>
                  <a:pt x="95436" y="138773"/>
                </a:cubicBezTo>
                <a:cubicBezTo>
                  <a:pt x="121137" y="129648"/>
                  <a:pt x="140057" y="106263"/>
                  <a:pt x="142680" y="78135"/>
                </a:cubicBezTo>
                <a:lnTo>
                  <a:pt x="111593" y="78135"/>
                </a:lnTo>
                <a:close/>
                <a:moveTo>
                  <a:pt x="142680" y="64740"/>
                </a:moveTo>
                <a:cubicBezTo>
                  <a:pt x="140057" y="36612"/>
                  <a:pt x="121137" y="13199"/>
                  <a:pt x="95436" y="4102"/>
                </a:cubicBezTo>
                <a:cubicBezTo>
                  <a:pt x="104449" y="18669"/>
                  <a:pt x="110617" y="40853"/>
                  <a:pt x="111593" y="64740"/>
                </a:cubicBezTo>
                <a:lnTo>
                  <a:pt x="142680" y="6474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2" name="Text 40"/>
          <p:cNvSpPr/>
          <p:nvPr/>
        </p:nvSpPr>
        <p:spPr>
          <a:xfrm>
            <a:off x="853281" y="5135563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地缘政治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62563" y="5040313"/>
            <a:ext cx="53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?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02250" y="5294313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难以预测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02258" y="55324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0"/>
                </a:moveTo>
                <a:cubicBezTo>
                  <a:pt x="44776" y="0"/>
                  <a:pt x="41672" y="3104"/>
                  <a:pt x="41672" y="6945"/>
                </a:cubicBezTo>
                <a:lnTo>
                  <a:pt x="41672" y="7640"/>
                </a:lnTo>
                <a:cubicBezTo>
                  <a:pt x="25828" y="10852"/>
                  <a:pt x="13891" y="24873"/>
                  <a:pt x="13891" y="41672"/>
                </a:cubicBezTo>
                <a:lnTo>
                  <a:pt x="13891" y="46382"/>
                </a:lnTo>
                <a:cubicBezTo>
                  <a:pt x="13891" y="56821"/>
                  <a:pt x="10331" y="66957"/>
                  <a:pt x="3820" y="75118"/>
                </a:cubicBezTo>
                <a:lnTo>
                  <a:pt x="1693" y="77766"/>
                </a:lnTo>
                <a:cubicBezTo>
                  <a:pt x="586" y="79133"/>
                  <a:pt x="0" y="80826"/>
                  <a:pt x="0" y="82584"/>
                </a:cubicBezTo>
                <a:cubicBezTo>
                  <a:pt x="0" y="86838"/>
                  <a:pt x="3451" y="90289"/>
                  <a:pt x="7705" y="90289"/>
                </a:cubicBezTo>
                <a:lnTo>
                  <a:pt x="89508" y="90289"/>
                </a:lnTo>
                <a:cubicBezTo>
                  <a:pt x="93762" y="90289"/>
                  <a:pt x="97213" y="86838"/>
                  <a:pt x="97213" y="82584"/>
                </a:cubicBezTo>
                <a:cubicBezTo>
                  <a:pt x="97213" y="80826"/>
                  <a:pt x="96627" y="79133"/>
                  <a:pt x="95520" y="77766"/>
                </a:cubicBezTo>
                <a:lnTo>
                  <a:pt x="93393" y="75118"/>
                </a:lnTo>
                <a:cubicBezTo>
                  <a:pt x="86903" y="66957"/>
                  <a:pt x="83344" y="56821"/>
                  <a:pt x="83344" y="46382"/>
                </a:cubicBezTo>
                <a:lnTo>
                  <a:pt x="83344" y="41672"/>
                </a:lnTo>
                <a:cubicBezTo>
                  <a:pt x="83344" y="24873"/>
                  <a:pt x="71406" y="10852"/>
                  <a:pt x="55563" y="7640"/>
                </a:cubicBezTo>
                <a:lnTo>
                  <a:pt x="55563" y="6945"/>
                </a:lnTo>
                <a:cubicBezTo>
                  <a:pt x="55563" y="3104"/>
                  <a:pt x="52459" y="0"/>
                  <a:pt x="48617" y="0"/>
                </a:cubicBezTo>
                <a:close/>
                <a:moveTo>
                  <a:pt x="35161" y="100707"/>
                </a:moveTo>
                <a:cubicBezTo>
                  <a:pt x="36702" y="106697"/>
                  <a:pt x="42149" y="111125"/>
                  <a:pt x="48617" y="111125"/>
                </a:cubicBezTo>
                <a:cubicBezTo>
                  <a:pt x="55085" y="111125"/>
                  <a:pt x="60533" y="106697"/>
                  <a:pt x="62074" y="100707"/>
                </a:cubicBezTo>
                <a:lnTo>
                  <a:pt x="35161" y="10070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6" name="Text 44"/>
          <p:cNvSpPr/>
          <p:nvPr/>
        </p:nvSpPr>
        <p:spPr>
          <a:xfrm>
            <a:off x="762000" y="55165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预警信号：地缘紧张指数上升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63469" y="1258094"/>
            <a:ext cx="5707063" cy="3944937"/>
          </a:xfrm>
          <a:custGeom>
            <a:avLst/>
            <a:gdLst/>
            <a:ahLst/>
            <a:cxnLst/>
            <a:rect l="l" t="t" r="r" b="b"/>
            <a:pathLst>
              <a:path w="5707063" h="3944937">
                <a:moveTo>
                  <a:pt x="95231" y="0"/>
                </a:moveTo>
                <a:lnTo>
                  <a:pt x="5611832" y="0"/>
                </a:lnTo>
                <a:cubicBezTo>
                  <a:pt x="5664426" y="0"/>
                  <a:pt x="5707063" y="42636"/>
                  <a:pt x="5707063" y="95231"/>
                </a:cubicBezTo>
                <a:lnTo>
                  <a:pt x="5707063" y="3849707"/>
                </a:lnTo>
                <a:cubicBezTo>
                  <a:pt x="5707063" y="3902301"/>
                  <a:pt x="5664426" y="3944937"/>
                  <a:pt x="5611832" y="3944937"/>
                </a:cubicBezTo>
                <a:lnTo>
                  <a:pt x="95231" y="3944937"/>
                </a:lnTo>
                <a:cubicBezTo>
                  <a:pt x="42636" y="3944937"/>
                  <a:pt x="0" y="3902301"/>
                  <a:pt x="0" y="3849707"/>
                </a:cubicBezTo>
                <a:lnTo>
                  <a:pt x="0" y="95231"/>
                </a:lnTo>
                <a:cubicBezTo>
                  <a:pt x="0" y="42671"/>
                  <a:pt x="42671" y="0"/>
                  <a:pt x="9523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4359" y="142081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9922"/>
                </a:moveTo>
                <a:cubicBezTo>
                  <a:pt x="64244" y="9922"/>
                  <a:pt x="44183" y="21332"/>
                  <a:pt x="29580" y="34913"/>
                </a:cubicBezTo>
                <a:cubicBezTo>
                  <a:pt x="15069" y="48400"/>
                  <a:pt x="5364" y="64492"/>
                  <a:pt x="744" y="75561"/>
                </a:cubicBezTo>
                <a:cubicBezTo>
                  <a:pt x="-279" y="78011"/>
                  <a:pt x="-279" y="80739"/>
                  <a:pt x="744" y="83189"/>
                </a:cubicBezTo>
                <a:cubicBezTo>
                  <a:pt x="5364" y="94258"/>
                  <a:pt x="15069" y="110381"/>
                  <a:pt x="29580" y="123837"/>
                </a:cubicBezTo>
                <a:cubicBezTo>
                  <a:pt x="44183" y="137387"/>
                  <a:pt x="64244" y="148828"/>
                  <a:pt x="89297" y="148828"/>
                </a:cubicBezTo>
                <a:cubicBezTo>
                  <a:pt x="114350" y="148828"/>
                  <a:pt x="134410" y="137418"/>
                  <a:pt x="149014" y="123837"/>
                </a:cubicBezTo>
                <a:cubicBezTo>
                  <a:pt x="163525" y="110350"/>
                  <a:pt x="173230" y="94258"/>
                  <a:pt x="177850" y="83189"/>
                </a:cubicBezTo>
                <a:cubicBezTo>
                  <a:pt x="178873" y="80739"/>
                  <a:pt x="178873" y="78011"/>
                  <a:pt x="177850" y="75561"/>
                </a:cubicBezTo>
                <a:cubicBezTo>
                  <a:pt x="173230" y="64492"/>
                  <a:pt x="163525" y="48369"/>
                  <a:pt x="149014" y="34913"/>
                </a:cubicBezTo>
                <a:cubicBezTo>
                  <a:pt x="134410" y="21363"/>
                  <a:pt x="114350" y="9922"/>
                  <a:pt x="89297" y="9922"/>
                </a:cubicBezTo>
                <a:close/>
                <a:moveTo>
                  <a:pt x="44648" y="79375"/>
                </a:moveTo>
                <a:cubicBezTo>
                  <a:pt x="44648" y="54733"/>
                  <a:pt x="64655" y="34727"/>
                  <a:pt x="89297" y="34727"/>
                </a:cubicBezTo>
                <a:cubicBezTo>
                  <a:pt x="113939" y="34727"/>
                  <a:pt x="133945" y="54733"/>
                  <a:pt x="133945" y="79375"/>
                </a:cubicBezTo>
                <a:cubicBezTo>
                  <a:pt x="133945" y="104017"/>
                  <a:pt x="113939" y="124023"/>
                  <a:pt x="89297" y="124023"/>
                </a:cubicBezTo>
                <a:cubicBezTo>
                  <a:pt x="64655" y="124023"/>
                  <a:pt x="44648" y="104017"/>
                  <a:pt x="44648" y="79375"/>
                </a:cubicBezTo>
                <a:close/>
                <a:moveTo>
                  <a:pt x="89297" y="59531"/>
                </a:moveTo>
                <a:cubicBezTo>
                  <a:pt x="89297" y="70476"/>
                  <a:pt x="80398" y="79375"/>
                  <a:pt x="69453" y="79375"/>
                </a:cubicBezTo>
                <a:cubicBezTo>
                  <a:pt x="65887" y="79375"/>
                  <a:pt x="62539" y="78445"/>
                  <a:pt x="59624" y="76771"/>
                </a:cubicBezTo>
                <a:cubicBezTo>
                  <a:pt x="59314" y="80150"/>
                  <a:pt x="59593" y="83623"/>
                  <a:pt x="60523" y="87064"/>
                </a:cubicBezTo>
                <a:cubicBezTo>
                  <a:pt x="64771" y="102939"/>
                  <a:pt x="81111" y="112365"/>
                  <a:pt x="96986" y="108117"/>
                </a:cubicBezTo>
                <a:cubicBezTo>
                  <a:pt x="112861" y="103870"/>
                  <a:pt x="122287" y="87530"/>
                  <a:pt x="118039" y="71655"/>
                </a:cubicBezTo>
                <a:cubicBezTo>
                  <a:pt x="114257" y="57485"/>
                  <a:pt x="100831" y="48462"/>
                  <a:pt x="86692" y="49702"/>
                </a:cubicBezTo>
                <a:cubicBezTo>
                  <a:pt x="88336" y="52586"/>
                  <a:pt x="89297" y="55935"/>
                  <a:pt x="89297" y="5953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875" y="138906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货币政策监测指标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94438" y="1706563"/>
            <a:ext cx="5445125" cy="793750"/>
          </a:xfrm>
          <a:custGeom>
            <a:avLst/>
            <a:gdLst/>
            <a:ahLst/>
            <a:cxnLst/>
            <a:rect l="l" t="t" r="r" b="b"/>
            <a:pathLst>
              <a:path w="5445125" h="79375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730250"/>
                </a:lnTo>
                <a:cubicBezTo>
                  <a:pt x="5445125" y="765297"/>
                  <a:pt x="5416672" y="793750"/>
                  <a:pt x="538162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389688" y="1881187"/>
            <a:ext cx="635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核心PCE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883801" y="1801813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2.4-2.6%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907613" y="2024062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89688" y="2246313"/>
            <a:ext cx="123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&gt;3%暂停降息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77563" y="224631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通胀压力指标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94438" y="2563813"/>
            <a:ext cx="5445125" cy="793750"/>
          </a:xfrm>
          <a:custGeom>
            <a:avLst/>
            <a:gdLst/>
            <a:ahLst/>
            <a:cxnLst/>
            <a:rect l="l" t="t" r="r" b="b"/>
            <a:pathLst>
              <a:path w="5445125" h="79375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730250"/>
                </a:lnTo>
                <a:cubicBezTo>
                  <a:pt x="5445125" y="765297"/>
                  <a:pt x="5416672" y="793750"/>
                  <a:pt x="538162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389688" y="2738438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失业率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883801" y="2659063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4.0-4.2%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07613" y="2881313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89688" y="3103563"/>
            <a:ext cx="132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&gt;4.5%加速降息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977563" y="310356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就业市场指标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94438" y="3421063"/>
            <a:ext cx="5445125" cy="793750"/>
          </a:xfrm>
          <a:custGeom>
            <a:avLst/>
            <a:gdLst/>
            <a:ahLst/>
            <a:cxnLst/>
            <a:rect l="l" t="t" r="r" b="b"/>
            <a:pathLst>
              <a:path w="5445125" h="79375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730250"/>
                </a:lnTo>
                <a:cubicBezTo>
                  <a:pt x="5445125" y="765297"/>
                  <a:pt x="5416672" y="793750"/>
                  <a:pt x="538162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389688" y="3595688"/>
            <a:ext cx="88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3M-10Y利差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088688" y="3516313"/>
            <a:ext cx="55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待确认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112500" y="3738563"/>
            <a:ext cx="531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当前状态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89688" y="3960813"/>
            <a:ext cx="122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历史信号: 倒挂预示衰退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977563" y="396081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衰退信号指标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294438" y="4278313"/>
            <a:ext cx="5445125" cy="793750"/>
          </a:xfrm>
          <a:custGeom>
            <a:avLst/>
            <a:gdLst/>
            <a:ahLst/>
            <a:cxnLst/>
            <a:rect l="l" t="t" r="r" b="b"/>
            <a:pathLst>
              <a:path w="5445125" h="79375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730250"/>
                </a:lnTo>
                <a:cubicBezTo>
                  <a:pt x="5445125" y="765297"/>
                  <a:pt x="5416672" y="793750"/>
                  <a:pt x="538162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389688" y="4452938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实际利率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883801" y="4373563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1.5-2.0%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907613" y="4595813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389688" y="4818063"/>
            <a:ext cx="111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&gt;2%限制性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977563" y="481806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政策紧缩程度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63469" y="5306219"/>
            <a:ext cx="5707063" cy="2230438"/>
          </a:xfrm>
          <a:custGeom>
            <a:avLst/>
            <a:gdLst/>
            <a:ahLst/>
            <a:cxnLst/>
            <a:rect l="l" t="t" r="r" b="b"/>
            <a:pathLst>
              <a:path w="5707063" h="2230438">
                <a:moveTo>
                  <a:pt x="95240" y="0"/>
                </a:moveTo>
                <a:lnTo>
                  <a:pt x="5611823" y="0"/>
                </a:lnTo>
                <a:cubicBezTo>
                  <a:pt x="5664422" y="0"/>
                  <a:pt x="5707063" y="42640"/>
                  <a:pt x="5707063" y="95240"/>
                </a:cubicBezTo>
                <a:lnTo>
                  <a:pt x="5707063" y="2135198"/>
                </a:lnTo>
                <a:cubicBezTo>
                  <a:pt x="5707063" y="2187797"/>
                  <a:pt x="5664422" y="2230437"/>
                  <a:pt x="5611823" y="2230438"/>
                </a:cubicBezTo>
                <a:lnTo>
                  <a:pt x="95240" y="2230438"/>
                </a:lnTo>
                <a:cubicBezTo>
                  <a:pt x="42640" y="2230438"/>
                  <a:pt x="0" y="2187797"/>
                  <a:pt x="0" y="2135198"/>
                </a:cubicBezTo>
                <a:lnTo>
                  <a:pt x="0" y="95240"/>
                </a:lnTo>
                <a:cubicBezTo>
                  <a:pt x="0" y="42675"/>
                  <a:pt x="42675" y="0"/>
                  <a:pt x="95240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14281" y="5468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4011" y="1581"/>
                </a:moveTo>
                <a:cubicBezTo>
                  <a:pt x="77267" y="-527"/>
                  <a:pt x="81483" y="-527"/>
                  <a:pt x="84739" y="1581"/>
                </a:cubicBezTo>
                <a:lnTo>
                  <a:pt x="154192" y="46230"/>
                </a:lnTo>
                <a:cubicBezTo>
                  <a:pt x="157882" y="48617"/>
                  <a:pt x="159587" y="53144"/>
                  <a:pt x="158347" y="57361"/>
                </a:cubicBezTo>
                <a:cubicBezTo>
                  <a:pt x="157107" y="61578"/>
                  <a:pt x="153231" y="64492"/>
                  <a:pt x="148828" y="64492"/>
                </a:cubicBezTo>
                <a:lnTo>
                  <a:pt x="138906" y="64492"/>
                </a:lnTo>
                <a:lnTo>
                  <a:pt x="138906" y="128984"/>
                </a:lnTo>
                <a:lnTo>
                  <a:pt x="154781" y="140891"/>
                </a:lnTo>
                <a:cubicBezTo>
                  <a:pt x="157293" y="142751"/>
                  <a:pt x="158750" y="145697"/>
                  <a:pt x="158750" y="148828"/>
                </a:cubicBezTo>
                <a:cubicBezTo>
                  <a:pt x="158750" y="154316"/>
                  <a:pt x="154316" y="158750"/>
                  <a:pt x="148828" y="158750"/>
                </a:cubicBezTo>
                <a:lnTo>
                  <a:pt x="9922" y="158750"/>
                </a:lnTo>
                <a:cubicBezTo>
                  <a:pt x="4434" y="158750"/>
                  <a:pt x="0" y="154316"/>
                  <a:pt x="0" y="148828"/>
                </a:cubicBezTo>
                <a:cubicBezTo>
                  <a:pt x="0" y="145697"/>
                  <a:pt x="1457" y="142751"/>
                  <a:pt x="3969" y="140891"/>
                </a:cubicBezTo>
                <a:lnTo>
                  <a:pt x="19844" y="128984"/>
                </a:lnTo>
                <a:lnTo>
                  <a:pt x="19844" y="128984"/>
                </a:lnTo>
                <a:lnTo>
                  <a:pt x="19844" y="64492"/>
                </a:lnTo>
                <a:lnTo>
                  <a:pt x="9922" y="64492"/>
                </a:lnTo>
                <a:cubicBezTo>
                  <a:pt x="5519" y="64492"/>
                  <a:pt x="1643" y="61578"/>
                  <a:pt x="403" y="57361"/>
                </a:cubicBezTo>
                <a:cubicBezTo>
                  <a:pt x="-837" y="53144"/>
                  <a:pt x="868" y="48586"/>
                  <a:pt x="4558" y="46230"/>
                </a:cubicBezTo>
                <a:lnTo>
                  <a:pt x="74011" y="1581"/>
                </a:lnTo>
                <a:close/>
                <a:moveTo>
                  <a:pt x="104180" y="64492"/>
                </a:moveTo>
                <a:lnTo>
                  <a:pt x="104180" y="128984"/>
                </a:lnTo>
                <a:lnTo>
                  <a:pt x="124023" y="128984"/>
                </a:lnTo>
                <a:lnTo>
                  <a:pt x="124023" y="64492"/>
                </a:lnTo>
                <a:lnTo>
                  <a:pt x="104180" y="64492"/>
                </a:lnTo>
                <a:close/>
                <a:moveTo>
                  <a:pt x="69453" y="128984"/>
                </a:moveTo>
                <a:lnTo>
                  <a:pt x="89297" y="128984"/>
                </a:lnTo>
                <a:lnTo>
                  <a:pt x="89297" y="64492"/>
                </a:lnTo>
                <a:lnTo>
                  <a:pt x="69453" y="64492"/>
                </a:lnTo>
                <a:lnTo>
                  <a:pt x="69453" y="128984"/>
                </a:lnTo>
                <a:close/>
                <a:moveTo>
                  <a:pt x="34727" y="64492"/>
                </a:moveTo>
                <a:lnTo>
                  <a:pt x="34727" y="128984"/>
                </a:lnTo>
                <a:lnTo>
                  <a:pt x="54570" y="128984"/>
                </a:lnTo>
                <a:lnTo>
                  <a:pt x="54570" y="64492"/>
                </a:lnTo>
                <a:lnTo>
                  <a:pt x="34727" y="64492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6" name="Text 74"/>
          <p:cNvSpPr/>
          <p:nvPr/>
        </p:nvSpPr>
        <p:spPr>
          <a:xfrm>
            <a:off x="6492875" y="5437188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财政政策监测指标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294438" y="5754688"/>
            <a:ext cx="5445125" cy="508000"/>
          </a:xfrm>
          <a:custGeom>
            <a:avLst/>
            <a:gdLst/>
            <a:ahLst/>
            <a:cxnLst/>
            <a:rect l="l" t="t" r="r" b="b"/>
            <a:pathLst>
              <a:path w="5445125" h="5080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444500"/>
                </a:lnTo>
                <a:cubicBezTo>
                  <a:pt x="5445125" y="479547"/>
                  <a:pt x="5416672" y="508000"/>
                  <a:pt x="538162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6357938" y="5834063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债务/GDP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357938" y="6024563"/>
            <a:ext cx="100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&gt;130%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832703" y="5818188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120-125%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856516" y="6040438"/>
            <a:ext cx="81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294438" y="6326188"/>
            <a:ext cx="5445125" cy="508000"/>
          </a:xfrm>
          <a:custGeom>
            <a:avLst/>
            <a:gdLst/>
            <a:ahLst/>
            <a:cxnLst/>
            <a:rect l="l" t="t" r="r" b="b"/>
            <a:pathLst>
              <a:path w="5445125" h="5080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444500"/>
                </a:lnTo>
                <a:cubicBezTo>
                  <a:pt x="5445125" y="479547"/>
                  <a:pt x="5416672" y="508000"/>
                  <a:pt x="538162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6357938" y="6405563"/>
            <a:ext cx="9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利息/财政收入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357938" y="6596063"/>
            <a:ext cx="96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&gt;20%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020103" y="6389688"/>
            <a:ext cx="658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15-18%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1043915" y="6611938"/>
            <a:ext cx="63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294438" y="6897688"/>
            <a:ext cx="5445125" cy="508000"/>
          </a:xfrm>
          <a:custGeom>
            <a:avLst/>
            <a:gdLst/>
            <a:ahLst/>
            <a:cxnLst/>
            <a:rect l="l" t="t" r="r" b="b"/>
            <a:pathLst>
              <a:path w="5445125" h="5080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444500"/>
                </a:lnTo>
                <a:cubicBezTo>
                  <a:pt x="5445125" y="479547"/>
                  <a:pt x="5416672" y="508000"/>
                  <a:pt x="538162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6357938" y="6977063"/>
            <a:ext cx="89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财政赤字率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357938" y="7167563"/>
            <a:ext cx="88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&gt;7%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10915551" y="6961188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5.5-6.5%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10939363" y="7183438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5f8236aed0a45dfab4bc35738f61946c59b8141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6C8C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04775"/>
            <a:ext cx="2609850" cy="400050"/>
          </a:xfrm>
          <a:custGeom>
            <a:avLst/>
            <a:gdLst/>
            <a:ahLst/>
            <a:cxnLst/>
            <a:rect l="l" t="t" r="r" b="b"/>
            <a:pathLst>
              <a:path w="2609850" h="400050">
                <a:moveTo>
                  <a:pt x="200025" y="0"/>
                </a:moveTo>
                <a:lnTo>
                  <a:pt x="2409825" y="0"/>
                </a:lnTo>
                <a:cubicBezTo>
                  <a:pt x="2520222" y="0"/>
                  <a:pt x="2609850" y="89628"/>
                  <a:pt x="2609850" y="200025"/>
                </a:cubicBezTo>
                <a:lnTo>
                  <a:pt x="2609850" y="200025"/>
                </a:lnTo>
                <a:cubicBezTo>
                  <a:pt x="2609850" y="310422"/>
                  <a:pt x="2520222" y="400050"/>
                  <a:pt x="2409825" y="400050"/>
                </a:cubicBezTo>
                <a:lnTo>
                  <a:pt x="200025" y="400050"/>
                </a:lnTo>
                <a:cubicBezTo>
                  <a:pt x="89628" y="400050"/>
                  <a:pt x="0" y="310422"/>
                  <a:pt x="0" y="200025"/>
                </a:cubicBezTo>
                <a:lnTo>
                  <a:pt x="0" y="200025"/>
                </a:lnTo>
                <a:cubicBezTo>
                  <a:pt x="0" y="89628"/>
                  <a:pt x="89628" y="0"/>
                  <a:pt x="2000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204788"/>
            <a:ext cx="22913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OUTLOOK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738188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核心洞察与展望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347788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Shape 5"/>
          <p:cNvSpPr/>
          <p:nvPr/>
        </p:nvSpPr>
        <p:spPr>
          <a:xfrm>
            <a:off x="400050" y="1633538"/>
            <a:ext cx="11410950" cy="895350"/>
          </a:xfrm>
          <a:custGeom>
            <a:avLst/>
            <a:gdLst/>
            <a:ahLst/>
            <a:cxnLst/>
            <a:rect l="l" t="t" r="r" b="b"/>
            <a:pathLst>
              <a:path w="11410950" h="895350">
                <a:moveTo>
                  <a:pt x="38100" y="0"/>
                </a:moveTo>
                <a:lnTo>
                  <a:pt x="11334747" y="0"/>
                </a:lnTo>
                <a:cubicBezTo>
                  <a:pt x="11376833" y="0"/>
                  <a:pt x="11410950" y="34117"/>
                  <a:pt x="11410950" y="76203"/>
                </a:cubicBezTo>
                <a:lnTo>
                  <a:pt x="11410950" y="819147"/>
                </a:lnTo>
                <a:cubicBezTo>
                  <a:pt x="11410950" y="861233"/>
                  <a:pt x="11376833" y="895350"/>
                  <a:pt x="113347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1633538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17859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Shape 8"/>
          <p:cNvSpPr/>
          <p:nvPr/>
        </p:nvSpPr>
        <p:spPr>
          <a:xfrm>
            <a:off x="704850" y="19192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9"/>
          <p:cNvSpPr/>
          <p:nvPr/>
        </p:nvSpPr>
        <p:spPr>
          <a:xfrm>
            <a:off x="1181100" y="1785938"/>
            <a:ext cx="885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货币政策展望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1100" y="2128838"/>
            <a:ext cx="8839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历史经验表明，当前最可能的情景是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1995年式软着陆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：渐进式降息2-3次，年底利率降至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3.5-3.75%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，经济保持韧性。置信度65%。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0050" y="2681288"/>
            <a:ext cx="11410950" cy="895350"/>
          </a:xfrm>
          <a:custGeom>
            <a:avLst/>
            <a:gdLst/>
            <a:ahLst/>
            <a:cxnLst/>
            <a:rect l="l" t="t" r="r" b="b"/>
            <a:pathLst>
              <a:path w="11410950" h="895350">
                <a:moveTo>
                  <a:pt x="38100" y="0"/>
                </a:moveTo>
                <a:lnTo>
                  <a:pt x="11334747" y="0"/>
                </a:lnTo>
                <a:cubicBezTo>
                  <a:pt x="11376833" y="0"/>
                  <a:pt x="11410950" y="34117"/>
                  <a:pt x="11410950" y="76203"/>
                </a:cubicBezTo>
                <a:lnTo>
                  <a:pt x="11410950" y="819147"/>
                </a:lnTo>
                <a:cubicBezTo>
                  <a:pt x="11410950" y="861233"/>
                  <a:pt x="11376833" y="895350"/>
                  <a:pt x="113347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00050" y="2681288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" y="28336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7" name="Shape 14"/>
          <p:cNvSpPr/>
          <p:nvPr/>
        </p:nvSpPr>
        <p:spPr>
          <a:xfrm>
            <a:off x="704850" y="29670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5"/>
          <p:cNvSpPr/>
          <p:nvPr/>
        </p:nvSpPr>
        <p:spPr>
          <a:xfrm>
            <a:off x="1181100" y="2833688"/>
            <a:ext cx="782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财政政策展望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81100" y="3176588"/>
            <a:ext cx="781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财政结构性扩张持续，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AI和基建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是重点方向。但债务/GDP处于120-125%的历史高位，政策空间受限。置信度70%。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0050" y="3729038"/>
            <a:ext cx="11410950" cy="895350"/>
          </a:xfrm>
          <a:custGeom>
            <a:avLst/>
            <a:gdLst/>
            <a:ahLst/>
            <a:cxnLst/>
            <a:rect l="l" t="t" r="r" b="b"/>
            <a:pathLst>
              <a:path w="11410950" h="895350">
                <a:moveTo>
                  <a:pt x="38100" y="0"/>
                </a:moveTo>
                <a:lnTo>
                  <a:pt x="11334747" y="0"/>
                </a:lnTo>
                <a:cubicBezTo>
                  <a:pt x="11376833" y="0"/>
                  <a:pt x="11410950" y="34117"/>
                  <a:pt x="11410950" y="76203"/>
                </a:cubicBezTo>
                <a:lnTo>
                  <a:pt x="11410950" y="819147"/>
                </a:lnTo>
                <a:cubicBezTo>
                  <a:pt x="11410950" y="861233"/>
                  <a:pt x="11376833" y="895350"/>
                  <a:pt x="113347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00050" y="3729038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2" name="Shape 19"/>
          <p:cNvSpPr/>
          <p:nvPr/>
        </p:nvSpPr>
        <p:spPr>
          <a:xfrm>
            <a:off x="571500" y="38814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3" name="Shape 20"/>
          <p:cNvSpPr/>
          <p:nvPr/>
        </p:nvSpPr>
        <p:spPr>
          <a:xfrm>
            <a:off x="692944" y="40147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1"/>
          <p:cNvSpPr/>
          <p:nvPr/>
        </p:nvSpPr>
        <p:spPr>
          <a:xfrm>
            <a:off x="1181100" y="3881438"/>
            <a:ext cx="771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市场策略建议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81100" y="4224338"/>
            <a:ext cx="769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看好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科技股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和基建受益板块，债券采用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短久期策略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。行业配置上超配科技、公用事业、工业、原材料，低配金融。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00050" y="4776788"/>
            <a:ext cx="11410950" cy="895350"/>
          </a:xfrm>
          <a:custGeom>
            <a:avLst/>
            <a:gdLst/>
            <a:ahLst/>
            <a:cxnLst/>
            <a:rect l="l" t="t" r="r" b="b"/>
            <a:pathLst>
              <a:path w="11410950" h="895350">
                <a:moveTo>
                  <a:pt x="38100" y="0"/>
                </a:moveTo>
                <a:lnTo>
                  <a:pt x="11334747" y="0"/>
                </a:lnTo>
                <a:cubicBezTo>
                  <a:pt x="11376833" y="0"/>
                  <a:pt x="11410950" y="34117"/>
                  <a:pt x="11410950" y="76203"/>
                </a:cubicBezTo>
                <a:lnTo>
                  <a:pt x="11410950" y="819147"/>
                </a:lnTo>
                <a:cubicBezTo>
                  <a:pt x="11410950" y="861233"/>
                  <a:pt x="11376833" y="895350"/>
                  <a:pt x="113347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00050" y="4776788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" y="49291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9" name="Shape 26"/>
          <p:cNvSpPr/>
          <p:nvPr/>
        </p:nvSpPr>
        <p:spPr>
          <a:xfrm>
            <a:off x="704850" y="50625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7"/>
          <p:cNvSpPr/>
          <p:nvPr/>
        </p:nvSpPr>
        <p:spPr>
          <a:xfrm>
            <a:off x="1181100" y="4929188"/>
            <a:ext cx="1035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风险提示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81100" y="5272088"/>
            <a:ext cx="103346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需警惕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高债务约束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地缘政治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等外生风险。AI革命、逆全球化等结构性因素可能改变历史规律。建议密切监测核心PCE、失业率、债务/GDP等关键指标。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85763" y="5905500"/>
            <a:ext cx="11420475" cy="847725"/>
          </a:xfrm>
          <a:custGeom>
            <a:avLst/>
            <a:gdLst/>
            <a:ahLst/>
            <a:cxnLst/>
            <a:rect l="l" t="t" r="r" b="b"/>
            <a:pathLst>
              <a:path w="11420475" h="847725">
                <a:moveTo>
                  <a:pt x="76202" y="0"/>
                </a:moveTo>
                <a:lnTo>
                  <a:pt x="11344273" y="0"/>
                </a:lnTo>
                <a:cubicBezTo>
                  <a:pt x="11386330" y="0"/>
                  <a:pt x="11420475" y="34145"/>
                  <a:pt x="11420475" y="76202"/>
                </a:cubicBezTo>
                <a:lnTo>
                  <a:pt x="11420475" y="771523"/>
                </a:lnTo>
                <a:cubicBezTo>
                  <a:pt x="11420475" y="813580"/>
                  <a:pt x="11386330" y="847725"/>
                  <a:pt x="11344273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1500" y="62150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4" name="Text 31"/>
          <p:cNvSpPr/>
          <p:nvPr/>
        </p:nvSpPr>
        <p:spPr>
          <a:xfrm>
            <a:off x="981075" y="6215063"/>
            <a:ext cx="601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本报告基于历史路径经验推断，非实时数据驱动。历史表现不代表未来结果。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544473" y="6062663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整体置信度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468273" y="6253163"/>
            <a:ext cx="1181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60-70%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2026年宏观政策走向分析报告</dc:title>
  <dc:subject>2026年宏观政策走向分析报告</dc:subject>
  <dc:creator>Kimi</dc:creator>
  <cp:lastModifiedBy>Kimi</cp:lastModifiedBy>
  <cp:revision>1</cp:revision>
  <dcterms:created xsi:type="dcterms:W3CDTF">2026-03-04T01:07:22Z</dcterms:created>
  <dcterms:modified xsi:type="dcterms:W3CDTF">2026-03-04T01:07:22Z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2026年宏观政策走向分析报告","ContentProducer":"001191110108MACG2KBH8F10000","ProduceID":"19cb65b1-2b32-8816-8000-000027831775","ReservedCode1":"","ContentPropagator":"001191110108MACG2KBH8F20000","PropagateID":"19cb65b1-2b32-8816-8000-000027831775","ReservedCode2":""}</vt:lpwstr>
  </property>
</Properties>
</file>
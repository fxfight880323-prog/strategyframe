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MiSans" panose="02010600030101010101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  <p:embeddedFont>
      <p:font typeface="Liter" panose="02010600030101010101" charset="0"/>
      <p:regular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92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109790edb035f56ebe0198b215130ae19f712b09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4222" b="422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807369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POLICY ANALYSIS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150269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2026年宏观政策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走向分析报告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3731419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979069"/>
            <a:ext cx="11525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基于历史经验推断法的政策预测与市场策略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596265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分析期间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57300" y="59436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2026年3月 - 2027年3月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6745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57300" y="624840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60-70%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01451" y="6096000"/>
            <a:ext cx="2105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2026-03-03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4097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144780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17526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市场走势与前期判断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4097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10400" y="144780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宏观跟踪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10400" y="17526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温和增长,通胀韧性,就业警惕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2588895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262699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企业基本面跟踪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293179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科技盈利扩张,行业景气度分化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588895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0400" y="262699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市场情绪与资金流动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0400" y="293179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情绪过高预警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1000" y="376809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380619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估值水平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411099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估值昂贵分析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76809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10400" y="380619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政策与流动性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10400" y="411099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紧缩与流动性短缺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1000" y="4947285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498538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历史情景推演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529018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三情景分析与相似度评估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4947285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10400" y="498538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框架决策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0400" y="529018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资产配置与关键指标监测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6130291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重要声明: 本报告基于历史路径经验推断,非实时数据驱动。历史表现不代表未来结果。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 复盘情况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1257300"/>
            <a:ext cx="15240" cy="2247900"/>
          </a:xfrm>
          <a:custGeom>
            <a:avLst/>
            <a:gdLst/>
            <a:ahLst/>
            <a:cxnLst/>
            <a:rect l="l" t="t" r="r" b="b"/>
            <a:pathLst>
              <a:path w="15240" h="2247900">
                <a:moveTo>
                  <a:pt x="0" y="0"/>
                </a:moveTo>
                <a:lnTo>
                  <a:pt x="15240" y="0"/>
                </a:lnTo>
                <a:lnTo>
                  <a:pt x="1524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" y="12952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6" name="Text 4"/>
          <p:cNvSpPr/>
          <p:nvPr/>
        </p:nvSpPr>
        <p:spPr>
          <a:xfrm>
            <a:off x="1024890" y="12573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前期判断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40" y="1714381"/>
            <a:ext cx="5172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结构性扩张政策持续,重点支持</a:t>
            </a:r>
            <a:r>
              <a:rPr lang="en-US" sz="1350" dirty="0">
                <a:solidFill>
                  <a:srgbClr val="FAFAFA"/>
                </a:solidFill>
                <a:highlight>
                  <a:srgbClr val="1D1D1D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AI和基础设施 </a:t>
            </a:r>
            <a:r>
              <a:rPr lang="en-US" sz="13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,但债务约束增加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840" y="2145388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01090" y="2202538"/>
            <a:ext cx="4267200" cy="76200"/>
          </a:xfrm>
          <a:custGeom>
            <a:avLst/>
            <a:gdLst/>
            <a:ahLst/>
            <a:cxnLst/>
            <a:rect l="l" t="t" r="r" b="b"/>
            <a:pathLst>
              <a:path w="4267200" h="76200">
                <a:moveTo>
                  <a:pt x="38100" y="0"/>
                </a:moveTo>
                <a:lnTo>
                  <a:pt x="4229100" y="0"/>
                </a:lnTo>
                <a:cubicBezTo>
                  <a:pt x="4250128" y="0"/>
                  <a:pt x="4267200" y="17072"/>
                  <a:pt x="4267200" y="38100"/>
                </a:cubicBezTo>
                <a:lnTo>
                  <a:pt x="4267200" y="38100"/>
                </a:lnTo>
                <a:cubicBezTo>
                  <a:pt x="4267200" y="59128"/>
                  <a:pt x="4250128" y="76200"/>
                  <a:pt x="4229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0" name="Shape 8"/>
          <p:cNvSpPr/>
          <p:nvPr/>
        </p:nvSpPr>
        <p:spPr>
          <a:xfrm>
            <a:off x="1101090" y="2202538"/>
            <a:ext cx="2990850" cy="76200"/>
          </a:xfrm>
          <a:custGeom>
            <a:avLst/>
            <a:gdLst/>
            <a:ahLst/>
            <a:cxnLst/>
            <a:rect l="l" t="t" r="r" b="b"/>
            <a:pathLst>
              <a:path w="2990850" h="76200">
                <a:moveTo>
                  <a:pt x="38100" y="0"/>
                </a:moveTo>
                <a:lnTo>
                  <a:pt x="2952750" y="0"/>
                </a:lnTo>
                <a:cubicBezTo>
                  <a:pt x="2973778" y="0"/>
                  <a:pt x="2990850" y="17072"/>
                  <a:pt x="2990850" y="38100"/>
                </a:cubicBezTo>
                <a:lnTo>
                  <a:pt x="2990850" y="38100"/>
                </a:lnTo>
                <a:cubicBezTo>
                  <a:pt x="2990850" y="59128"/>
                  <a:pt x="2973778" y="76200"/>
                  <a:pt x="29527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11" name="Text 9"/>
          <p:cNvSpPr/>
          <p:nvPr/>
        </p:nvSpPr>
        <p:spPr>
          <a:xfrm>
            <a:off x="5445323" y="214538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" y="3729990"/>
            <a:ext cx="15240" cy="2247900"/>
          </a:xfrm>
          <a:custGeom>
            <a:avLst/>
            <a:gdLst/>
            <a:ahLst/>
            <a:cxnLst/>
            <a:rect l="l" t="t" r="r" b="b"/>
            <a:pathLst>
              <a:path w="15240" h="2247900">
                <a:moveTo>
                  <a:pt x="0" y="0"/>
                </a:moveTo>
                <a:lnTo>
                  <a:pt x="15240" y="0"/>
                </a:lnTo>
                <a:lnTo>
                  <a:pt x="1524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4840" y="376797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890" y="372999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对比结果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840" y="4187071"/>
            <a:ext cx="5172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市场走势与前期判断基本吻合,政策方向符合预期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840" y="4618077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01090" y="4675227"/>
            <a:ext cx="4257675" cy="76200"/>
          </a:xfrm>
          <a:custGeom>
            <a:avLst/>
            <a:gdLst/>
            <a:ahLst/>
            <a:cxnLst/>
            <a:rect l="l" t="t" r="r" b="b"/>
            <a:pathLst>
              <a:path w="4257675" h="76200">
                <a:moveTo>
                  <a:pt x="38100" y="0"/>
                </a:moveTo>
                <a:lnTo>
                  <a:pt x="4219575" y="0"/>
                </a:lnTo>
                <a:cubicBezTo>
                  <a:pt x="4240603" y="0"/>
                  <a:pt x="4257675" y="17072"/>
                  <a:pt x="4257675" y="38100"/>
                </a:cubicBezTo>
                <a:lnTo>
                  <a:pt x="4257675" y="38100"/>
                </a:lnTo>
                <a:cubicBezTo>
                  <a:pt x="4257675" y="59128"/>
                  <a:pt x="4240603" y="76200"/>
                  <a:pt x="42195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1090" y="4675227"/>
            <a:ext cx="2771775" cy="76200"/>
          </a:xfrm>
          <a:custGeom>
            <a:avLst/>
            <a:gdLst/>
            <a:ahLst/>
            <a:cxnLst/>
            <a:rect l="l" t="t" r="r" b="b"/>
            <a:pathLst>
              <a:path w="2771775" h="762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cubicBezTo>
                  <a:pt x="2771775" y="59128"/>
                  <a:pt x="2754703" y="76200"/>
                  <a:pt x="2733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9" name="Text 17"/>
          <p:cNvSpPr/>
          <p:nvPr/>
        </p:nvSpPr>
        <p:spPr>
          <a:xfrm>
            <a:off x="5438180" y="4618077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15990" y="1261110"/>
            <a:ext cx="5789295" cy="4712970"/>
          </a:xfrm>
          <a:custGeom>
            <a:avLst/>
            <a:gdLst/>
            <a:ahLst/>
            <a:cxnLst/>
            <a:rect l="l" t="t" r="r" b="b"/>
            <a:pathLst>
              <a:path w="5789295" h="4712970">
                <a:moveTo>
                  <a:pt x="0" y="0"/>
                </a:moveTo>
                <a:lnTo>
                  <a:pt x="5789295" y="0"/>
                </a:lnTo>
                <a:lnTo>
                  <a:pt x="5789295" y="4712970"/>
                </a:lnTo>
                <a:lnTo>
                  <a:pt x="0" y="4712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5550" y="153150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6648450" y="149352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市场建议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48400" y="3018830"/>
            <a:ext cx="540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策略方向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48400" y="3361730"/>
            <a:ext cx="5419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看好</a:t>
            </a: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科技股</a:t>
            </a:r>
            <a:r>
              <a:rPr lang="en-US" sz="15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和受益于基建的</a:t>
            </a: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48400" y="3903702"/>
            <a:ext cx="5324475" cy="7620"/>
          </a:xfrm>
          <a:custGeom>
            <a:avLst/>
            <a:gdLst/>
            <a:ahLst/>
            <a:cxnLst/>
            <a:rect l="l" t="t" r="r" b="b"/>
            <a:pathLst>
              <a:path w="5324475" h="7620">
                <a:moveTo>
                  <a:pt x="0" y="0"/>
                </a:moveTo>
                <a:lnTo>
                  <a:pt x="5324475" y="0"/>
                </a:lnTo>
                <a:lnTo>
                  <a:pt x="53244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6" name="Text 24"/>
          <p:cNvSpPr/>
          <p:nvPr/>
        </p:nvSpPr>
        <p:spPr>
          <a:xfrm>
            <a:off x="6248400" y="4136113"/>
            <a:ext cx="540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债券市场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48400" y="4479013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短久期策略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61302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重要声明: 本报告基于历史路径经验推断,非实时数据驱动。历史表现不代表未来结果,经济环境可能发生结构性变化导致历史规律失效。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 宏观跟踪:温和增长,通胀韧性,就业警惕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04900"/>
          <a:ext cx="11287126" cy="5276850"/>
        </p:xfrm>
        <a:graphic>
          <a:graphicData uri="http://schemas.openxmlformats.org/drawingml/2006/table">
            <a:tbl>
              <a:tblPr/>
              <a:tblGrid>
                <a:gridCol w="1124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最新数据/状态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边际变化和信号含义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685">
                <a:tc rowSpan="3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GDP增长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GDP Now 预测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Q1(截至2026年3月1日)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强于潜在增长率(约1.8%),预示经济仍具韧性,无衰退风险。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ADS 商业景气指数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处于历史扩张区间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虽从2月高点回落,但仍高于0,显示实体经济活动维持正增长。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STLENI 指数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非经济衰退区间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表明由于金融条件改善,经济硬着陆概率极低。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85">
                <a:tc rowSpan="2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通胀指标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RedBook 零售指数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YoY: 6.7%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消费增长稳健,反映消费者在利率环境下仍具购买力。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6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美国中位数房价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42.8万美元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环比上涨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房价坚挺可能导致 PCE/CPI 中的租金分项回落缓慢。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685">
                <a:tc rowSpan="3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就业市场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ADP 新增就业人数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1月:2.2万人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2月预测:4.3-5.0万人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处于"低速增长但薪资稳固"僵局,制造业岗位流失。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6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WARN Notice裁员数据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申报人数增加15%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1-2月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预警制造业和零售业存在局部收缩压力。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6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Lightcast 招聘数据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同比下降8.2%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企业招聘变得更为谨慎,市场转向"雇主市场"。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核心参考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10年期美债/ISM/PMI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10年期美债 4.21%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ISM PMI 48.7(3/3)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制造业处于荣枯线下,美债收益率反映了对长期增长和通胀的定价。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381000" y="62064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重要声明: 本报告基于历史路径经验推断,非实时数据驱动。历史表现不代表未来结果,经济环境可能发生结构性变化导致历史规律失效。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企业基本面:科技盈利扩张,毛利率受折旧影响,行业景气度科技占优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53068"/>
              </p:ext>
            </p:extLst>
          </p:nvPr>
        </p:nvGraphicFramePr>
        <p:xfrm>
          <a:off x="381000" y="1104900"/>
          <a:ext cx="11430000" cy="487839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51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最新数据/趋势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 err="1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分析与展望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3">
                <a:tc rowSpan="2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标普500盈利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盈利上修动能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2026年EPS预期调高约2.5%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上修表现出明显的广度改善,不仅局限于 Mag 7 科技股。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盈余惊喜比例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76%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2025Q4 财报季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工业、通信技术表现强劲,超过市场预期。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营收增长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纳斯达克营收增长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2026Q1 预期:11.8%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增速受高基数影响小幅放缓,但 AI 硬件需求依然井喷。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513">
                <a:tc rowSpan="2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利润率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纳斯达克100毛利率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26Q1 预计:65.5%-66.2%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AI产品订阅开始贡献毛利,但 CapEx 带来的折旧压力限制了净利。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ROIC - WACC 利差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2026Q1 预测:9.7%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利差保持韧性,主要得益于资本效率改善和 WACC 小幅下降。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现金流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美股现金流 PEG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1.1 - 1.2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历史均值附近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相较于单纯 PE,考虑自由现金流后的估值处于合理防御区间。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板块分化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行业景气度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科技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金融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能源、地产、传统零售表现承压,出现明显的结构性切换。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1000" y="62064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" name="Text 3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重要声明: 本报告基于历史路径经验推断,非实时数据驱动。历史表现不代表未来结果,经济环境可能发生结构性变化导致历史规律失效。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 市场情绪与资金流动:情绪过高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04900"/>
          <a:ext cx="11430000" cy="296418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最新数据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信号含义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主权基金流向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累计净流入同比 +22%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长期资本持续增配美股科技基建,作为"价值锚"配置。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AAII 个人看多比例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48.5%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高于历史均值 37.5%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贪婪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个人投资者情绪偏向"贪婪",需警惕短期超买回调风险。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Market Vane 看涨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68%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极度乐观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处于极度乐观边缘,历史上此读数常预示市场进入震荡期。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保证金债务/市值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1.85%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处于低位徘徊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杠杆率尚未出清,但并未出现类似 2021 年的非理性杠杆扩张。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4810" y="5048251"/>
            <a:ext cx="3703320" cy="1074420"/>
          </a:xfrm>
          <a:custGeom>
            <a:avLst/>
            <a:gdLst/>
            <a:ahLst/>
            <a:cxnLst/>
            <a:rect l="l" t="t" r="r" b="b"/>
            <a:pathLst>
              <a:path w="3703320" h="1074420">
                <a:moveTo>
                  <a:pt x="0" y="0"/>
                </a:moveTo>
                <a:lnTo>
                  <a:pt x="3703320" y="0"/>
                </a:lnTo>
                <a:lnTo>
                  <a:pt x="3703320" y="1074420"/>
                </a:lnTo>
                <a:lnTo>
                  <a:pt x="0" y="1074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0070" y="52425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" name="Text 4"/>
          <p:cNvSpPr/>
          <p:nvPr/>
        </p:nvSpPr>
        <p:spPr>
          <a:xfrm>
            <a:off x="807720" y="5204459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风险提示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1020" y="5509259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情绪指标显示市场处于</a:t>
            </a:r>
            <a:r>
              <a:rPr lang="en-US" sz="12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过热区域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,短期回调概率增加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45531" y="5048251"/>
            <a:ext cx="3703320" cy="1074420"/>
          </a:xfrm>
          <a:custGeom>
            <a:avLst/>
            <a:gdLst/>
            <a:ahLst/>
            <a:cxnLst/>
            <a:rect l="l" t="t" r="r" b="b"/>
            <a:pathLst>
              <a:path w="3703320" h="1074420">
                <a:moveTo>
                  <a:pt x="0" y="0"/>
                </a:moveTo>
                <a:lnTo>
                  <a:pt x="3703320" y="0"/>
                </a:lnTo>
                <a:lnTo>
                  <a:pt x="3703320" y="1074420"/>
                </a:lnTo>
                <a:lnTo>
                  <a:pt x="0" y="1074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20791" y="52425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1" name="Text 8"/>
          <p:cNvSpPr/>
          <p:nvPr/>
        </p:nvSpPr>
        <p:spPr>
          <a:xfrm>
            <a:off x="4668441" y="5204459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积极因素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01741" y="5509259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长期资本持续流入提供</a:t>
            </a: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底部支撑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,杠杆水平可控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06371" y="5048251"/>
            <a:ext cx="3703320" cy="1074420"/>
          </a:xfrm>
          <a:custGeom>
            <a:avLst/>
            <a:gdLst/>
            <a:ahLst/>
            <a:cxnLst/>
            <a:rect l="l" t="t" r="r" b="b"/>
            <a:pathLst>
              <a:path w="3703320" h="1074420">
                <a:moveTo>
                  <a:pt x="0" y="0"/>
                </a:moveTo>
                <a:lnTo>
                  <a:pt x="3703320" y="0"/>
                </a:lnTo>
                <a:lnTo>
                  <a:pt x="3703320" y="1074420"/>
                </a:lnTo>
                <a:lnTo>
                  <a:pt x="0" y="1074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81631" y="52425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5" name="Text 12"/>
          <p:cNvSpPr/>
          <p:nvPr/>
        </p:nvSpPr>
        <p:spPr>
          <a:xfrm>
            <a:off x="8529281" y="5204459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时间窗口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62581" y="5509259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建议关注</a:t>
            </a: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3-4月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财报季后的情绪变化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1000" y="62064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8" name="Text 15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重要声明: 本报告基于历史路径经验推断,非实时数据驱动。历史表现不代表未来结果,经济环境可能发生结构性变化导致历史规律失效。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 估值水平:估值昂贵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04900"/>
          <a:ext cx="11430000" cy="296894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231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当前数值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估值分位与评价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标普500 ERP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过去10年 5% 分位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极度昂贵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ERP 跌破 1% 警戒线,显示相对于债市,股市溢价极低。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真实股东收益率利差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1.2%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相对历史均值贴近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考虑分红与回购后的综合收益尚可,缓冲了高 PE 的估值压力。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前瞻 P/E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21.5 - 22.2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偏高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远高于 10 年平均水平 (18.8),需依靠更强的盈利上修来支撑。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4810" y="4743451"/>
            <a:ext cx="3703320" cy="1379220"/>
          </a:xfrm>
          <a:custGeom>
            <a:avLst/>
            <a:gdLst/>
            <a:ahLst/>
            <a:cxnLst/>
            <a:rect l="l" t="t" r="r" b="b"/>
            <a:pathLst>
              <a:path w="3703320" h="1379220">
                <a:moveTo>
                  <a:pt x="0" y="0"/>
                </a:moveTo>
                <a:lnTo>
                  <a:pt x="3703320" y="0"/>
                </a:lnTo>
                <a:lnTo>
                  <a:pt x="3703320" y="1379220"/>
                </a:lnTo>
                <a:lnTo>
                  <a:pt x="0" y="1379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5295" y="4899659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0.45%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7682" y="531875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标普500 ERP</a:t>
            </a:r>
            <a:endParaRPr lang="en-US" sz="1600" dirty="0"/>
          </a:p>
        </p:txBody>
      </p:sp>
      <p:sp>
        <p:nvSpPr>
          <p:cNvPr id="4" name="Shape 5"/>
          <p:cNvSpPr/>
          <p:nvPr/>
        </p:nvSpPr>
        <p:spPr>
          <a:xfrm>
            <a:off x="541020" y="5623559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9" name="Shape 6"/>
          <p:cNvSpPr/>
          <p:nvPr/>
        </p:nvSpPr>
        <p:spPr>
          <a:xfrm>
            <a:off x="541020" y="5623559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38100" y="0"/>
                </a:moveTo>
                <a:lnTo>
                  <a:pt x="133350" y="0"/>
                </a:lnTo>
                <a:cubicBezTo>
                  <a:pt x="154378" y="0"/>
                  <a:pt x="171450" y="17072"/>
                  <a:pt x="171450" y="38100"/>
                </a:cubicBezTo>
                <a:lnTo>
                  <a:pt x="171450" y="38100"/>
                </a:lnTo>
                <a:cubicBezTo>
                  <a:pt x="171450" y="59128"/>
                  <a:pt x="154378" y="76200"/>
                  <a:pt x="133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7"/>
          <p:cNvSpPr/>
          <p:nvPr/>
        </p:nvSpPr>
        <p:spPr>
          <a:xfrm>
            <a:off x="507682" y="577595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10年分位: 5%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45531" y="4743451"/>
            <a:ext cx="3703320" cy="1379220"/>
          </a:xfrm>
          <a:custGeom>
            <a:avLst/>
            <a:gdLst/>
            <a:ahLst/>
            <a:cxnLst/>
            <a:rect l="l" t="t" r="r" b="b"/>
            <a:pathLst>
              <a:path w="3703320" h="1379220">
                <a:moveTo>
                  <a:pt x="0" y="0"/>
                </a:moveTo>
                <a:lnTo>
                  <a:pt x="3703320" y="0"/>
                </a:lnTo>
                <a:lnTo>
                  <a:pt x="3703320" y="1379220"/>
                </a:lnTo>
                <a:lnTo>
                  <a:pt x="0" y="1379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16016" y="4899659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68403" y="531875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股东收益率利差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01741" y="5623559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5" name="Shape 12"/>
          <p:cNvSpPr/>
          <p:nvPr/>
        </p:nvSpPr>
        <p:spPr>
          <a:xfrm>
            <a:off x="4401741" y="5623559"/>
            <a:ext cx="1695450" cy="76200"/>
          </a:xfrm>
          <a:custGeom>
            <a:avLst/>
            <a:gdLst/>
            <a:ahLst/>
            <a:cxnLst/>
            <a:rect l="l" t="t" r="r" b="b"/>
            <a:pathLst>
              <a:path w="1695450" h="76200">
                <a:moveTo>
                  <a:pt x="38100" y="0"/>
                </a:moveTo>
                <a:lnTo>
                  <a:pt x="1657350" y="0"/>
                </a:lnTo>
                <a:cubicBezTo>
                  <a:pt x="1678378" y="0"/>
                  <a:pt x="1695450" y="17072"/>
                  <a:pt x="1695450" y="38100"/>
                </a:cubicBezTo>
                <a:lnTo>
                  <a:pt x="1695450" y="38100"/>
                </a:lnTo>
                <a:cubicBezTo>
                  <a:pt x="1695450" y="59128"/>
                  <a:pt x="1678378" y="76200"/>
                  <a:pt x="1657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6" name="Text 13"/>
          <p:cNvSpPr/>
          <p:nvPr/>
        </p:nvSpPr>
        <p:spPr>
          <a:xfrm>
            <a:off x="4368403" y="577595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历史均值附近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06371" y="4743451"/>
            <a:ext cx="3703320" cy="1379220"/>
          </a:xfrm>
          <a:custGeom>
            <a:avLst/>
            <a:gdLst/>
            <a:ahLst/>
            <a:cxnLst/>
            <a:rect l="l" t="t" r="r" b="b"/>
            <a:pathLst>
              <a:path w="3703320" h="1379220">
                <a:moveTo>
                  <a:pt x="0" y="0"/>
                </a:moveTo>
                <a:lnTo>
                  <a:pt x="3703320" y="0"/>
                </a:lnTo>
                <a:lnTo>
                  <a:pt x="3703320" y="1379220"/>
                </a:lnTo>
                <a:lnTo>
                  <a:pt x="0" y="1379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76856" y="4899659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21.5-22.2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243" y="531875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前瞻 P/E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62581" y="5623559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1" name="Shape 18"/>
          <p:cNvSpPr/>
          <p:nvPr/>
        </p:nvSpPr>
        <p:spPr>
          <a:xfrm>
            <a:off x="8262581" y="5623559"/>
            <a:ext cx="2876550" cy="76200"/>
          </a:xfrm>
          <a:custGeom>
            <a:avLst/>
            <a:gdLst/>
            <a:ahLst/>
            <a:cxnLst/>
            <a:rect l="l" t="t" r="r" b="b"/>
            <a:pathLst>
              <a:path w="2876550" h="76200">
                <a:moveTo>
                  <a:pt x="38100" y="0"/>
                </a:moveTo>
                <a:lnTo>
                  <a:pt x="2838450" y="0"/>
                </a:lnTo>
                <a:cubicBezTo>
                  <a:pt x="2859478" y="0"/>
                  <a:pt x="2876550" y="17072"/>
                  <a:pt x="2876550" y="38100"/>
                </a:cubicBezTo>
                <a:lnTo>
                  <a:pt x="2876550" y="38100"/>
                </a:lnTo>
                <a:cubicBezTo>
                  <a:pt x="2876550" y="59128"/>
                  <a:pt x="2859478" y="76200"/>
                  <a:pt x="2838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243" y="577595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10年均值: 18.8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62064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4" name="Text 21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重要声明: 本报告基于历史路径经验推断,非实时数据驱动。历史表现不代表未来结果,经济环境可能发生结构性变化导致历史规律失效。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 当下政策与流动性情况:紧缩,流动性短缺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04900"/>
          <a:ext cx="11287125" cy="3809365"/>
        </p:xfrm>
        <a:graphic>
          <a:graphicData uri="http://schemas.openxmlformats.org/drawingml/2006/table">
            <a:tbl>
              <a:tblPr/>
              <a:tblGrid>
                <a:gridCol w="2821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1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最新数据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信号含义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TGA 账户余额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7,850 亿美元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余额处于高位,财政部若在季度末"放水"将对市场流动性形成支撑。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SOFR-OIS 基差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12 - 15 bps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基本稳定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回购市场流动性充裕,未出现系统性美元短缺或信贷紧缩。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金融条件指数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彭博/芝加哥联储读数均显示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宽松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尽管利率维持高位,但金融市场环境依然对经济增长起到支撑作用。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CARRY TO RISK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处于中枢水平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全球套利交易活跃度平稳,未见由于波动率飙升导致的资金大规模撤离。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财政赤字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持续扩张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虽未提供具体百分比,但财政支出仍是支撑 GDP 增长的重要动力。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4810" y="4476751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0" y="0"/>
                </a:moveTo>
                <a:lnTo>
                  <a:pt x="5627370" y="0"/>
                </a:lnTo>
                <a:lnTo>
                  <a:pt x="562737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0070" y="46901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4"/>
          <p:cNvSpPr/>
          <p:nvPr/>
        </p:nvSpPr>
        <p:spPr>
          <a:xfrm>
            <a:off x="807720" y="4632959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流动性积极因素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1020" y="50520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6"/>
          <p:cNvSpPr/>
          <p:nvPr/>
        </p:nvSpPr>
        <p:spPr>
          <a:xfrm>
            <a:off x="769620" y="5013959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SOFR-OIS基差稳定,回购市场充裕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0" y="53949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9620" y="5356859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金融条件指数显示宽松环境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1020" y="57378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9620" y="569975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TGA高余额提供潜在流动性释放空间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6010" y="4476751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0" y="0"/>
                </a:moveTo>
                <a:lnTo>
                  <a:pt x="5627370" y="0"/>
                </a:lnTo>
                <a:lnTo>
                  <a:pt x="562737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51270" y="46901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6" name="Text 13"/>
          <p:cNvSpPr/>
          <p:nvPr/>
        </p:nvSpPr>
        <p:spPr>
          <a:xfrm>
            <a:off x="6598920" y="4632959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需关注的风险点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32220" y="50520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60820" y="5013959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财政赤字持续扩张的长期可持续性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32220" y="53949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60820" y="5356859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高利率环境下的债务 servicing 成本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32220" y="57378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60820" y="569975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季度末TGA变化对市场流动性的影响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62064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4" name="Text 21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重要声明: 本报告基于历史路径经验推断,非实时数据驱动。历史表现不代表未来结果,经济环境可能发生结构性变化导致历史规律失效。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MONETARY POLICY FORECAST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 货币政策预测:三情景分析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1112520"/>
            <a:ext cx="7454265" cy="4892040"/>
          </a:xfrm>
          <a:custGeom>
            <a:avLst/>
            <a:gdLst/>
            <a:ahLst/>
            <a:cxnLst/>
            <a:rect l="l" t="t" r="r" b="b"/>
            <a:pathLst>
              <a:path w="7454265" h="4892040">
                <a:moveTo>
                  <a:pt x="0" y="0"/>
                </a:moveTo>
                <a:lnTo>
                  <a:pt x="7454265" y="0"/>
                </a:lnTo>
                <a:lnTo>
                  <a:pt x="7454265" y="4892040"/>
                </a:lnTo>
                <a:lnTo>
                  <a:pt x="0" y="48920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D1D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725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6" name="Text 4"/>
          <p:cNvSpPr/>
          <p:nvPr/>
        </p:nvSpPr>
        <p:spPr>
          <a:xfrm>
            <a:off x="584597" y="1386841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96340" y="1272541"/>
            <a:ext cx="111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基线情景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6340" y="157722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Gradual Easing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52310" y="1405891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0" y="0"/>
                </a:moveTo>
                <a:lnTo>
                  <a:pt x="628650" y="0"/>
                </a:lnTo>
                <a:lnTo>
                  <a:pt x="6286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10" name="Text 8"/>
          <p:cNvSpPr/>
          <p:nvPr/>
        </p:nvSpPr>
        <p:spPr>
          <a:xfrm>
            <a:off x="7052310" y="1405891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最可能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1"/>
          <a:ext cx="7134225" cy="1581150"/>
        </p:xfrm>
        <a:graphic>
          <a:graphicData uri="http://schemas.openxmlformats.org/drawingml/2006/table">
            <a:tbl>
              <a:tblPr/>
              <a:tblGrid>
                <a:gridCol w="19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利率水平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2026年3月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4.25-4.50%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观察期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2026年5-6月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4.00-4.25%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降息25bp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首次降息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2026年9月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3.75-4.00%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降息25bp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间隔3个月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2026年12月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3.50-3.75%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降息25bp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累计75-100bp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269233"/>
            <a:ext cx="7134225" cy="7620"/>
          </a:xfrm>
          <a:custGeom>
            <a:avLst/>
            <a:gdLst/>
            <a:ahLst/>
            <a:cxnLst/>
            <a:rect l="l" t="t" r="r" b="b"/>
            <a:pathLst>
              <a:path w="7134225" h="7620">
                <a:moveTo>
                  <a:pt x="0" y="0"/>
                </a:moveTo>
                <a:lnTo>
                  <a:pt x="7134225" y="0"/>
                </a:lnTo>
                <a:lnTo>
                  <a:pt x="71342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387341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5615941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1995年、2019年软着陆模式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71950" y="5387341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关键假设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71950" y="5615941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经济软着陆,通胀温和回落至2-2.5%,就业保持稳定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81010" y="1108710"/>
            <a:ext cx="3722370" cy="2369820"/>
          </a:xfrm>
          <a:custGeom>
            <a:avLst/>
            <a:gdLst/>
            <a:ahLst/>
            <a:cxnLst/>
            <a:rect l="l" t="t" r="r" b="b"/>
            <a:pathLst>
              <a:path w="3722370" h="2369820">
                <a:moveTo>
                  <a:pt x="0" y="0"/>
                </a:moveTo>
                <a:lnTo>
                  <a:pt x="3722370" y="0"/>
                </a:lnTo>
                <a:lnTo>
                  <a:pt x="3722370" y="2369820"/>
                </a:lnTo>
                <a:lnTo>
                  <a:pt x="0" y="23698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686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37220" y="1283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7225" y="1379223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08720" y="126492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鹰派情景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808720" y="1531623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维持高利率更久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37220" y="1874523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触发条件: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通胀反弹至3%以上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37220" y="221742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65820" y="221742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核心PCE持续低于2.5%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37220" y="248412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465820" y="2484123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失业率维持在4.0-4.5%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37220" y="275082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65820" y="2750823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GDP增速保持在2%以上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37220" y="3059433"/>
            <a:ext cx="3409950" cy="7620"/>
          </a:xfrm>
          <a:custGeom>
            <a:avLst/>
            <a:gdLst/>
            <a:ahLst/>
            <a:cxnLst/>
            <a:rect l="l" t="t" r="r" b="b"/>
            <a:pathLst>
              <a:path w="3409950" h="7620">
                <a:moveTo>
                  <a:pt x="0" y="0"/>
                </a:moveTo>
                <a:lnTo>
                  <a:pt x="3409950" y="0"/>
                </a:lnTo>
                <a:lnTo>
                  <a:pt x="3409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0" name="Text 27"/>
          <p:cNvSpPr/>
          <p:nvPr/>
        </p:nvSpPr>
        <p:spPr>
          <a:xfrm>
            <a:off x="8237220" y="3139441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历史类比: 2006-2007年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081010" y="3638551"/>
            <a:ext cx="3722370" cy="2369820"/>
          </a:xfrm>
          <a:custGeom>
            <a:avLst/>
            <a:gdLst/>
            <a:ahLst/>
            <a:cxnLst/>
            <a:rect l="l" t="t" r="r" b="b"/>
            <a:pathLst>
              <a:path w="3722370" h="2369820">
                <a:moveTo>
                  <a:pt x="0" y="0"/>
                </a:moveTo>
                <a:lnTo>
                  <a:pt x="3722370" y="0"/>
                </a:lnTo>
                <a:lnTo>
                  <a:pt x="3722370" y="2369820"/>
                </a:lnTo>
                <a:lnTo>
                  <a:pt x="0" y="23698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6868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37220" y="38138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3" name="Text 30"/>
          <p:cNvSpPr/>
          <p:nvPr/>
        </p:nvSpPr>
        <p:spPr>
          <a:xfrm>
            <a:off x="8290560" y="3909059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08720" y="3794759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鸽派情景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808720" y="4061459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加速降息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237220" y="4404359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触发条件: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失业率快速上升至4.5%以上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237220" y="47472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465820" y="4747259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就业市场快速恶化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237220" y="50139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465820" y="5013959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经济衰退风险上升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237220" y="52806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465820" y="5280659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金融市场动荡加剧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237220" y="5589269"/>
            <a:ext cx="3409950" cy="7620"/>
          </a:xfrm>
          <a:custGeom>
            <a:avLst/>
            <a:gdLst/>
            <a:ahLst/>
            <a:cxnLst/>
            <a:rect l="l" t="t" r="r" b="b"/>
            <a:pathLst>
              <a:path w="3409950" h="7620">
                <a:moveTo>
                  <a:pt x="0" y="0"/>
                </a:moveTo>
                <a:lnTo>
                  <a:pt x="3409950" y="0"/>
                </a:lnTo>
                <a:lnTo>
                  <a:pt x="3409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4" name="Text 41"/>
          <p:cNvSpPr/>
          <p:nvPr/>
        </p:nvSpPr>
        <p:spPr>
          <a:xfrm>
            <a:off x="8237220" y="5669282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历史类比: 2001年、2019年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81000" y="61302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6" name="Shape 43"/>
          <p:cNvSpPr/>
          <p:nvPr/>
        </p:nvSpPr>
        <p:spPr>
          <a:xfrm>
            <a:off x="419100" y="62788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4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核心洞察: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历史经验显示,当前最可能的情景是1995年式软着陆,美联储将在2026年实施渐进式降息,全年累计降息75-100个基点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 历史情景对比:相似度评估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549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与历史周期的相似度评估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859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04834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1995年软着陆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34358" y="1485900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866784"/>
            <a:ext cx="528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最佳匹配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71584"/>
            <a:ext cx="528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通胀回落、温和降息、经济持续增长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476384"/>
            <a:ext cx="5210175" cy="76200"/>
          </a:xfrm>
          <a:custGeom>
            <a:avLst/>
            <a:gdLst/>
            <a:ahLst/>
            <a:cxnLst/>
            <a:rect l="l" t="t" r="r" b="b"/>
            <a:pathLst>
              <a:path w="5210175" h="76200">
                <a:moveTo>
                  <a:pt x="38100" y="0"/>
                </a:moveTo>
                <a:lnTo>
                  <a:pt x="5172075" y="0"/>
                </a:lnTo>
                <a:cubicBezTo>
                  <a:pt x="5193103" y="0"/>
                  <a:pt x="5210175" y="17072"/>
                  <a:pt x="5210175" y="38100"/>
                </a:cubicBezTo>
                <a:lnTo>
                  <a:pt x="5210175" y="38100"/>
                </a:lnTo>
                <a:cubicBezTo>
                  <a:pt x="5210175" y="59128"/>
                  <a:pt x="5193103" y="76200"/>
                  <a:pt x="5172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2476384"/>
            <a:ext cx="3648075" cy="76200"/>
          </a:xfrm>
          <a:custGeom>
            <a:avLst/>
            <a:gdLst/>
            <a:ahLst/>
            <a:cxnLst/>
            <a:rect l="l" t="t" r="r" b="b"/>
            <a:pathLst>
              <a:path w="3648075" h="76200">
                <a:moveTo>
                  <a:pt x="38100" y="0"/>
                </a:moveTo>
                <a:lnTo>
                  <a:pt x="3609975" y="0"/>
                </a:lnTo>
                <a:cubicBezTo>
                  <a:pt x="3631003" y="0"/>
                  <a:pt x="3648075" y="17072"/>
                  <a:pt x="3648075" y="38100"/>
                </a:cubicBezTo>
                <a:lnTo>
                  <a:pt x="3648075" y="38100"/>
                </a:lnTo>
                <a:cubicBezTo>
                  <a:pt x="3648075" y="59128"/>
                  <a:pt x="3631003" y="76200"/>
                  <a:pt x="36099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74832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276725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2019年预防性降息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15308" y="2748321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129200"/>
            <a:ext cx="528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贸易紧张、预防性宽松、财政刺激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3434000"/>
            <a:ext cx="5210175" cy="76200"/>
          </a:xfrm>
          <a:custGeom>
            <a:avLst/>
            <a:gdLst/>
            <a:ahLst/>
            <a:cxnLst/>
            <a:rect l="l" t="t" r="r" b="b"/>
            <a:pathLst>
              <a:path w="5210175" h="76200">
                <a:moveTo>
                  <a:pt x="38100" y="0"/>
                </a:moveTo>
                <a:lnTo>
                  <a:pt x="5172075" y="0"/>
                </a:lnTo>
                <a:cubicBezTo>
                  <a:pt x="5193103" y="0"/>
                  <a:pt x="5210175" y="17072"/>
                  <a:pt x="5210175" y="38100"/>
                </a:cubicBezTo>
                <a:lnTo>
                  <a:pt x="5210175" y="38100"/>
                </a:lnTo>
                <a:cubicBezTo>
                  <a:pt x="5210175" y="59128"/>
                  <a:pt x="5193103" y="76200"/>
                  <a:pt x="5172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3434000"/>
            <a:ext cx="3124200" cy="76200"/>
          </a:xfrm>
          <a:custGeom>
            <a:avLst/>
            <a:gdLst/>
            <a:ahLst/>
            <a:cxnLst/>
            <a:rect l="l" t="t" r="r" b="b"/>
            <a:pathLst>
              <a:path w="3124200" h="76200">
                <a:moveTo>
                  <a:pt x="38100" y="0"/>
                </a:moveTo>
                <a:lnTo>
                  <a:pt x="3086100" y="0"/>
                </a:lnTo>
                <a:cubicBezTo>
                  <a:pt x="3107128" y="0"/>
                  <a:pt x="3124200" y="17072"/>
                  <a:pt x="3124200" y="38100"/>
                </a:cubicBezTo>
                <a:lnTo>
                  <a:pt x="3124200" y="38100"/>
                </a:lnTo>
                <a:cubicBezTo>
                  <a:pt x="3124200" y="59128"/>
                  <a:pt x="3107128" y="76200"/>
                  <a:pt x="3086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70594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" y="372487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2006-2007年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18284" y="3705941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086820"/>
            <a:ext cx="528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通胀反复、地产泡沫(当前不同)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391620"/>
            <a:ext cx="5210175" cy="76200"/>
          </a:xfrm>
          <a:custGeom>
            <a:avLst/>
            <a:gdLst/>
            <a:ahLst/>
            <a:cxnLst/>
            <a:rect l="l" t="t" r="r" b="b"/>
            <a:pathLst>
              <a:path w="5210175" h="76200">
                <a:moveTo>
                  <a:pt x="38100" y="0"/>
                </a:moveTo>
                <a:lnTo>
                  <a:pt x="5172075" y="0"/>
                </a:lnTo>
                <a:cubicBezTo>
                  <a:pt x="5193103" y="0"/>
                  <a:pt x="5210175" y="17072"/>
                  <a:pt x="5210175" y="38100"/>
                </a:cubicBezTo>
                <a:lnTo>
                  <a:pt x="5210175" y="38100"/>
                </a:lnTo>
                <a:cubicBezTo>
                  <a:pt x="5210175" y="59128"/>
                  <a:pt x="5193103" y="76200"/>
                  <a:pt x="5172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" y="4391620"/>
            <a:ext cx="1562100" cy="76200"/>
          </a:xfrm>
          <a:custGeom>
            <a:avLst/>
            <a:gdLst/>
            <a:ahLst/>
            <a:cxnLst/>
            <a:rect l="l" t="t" r="r" b="b"/>
            <a:pathLst>
              <a:path w="1562100" h="76200">
                <a:moveTo>
                  <a:pt x="38100" y="0"/>
                </a:moveTo>
                <a:lnTo>
                  <a:pt x="1524000" y="0"/>
                </a:lnTo>
                <a:cubicBezTo>
                  <a:pt x="1545028" y="0"/>
                  <a:pt x="1562100" y="17072"/>
                  <a:pt x="1562100" y="38100"/>
                </a:cubicBezTo>
                <a:lnTo>
                  <a:pt x="1562100" y="38100"/>
                </a:lnTo>
                <a:cubicBezTo>
                  <a:pt x="1562100" y="59128"/>
                  <a:pt x="1545028" y="76200"/>
                  <a:pt x="15240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4663562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" y="4682491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2001年衰退前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24237" y="4663562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5044441"/>
            <a:ext cx="528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科技泡沫破裂(当前不同)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" y="5349241"/>
            <a:ext cx="5210175" cy="76200"/>
          </a:xfrm>
          <a:custGeom>
            <a:avLst/>
            <a:gdLst/>
            <a:ahLst/>
            <a:cxnLst/>
            <a:rect l="l" t="t" r="r" b="b"/>
            <a:pathLst>
              <a:path w="5210175" h="76200">
                <a:moveTo>
                  <a:pt x="38100" y="0"/>
                </a:moveTo>
                <a:lnTo>
                  <a:pt x="5172075" y="0"/>
                </a:lnTo>
                <a:cubicBezTo>
                  <a:pt x="5193103" y="0"/>
                  <a:pt x="5210175" y="17072"/>
                  <a:pt x="5210175" y="38100"/>
                </a:cubicBezTo>
                <a:lnTo>
                  <a:pt x="5210175" y="38100"/>
                </a:lnTo>
                <a:cubicBezTo>
                  <a:pt x="5210175" y="59128"/>
                  <a:pt x="5193103" y="76200"/>
                  <a:pt x="5172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" y="5349241"/>
            <a:ext cx="1038225" cy="76200"/>
          </a:xfrm>
          <a:custGeom>
            <a:avLst/>
            <a:gdLst/>
            <a:ahLst/>
            <a:cxnLst/>
            <a:rect l="l" t="t" r="r" b="b"/>
            <a:pathLst>
              <a:path w="1038225" h="76200">
                <a:moveTo>
                  <a:pt x="38100" y="0"/>
                </a:moveTo>
                <a:lnTo>
                  <a:pt x="1000125" y="0"/>
                </a:lnTo>
                <a:cubicBezTo>
                  <a:pt x="1021153" y="0"/>
                  <a:pt x="1038225" y="17072"/>
                  <a:pt x="1038225" y="38100"/>
                </a:cubicBezTo>
                <a:lnTo>
                  <a:pt x="1038225" y="38100"/>
                </a:lnTo>
                <a:cubicBezTo>
                  <a:pt x="1038225" y="59128"/>
                  <a:pt x="1021153" y="76200"/>
                  <a:pt x="10001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0" name="Shape 28"/>
          <p:cNvSpPr/>
          <p:nvPr/>
        </p:nvSpPr>
        <p:spPr>
          <a:xfrm>
            <a:off x="381000" y="5547361"/>
            <a:ext cx="5400675" cy="15240"/>
          </a:xfrm>
          <a:custGeom>
            <a:avLst/>
            <a:gdLst/>
            <a:ahLst/>
            <a:cxnLst/>
            <a:rect l="l" t="t" r="r" b="b"/>
            <a:pathLst>
              <a:path w="5400675" h="15240">
                <a:moveTo>
                  <a:pt x="0" y="0"/>
                </a:moveTo>
                <a:lnTo>
                  <a:pt x="5400675" y="0"/>
                </a:lnTo>
                <a:lnTo>
                  <a:pt x="54006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" y="5707382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整体置信度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42855" y="5669282"/>
            <a:ext cx="118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60-70%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15990" y="1108710"/>
            <a:ext cx="5789295" cy="4903470"/>
          </a:xfrm>
          <a:custGeom>
            <a:avLst/>
            <a:gdLst/>
            <a:ahLst/>
            <a:cxnLst/>
            <a:rect l="l" t="t" r="r" b="b"/>
            <a:pathLst>
              <a:path w="5789295" h="4903470">
                <a:moveTo>
                  <a:pt x="0" y="0"/>
                </a:moveTo>
                <a:lnTo>
                  <a:pt x="5789295" y="0"/>
                </a:lnTo>
                <a:lnTo>
                  <a:pt x="5789295" y="4903470"/>
                </a:lnTo>
                <a:lnTo>
                  <a:pt x="0" y="49034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0300" y="1303023"/>
            <a:ext cx="549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与历史周期的关键差异点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176022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6524625" y="1722123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AI技术革命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10300" y="2065023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无历史先例,可能改变生产率增长轨迹。AI革命速度更快、影响更广,难以用历史经验量化评估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2206" y="284476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524625" y="2806661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供应链重构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10300" y="3149561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全球化逆转,通胀粘性可能更强。逆全球化趋势下,供应链重构带来持续的供给约束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22206" y="392942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Text 40"/>
          <p:cNvSpPr/>
          <p:nvPr/>
        </p:nvSpPr>
        <p:spPr>
          <a:xfrm>
            <a:off x="6524625" y="389132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债务水平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10300" y="4234221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政府债务/GDP处于历史高位(120-125%),政策空间受限。高债务约束是前所未有的挑战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0300" y="501395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Text 43"/>
          <p:cNvSpPr/>
          <p:nvPr/>
        </p:nvSpPr>
        <p:spPr>
          <a:xfrm>
            <a:off x="6524625" y="4975859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人口结构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10300" y="5318759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老龄化加剧,财政压力持续增大。人口老龄化对财政可持续性的长期影响尚未充分显现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61302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8" name="Shape 46"/>
          <p:cNvSpPr/>
          <p:nvPr/>
        </p:nvSpPr>
        <p:spPr>
          <a:xfrm>
            <a:off x="400050" y="6278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核心判断: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当前最可能的情景是1995年式软着陆(70%相似度),但AI革命、高债务等结构性差异需要谨慎对待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 市场影响分析:股票与债券市场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4813" y="1143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619125" y="11049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股票市场:情景分析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859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1504834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软着陆 + 温和降息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2004" y="1485900"/>
            <a:ext cx="149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+8% 至 +15%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7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5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历史置信区间: 1995年、2019年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568062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2586991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经济衰退 + 快速降息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56" y="2568062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-10% 至 +5%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948941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首次降息后6个月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253741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历史置信区间: 2001年、2007年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650098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3669032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通胀反弹 + 暂停降息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32854" y="3650098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-5% 至 +5%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03098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433578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历史置信区间: 2006-2007年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4682492"/>
            <a:ext cx="5600700" cy="7620"/>
          </a:xfrm>
          <a:custGeom>
            <a:avLst/>
            <a:gdLst/>
            <a:ahLst/>
            <a:cxnLst/>
            <a:rect l="l" t="t" r="r" b="b"/>
            <a:pathLst>
              <a:path w="5600700" h="7620">
                <a:moveTo>
                  <a:pt x="0" y="0"/>
                </a:moveTo>
                <a:lnTo>
                  <a:pt x="5600700" y="0"/>
                </a:lnTo>
                <a:lnTo>
                  <a:pt x="5600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2" name="Text 20"/>
          <p:cNvSpPr/>
          <p:nvPr/>
        </p:nvSpPr>
        <p:spPr>
          <a:xfrm>
            <a:off x="381000" y="48006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分行业历史表现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5181600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" y="5181600"/>
            <a:ext cx="4857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6300" y="520065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70365" y="52197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r=0.65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03245" y="52197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 r=0.45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524500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" y="5524500"/>
            <a:ext cx="4857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6300" y="55435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公用事业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73460" y="55626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r=0.70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99197" y="55626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 r=0.40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5867400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4" name="Text 32"/>
          <p:cNvSpPr/>
          <p:nvPr/>
        </p:nvSpPr>
        <p:spPr>
          <a:xfrm>
            <a:off x="381000" y="5867400"/>
            <a:ext cx="4857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6300" y="588645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97291" y="59055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r=0.60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6210300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8" name="Text 36"/>
          <p:cNvSpPr/>
          <p:nvPr/>
        </p:nvSpPr>
        <p:spPr>
          <a:xfrm>
            <a:off x="381000" y="6210300"/>
            <a:ext cx="4857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6300" y="622935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39070" y="62484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r=-0.30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34113" y="1143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Text 40"/>
          <p:cNvSpPr/>
          <p:nvPr/>
        </p:nvSpPr>
        <p:spPr>
          <a:xfrm>
            <a:off x="6448425" y="11049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债券市场:收益率历史模式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4110" y="1489710"/>
            <a:ext cx="5589270" cy="1922145"/>
          </a:xfrm>
          <a:custGeom>
            <a:avLst/>
            <a:gdLst/>
            <a:ahLst/>
            <a:cxnLst/>
            <a:rect l="l" t="t" r="r" b="b"/>
            <a:pathLst>
              <a:path w="5589270" h="1922145">
                <a:moveTo>
                  <a:pt x="0" y="0"/>
                </a:moveTo>
                <a:lnTo>
                  <a:pt x="5589270" y="0"/>
                </a:lnTo>
                <a:lnTo>
                  <a:pt x="5589270" y="1922145"/>
                </a:lnTo>
                <a:lnTo>
                  <a:pt x="0" y="19221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0320" y="1645923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10年期国债收益率变化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70320" y="2045973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首次降息前3个月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545842" y="2026923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 50-100bp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70320" y="2331723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市场预期降息,收益率提前下行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70320" y="2640333"/>
            <a:ext cx="5276850" cy="7620"/>
          </a:xfrm>
          <a:custGeom>
            <a:avLst/>
            <a:gdLst/>
            <a:ahLst/>
            <a:cxnLst/>
            <a:rect l="l" t="t" r="r" b="b"/>
            <a:pathLst>
              <a:path w="5276850" h="7620">
                <a:moveTo>
                  <a:pt x="0" y="0"/>
                </a:moveTo>
                <a:lnTo>
                  <a:pt x="5276850" y="0"/>
                </a:lnTo>
                <a:lnTo>
                  <a:pt x="5276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9" name="Text 47"/>
          <p:cNvSpPr/>
          <p:nvPr/>
        </p:nvSpPr>
        <p:spPr>
          <a:xfrm>
            <a:off x="6370320" y="2777491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降息周期中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628114" y="2758441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 30-50bp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70320" y="3063241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可能再降30-50bp,之后进入区间波动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14110" y="3569969"/>
            <a:ext cx="5589270" cy="2903220"/>
          </a:xfrm>
          <a:custGeom>
            <a:avLst/>
            <a:gdLst/>
            <a:ahLst/>
            <a:cxnLst/>
            <a:rect l="l" t="t" r="r" b="b"/>
            <a:pathLst>
              <a:path w="5589270" h="2903220">
                <a:moveTo>
                  <a:pt x="0" y="0"/>
                </a:moveTo>
                <a:lnTo>
                  <a:pt x="5589270" y="0"/>
                </a:lnTo>
                <a:lnTo>
                  <a:pt x="5589270" y="2903220"/>
                </a:lnTo>
                <a:lnTo>
                  <a:pt x="0" y="2903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0320" y="3726182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久期建议(基于历史最优策略)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89370" y="4107182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" name="Text 53"/>
          <p:cNvSpPr/>
          <p:nvPr/>
        </p:nvSpPr>
        <p:spPr>
          <a:xfrm>
            <a:off x="6522720" y="4126232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降息周期前6个月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98531" y="4107182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0" y="0"/>
                </a:moveTo>
                <a:lnTo>
                  <a:pt x="552450" y="0"/>
                </a:lnTo>
                <a:lnTo>
                  <a:pt x="5524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11098531" y="4107182"/>
            <a:ext cx="619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长久期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22720" y="4411982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+1.5年 | 延长久期以锁定较高收益率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89370" y="4945382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60" name="Text 58"/>
          <p:cNvSpPr/>
          <p:nvPr/>
        </p:nvSpPr>
        <p:spPr>
          <a:xfrm>
            <a:off x="6522720" y="4964432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降息周期中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098531" y="4945382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0" y="0"/>
                </a:moveTo>
                <a:lnTo>
                  <a:pt x="552450" y="0"/>
                </a:lnTo>
                <a:lnTo>
                  <a:pt x="5524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62" name="Text 60"/>
          <p:cNvSpPr/>
          <p:nvPr/>
        </p:nvSpPr>
        <p:spPr>
          <a:xfrm>
            <a:off x="11098531" y="4945382"/>
            <a:ext cx="619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中久期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522720" y="5250182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保持中性久期,灵活调整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89370" y="5783582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65" name="Text 63"/>
          <p:cNvSpPr/>
          <p:nvPr/>
        </p:nvSpPr>
        <p:spPr>
          <a:xfrm>
            <a:off x="6522720" y="5802632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降息周期后期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098531" y="5783582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0" y="0"/>
                </a:moveTo>
                <a:lnTo>
                  <a:pt x="552450" y="0"/>
                </a:lnTo>
                <a:lnTo>
                  <a:pt x="5524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67" name="Text 65"/>
          <p:cNvSpPr/>
          <p:nvPr/>
        </p:nvSpPr>
        <p:spPr>
          <a:xfrm>
            <a:off x="11098531" y="5783582"/>
            <a:ext cx="619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短久期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22720" y="6088382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-1年 | 缩短久期,防范利率反弹风险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RESONANCE &amp; DIVERGENCE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 决策框架结论 目前收紧和miss 走向 宽松和超预期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综合分析宏观流动性与微观基本面的交互作用,识别不同组合情景下的市场走势特征。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27226"/>
            <a:ext cx="5480686" cy="1813558"/>
          </a:xfrm>
          <a:custGeom>
            <a:avLst/>
            <a:gdLst/>
            <a:ahLst/>
            <a:cxnLst/>
            <a:rect l="l" t="t" r="r" b="b"/>
            <a:pathLst>
              <a:path w="5387340" h="2415540">
                <a:moveTo>
                  <a:pt x="0" y="0"/>
                </a:moveTo>
                <a:lnTo>
                  <a:pt x="5387340" y="0"/>
                </a:lnTo>
                <a:lnTo>
                  <a:pt x="5387340" y="2415540"/>
                </a:lnTo>
                <a:lnTo>
                  <a:pt x="0" y="24155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007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6740" y="1428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874559" y="14287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共振情景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170" y="1726835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739139" y="1683363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流动性宽松</a:t>
            </a: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业绩超预期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8664" y="2005405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TGA下降、降息预期叠加主线(例如Mag 7 )业绩亮眼,市场进入主升浪,估值与盈利双击。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045" y="2479722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0" y="0"/>
                </a:moveTo>
                <a:lnTo>
                  <a:pt x="628650" y="0"/>
                </a:lnTo>
                <a:lnTo>
                  <a:pt x="6286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701040" y="2494212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主升浪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5803" y="3196596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4" name="Text 12"/>
          <p:cNvSpPr/>
          <p:nvPr/>
        </p:nvSpPr>
        <p:spPr>
          <a:xfrm>
            <a:off x="586740" y="3148126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流动性收紧 + 业绩miss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270" y="3425301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TGA上升、加息预期叠加业绩不及预期,市场面临双杀风险,估值与盈利双杀。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130" y="3900318"/>
            <a:ext cx="495300" cy="266700"/>
          </a:xfrm>
          <a:custGeom>
            <a:avLst/>
            <a:gdLst/>
            <a:ahLst/>
            <a:cxnLst/>
            <a:rect l="l" t="t" r="r" b="b"/>
            <a:pathLst>
              <a:path w="495300" h="266700">
                <a:moveTo>
                  <a:pt x="0" y="0"/>
                </a:moveTo>
                <a:lnTo>
                  <a:pt x="495300" y="0"/>
                </a:lnTo>
                <a:lnTo>
                  <a:pt x="495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7" name="Text 15"/>
          <p:cNvSpPr/>
          <p:nvPr/>
        </p:nvSpPr>
        <p:spPr>
          <a:xfrm>
            <a:off x="660082" y="3928117"/>
            <a:ext cx="5619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8619" y="4835862"/>
            <a:ext cx="5558790" cy="3731867"/>
          </a:xfrm>
          <a:custGeom>
            <a:avLst/>
            <a:gdLst/>
            <a:ahLst/>
            <a:cxnLst/>
            <a:rect l="l" t="t" r="r" b="b"/>
            <a:pathLst>
              <a:path w="5398770" h="2407920">
                <a:moveTo>
                  <a:pt x="0" y="0"/>
                </a:moveTo>
                <a:lnTo>
                  <a:pt x="5398770" y="0"/>
                </a:lnTo>
                <a:lnTo>
                  <a:pt x="5398770" y="2407920"/>
                </a:lnTo>
                <a:lnTo>
                  <a:pt x="0" y="24079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686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3433" y="43408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0" name="Text 18"/>
          <p:cNvSpPr/>
          <p:nvPr/>
        </p:nvSpPr>
        <p:spPr>
          <a:xfrm>
            <a:off x="874559" y="4260053"/>
            <a:ext cx="857250" cy="33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背离情景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9110" y="454457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2" name="Text 20"/>
          <p:cNvSpPr/>
          <p:nvPr/>
        </p:nvSpPr>
        <p:spPr>
          <a:xfrm>
            <a:off x="701040" y="454457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流动性宽松</a:t>
            </a: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业绩miss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420" y="4876800"/>
            <a:ext cx="485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流动性支撑估值,但业绩疲软限制涨幅,市场呈现震荡格局,结构性行情为主。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5215896"/>
            <a:ext cx="495300" cy="266700"/>
          </a:xfrm>
          <a:custGeom>
            <a:avLst/>
            <a:gdLst/>
            <a:ahLst/>
            <a:cxnLst/>
            <a:rect l="l" t="t" r="r" b="b"/>
            <a:pathLst>
              <a:path w="495300" h="266700">
                <a:moveTo>
                  <a:pt x="0" y="0"/>
                </a:moveTo>
                <a:lnTo>
                  <a:pt x="495300" y="0"/>
                </a:lnTo>
                <a:lnTo>
                  <a:pt x="495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5" name="Text 23"/>
          <p:cNvSpPr/>
          <p:nvPr/>
        </p:nvSpPr>
        <p:spPr>
          <a:xfrm>
            <a:off x="686537" y="5220061"/>
            <a:ext cx="5619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震荡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9110" y="5700759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7" name="Text 25"/>
          <p:cNvSpPr/>
          <p:nvPr/>
        </p:nvSpPr>
        <p:spPr>
          <a:xfrm>
            <a:off x="691514" y="5491942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流动性收紧 + 业绩超预期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045" y="5830022"/>
            <a:ext cx="485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业绩支撑个别标的,但流动性压制整体估值,市场呈现分化格局,精选个股为主。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3613" y="6356149"/>
            <a:ext cx="495300" cy="266700"/>
          </a:xfrm>
          <a:custGeom>
            <a:avLst/>
            <a:gdLst/>
            <a:ahLst/>
            <a:cxnLst/>
            <a:rect l="l" t="t" r="r" b="b"/>
            <a:pathLst>
              <a:path w="495300" h="266700">
                <a:moveTo>
                  <a:pt x="0" y="0"/>
                </a:moveTo>
                <a:lnTo>
                  <a:pt x="495300" y="0"/>
                </a:lnTo>
                <a:lnTo>
                  <a:pt x="495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0" name="Text 28"/>
          <p:cNvSpPr/>
          <p:nvPr/>
        </p:nvSpPr>
        <p:spPr>
          <a:xfrm>
            <a:off x="698182" y="6356149"/>
            <a:ext cx="5619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15990" y="1489710"/>
            <a:ext cx="5789295" cy="4979670"/>
          </a:xfrm>
          <a:custGeom>
            <a:avLst/>
            <a:gdLst/>
            <a:ahLst/>
            <a:cxnLst/>
            <a:rect l="l" t="t" r="r" b="b"/>
            <a:pathLst>
              <a:path w="5789295" h="4979670">
                <a:moveTo>
                  <a:pt x="0" y="0"/>
                </a:moveTo>
                <a:lnTo>
                  <a:pt x="5789295" y="0"/>
                </a:lnTo>
                <a:lnTo>
                  <a:pt x="5789295" y="4979670"/>
                </a:lnTo>
                <a:lnTo>
                  <a:pt x="0" y="4979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1D1D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2675" y="1684018"/>
            <a:ext cx="549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市场走势预判矩阵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09411"/>
              </p:ext>
            </p:extLst>
          </p:nvPr>
        </p:nvGraphicFramePr>
        <p:xfrm>
          <a:off x="6210300" y="2442335"/>
          <a:ext cx="5400675" cy="295275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425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宽松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超预期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主升浪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TGA↓ 降息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主线强劲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估值+盈利双击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TGA↑ 加息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个股精选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Miss</a:t>
                      </a:r>
                      <a:r>
                        <a:rPr lang="zh-CN" alt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（业绩</a:t>
                      </a:r>
                      <a:r>
                        <a:rPr lang="en-US" altLang="zh-CN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</a:t>
                      </a:r>
                      <a:r>
                        <a:rPr lang="zh-CN" altLang="en-US" sz="1200" b="1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估值）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震荡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TGA↓ 降息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主线疲软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结构性行情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032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TGA↑ 加息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估值+盈利双杀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6210300" y="5894074"/>
            <a:ext cx="5400675" cy="7620"/>
          </a:xfrm>
          <a:custGeom>
            <a:avLst/>
            <a:gdLst/>
            <a:ahLst/>
            <a:cxnLst/>
            <a:rect l="l" t="t" r="r" b="b"/>
            <a:pathLst>
              <a:path w="5400675" h="7620">
                <a:moveTo>
                  <a:pt x="0" y="0"/>
                </a:moveTo>
                <a:lnTo>
                  <a:pt x="5400675" y="0"/>
                </a:lnTo>
                <a:lnTo>
                  <a:pt x="54006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5" name="Shape 32"/>
          <p:cNvSpPr/>
          <p:nvPr/>
        </p:nvSpPr>
        <p:spPr>
          <a:xfrm>
            <a:off x="6229350" y="60807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3"/>
          <p:cNvSpPr/>
          <p:nvPr/>
        </p:nvSpPr>
        <p:spPr>
          <a:xfrm>
            <a:off x="6457950" y="6050282"/>
            <a:ext cx="522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当前判断: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目前处于</a:t>
            </a:r>
            <a:r>
              <a:rPr lang="en-US" sz="12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收紧+miss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区域,正向</a:t>
            </a:r>
            <a:r>
              <a:rPr lang="en-US" sz="12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宽松+超预期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区域过渡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nvestopedia.com/b279159226dd3e7914475aa0fb77bff6a7070576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7855" b="785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&amp; MONITORING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风险提示与监测指标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4813" y="1152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104900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货币政策监测指标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14859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533400" y="150495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核心PCE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49680" y="1485900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2.4-2.6%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400" y="17907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&gt;3%暂停降息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3400" y="20574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通胀反弹概率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92592" y="2019300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0050" y="2740698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5" name="Text 12"/>
          <p:cNvSpPr/>
          <p:nvPr/>
        </p:nvSpPr>
        <p:spPr>
          <a:xfrm>
            <a:off x="533400" y="275974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失业率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40155" y="2740698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4.0-4.2%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3400" y="3045498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&gt;4.5%加速降息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3400" y="3312198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经济衰退概率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87472" y="3274098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3995384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1" name="Text 18"/>
          <p:cNvSpPr/>
          <p:nvPr/>
        </p:nvSpPr>
        <p:spPr>
          <a:xfrm>
            <a:off x="533400" y="3995384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3M-10Y利差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531870" y="4014434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待确认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3400" y="4262084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历史信号: 倒挂预示衰退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33400" y="4528784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衰退信号概率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621524" y="4490684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0050" y="5212082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7" name="Text 24"/>
          <p:cNvSpPr/>
          <p:nvPr/>
        </p:nvSpPr>
        <p:spPr>
          <a:xfrm>
            <a:off x="533400" y="52311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174802" y="5212082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1.5-2.0%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33400" y="5516882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&gt;2%限制性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33400" y="5783582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债务危机概率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21524" y="5745482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205764" y="11525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1431" y="29468"/>
                </a:moveTo>
                <a:cubicBezTo>
                  <a:pt x="21431" y="33922"/>
                  <a:pt x="25014" y="37505"/>
                  <a:pt x="29468" y="37505"/>
                </a:cubicBezTo>
                <a:lnTo>
                  <a:pt x="45541" y="37505"/>
                </a:lnTo>
                <a:cubicBezTo>
                  <a:pt x="49995" y="37505"/>
                  <a:pt x="53578" y="33922"/>
                  <a:pt x="53578" y="29468"/>
                </a:cubicBezTo>
                <a:cubicBezTo>
                  <a:pt x="53578" y="25014"/>
                  <a:pt x="49995" y="21431"/>
                  <a:pt x="45541" y="21431"/>
                </a:cubicBezTo>
                <a:lnTo>
                  <a:pt x="29468" y="21431"/>
                </a:lnTo>
                <a:cubicBezTo>
                  <a:pt x="25014" y="21431"/>
                  <a:pt x="21431" y="25014"/>
                  <a:pt x="21431" y="29468"/>
                </a:cubicBezTo>
                <a:close/>
                <a:moveTo>
                  <a:pt x="21431" y="61615"/>
                </a:moveTo>
                <a:cubicBezTo>
                  <a:pt x="21431" y="66069"/>
                  <a:pt x="25014" y="69652"/>
                  <a:pt x="29468" y="69652"/>
                </a:cubicBezTo>
                <a:lnTo>
                  <a:pt x="45541" y="69652"/>
                </a:lnTo>
                <a:cubicBezTo>
                  <a:pt x="49995" y="69652"/>
                  <a:pt x="53578" y="66069"/>
                  <a:pt x="53578" y="61615"/>
                </a:cubicBezTo>
                <a:cubicBezTo>
                  <a:pt x="53578" y="57161"/>
                  <a:pt x="49995" y="53578"/>
                  <a:pt x="45541" y="53578"/>
                </a:cubicBezTo>
                <a:lnTo>
                  <a:pt x="29468" y="53578"/>
                </a:lnTo>
                <a:cubicBezTo>
                  <a:pt x="25014" y="53578"/>
                  <a:pt x="21431" y="57161"/>
                  <a:pt x="21431" y="61615"/>
                </a:cubicBezTo>
                <a:close/>
                <a:moveTo>
                  <a:pt x="58936" y="87064"/>
                </a:moveTo>
                <a:lnTo>
                  <a:pt x="58936" y="88404"/>
                </a:lnTo>
                <a:cubicBezTo>
                  <a:pt x="49292" y="88504"/>
                  <a:pt x="41523" y="96340"/>
                  <a:pt x="41523" y="105984"/>
                </a:cubicBezTo>
                <a:cubicBezTo>
                  <a:pt x="41523" y="114590"/>
                  <a:pt x="47718" y="121924"/>
                  <a:pt x="56224" y="123330"/>
                </a:cubicBezTo>
                <a:lnTo>
                  <a:pt x="70187" y="125674"/>
                </a:lnTo>
                <a:cubicBezTo>
                  <a:pt x="72197" y="126009"/>
                  <a:pt x="73670" y="127750"/>
                  <a:pt x="73670" y="129793"/>
                </a:cubicBezTo>
                <a:cubicBezTo>
                  <a:pt x="73670" y="132104"/>
                  <a:pt x="71795" y="133979"/>
                  <a:pt x="69484" y="133979"/>
                </a:cubicBezTo>
                <a:lnTo>
                  <a:pt x="50899" y="133945"/>
                </a:lnTo>
                <a:cubicBezTo>
                  <a:pt x="47216" y="133945"/>
                  <a:pt x="44202" y="136959"/>
                  <a:pt x="44202" y="140643"/>
                </a:cubicBezTo>
                <a:cubicBezTo>
                  <a:pt x="44202" y="144326"/>
                  <a:pt x="47216" y="147340"/>
                  <a:pt x="50899" y="147340"/>
                </a:cubicBezTo>
                <a:lnTo>
                  <a:pt x="58936" y="147340"/>
                </a:lnTo>
                <a:lnTo>
                  <a:pt x="58936" y="148679"/>
                </a:lnTo>
                <a:cubicBezTo>
                  <a:pt x="58936" y="152363"/>
                  <a:pt x="61950" y="155377"/>
                  <a:pt x="65633" y="155377"/>
                </a:cubicBezTo>
                <a:cubicBezTo>
                  <a:pt x="69317" y="155377"/>
                  <a:pt x="72330" y="152363"/>
                  <a:pt x="72330" y="148679"/>
                </a:cubicBezTo>
                <a:lnTo>
                  <a:pt x="72330" y="147105"/>
                </a:lnTo>
                <a:cubicBezTo>
                  <a:pt x="80702" y="145733"/>
                  <a:pt x="87064" y="138499"/>
                  <a:pt x="87064" y="129760"/>
                </a:cubicBezTo>
                <a:cubicBezTo>
                  <a:pt x="87064" y="121154"/>
                  <a:pt x="80869" y="113820"/>
                  <a:pt x="72364" y="112414"/>
                </a:cubicBezTo>
                <a:lnTo>
                  <a:pt x="58400" y="110070"/>
                </a:lnTo>
                <a:cubicBezTo>
                  <a:pt x="56391" y="109735"/>
                  <a:pt x="54918" y="107993"/>
                  <a:pt x="54918" y="105951"/>
                </a:cubicBezTo>
                <a:cubicBezTo>
                  <a:pt x="54918" y="103640"/>
                  <a:pt x="56793" y="101765"/>
                  <a:pt x="59103" y="101765"/>
                </a:cubicBezTo>
                <a:lnTo>
                  <a:pt x="75009" y="101765"/>
                </a:lnTo>
                <a:cubicBezTo>
                  <a:pt x="78693" y="101765"/>
                  <a:pt x="81707" y="98751"/>
                  <a:pt x="81707" y="95068"/>
                </a:cubicBezTo>
                <a:cubicBezTo>
                  <a:pt x="81707" y="91384"/>
                  <a:pt x="78693" y="88370"/>
                  <a:pt x="75009" y="88370"/>
                </a:cubicBezTo>
                <a:lnTo>
                  <a:pt x="72330" y="88370"/>
                </a:lnTo>
                <a:lnTo>
                  <a:pt x="72330" y="87031"/>
                </a:lnTo>
                <a:cubicBezTo>
                  <a:pt x="72330" y="83347"/>
                  <a:pt x="69317" y="80334"/>
                  <a:pt x="65633" y="80334"/>
                </a:cubicBezTo>
                <a:cubicBezTo>
                  <a:pt x="61950" y="80334"/>
                  <a:pt x="58936" y="83347"/>
                  <a:pt x="58936" y="8703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0"/>
          <p:cNvSpPr/>
          <p:nvPr/>
        </p:nvSpPr>
        <p:spPr>
          <a:xfrm>
            <a:off x="4379595" y="1104900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财政政策监测指标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179570" y="1485900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5" name="Text 32"/>
          <p:cNvSpPr/>
          <p:nvPr/>
        </p:nvSpPr>
        <p:spPr>
          <a:xfrm>
            <a:off x="4312920" y="150495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债务/GDP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872645" y="148590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120-125%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312920" y="17907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&gt;130%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179570" y="2983232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9" name="Text 36"/>
          <p:cNvSpPr/>
          <p:nvPr/>
        </p:nvSpPr>
        <p:spPr>
          <a:xfrm>
            <a:off x="4312920" y="3002282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利息/财政收入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087553" y="2983232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15-18%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312920" y="3288032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&gt;20%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179570" y="4480564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3" name="Text 40"/>
          <p:cNvSpPr/>
          <p:nvPr/>
        </p:nvSpPr>
        <p:spPr>
          <a:xfrm>
            <a:off x="4312920" y="4499614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财政赤字率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913722" y="4480564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5.5-6.5%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312920" y="4785364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&gt;7%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160520" y="5093974"/>
            <a:ext cx="3552825" cy="7620"/>
          </a:xfrm>
          <a:custGeom>
            <a:avLst/>
            <a:gdLst/>
            <a:ahLst/>
            <a:cxnLst/>
            <a:rect l="l" t="t" r="r" b="b"/>
            <a:pathLst>
              <a:path w="3552825" h="7620">
                <a:moveTo>
                  <a:pt x="0" y="0"/>
                </a:moveTo>
                <a:lnTo>
                  <a:pt x="3552825" y="0"/>
                </a:lnTo>
                <a:lnTo>
                  <a:pt x="3552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7" name="Shape 44"/>
          <p:cNvSpPr/>
          <p:nvPr/>
        </p:nvSpPr>
        <p:spPr>
          <a:xfrm>
            <a:off x="4179570" y="52501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8" name="Text 45"/>
          <p:cNvSpPr/>
          <p:nvPr/>
        </p:nvSpPr>
        <p:spPr>
          <a:xfrm>
            <a:off x="4351020" y="52120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地缘政治风险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4160520" y="55359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概率评估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949440" y="5516882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难以预测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4160520" y="5821682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预警信号: 地缘紧张指数上升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943850" y="1108710"/>
            <a:ext cx="3865245" cy="4903470"/>
          </a:xfrm>
          <a:custGeom>
            <a:avLst/>
            <a:gdLst/>
            <a:ahLst/>
            <a:cxnLst/>
            <a:rect l="l" t="t" r="r" b="b"/>
            <a:pathLst>
              <a:path w="3865245" h="4903470">
                <a:moveTo>
                  <a:pt x="0" y="0"/>
                </a:moveTo>
                <a:lnTo>
                  <a:pt x="3865245" y="0"/>
                </a:lnTo>
                <a:lnTo>
                  <a:pt x="3865245" y="4903470"/>
                </a:lnTo>
                <a:lnTo>
                  <a:pt x="0" y="49034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123873" y="13125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4" name="Text 51"/>
          <p:cNvSpPr/>
          <p:nvPr/>
        </p:nvSpPr>
        <p:spPr>
          <a:xfrm>
            <a:off x="8319135" y="1264918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历史黑天鹅事件回顾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100060" y="1645918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通胀压力指标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100060" y="1912618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历史案例: 1970年代、2008年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100060" y="2141218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预警信号: 油价冲击、工资螺旋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8100060" y="281940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就业市场指标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100060" y="30861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历史案例: 2001年、2008年、2020年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8100060" y="33147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预警信号: 收益率曲线倒挂、信贷紧缩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100060" y="3992882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衰退信号指标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100060" y="4259582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历史案例: 2001年、2008年、2020年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100060" y="4488182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预警信号: 收益率曲线倒挂、信贷紧缩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100060" y="5166364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政策紧缩程度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100060" y="5433064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历史案例: 2011年欧洲、新兴市场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8100060" y="5661664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预警信号: 国债拍卖失败、信用利差扩大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381000" y="61302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8" name="Shape 65"/>
          <p:cNvSpPr/>
          <p:nvPr/>
        </p:nvSpPr>
        <p:spPr>
          <a:xfrm>
            <a:off x="3366016" y="6278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9" name="Text 66"/>
          <p:cNvSpPr/>
          <p:nvPr/>
        </p:nvSpPr>
        <p:spPr>
          <a:xfrm>
            <a:off x="5905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风险管理建议:</a:t>
            </a: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建立多维度监测体系,关注关键阈值突破,及时调整资产配置策略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1309</Words>
  <Application>Microsoft Office PowerPoint</Application>
  <PresentationFormat>宽屏</PresentationFormat>
  <Paragraphs>462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Liter</vt:lpstr>
      <vt:lpstr>MiSans</vt:lpstr>
      <vt:lpstr>Arial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2026年宏观政策走向分析报告</dc:title>
  <dc:subject>2026年宏观政策走向分析报告</dc:subject>
  <dc:creator>Kimi</dc:creator>
  <cp:lastModifiedBy>Xuan Fu</cp:lastModifiedBy>
  <cp:revision>2</cp:revision>
  <dcterms:created xsi:type="dcterms:W3CDTF">2026-03-04T07:18:01Z</dcterms:created>
  <dcterms:modified xsi:type="dcterms:W3CDTF">2026-03-04T07:24:19Z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2026年宏观政策走向分析报告","ContentProducer":"001191110108MACG2KBH8F10000","ProduceID":"19cb7b08-8312-81e9-8000-0000f098223a","ReservedCode1":"","ContentPropagator":"001191110108MACG2KBH8F20000","PropagateID":"19cb7b08-8312-81e9-8000-0000f098223a","ReservedCode2":""}</vt:lpwstr>
  </property>
</Properties>
</file>
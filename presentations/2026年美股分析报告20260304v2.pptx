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embeddedFontLst>
    <p:embeddedFont>
      <p:font typeface="MiSans" charset="-122" pitchFamily="34"/>
      <p:regular r:id="rId21"/>
    </p:embeddedFont>
    <p:embeddedFont>
      <p:font typeface="Liter" charset="-122" pitchFamily="34"/>
      <p:regular r:id="rId22"/>
    </p:embeddedFont>
    <p:embeddedFont>
      <p:font typeface="Noto Sans SC" charset="-122" pitchFamily="34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font" Target="fonts/font1.fntdata"/><Relationship Id="rId22" Type="http://schemas.openxmlformats.org/officeDocument/2006/relationships/font" Target="fonts/font2.fntdata"/><Relationship Id="rId23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04f42b0b310744aee2fd99fca2201db23ca900ea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AFAFA">
                  <a:alpha val="95000"/>
                </a:srgbClr>
              </a:gs>
              <a:gs pos="50000">
                <a:srgbClr val="FAFAFA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2238375" cy="342900"/>
          </a:xfrm>
          <a:custGeom>
            <a:avLst/>
            <a:gdLst/>
            <a:ahLst/>
            <a:cxnLst/>
            <a:rect l="l" t="t" r="r" b="b"/>
            <a:pathLst>
              <a:path w="2238375" h="342900">
                <a:moveTo>
                  <a:pt x="0" y="0"/>
                </a:moveTo>
                <a:lnTo>
                  <a:pt x="2238375" y="0"/>
                </a:lnTo>
                <a:lnTo>
                  <a:pt x="22383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/>
        </p:spPr>
      </p:sp>
      <p:sp>
        <p:nvSpPr>
          <p:cNvPr id="5" name="Text 2"/>
          <p:cNvSpPr/>
          <p:nvPr/>
        </p:nvSpPr>
        <p:spPr>
          <a:xfrm>
            <a:off x="381000" y="381000"/>
            <a:ext cx="2305050" cy="3429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FAFA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MACRO POLICY ANALYSIS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154722" y="381000"/>
            <a:ext cx="16573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4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354747" y="990600"/>
            <a:ext cx="1457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年度分析报告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2347913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1D1D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美股分析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1D1D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报告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4291013"/>
            <a:ext cx="65151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基于历史经验推断法的政策预测与市场策略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09575" y="500538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19050" y="71438"/>
                </a:moveTo>
                <a:lnTo>
                  <a:pt x="19050" y="80962"/>
                </a:lnTo>
                <a:cubicBezTo>
                  <a:pt x="19050" y="83582"/>
                  <a:pt x="21193" y="85725"/>
                  <a:pt x="23813" y="85725"/>
                </a:cubicBezTo>
                <a:lnTo>
                  <a:pt x="33338" y="85725"/>
                </a:lnTo>
                <a:cubicBezTo>
                  <a:pt x="35957" y="85725"/>
                  <a:pt x="38100" y="83582"/>
                  <a:pt x="38100" y="80962"/>
                </a:cubicBezTo>
                <a:lnTo>
                  <a:pt x="38100" y="71438"/>
                </a:lnTo>
                <a:cubicBezTo>
                  <a:pt x="38100" y="68818"/>
                  <a:pt x="35957" y="66675"/>
                  <a:pt x="33338" y="66675"/>
                </a:cubicBezTo>
                <a:lnTo>
                  <a:pt x="23813" y="66675"/>
                </a:lnTo>
                <a:cubicBezTo>
                  <a:pt x="21193" y="66675"/>
                  <a:pt x="19050" y="68818"/>
                  <a:pt x="19050" y="71438"/>
                </a:cubicBezTo>
                <a:close/>
                <a:moveTo>
                  <a:pt x="57150" y="71438"/>
                </a:moveTo>
                <a:lnTo>
                  <a:pt x="57150" y="80962"/>
                </a:lnTo>
                <a:cubicBezTo>
                  <a:pt x="57150" y="83582"/>
                  <a:pt x="59293" y="85725"/>
                  <a:pt x="61912" y="85725"/>
                </a:cubicBezTo>
                <a:lnTo>
                  <a:pt x="71438" y="85725"/>
                </a:lnTo>
                <a:cubicBezTo>
                  <a:pt x="74057" y="85725"/>
                  <a:pt x="76200" y="83582"/>
                  <a:pt x="76200" y="80962"/>
                </a:cubicBezTo>
                <a:lnTo>
                  <a:pt x="76200" y="71438"/>
                </a:lnTo>
                <a:cubicBezTo>
                  <a:pt x="76200" y="68818"/>
                  <a:pt x="74057" y="66675"/>
                  <a:pt x="71438" y="66675"/>
                </a:cubicBezTo>
                <a:lnTo>
                  <a:pt x="61912" y="66675"/>
                </a:lnTo>
                <a:cubicBezTo>
                  <a:pt x="59293" y="66675"/>
                  <a:pt x="57150" y="68818"/>
                  <a:pt x="57150" y="71438"/>
                </a:cubicBezTo>
                <a:close/>
                <a:moveTo>
                  <a:pt x="100013" y="66675"/>
                </a:moveTo>
                <a:cubicBezTo>
                  <a:pt x="97393" y="66675"/>
                  <a:pt x="95250" y="68818"/>
                  <a:pt x="95250" y="71438"/>
                </a:cubicBezTo>
                <a:lnTo>
                  <a:pt x="95250" y="80962"/>
                </a:lnTo>
                <a:cubicBezTo>
                  <a:pt x="95250" y="83582"/>
                  <a:pt x="97393" y="85725"/>
                  <a:pt x="100013" y="85725"/>
                </a:cubicBezTo>
                <a:lnTo>
                  <a:pt x="109537" y="85725"/>
                </a:lnTo>
                <a:cubicBezTo>
                  <a:pt x="112157" y="85725"/>
                  <a:pt x="114300" y="83582"/>
                  <a:pt x="114300" y="80962"/>
                </a:cubicBezTo>
                <a:lnTo>
                  <a:pt x="114300" y="71438"/>
                </a:lnTo>
                <a:cubicBezTo>
                  <a:pt x="114300" y="68818"/>
                  <a:pt x="112157" y="66675"/>
                  <a:pt x="109537" y="66675"/>
                </a:cubicBezTo>
                <a:lnTo>
                  <a:pt x="100013" y="66675"/>
                </a:lnTo>
                <a:close/>
                <a:moveTo>
                  <a:pt x="19050" y="109537"/>
                </a:move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33338" y="123825"/>
                </a:lnTo>
                <a:cubicBezTo>
                  <a:pt x="35957" y="123825"/>
                  <a:pt x="38100" y="121682"/>
                  <a:pt x="38100" y="119062"/>
                </a:cubicBezTo>
                <a:lnTo>
                  <a:pt x="38100" y="109537"/>
                </a:lnTo>
                <a:cubicBezTo>
                  <a:pt x="38100" y="106918"/>
                  <a:pt x="35957" y="104775"/>
                  <a:pt x="33338" y="104775"/>
                </a:cubicBezTo>
                <a:lnTo>
                  <a:pt x="23813" y="104775"/>
                </a:lnTo>
                <a:cubicBezTo>
                  <a:pt x="21193" y="104775"/>
                  <a:pt x="19050" y="106918"/>
                  <a:pt x="19050" y="109537"/>
                </a:cubicBezTo>
                <a:close/>
                <a:moveTo>
                  <a:pt x="61912" y="104775"/>
                </a:moveTo>
                <a:cubicBezTo>
                  <a:pt x="59293" y="104775"/>
                  <a:pt x="57150" y="106918"/>
                  <a:pt x="57150" y="109537"/>
                </a:cubicBezTo>
                <a:lnTo>
                  <a:pt x="57150" y="119062"/>
                </a:lnTo>
                <a:cubicBezTo>
                  <a:pt x="57150" y="121682"/>
                  <a:pt x="59293" y="123825"/>
                  <a:pt x="61912" y="123825"/>
                </a:cubicBezTo>
                <a:lnTo>
                  <a:pt x="71438" y="123825"/>
                </a:lnTo>
                <a:cubicBezTo>
                  <a:pt x="74057" y="123825"/>
                  <a:pt x="76200" y="121682"/>
                  <a:pt x="76200" y="119062"/>
                </a:cubicBezTo>
                <a:lnTo>
                  <a:pt x="76200" y="109537"/>
                </a:lnTo>
                <a:cubicBezTo>
                  <a:pt x="76200" y="106918"/>
                  <a:pt x="74057" y="104775"/>
                  <a:pt x="71438" y="104775"/>
                </a:cubicBezTo>
                <a:lnTo>
                  <a:pt x="61912" y="104775"/>
                </a:lnTo>
                <a:close/>
                <a:moveTo>
                  <a:pt x="95250" y="109537"/>
                </a:moveTo>
                <a:lnTo>
                  <a:pt x="95250" y="119062"/>
                </a:lnTo>
                <a:cubicBezTo>
                  <a:pt x="95250" y="121682"/>
                  <a:pt x="97393" y="123825"/>
                  <a:pt x="100013" y="123825"/>
                </a:cubicBezTo>
                <a:lnTo>
                  <a:pt x="109537" y="123825"/>
                </a:lnTo>
                <a:cubicBezTo>
                  <a:pt x="112157" y="123825"/>
                  <a:pt x="114300" y="121682"/>
                  <a:pt x="114300" y="119062"/>
                </a:cubicBezTo>
                <a:lnTo>
                  <a:pt x="114300" y="109537"/>
                </a:lnTo>
                <a:cubicBezTo>
                  <a:pt x="114300" y="106918"/>
                  <a:pt x="112157" y="104775"/>
                  <a:pt x="109537" y="104775"/>
                </a:cubicBezTo>
                <a:lnTo>
                  <a:pt x="100013" y="104775"/>
                </a:lnTo>
                <a:cubicBezTo>
                  <a:pt x="97393" y="104775"/>
                  <a:pt x="95250" y="106918"/>
                  <a:pt x="95250" y="109537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1" name="Text 8"/>
          <p:cNvSpPr/>
          <p:nvPr/>
        </p:nvSpPr>
        <p:spPr>
          <a:xfrm>
            <a:off x="647700" y="4967288"/>
            <a:ext cx="2486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分析期间：2026年3月 - 2027年3月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383161" y="500538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3" name="Text 10"/>
          <p:cNvSpPr/>
          <p:nvPr/>
        </p:nvSpPr>
        <p:spPr>
          <a:xfrm>
            <a:off x="3630811" y="4967288"/>
            <a:ext cx="123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置信度：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60-70%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81000" y="6286500"/>
            <a:ext cx="82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2026-03-03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9186863" y="63150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67873" y="0"/>
                  <a:pt x="69071" y="260"/>
                  <a:pt x="70165" y="755"/>
                </a:cubicBezTo>
                <a:lnTo>
                  <a:pt x="119234" y="21565"/>
                </a:lnTo>
                <a:cubicBezTo>
                  <a:pt x="124964" y="23987"/>
                  <a:pt x="129235" y="29639"/>
                  <a:pt x="129209" y="36463"/>
                </a:cubicBezTo>
                <a:cubicBezTo>
                  <a:pt x="129079" y="62299"/>
                  <a:pt x="118452" y="109571"/>
                  <a:pt x="73577" y="131058"/>
                </a:cubicBezTo>
                <a:cubicBezTo>
                  <a:pt x="69227" y="133142"/>
                  <a:pt x="64175" y="133142"/>
                  <a:pt x="59825" y="131058"/>
                </a:cubicBezTo>
                <a:cubicBezTo>
                  <a:pt x="14924" y="109571"/>
                  <a:pt x="4323" y="62299"/>
                  <a:pt x="4193" y="36463"/>
                </a:cubicBezTo>
                <a:cubicBezTo>
                  <a:pt x="4167" y="29639"/>
                  <a:pt x="8439" y="23987"/>
                  <a:pt x="14168" y="21565"/>
                </a:cubicBezTo>
                <a:lnTo>
                  <a:pt x="63211" y="755"/>
                </a:lnTo>
                <a:cubicBezTo>
                  <a:pt x="64305" y="260"/>
                  <a:pt x="65477" y="0"/>
                  <a:pt x="66675" y="0"/>
                </a:cubicBezTo>
                <a:close/>
                <a:moveTo>
                  <a:pt x="66675" y="17398"/>
                </a:moveTo>
                <a:lnTo>
                  <a:pt x="66675" y="115874"/>
                </a:lnTo>
                <a:cubicBezTo>
                  <a:pt x="102617" y="98476"/>
                  <a:pt x="112280" y="59929"/>
                  <a:pt x="112514" y="36854"/>
                </a:cubicBezTo>
                <a:lnTo>
                  <a:pt x="66675" y="17424"/>
                </a:lnTo>
                <a:lnTo>
                  <a:pt x="66675" y="17424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16" name="Text 13"/>
          <p:cNvSpPr/>
          <p:nvPr/>
        </p:nvSpPr>
        <p:spPr>
          <a:xfrm>
            <a:off x="9410700" y="6286500"/>
            <a:ext cx="2466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基于历史路径经验推断，非实时数据驱动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98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目录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134725" y="571500"/>
            <a:ext cx="676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5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210925" y="914400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核心章节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878330"/>
            <a:ext cx="3646170" cy="807720"/>
          </a:xfrm>
          <a:custGeom>
            <a:avLst/>
            <a:gdLst/>
            <a:ahLst/>
            <a:cxnLst/>
            <a:rect l="l" t="t" r="r" b="b"/>
            <a:pathLst>
              <a:path w="3646170" h="807720">
                <a:moveTo>
                  <a:pt x="76200" y="0"/>
                </a:moveTo>
                <a:lnTo>
                  <a:pt x="3569970" y="0"/>
                </a:lnTo>
                <a:cubicBezTo>
                  <a:pt x="3612054" y="0"/>
                  <a:pt x="3646170" y="34116"/>
                  <a:pt x="3646170" y="76200"/>
                </a:cubicBezTo>
                <a:lnTo>
                  <a:pt x="3646170" y="731520"/>
                </a:lnTo>
                <a:cubicBezTo>
                  <a:pt x="3646170" y="773604"/>
                  <a:pt x="3612054" y="807720"/>
                  <a:pt x="3569970" y="807720"/>
                </a:cubicBezTo>
                <a:lnTo>
                  <a:pt x="76200" y="807720"/>
                </a:lnTo>
                <a:cubicBezTo>
                  <a:pt x="34116" y="807720"/>
                  <a:pt x="0" y="773604"/>
                  <a:pt x="0" y="731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1020" y="203454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/>
        </p:spPr>
      </p:sp>
      <p:sp>
        <p:nvSpPr>
          <p:cNvPr id="8" name="Text 6"/>
          <p:cNvSpPr/>
          <p:nvPr/>
        </p:nvSpPr>
        <p:spPr>
          <a:xfrm>
            <a:off x="493395" y="203454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AFA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50620" y="2034540"/>
            <a:ext cx="128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复盘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50620" y="2339340"/>
            <a:ext cx="126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市场走势与前期判断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71010" y="1878330"/>
            <a:ext cx="3646170" cy="807720"/>
          </a:xfrm>
          <a:custGeom>
            <a:avLst/>
            <a:gdLst/>
            <a:ahLst/>
            <a:cxnLst/>
            <a:rect l="l" t="t" r="r" b="b"/>
            <a:pathLst>
              <a:path w="3646170" h="807720">
                <a:moveTo>
                  <a:pt x="76200" y="0"/>
                </a:moveTo>
                <a:lnTo>
                  <a:pt x="3569970" y="0"/>
                </a:lnTo>
                <a:cubicBezTo>
                  <a:pt x="3612054" y="0"/>
                  <a:pt x="3646170" y="34116"/>
                  <a:pt x="3646170" y="76200"/>
                </a:cubicBezTo>
                <a:lnTo>
                  <a:pt x="3646170" y="731520"/>
                </a:lnTo>
                <a:cubicBezTo>
                  <a:pt x="3646170" y="773604"/>
                  <a:pt x="3612054" y="807720"/>
                  <a:pt x="3569970" y="807720"/>
                </a:cubicBezTo>
                <a:lnTo>
                  <a:pt x="76200" y="807720"/>
                </a:lnTo>
                <a:cubicBezTo>
                  <a:pt x="34116" y="807720"/>
                  <a:pt x="0" y="773604"/>
                  <a:pt x="0" y="731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27220" y="203454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/>
        </p:spPr>
      </p:sp>
      <p:sp>
        <p:nvSpPr>
          <p:cNvPr id="13" name="Text 11"/>
          <p:cNvSpPr/>
          <p:nvPr/>
        </p:nvSpPr>
        <p:spPr>
          <a:xfrm>
            <a:off x="4379595" y="203454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AFA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36820" y="2034540"/>
            <a:ext cx="1952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宏观跟踪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36820" y="2339340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温和增长，通胀韧性，就业警惕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57210" y="1878330"/>
            <a:ext cx="3646170" cy="807720"/>
          </a:xfrm>
          <a:custGeom>
            <a:avLst/>
            <a:gdLst/>
            <a:ahLst/>
            <a:cxnLst/>
            <a:rect l="l" t="t" r="r" b="b"/>
            <a:pathLst>
              <a:path w="3646170" h="807720">
                <a:moveTo>
                  <a:pt x="76200" y="0"/>
                </a:moveTo>
                <a:lnTo>
                  <a:pt x="3569970" y="0"/>
                </a:lnTo>
                <a:cubicBezTo>
                  <a:pt x="3612054" y="0"/>
                  <a:pt x="3646170" y="34116"/>
                  <a:pt x="3646170" y="76200"/>
                </a:cubicBezTo>
                <a:lnTo>
                  <a:pt x="3646170" y="731520"/>
                </a:lnTo>
                <a:cubicBezTo>
                  <a:pt x="3646170" y="773604"/>
                  <a:pt x="3612054" y="807720"/>
                  <a:pt x="3569970" y="807720"/>
                </a:cubicBezTo>
                <a:lnTo>
                  <a:pt x="76200" y="807720"/>
                </a:lnTo>
                <a:cubicBezTo>
                  <a:pt x="34116" y="807720"/>
                  <a:pt x="0" y="773604"/>
                  <a:pt x="0" y="731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13420" y="203454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/>
        </p:spPr>
      </p:sp>
      <p:sp>
        <p:nvSpPr>
          <p:cNvPr id="18" name="Text 16"/>
          <p:cNvSpPr/>
          <p:nvPr/>
        </p:nvSpPr>
        <p:spPr>
          <a:xfrm>
            <a:off x="8265795" y="203454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AFA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23020" y="2034540"/>
            <a:ext cx="1952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企业基本面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923020" y="2339340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科技盈利扩张，行业景气度分化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4810" y="2884170"/>
            <a:ext cx="3646170" cy="807720"/>
          </a:xfrm>
          <a:custGeom>
            <a:avLst/>
            <a:gdLst/>
            <a:ahLst/>
            <a:cxnLst/>
            <a:rect l="l" t="t" r="r" b="b"/>
            <a:pathLst>
              <a:path w="3646170" h="807720">
                <a:moveTo>
                  <a:pt x="76200" y="0"/>
                </a:moveTo>
                <a:lnTo>
                  <a:pt x="3569970" y="0"/>
                </a:lnTo>
                <a:cubicBezTo>
                  <a:pt x="3612054" y="0"/>
                  <a:pt x="3646170" y="34116"/>
                  <a:pt x="3646170" y="76200"/>
                </a:cubicBezTo>
                <a:lnTo>
                  <a:pt x="3646170" y="731520"/>
                </a:lnTo>
                <a:cubicBezTo>
                  <a:pt x="3646170" y="773604"/>
                  <a:pt x="3612054" y="807720"/>
                  <a:pt x="3569970" y="807720"/>
                </a:cubicBezTo>
                <a:lnTo>
                  <a:pt x="76200" y="807720"/>
                </a:lnTo>
                <a:cubicBezTo>
                  <a:pt x="34116" y="807720"/>
                  <a:pt x="0" y="773604"/>
                  <a:pt x="0" y="731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1020" y="304038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/>
        </p:spPr>
      </p:sp>
      <p:sp>
        <p:nvSpPr>
          <p:cNvPr id="23" name="Text 21"/>
          <p:cNvSpPr/>
          <p:nvPr/>
        </p:nvSpPr>
        <p:spPr>
          <a:xfrm>
            <a:off x="493395" y="3040381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AFA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50620" y="3040381"/>
            <a:ext cx="1628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市场情绪与资金流动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50620" y="3345181"/>
            <a:ext cx="160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情绪过高预警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271010" y="2884170"/>
            <a:ext cx="3646170" cy="807720"/>
          </a:xfrm>
          <a:custGeom>
            <a:avLst/>
            <a:gdLst/>
            <a:ahLst/>
            <a:cxnLst/>
            <a:rect l="l" t="t" r="r" b="b"/>
            <a:pathLst>
              <a:path w="3646170" h="807720">
                <a:moveTo>
                  <a:pt x="76200" y="0"/>
                </a:moveTo>
                <a:lnTo>
                  <a:pt x="3569970" y="0"/>
                </a:lnTo>
                <a:cubicBezTo>
                  <a:pt x="3612054" y="0"/>
                  <a:pt x="3646170" y="34116"/>
                  <a:pt x="3646170" y="76200"/>
                </a:cubicBezTo>
                <a:lnTo>
                  <a:pt x="3646170" y="731520"/>
                </a:lnTo>
                <a:cubicBezTo>
                  <a:pt x="3646170" y="773604"/>
                  <a:pt x="3612054" y="807720"/>
                  <a:pt x="3569970" y="807720"/>
                </a:cubicBezTo>
                <a:lnTo>
                  <a:pt x="76200" y="807720"/>
                </a:lnTo>
                <a:cubicBezTo>
                  <a:pt x="34116" y="807720"/>
                  <a:pt x="0" y="773604"/>
                  <a:pt x="0" y="731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27220" y="304038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/>
        </p:spPr>
      </p:sp>
      <p:sp>
        <p:nvSpPr>
          <p:cNvPr id="28" name="Text 26"/>
          <p:cNvSpPr/>
          <p:nvPr/>
        </p:nvSpPr>
        <p:spPr>
          <a:xfrm>
            <a:off x="4379595" y="3040381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AFA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36820" y="3040381"/>
            <a:ext cx="885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估值水平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036820" y="3345181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估值昂贵分析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57210" y="2884170"/>
            <a:ext cx="3646170" cy="807720"/>
          </a:xfrm>
          <a:custGeom>
            <a:avLst/>
            <a:gdLst/>
            <a:ahLst/>
            <a:cxnLst/>
            <a:rect l="l" t="t" r="r" b="b"/>
            <a:pathLst>
              <a:path w="3646170" h="807720">
                <a:moveTo>
                  <a:pt x="76200" y="0"/>
                </a:moveTo>
                <a:lnTo>
                  <a:pt x="3569970" y="0"/>
                </a:lnTo>
                <a:cubicBezTo>
                  <a:pt x="3612054" y="0"/>
                  <a:pt x="3646170" y="34116"/>
                  <a:pt x="3646170" y="76200"/>
                </a:cubicBezTo>
                <a:lnTo>
                  <a:pt x="3646170" y="731520"/>
                </a:lnTo>
                <a:cubicBezTo>
                  <a:pt x="3646170" y="773604"/>
                  <a:pt x="3612054" y="807720"/>
                  <a:pt x="3569970" y="807720"/>
                </a:cubicBezTo>
                <a:lnTo>
                  <a:pt x="76200" y="807720"/>
                </a:lnTo>
                <a:cubicBezTo>
                  <a:pt x="34116" y="807720"/>
                  <a:pt x="0" y="773604"/>
                  <a:pt x="0" y="731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13420" y="304038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/>
        </p:spPr>
      </p:sp>
      <p:sp>
        <p:nvSpPr>
          <p:cNvPr id="33" name="Text 31"/>
          <p:cNvSpPr/>
          <p:nvPr/>
        </p:nvSpPr>
        <p:spPr>
          <a:xfrm>
            <a:off x="8265795" y="3040381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AFA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923020" y="3040381"/>
            <a:ext cx="115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政策与流动性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923020" y="3345181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紧缩与流动性短缺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84810" y="3890010"/>
            <a:ext cx="3646170" cy="807720"/>
          </a:xfrm>
          <a:custGeom>
            <a:avLst/>
            <a:gdLst/>
            <a:ahLst/>
            <a:cxnLst/>
            <a:rect l="l" t="t" r="r" b="b"/>
            <a:pathLst>
              <a:path w="3646170" h="807720">
                <a:moveTo>
                  <a:pt x="76200" y="0"/>
                </a:moveTo>
                <a:lnTo>
                  <a:pt x="3569970" y="0"/>
                </a:lnTo>
                <a:cubicBezTo>
                  <a:pt x="3612054" y="0"/>
                  <a:pt x="3646170" y="34116"/>
                  <a:pt x="3646170" y="76200"/>
                </a:cubicBezTo>
                <a:lnTo>
                  <a:pt x="3646170" y="731520"/>
                </a:lnTo>
                <a:cubicBezTo>
                  <a:pt x="3646170" y="773604"/>
                  <a:pt x="3612054" y="807720"/>
                  <a:pt x="3569970" y="807720"/>
                </a:cubicBezTo>
                <a:lnTo>
                  <a:pt x="76200" y="807720"/>
                </a:lnTo>
                <a:cubicBezTo>
                  <a:pt x="34116" y="807720"/>
                  <a:pt x="0" y="773604"/>
                  <a:pt x="0" y="731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1020" y="40462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/>
        </p:spPr>
      </p:sp>
      <p:sp>
        <p:nvSpPr>
          <p:cNvPr id="38" name="Text 36"/>
          <p:cNvSpPr/>
          <p:nvPr/>
        </p:nvSpPr>
        <p:spPr>
          <a:xfrm>
            <a:off x="493395" y="404622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AFA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50620" y="4046220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货币政策预测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50620" y="4351020"/>
            <a:ext cx="1095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三情景分析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271010" y="3890010"/>
            <a:ext cx="3646170" cy="807720"/>
          </a:xfrm>
          <a:custGeom>
            <a:avLst/>
            <a:gdLst/>
            <a:ahLst/>
            <a:cxnLst/>
            <a:rect l="l" t="t" r="r" b="b"/>
            <a:pathLst>
              <a:path w="3646170" h="807720">
                <a:moveTo>
                  <a:pt x="76200" y="0"/>
                </a:moveTo>
                <a:lnTo>
                  <a:pt x="3569970" y="0"/>
                </a:lnTo>
                <a:cubicBezTo>
                  <a:pt x="3612054" y="0"/>
                  <a:pt x="3646170" y="34116"/>
                  <a:pt x="3646170" y="76200"/>
                </a:cubicBezTo>
                <a:lnTo>
                  <a:pt x="3646170" y="731520"/>
                </a:lnTo>
                <a:cubicBezTo>
                  <a:pt x="3646170" y="773604"/>
                  <a:pt x="3612054" y="807720"/>
                  <a:pt x="3569970" y="807720"/>
                </a:cubicBezTo>
                <a:lnTo>
                  <a:pt x="76200" y="807720"/>
                </a:lnTo>
                <a:cubicBezTo>
                  <a:pt x="34116" y="807720"/>
                  <a:pt x="0" y="773604"/>
                  <a:pt x="0" y="731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27220" y="40462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/>
        </p:spPr>
      </p:sp>
      <p:sp>
        <p:nvSpPr>
          <p:cNvPr id="43" name="Text 41"/>
          <p:cNvSpPr/>
          <p:nvPr/>
        </p:nvSpPr>
        <p:spPr>
          <a:xfrm>
            <a:off x="4379595" y="404622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AFA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036820" y="4046220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历史情景推演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036820" y="4351020"/>
            <a:ext cx="1095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相似度评估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157210" y="3890010"/>
            <a:ext cx="3646170" cy="807720"/>
          </a:xfrm>
          <a:custGeom>
            <a:avLst/>
            <a:gdLst/>
            <a:ahLst/>
            <a:cxnLst/>
            <a:rect l="l" t="t" r="r" b="b"/>
            <a:pathLst>
              <a:path w="3646170" h="807720">
                <a:moveTo>
                  <a:pt x="76200" y="0"/>
                </a:moveTo>
                <a:lnTo>
                  <a:pt x="3569970" y="0"/>
                </a:lnTo>
                <a:cubicBezTo>
                  <a:pt x="3612054" y="0"/>
                  <a:pt x="3646170" y="34116"/>
                  <a:pt x="3646170" y="76200"/>
                </a:cubicBezTo>
                <a:lnTo>
                  <a:pt x="3646170" y="731520"/>
                </a:lnTo>
                <a:cubicBezTo>
                  <a:pt x="3646170" y="773604"/>
                  <a:pt x="3612054" y="807720"/>
                  <a:pt x="3569970" y="807720"/>
                </a:cubicBezTo>
                <a:lnTo>
                  <a:pt x="76200" y="807720"/>
                </a:lnTo>
                <a:cubicBezTo>
                  <a:pt x="34116" y="807720"/>
                  <a:pt x="0" y="773604"/>
                  <a:pt x="0" y="731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13420" y="40462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/>
        </p:spPr>
      </p:sp>
      <p:sp>
        <p:nvSpPr>
          <p:cNvPr id="48" name="Text 46"/>
          <p:cNvSpPr/>
          <p:nvPr/>
        </p:nvSpPr>
        <p:spPr>
          <a:xfrm>
            <a:off x="8265795" y="404622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AFA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923020" y="4046220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市场影响分析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923020" y="4351020"/>
            <a:ext cx="1095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股票与债券市场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84810" y="4895850"/>
            <a:ext cx="3646170" cy="807720"/>
          </a:xfrm>
          <a:custGeom>
            <a:avLst/>
            <a:gdLst/>
            <a:ahLst/>
            <a:cxnLst/>
            <a:rect l="l" t="t" r="r" b="b"/>
            <a:pathLst>
              <a:path w="3646170" h="807720">
                <a:moveTo>
                  <a:pt x="76200" y="0"/>
                </a:moveTo>
                <a:lnTo>
                  <a:pt x="3569970" y="0"/>
                </a:lnTo>
                <a:cubicBezTo>
                  <a:pt x="3612054" y="0"/>
                  <a:pt x="3646170" y="34116"/>
                  <a:pt x="3646170" y="76200"/>
                </a:cubicBezTo>
                <a:lnTo>
                  <a:pt x="3646170" y="731520"/>
                </a:lnTo>
                <a:cubicBezTo>
                  <a:pt x="3646170" y="773604"/>
                  <a:pt x="3612054" y="807720"/>
                  <a:pt x="3569970" y="807720"/>
                </a:cubicBezTo>
                <a:lnTo>
                  <a:pt x="76200" y="807720"/>
                </a:lnTo>
                <a:cubicBezTo>
                  <a:pt x="34116" y="807720"/>
                  <a:pt x="0" y="773604"/>
                  <a:pt x="0" y="731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41020" y="505206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/>
        </p:spPr>
      </p:sp>
      <p:sp>
        <p:nvSpPr>
          <p:cNvPr id="53" name="Text 51"/>
          <p:cNvSpPr/>
          <p:nvPr/>
        </p:nvSpPr>
        <p:spPr>
          <a:xfrm>
            <a:off x="493395" y="505206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AFA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50620" y="5052060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决策框架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150620" y="5356860"/>
            <a:ext cx="752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共振与背离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271010" y="4895850"/>
            <a:ext cx="7532370" cy="807720"/>
          </a:xfrm>
          <a:custGeom>
            <a:avLst/>
            <a:gdLst/>
            <a:ahLst/>
            <a:cxnLst/>
            <a:rect l="l" t="t" r="r" b="b"/>
            <a:pathLst>
              <a:path w="7532370" h="807720">
                <a:moveTo>
                  <a:pt x="76200" y="0"/>
                </a:moveTo>
                <a:lnTo>
                  <a:pt x="7456170" y="0"/>
                </a:lnTo>
                <a:cubicBezTo>
                  <a:pt x="7498254" y="0"/>
                  <a:pt x="7532370" y="34116"/>
                  <a:pt x="7532370" y="76200"/>
                </a:cubicBezTo>
                <a:lnTo>
                  <a:pt x="7532370" y="731520"/>
                </a:lnTo>
                <a:cubicBezTo>
                  <a:pt x="7532370" y="773604"/>
                  <a:pt x="7498254" y="807720"/>
                  <a:pt x="7456170" y="807720"/>
                </a:cubicBezTo>
                <a:lnTo>
                  <a:pt x="76200" y="807720"/>
                </a:lnTo>
                <a:cubicBezTo>
                  <a:pt x="34116" y="807720"/>
                  <a:pt x="0" y="773604"/>
                  <a:pt x="0" y="731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427220" y="505206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/>
        </p:spPr>
      </p:sp>
      <p:sp>
        <p:nvSpPr>
          <p:cNvPr id="58" name="Text 56"/>
          <p:cNvSpPr/>
          <p:nvPr/>
        </p:nvSpPr>
        <p:spPr>
          <a:xfrm>
            <a:off x="4379595" y="505206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AFA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5036820" y="5052060"/>
            <a:ext cx="1952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风险提示与监测指标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5036820" y="5356860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多维度风险监测体系与关键阈值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352425" y="6324720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重要声明：本报告基于历史路径经验推断，非实时数据驱动。历史表现不代表未来结果，经济环境可能发生结构性变化导致历史规律失效。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8928" y="378928"/>
            <a:ext cx="11500457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b="1" spc="104" kern="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8928" y="644177"/>
            <a:ext cx="11604662" cy="378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85" b="1" dirty="0">
                <a:solidFill>
                  <a:srgbClr val="1D1D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复盘情况：市场走势与前期判断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2717" y="1254251"/>
            <a:ext cx="5142049" cy="2375877"/>
          </a:xfrm>
          <a:custGeom>
            <a:avLst/>
            <a:gdLst/>
            <a:ahLst/>
            <a:cxnLst/>
            <a:rect l="l" t="t" r="r" b="b"/>
            <a:pathLst>
              <a:path w="5142049" h="2375877">
                <a:moveTo>
                  <a:pt x="75790" y="0"/>
                </a:moveTo>
                <a:lnTo>
                  <a:pt x="5066259" y="0"/>
                </a:lnTo>
                <a:cubicBezTo>
                  <a:pt x="5108117" y="0"/>
                  <a:pt x="5142049" y="33933"/>
                  <a:pt x="5142049" y="75790"/>
                </a:cubicBezTo>
                <a:lnTo>
                  <a:pt x="5142049" y="2300086"/>
                </a:lnTo>
                <a:cubicBezTo>
                  <a:pt x="5142049" y="2341944"/>
                  <a:pt x="5108117" y="2375877"/>
                  <a:pt x="5066259" y="2375877"/>
                </a:cubicBezTo>
                <a:lnTo>
                  <a:pt x="75790" y="2375877"/>
                </a:lnTo>
                <a:cubicBezTo>
                  <a:pt x="33933" y="2375877"/>
                  <a:pt x="0" y="2341944"/>
                  <a:pt x="0" y="2300086"/>
                </a:cubicBezTo>
                <a:lnTo>
                  <a:pt x="0" y="75790"/>
                </a:lnTo>
                <a:cubicBezTo>
                  <a:pt x="0" y="33961"/>
                  <a:pt x="33961" y="0"/>
                  <a:pt x="75790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5970" y="1447504"/>
            <a:ext cx="378928" cy="378928"/>
          </a:xfrm>
          <a:custGeom>
            <a:avLst/>
            <a:gdLst/>
            <a:ahLst/>
            <a:cxnLst/>
            <a:rect l="l" t="t" r="r" b="b"/>
            <a:pathLst>
              <a:path w="378928" h="378928">
                <a:moveTo>
                  <a:pt x="37893" y="0"/>
                </a:moveTo>
                <a:lnTo>
                  <a:pt x="341035" y="0"/>
                </a:lnTo>
                <a:cubicBezTo>
                  <a:pt x="361963" y="0"/>
                  <a:pt x="378928" y="16965"/>
                  <a:pt x="378928" y="37893"/>
                </a:cubicBezTo>
                <a:lnTo>
                  <a:pt x="378928" y="341035"/>
                </a:lnTo>
                <a:cubicBezTo>
                  <a:pt x="378928" y="361963"/>
                  <a:pt x="361963" y="378928"/>
                  <a:pt x="341035" y="378928"/>
                </a:cubicBezTo>
                <a:lnTo>
                  <a:pt x="37893" y="378928"/>
                </a:lnTo>
                <a:cubicBezTo>
                  <a:pt x="16965" y="378928"/>
                  <a:pt x="0" y="361963"/>
                  <a:pt x="0" y="341035"/>
                </a:cubicBezTo>
                <a:lnTo>
                  <a:pt x="0" y="37893"/>
                </a:lnTo>
                <a:cubicBezTo>
                  <a:pt x="0" y="16979"/>
                  <a:pt x="16979" y="0"/>
                  <a:pt x="37893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" name="Shape 4"/>
          <p:cNvSpPr/>
          <p:nvPr/>
        </p:nvSpPr>
        <p:spPr>
          <a:xfrm>
            <a:off x="689649" y="1561183"/>
            <a:ext cx="151571" cy="151571"/>
          </a:xfrm>
          <a:custGeom>
            <a:avLst/>
            <a:gdLst/>
            <a:ahLst/>
            <a:cxnLst/>
            <a:rect l="l" t="t" r="r" b="b"/>
            <a:pathLst>
              <a:path w="151571" h="151571">
                <a:moveTo>
                  <a:pt x="132625" y="75786"/>
                </a:moveTo>
                <a:cubicBezTo>
                  <a:pt x="132625" y="44415"/>
                  <a:pt x="107156" y="18946"/>
                  <a:pt x="75786" y="18946"/>
                </a:cubicBezTo>
                <a:cubicBezTo>
                  <a:pt x="44415" y="18946"/>
                  <a:pt x="18946" y="44415"/>
                  <a:pt x="18946" y="75786"/>
                </a:cubicBezTo>
                <a:cubicBezTo>
                  <a:pt x="18946" y="107156"/>
                  <a:pt x="44415" y="132625"/>
                  <a:pt x="75786" y="132625"/>
                </a:cubicBezTo>
                <a:cubicBezTo>
                  <a:pt x="107156" y="132625"/>
                  <a:pt x="132625" y="107156"/>
                  <a:pt x="132625" y="75786"/>
                </a:cubicBezTo>
                <a:close/>
                <a:moveTo>
                  <a:pt x="0" y="75786"/>
                </a:moveTo>
                <a:cubicBezTo>
                  <a:pt x="0" y="33958"/>
                  <a:pt x="33958" y="0"/>
                  <a:pt x="75786" y="0"/>
                </a:cubicBezTo>
                <a:cubicBezTo>
                  <a:pt x="117613" y="0"/>
                  <a:pt x="151571" y="33958"/>
                  <a:pt x="151571" y="75786"/>
                </a:cubicBezTo>
                <a:cubicBezTo>
                  <a:pt x="151571" y="117613"/>
                  <a:pt x="117613" y="151571"/>
                  <a:pt x="75786" y="151571"/>
                </a:cubicBezTo>
                <a:cubicBezTo>
                  <a:pt x="33958" y="151571"/>
                  <a:pt x="0" y="117613"/>
                  <a:pt x="0" y="75786"/>
                </a:cubicBezTo>
                <a:close/>
                <a:moveTo>
                  <a:pt x="75786" y="99469"/>
                </a:moveTo>
                <a:cubicBezTo>
                  <a:pt x="88857" y="99469"/>
                  <a:pt x="99469" y="88857"/>
                  <a:pt x="99469" y="75786"/>
                </a:cubicBezTo>
                <a:cubicBezTo>
                  <a:pt x="99469" y="62715"/>
                  <a:pt x="88857" y="52103"/>
                  <a:pt x="75786" y="52103"/>
                </a:cubicBezTo>
                <a:cubicBezTo>
                  <a:pt x="62715" y="52103"/>
                  <a:pt x="52103" y="62715"/>
                  <a:pt x="52103" y="75786"/>
                </a:cubicBezTo>
                <a:cubicBezTo>
                  <a:pt x="52103" y="88857"/>
                  <a:pt x="62715" y="99469"/>
                  <a:pt x="75786" y="99469"/>
                </a:cubicBezTo>
                <a:close/>
                <a:moveTo>
                  <a:pt x="75786" y="33156"/>
                </a:moveTo>
                <a:cubicBezTo>
                  <a:pt x="99313" y="33156"/>
                  <a:pt x="118415" y="52258"/>
                  <a:pt x="118415" y="75786"/>
                </a:cubicBezTo>
                <a:cubicBezTo>
                  <a:pt x="118415" y="99313"/>
                  <a:pt x="99313" y="118415"/>
                  <a:pt x="75786" y="118415"/>
                </a:cubicBezTo>
                <a:cubicBezTo>
                  <a:pt x="52258" y="118415"/>
                  <a:pt x="33156" y="99313"/>
                  <a:pt x="33156" y="75786"/>
                </a:cubicBezTo>
                <a:cubicBezTo>
                  <a:pt x="33156" y="52258"/>
                  <a:pt x="52258" y="33156"/>
                  <a:pt x="75786" y="33156"/>
                </a:cubicBezTo>
                <a:close/>
                <a:moveTo>
                  <a:pt x="66312" y="75786"/>
                </a:moveTo>
                <a:cubicBezTo>
                  <a:pt x="66312" y="70557"/>
                  <a:pt x="70557" y="66312"/>
                  <a:pt x="75786" y="66312"/>
                </a:cubicBezTo>
                <a:cubicBezTo>
                  <a:pt x="81014" y="66312"/>
                  <a:pt x="85259" y="70557"/>
                  <a:pt x="85259" y="75786"/>
                </a:cubicBezTo>
                <a:cubicBezTo>
                  <a:pt x="85259" y="81014"/>
                  <a:pt x="81014" y="85259"/>
                  <a:pt x="75786" y="85259"/>
                </a:cubicBezTo>
                <a:cubicBezTo>
                  <a:pt x="70557" y="85259"/>
                  <a:pt x="66312" y="81014"/>
                  <a:pt x="66312" y="75786"/>
                </a:cubicBezTo>
                <a:close/>
              </a:path>
            </a:pathLst>
          </a:custGeom>
          <a:solidFill>
            <a:srgbClr val="FAFAFA"/>
          </a:solidFill>
          <a:ln/>
        </p:spPr>
      </p:sp>
      <p:sp>
        <p:nvSpPr>
          <p:cNvPr id="7" name="Text 5"/>
          <p:cNvSpPr/>
          <p:nvPr/>
        </p:nvSpPr>
        <p:spPr>
          <a:xfrm>
            <a:off x="1068576" y="1504344"/>
            <a:ext cx="852587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前期判断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5970" y="1978003"/>
            <a:ext cx="4831329" cy="246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3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结构性扩张政策持续，重点支持</a:t>
            </a:r>
            <a:pPr>
              <a:lnSpc>
                <a:spcPct val="140000"/>
              </a:lnSpc>
            </a:pPr>
            <a:r>
              <a:rPr lang="en-US" sz="1193" dirty="0">
                <a:solidFill>
                  <a:srgbClr val="0071E3"/>
                </a:solidFill>
                <a:highlight>
                  <a:srgbClr val="0071E3">
                    <a:alpha val="1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AI和基础设施 </a:t>
            </a:r>
            <a:pPr>
              <a:lnSpc>
                <a:spcPct val="140000"/>
              </a:lnSpc>
            </a:pPr>
            <a:r>
              <a:rPr lang="en-US" sz="1193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，但债务约束增加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5970" y="2375877"/>
            <a:ext cx="4755543" cy="530499"/>
          </a:xfrm>
          <a:custGeom>
            <a:avLst/>
            <a:gdLst/>
            <a:ahLst/>
            <a:cxnLst/>
            <a:rect l="l" t="t" r="r" b="b"/>
            <a:pathLst>
              <a:path w="4755543" h="530499">
                <a:moveTo>
                  <a:pt x="37894" y="0"/>
                </a:moveTo>
                <a:lnTo>
                  <a:pt x="4717650" y="0"/>
                </a:lnTo>
                <a:cubicBezTo>
                  <a:pt x="4738578" y="0"/>
                  <a:pt x="4755543" y="16966"/>
                  <a:pt x="4755543" y="37894"/>
                </a:cubicBezTo>
                <a:lnTo>
                  <a:pt x="4755543" y="492605"/>
                </a:lnTo>
                <a:cubicBezTo>
                  <a:pt x="4755543" y="513533"/>
                  <a:pt x="4738578" y="530499"/>
                  <a:pt x="4717650" y="530499"/>
                </a:cubicBezTo>
                <a:lnTo>
                  <a:pt x="37894" y="530499"/>
                </a:lnTo>
                <a:cubicBezTo>
                  <a:pt x="16966" y="530499"/>
                  <a:pt x="0" y="513533"/>
                  <a:pt x="0" y="492605"/>
                </a:cubicBezTo>
                <a:lnTo>
                  <a:pt x="0" y="37894"/>
                </a:lnTo>
                <a:cubicBezTo>
                  <a:pt x="0" y="16980"/>
                  <a:pt x="16980" y="0"/>
                  <a:pt x="37894" y="0"/>
                </a:cubicBezTo>
                <a:close/>
              </a:path>
            </a:pathLst>
          </a:custGeom>
          <a:solidFill>
            <a:srgbClr val="FAFAFA"/>
          </a:solidFill>
          <a:ln/>
        </p:spPr>
      </p:sp>
      <p:sp>
        <p:nvSpPr>
          <p:cNvPr id="10" name="Text 8"/>
          <p:cNvSpPr/>
          <p:nvPr/>
        </p:nvSpPr>
        <p:spPr>
          <a:xfrm>
            <a:off x="689649" y="2546276"/>
            <a:ext cx="464186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置信度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9094" y="2489556"/>
            <a:ext cx="558918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70%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2717" y="3793067"/>
            <a:ext cx="5142049" cy="2375877"/>
          </a:xfrm>
          <a:custGeom>
            <a:avLst/>
            <a:gdLst/>
            <a:ahLst/>
            <a:cxnLst/>
            <a:rect l="l" t="t" r="r" b="b"/>
            <a:pathLst>
              <a:path w="5142049" h="2375877">
                <a:moveTo>
                  <a:pt x="75790" y="0"/>
                </a:moveTo>
                <a:lnTo>
                  <a:pt x="5066259" y="0"/>
                </a:lnTo>
                <a:cubicBezTo>
                  <a:pt x="5108117" y="0"/>
                  <a:pt x="5142049" y="33933"/>
                  <a:pt x="5142049" y="75790"/>
                </a:cubicBezTo>
                <a:lnTo>
                  <a:pt x="5142049" y="2300086"/>
                </a:lnTo>
                <a:cubicBezTo>
                  <a:pt x="5142049" y="2341944"/>
                  <a:pt x="5108117" y="2375877"/>
                  <a:pt x="5066259" y="2375877"/>
                </a:cubicBezTo>
                <a:lnTo>
                  <a:pt x="75790" y="2375877"/>
                </a:lnTo>
                <a:cubicBezTo>
                  <a:pt x="33933" y="2375877"/>
                  <a:pt x="0" y="2341944"/>
                  <a:pt x="0" y="2300086"/>
                </a:cubicBezTo>
                <a:lnTo>
                  <a:pt x="0" y="75790"/>
                </a:lnTo>
                <a:cubicBezTo>
                  <a:pt x="0" y="33961"/>
                  <a:pt x="33961" y="0"/>
                  <a:pt x="75790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5970" y="3986320"/>
            <a:ext cx="378928" cy="378928"/>
          </a:xfrm>
          <a:custGeom>
            <a:avLst/>
            <a:gdLst/>
            <a:ahLst/>
            <a:cxnLst/>
            <a:rect l="l" t="t" r="r" b="b"/>
            <a:pathLst>
              <a:path w="378928" h="378928">
                <a:moveTo>
                  <a:pt x="37893" y="0"/>
                </a:moveTo>
                <a:lnTo>
                  <a:pt x="341035" y="0"/>
                </a:lnTo>
                <a:cubicBezTo>
                  <a:pt x="361963" y="0"/>
                  <a:pt x="378928" y="16965"/>
                  <a:pt x="378928" y="37893"/>
                </a:cubicBezTo>
                <a:lnTo>
                  <a:pt x="378928" y="341035"/>
                </a:lnTo>
                <a:cubicBezTo>
                  <a:pt x="378928" y="361963"/>
                  <a:pt x="361963" y="378928"/>
                  <a:pt x="341035" y="378928"/>
                </a:cubicBezTo>
                <a:lnTo>
                  <a:pt x="37893" y="378928"/>
                </a:lnTo>
                <a:cubicBezTo>
                  <a:pt x="16965" y="378928"/>
                  <a:pt x="0" y="361963"/>
                  <a:pt x="0" y="341035"/>
                </a:cubicBezTo>
                <a:lnTo>
                  <a:pt x="0" y="37893"/>
                </a:lnTo>
                <a:cubicBezTo>
                  <a:pt x="0" y="16979"/>
                  <a:pt x="16979" y="0"/>
                  <a:pt x="37893" y="0"/>
                </a:cubicBezTo>
                <a:close/>
              </a:path>
            </a:pathLst>
          </a:custGeom>
          <a:solidFill>
            <a:srgbClr val="1D1D1D"/>
          </a:solidFill>
          <a:ln/>
        </p:spPr>
      </p:sp>
      <p:sp>
        <p:nvSpPr>
          <p:cNvPr id="14" name="Shape 12"/>
          <p:cNvSpPr/>
          <p:nvPr/>
        </p:nvSpPr>
        <p:spPr>
          <a:xfrm>
            <a:off x="689649" y="4099999"/>
            <a:ext cx="151571" cy="151571"/>
          </a:xfrm>
          <a:custGeom>
            <a:avLst/>
            <a:gdLst/>
            <a:ahLst/>
            <a:cxnLst/>
            <a:rect l="l" t="t" r="r" b="b"/>
            <a:pathLst>
              <a:path w="151571" h="151571">
                <a:moveTo>
                  <a:pt x="9473" y="9473"/>
                </a:moveTo>
                <a:cubicBezTo>
                  <a:pt x="14713" y="9473"/>
                  <a:pt x="18946" y="13707"/>
                  <a:pt x="18946" y="18946"/>
                </a:cubicBezTo>
                <a:lnTo>
                  <a:pt x="18946" y="118415"/>
                </a:lnTo>
                <a:cubicBezTo>
                  <a:pt x="18946" y="121020"/>
                  <a:pt x="21078" y="123152"/>
                  <a:pt x="23683" y="123152"/>
                </a:cubicBezTo>
                <a:lnTo>
                  <a:pt x="142098" y="123152"/>
                </a:lnTo>
                <a:cubicBezTo>
                  <a:pt x="147338" y="123152"/>
                  <a:pt x="151571" y="127385"/>
                  <a:pt x="151571" y="132625"/>
                </a:cubicBezTo>
                <a:cubicBezTo>
                  <a:pt x="151571" y="137865"/>
                  <a:pt x="147338" y="142098"/>
                  <a:pt x="142098" y="142098"/>
                </a:cubicBezTo>
                <a:lnTo>
                  <a:pt x="23683" y="142098"/>
                </a:lnTo>
                <a:cubicBezTo>
                  <a:pt x="10598" y="142098"/>
                  <a:pt x="0" y="131500"/>
                  <a:pt x="0" y="118415"/>
                </a:cubicBezTo>
                <a:lnTo>
                  <a:pt x="0" y="18946"/>
                </a:lnTo>
                <a:cubicBezTo>
                  <a:pt x="0" y="13707"/>
                  <a:pt x="4233" y="9473"/>
                  <a:pt x="9473" y="9473"/>
                </a:cubicBezTo>
                <a:close/>
                <a:moveTo>
                  <a:pt x="37893" y="28420"/>
                </a:moveTo>
                <a:cubicBezTo>
                  <a:pt x="37893" y="23180"/>
                  <a:pt x="42126" y="18946"/>
                  <a:pt x="47366" y="18946"/>
                </a:cubicBezTo>
                <a:lnTo>
                  <a:pt x="104205" y="18946"/>
                </a:lnTo>
                <a:cubicBezTo>
                  <a:pt x="109445" y="18946"/>
                  <a:pt x="113678" y="23180"/>
                  <a:pt x="113678" y="28420"/>
                </a:cubicBezTo>
                <a:cubicBezTo>
                  <a:pt x="113678" y="33659"/>
                  <a:pt x="109445" y="37893"/>
                  <a:pt x="104205" y="37893"/>
                </a:cubicBezTo>
                <a:lnTo>
                  <a:pt x="47366" y="37893"/>
                </a:lnTo>
                <a:cubicBezTo>
                  <a:pt x="42126" y="37893"/>
                  <a:pt x="37893" y="33659"/>
                  <a:pt x="37893" y="28420"/>
                </a:cubicBezTo>
                <a:close/>
                <a:moveTo>
                  <a:pt x="47366" y="52103"/>
                </a:moveTo>
                <a:lnTo>
                  <a:pt x="85259" y="52103"/>
                </a:lnTo>
                <a:cubicBezTo>
                  <a:pt x="90499" y="52103"/>
                  <a:pt x="94732" y="56336"/>
                  <a:pt x="94732" y="61576"/>
                </a:cubicBezTo>
                <a:cubicBezTo>
                  <a:pt x="94732" y="66816"/>
                  <a:pt x="90499" y="71049"/>
                  <a:pt x="85259" y="71049"/>
                </a:cubicBezTo>
                <a:lnTo>
                  <a:pt x="47366" y="71049"/>
                </a:lnTo>
                <a:cubicBezTo>
                  <a:pt x="42126" y="71049"/>
                  <a:pt x="37893" y="66816"/>
                  <a:pt x="37893" y="61576"/>
                </a:cubicBezTo>
                <a:cubicBezTo>
                  <a:pt x="37893" y="56336"/>
                  <a:pt x="42126" y="52103"/>
                  <a:pt x="47366" y="52103"/>
                </a:cubicBezTo>
                <a:close/>
                <a:moveTo>
                  <a:pt x="47366" y="85259"/>
                </a:moveTo>
                <a:lnTo>
                  <a:pt x="123152" y="85259"/>
                </a:lnTo>
                <a:cubicBezTo>
                  <a:pt x="128391" y="85259"/>
                  <a:pt x="132625" y="89492"/>
                  <a:pt x="132625" y="94732"/>
                </a:cubicBezTo>
                <a:cubicBezTo>
                  <a:pt x="132625" y="99972"/>
                  <a:pt x="128391" y="104205"/>
                  <a:pt x="123152" y="104205"/>
                </a:cubicBezTo>
                <a:lnTo>
                  <a:pt x="47366" y="104205"/>
                </a:lnTo>
                <a:cubicBezTo>
                  <a:pt x="42126" y="104205"/>
                  <a:pt x="37893" y="99972"/>
                  <a:pt x="37893" y="94732"/>
                </a:cubicBezTo>
                <a:cubicBezTo>
                  <a:pt x="37893" y="89492"/>
                  <a:pt x="42126" y="85259"/>
                  <a:pt x="47366" y="85259"/>
                </a:cubicBezTo>
                <a:close/>
              </a:path>
            </a:pathLst>
          </a:custGeom>
          <a:solidFill>
            <a:srgbClr val="FAFAFA"/>
          </a:solidFill>
          <a:ln/>
        </p:spPr>
      </p:sp>
      <p:sp>
        <p:nvSpPr>
          <p:cNvPr id="15" name="Text 13"/>
          <p:cNvSpPr/>
          <p:nvPr/>
        </p:nvSpPr>
        <p:spPr>
          <a:xfrm>
            <a:off x="1068576" y="4043159"/>
            <a:ext cx="852587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对比结果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5970" y="4516819"/>
            <a:ext cx="4831329" cy="246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3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市场走势与前期判断基本吻合，政策方向符合预期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5970" y="4914693"/>
            <a:ext cx="4755543" cy="492606"/>
          </a:xfrm>
          <a:custGeom>
            <a:avLst/>
            <a:gdLst/>
            <a:ahLst/>
            <a:cxnLst/>
            <a:rect l="l" t="t" r="r" b="b"/>
            <a:pathLst>
              <a:path w="4755543" h="492606">
                <a:moveTo>
                  <a:pt x="37891" y="0"/>
                </a:moveTo>
                <a:lnTo>
                  <a:pt x="4717652" y="0"/>
                </a:lnTo>
                <a:cubicBezTo>
                  <a:pt x="4738579" y="0"/>
                  <a:pt x="4755543" y="16964"/>
                  <a:pt x="4755543" y="37891"/>
                </a:cubicBezTo>
                <a:lnTo>
                  <a:pt x="4755543" y="454715"/>
                </a:lnTo>
                <a:cubicBezTo>
                  <a:pt x="4755543" y="475642"/>
                  <a:pt x="4738579" y="492606"/>
                  <a:pt x="4717652" y="492606"/>
                </a:cubicBezTo>
                <a:lnTo>
                  <a:pt x="37891" y="492606"/>
                </a:lnTo>
                <a:cubicBezTo>
                  <a:pt x="16964" y="492606"/>
                  <a:pt x="0" y="475642"/>
                  <a:pt x="0" y="454715"/>
                </a:cubicBezTo>
                <a:lnTo>
                  <a:pt x="0" y="37891"/>
                </a:lnTo>
                <a:cubicBezTo>
                  <a:pt x="0" y="16979"/>
                  <a:pt x="16979" y="0"/>
                  <a:pt x="37891" y="0"/>
                </a:cubicBezTo>
                <a:close/>
              </a:path>
            </a:pathLst>
          </a:custGeom>
          <a:solidFill>
            <a:srgbClr val="FAFAFA"/>
          </a:solidFill>
          <a:ln/>
        </p:spPr>
      </p:sp>
      <p:sp>
        <p:nvSpPr>
          <p:cNvPr id="18" name="Text 16"/>
          <p:cNvSpPr/>
          <p:nvPr/>
        </p:nvSpPr>
        <p:spPr>
          <a:xfrm>
            <a:off x="689649" y="5066264"/>
            <a:ext cx="596811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债券市场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718" y="5047318"/>
            <a:ext cx="833641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短久期策略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291712" y="5066264"/>
            <a:ext cx="464186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置信度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41157" y="5028372"/>
            <a:ext cx="464186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65%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55794" y="1254251"/>
            <a:ext cx="6051476" cy="4914693"/>
          </a:xfrm>
          <a:custGeom>
            <a:avLst/>
            <a:gdLst/>
            <a:ahLst/>
            <a:cxnLst/>
            <a:rect l="l" t="t" r="r" b="b"/>
            <a:pathLst>
              <a:path w="6051476" h="4914693">
                <a:moveTo>
                  <a:pt x="75785" y="0"/>
                </a:moveTo>
                <a:lnTo>
                  <a:pt x="5975691" y="0"/>
                </a:lnTo>
                <a:cubicBezTo>
                  <a:pt x="6017546" y="0"/>
                  <a:pt x="6051476" y="33930"/>
                  <a:pt x="6051476" y="75785"/>
                </a:cubicBezTo>
                <a:lnTo>
                  <a:pt x="6051476" y="4838908"/>
                </a:lnTo>
                <a:cubicBezTo>
                  <a:pt x="6051476" y="4880763"/>
                  <a:pt x="6017546" y="4914693"/>
                  <a:pt x="5975691" y="4914693"/>
                </a:cubicBezTo>
                <a:lnTo>
                  <a:pt x="75785" y="4914693"/>
                </a:lnTo>
                <a:cubicBezTo>
                  <a:pt x="33930" y="4914693"/>
                  <a:pt x="0" y="4880763"/>
                  <a:pt x="0" y="4838908"/>
                </a:cubicBezTo>
                <a:lnTo>
                  <a:pt x="0" y="75785"/>
                </a:lnTo>
                <a:cubicBezTo>
                  <a:pt x="0" y="33958"/>
                  <a:pt x="33958" y="0"/>
                  <a:pt x="75785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9047" y="1447504"/>
            <a:ext cx="5759702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多维度评分体系</a:t>
            </a:r>
            <a:endParaRPr lang="en-US" sz="1600" dirty="0"/>
          </a:p>
        </p:txBody>
      </p:sp>
      <p:pic>
        <p:nvPicPr>
          <p:cNvPr id="24" name="Image 0" descr="https://kimi-img.moonshot.cn/pub/slides/26-03-04-18:00:19-d6k05crmv21k7dh0m3tg.png">    </p:cNvPr>
          <p:cNvPicPr>
            <a:picLocks noChangeAspect="1"/>
          </p:cNvPicPr>
          <p:nvPr/>
        </p:nvPicPr>
        <p:blipFill>
          <a:blip r:embed="rId1"/>
          <a:srcRect l="12" r="12" t="0" b="0"/>
          <a:stretch/>
        </p:blipFill>
        <p:spPr>
          <a:xfrm>
            <a:off x="5949047" y="1864325"/>
            <a:ext cx="5627077" cy="4111366"/>
          </a:xfrm>
          <a:prstGeom prst="roundRect">
            <a:avLst>
              <a:gd name="adj" fmla="val 0"/>
            </a:avLst>
          </a:prstGeom>
        </p:spPr>
      </p:pic>
      <p:sp>
        <p:nvSpPr>
          <p:cNvPr id="25" name="Text 22"/>
          <p:cNvSpPr/>
          <p:nvPr/>
        </p:nvSpPr>
        <p:spPr>
          <a:xfrm>
            <a:off x="378928" y="6328093"/>
            <a:ext cx="11490984" cy="151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5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重要声明：本报告基于历史路径经验推断，非实时数据驱动。历史表现不代表未来结果，经济环境可能发生结构性变化导致历史规律失效。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MACRO TRACKING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D1D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宏观跟踪：温和增长、通胀韧性、就业警惕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223010"/>
            <a:ext cx="6275070" cy="1988820"/>
          </a:xfrm>
          <a:custGeom>
            <a:avLst/>
            <a:gdLst/>
            <a:ahLst/>
            <a:cxnLst/>
            <a:rect l="l" t="t" r="r" b="b"/>
            <a:pathLst>
              <a:path w="6275070" h="1988820">
                <a:moveTo>
                  <a:pt x="76192" y="0"/>
                </a:moveTo>
                <a:lnTo>
                  <a:pt x="6198878" y="0"/>
                </a:lnTo>
                <a:cubicBezTo>
                  <a:pt x="6240958" y="0"/>
                  <a:pt x="6275070" y="34112"/>
                  <a:pt x="6275070" y="76192"/>
                </a:cubicBezTo>
                <a:lnTo>
                  <a:pt x="6275070" y="1912628"/>
                </a:lnTo>
                <a:cubicBezTo>
                  <a:pt x="6275070" y="1954708"/>
                  <a:pt x="6240958" y="1988820"/>
                  <a:pt x="6198878" y="1988820"/>
                </a:cubicBezTo>
                <a:lnTo>
                  <a:pt x="76192" y="1988820"/>
                </a:lnTo>
                <a:cubicBezTo>
                  <a:pt x="34112" y="1988820"/>
                  <a:pt x="0" y="1954708"/>
                  <a:pt x="0" y="1912628"/>
                </a:cubicBezTo>
                <a:lnTo>
                  <a:pt x="0" y="76192"/>
                </a:lnTo>
                <a:cubicBezTo>
                  <a:pt x="0" y="34112"/>
                  <a:pt x="34112" y="0"/>
                  <a:pt x="76192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9120" y="1417320"/>
            <a:ext cx="5972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经济增长指标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79120" y="1836420"/>
            <a:ext cx="2867025" cy="1181100"/>
          </a:xfrm>
          <a:custGeom>
            <a:avLst/>
            <a:gdLst/>
            <a:ahLst/>
            <a:cxnLst/>
            <a:rect l="l" t="t" r="r" b="b"/>
            <a:pathLst>
              <a:path w="2867025" h="1181100">
                <a:moveTo>
                  <a:pt x="76205" y="0"/>
                </a:moveTo>
                <a:lnTo>
                  <a:pt x="2790820" y="0"/>
                </a:lnTo>
                <a:cubicBezTo>
                  <a:pt x="2832879" y="0"/>
                  <a:pt x="2867025" y="34146"/>
                  <a:pt x="2867025" y="76205"/>
                </a:cubicBezTo>
                <a:lnTo>
                  <a:pt x="2867025" y="1104895"/>
                </a:lnTo>
                <a:cubicBezTo>
                  <a:pt x="2867025" y="1146982"/>
                  <a:pt x="2832907" y="1181100"/>
                  <a:pt x="2790820" y="1181100"/>
                </a:cubicBezTo>
                <a:lnTo>
                  <a:pt x="76205" y="1181100"/>
                </a:lnTo>
                <a:cubicBezTo>
                  <a:pt x="34146" y="1181100"/>
                  <a:pt x="0" y="1146954"/>
                  <a:pt x="0" y="11048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FAFAF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07752"/>
            <a:ext cx="971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GDP Now 预测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07243" y="1988820"/>
            <a:ext cx="590550" cy="228600"/>
          </a:xfrm>
          <a:custGeom>
            <a:avLst/>
            <a:gdLst/>
            <a:ahLst/>
            <a:cxnLst/>
            <a:rect l="l" t="t" r="r" b="b"/>
            <a:pathLst>
              <a:path w="590550" h="228600">
                <a:moveTo>
                  <a:pt x="38101" y="0"/>
                </a:moveTo>
                <a:lnTo>
                  <a:pt x="552449" y="0"/>
                </a:lnTo>
                <a:cubicBezTo>
                  <a:pt x="573492" y="0"/>
                  <a:pt x="590550" y="17058"/>
                  <a:pt x="590550" y="38101"/>
                </a:cubicBezTo>
                <a:lnTo>
                  <a:pt x="590550" y="190499"/>
                </a:lnTo>
                <a:cubicBezTo>
                  <a:pt x="590550" y="211542"/>
                  <a:pt x="573492" y="228600"/>
                  <a:pt x="5524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707243" y="1988820"/>
            <a:ext cx="6477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 Q1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293502"/>
            <a:ext cx="2705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3.0%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674502"/>
            <a:ext cx="2628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强于潜在增长率(约1.8%)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00450" y="1836420"/>
            <a:ext cx="2867025" cy="1181100"/>
          </a:xfrm>
          <a:custGeom>
            <a:avLst/>
            <a:gdLst/>
            <a:ahLst/>
            <a:cxnLst/>
            <a:rect l="l" t="t" r="r" b="b"/>
            <a:pathLst>
              <a:path w="2867025" h="1181100">
                <a:moveTo>
                  <a:pt x="76205" y="0"/>
                </a:moveTo>
                <a:lnTo>
                  <a:pt x="2790820" y="0"/>
                </a:lnTo>
                <a:cubicBezTo>
                  <a:pt x="2832879" y="0"/>
                  <a:pt x="2867025" y="34146"/>
                  <a:pt x="2867025" y="76205"/>
                </a:cubicBezTo>
                <a:lnTo>
                  <a:pt x="2867025" y="1104895"/>
                </a:lnTo>
                <a:cubicBezTo>
                  <a:pt x="2867025" y="1146982"/>
                  <a:pt x="2832907" y="1181100"/>
                  <a:pt x="2790820" y="1181100"/>
                </a:cubicBezTo>
                <a:lnTo>
                  <a:pt x="76205" y="1181100"/>
                </a:lnTo>
                <a:cubicBezTo>
                  <a:pt x="34146" y="1181100"/>
                  <a:pt x="0" y="1146954"/>
                  <a:pt x="0" y="11048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FAFAFA"/>
          </a:solidFill>
          <a:ln/>
        </p:spPr>
      </p:sp>
      <p:sp>
        <p:nvSpPr>
          <p:cNvPr id="13" name="Text 11"/>
          <p:cNvSpPr/>
          <p:nvPr/>
        </p:nvSpPr>
        <p:spPr>
          <a:xfrm>
            <a:off x="3752850" y="2007752"/>
            <a:ext cx="117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ADS 商业景气指数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07380" y="1988820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38101" y="0"/>
                </a:moveTo>
                <a:lnTo>
                  <a:pt x="571499" y="0"/>
                </a:lnTo>
                <a:cubicBezTo>
                  <a:pt x="592542" y="0"/>
                  <a:pt x="609600" y="17058"/>
                  <a:pt x="609600" y="38101"/>
                </a:cubicBezTo>
                <a:lnTo>
                  <a:pt x="609600" y="190499"/>
                </a:lnTo>
                <a:cubicBezTo>
                  <a:pt x="609600" y="211542"/>
                  <a:pt x="592542" y="228600"/>
                  <a:pt x="571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707380" y="1988820"/>
            <a:ext cx="6667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扩张区间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52850" y="2293502"/>
            <a:ext cx="2705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0.45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52850" y="2674502"/>
            <a:ext cx="2628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虽从2月高点回落，但仍高于0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4810" y="3371732"/>
            <a:ext cx="6275070" cy="2979420"/>
          </a:xfrm>
          <a:custGeom>
            <a:avLst/>
            <a:gdLst/>
            <a:ahLst/>
            <a:cxnLst/>
            <a:rect l="l" t="t" r="r" b="b"/>
            <a:pathLst>
              <a:path w="6275070" h="2979420">
                <a:moveTo>
                  <a:pt x="76214" y="0"/>
                </a:moveTo>
                <a:lnTo>
                  <a:pt x="6198856" y="0"/>
                </a:lnTo>
                <a:cubicBezTo>
                  <a:pt x="6240948" y="0"/>
                  <a:pt x="6275070" y="34122"/>
                  <a:pt x="6275070" y="76214"/>
                </a:cubicBezTo>
                <a:lnTo>
                  <a:pt x="6275070" y="2903206"/>
                </a:lnTo>
                <a:cubicBezTo>
                  <a:pt x="6275070" y="2945298"/>
                  <a:pt x="6240948" y="2979420"/>
                  <a:pt x="6198856" y="2979420"/>
                </a:cubicBezTo>
                <a:lnTo>
                  <a:pt x="76214" y="2979420"/>
                </a:lnTo>
                <a:cubicBezTo>
                  <a:pt x="34122" y="2979420"/>
                  <a:pt x="0" y="2945298"/>
                  <a:pt x="0" y="2903206"/>
                </a:cubicBezTo>
                <a:lnTo>
                  <a:pt x="0" y="76214"/>
                </a:lnTo>
                <a:cubicBezTo>
                  <a:pt x="0" y="34150"/>
                  <a:pt x="34150" y="0"/>
                  <a:pt x="76214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9120" y="3566040"/>
            <a:ext cx="5972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金融条件指数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9120" y="3985140"/>
            <a:ext cx="5886450" cy="647700"/>
          </a:xfrm>
          <a:custGeom>
            <a:avLst/>
            <a:gdLst/>
            <a:ahLst/>
            <a:cxnLst/>
            <a:rect l="l" t="t" r="r" b="b"/>
            <a:pathLst>
              <a:path w="5886450" h="647700">
                <a:moveTo>
                  <a:pt x="38098" y="0"/>
                </a:moveTo>
                <a:lnTo>
                  <a:pt x="5848352" y="0"/>
                </a:lnTo>
                <a:cubicBezTo>
                  <a:pt x="5869379" y="0"/>
                  <a:pt x="5886450" y="17071"/>
                  <a:pt x="5886450" y="38098"/>
                </a:cubicBezTo>
                <a:lnTo>
                  <a:pt x="5886450" y="609602"/>
                </a:lnTo>
                <a:cubicBezTo>
                  <a:pt x="5886450" y="630643"/>
                  <a:pt x="5869393" y="647700"/>
                  <a:pt x="5848352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AFAFA"/>
          </a:solidFill>
          <a:ln/>
        </p:spPr>
      </p:sp>
      <p:sp>
        <p:nvSpPr>
          <p:cNvPr id="21" name="Text 19"/>
          <p:cNvSpPr/>
          <p:nvPr/>
        </p:nvSpPr>
        <p:spPr>
          <a:xfrm>
            <a:off x="693420" y="4099440"/>
            <a:ext cx="2085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高盛 FCI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3420" y="4328040"/>
            <a:ext cx="2076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99.2（从98.5反弹，环境在变紧）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72651" y="4175640"/>
            <a:ext cx="476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99.2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79120" y="4747140"/>
            <a:ext cx="5886450" cy="647700"/>
          </a:xfrm>
          <a:custGeom>
            <a:avLst/>
            <a:gdLst/>
            <a:ahLst/>
            <a:cxnLst/>
            <a:rect l="l" t="t" r="r" b="b"/>
            <a:pathLst>
              <a:path w="5886450" h="647700">
                <a:moveTo>
                  <a:pt x="38098" y="0"/>
                </a:moveTo>
                <a:lnTo>
                  <a:pt x="5848352" y="0"/>
                </a:lnTo>
                <a:cubicBezTo>
                  <a:pt x="5869379" y="0"/>
                  <a:pt x="5886450" y="17071"/>
                  <a:pt x="5886450" y="38098"/>
                </a:cubicBezTo>
                <a:lnTo>
                  <a:pt x="5886450" y="609602"/>
                </a:lnTo>
                <a:cubicBezTo>
                  <a:pt x="5886450" y="630643"/>
                  <a:pt x="5869393" y="647700"/>
                  <a:pt x="5848352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AFAFA"/>
          </a:solidFill>
          <a:ln/>
        </p:spPr>
      </p:sp>
      <p:sp>
        <p:nvSpPr>
          <p:cNvPr id="25" name="Text 23"/>
          <p:cNvSpPr/>
          <p:nvPr/>
        </p:nvSpPr>
        <p:spPr>
          <a:xfrm>
            <a:off x="693420" y="4861440"/>
            <a:ext cx="1962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彭博 BFCI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3420" y="5090040"/>
            <a:ext cx="195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0.35（从0.66回落，显著收紧）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967532" y="4937640"/>
            <a:ext cx="485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0.35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9120" y="5509140"/>
            <a:ext cx="5886450" cy="647700"/>
          </a:xfrm>
          <a:custGeom>
            <a:avLst/>
            <a:gdLst/>
            <a:ahLst/>
            <a:cxnLst/>
            <a:rect l="l" t="t" r="r" b="b"/>
            <a:pathLst>
              <a:path w="5886450" h="647700">
                <a:moveTo>
                  <a:pt x="38098" y="0"/>
                </a:moveTo>
                <a:lnTo>
                  <a:pt x="5848352" y="0"/>
                </a:lnTo>
                <a:cubicBezTo>
                  <a:pt x="5869379" y="0"/>
                  <a:pt x="5886450" y="17071"/>
                  <a:pt x="5886450" y="38098"/>
                </a:cubicBezTo>
                <a:lnTo>
                  <a:pt x="5886450" y="609602"/>
                </a:lnTo>
                <a:cubicBezTo>
                  <a:pt x="5886450" y="630643"/>
                  <a:pt x="5869393" y="647700"/>
                  <a:pt x="5848352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AFAFA"/>
          </a:solidFill>
          <a:ln/>
        </p:spPr>
      </p:sp>
      <p:sp>
        <p:nvSpPr>
          <p:cNvPr id="29" name="Text 27"/>
          <p:cNvSpPr/>
          <p:nvPr/>
        </p:nvSpPr>
        <p:spPr>
          <a:xfrm>
            <a:off x="693420" y="5623440"/>
            <a:ext cx="188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芝加哥 NFCI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3420" y="5852040"/>
            <a:ext cx="1876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-0.56（宏观流动性依然充裕）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890022" y="5699640"/>
            <a:ext cx="561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-0.56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861810" y="1223010"/>
            <a:ext cx="4941570" cy="2522220"/>
          </a:xfrm>
          <a:custGeom>
            <a:avLst/>
            <a:gdLst/>
            <a:ahLst/>
            <a:cxnLst/>
            <a:rect l="l" t="t" r="r" b="b"/>
            <a:pathLst>
              <a:path w="4941570" h="2522220">
                <a:moveTo>
                  <a:pt x="76196" y="0"/>
                </a:moveTo>
                <a:lnTo>
                  <a:pt x="4865374" y="0"/>
                </a:lnTo>
                <a:cubicBezTo>
                  <a:pt x="4907456" y="0"/>
                  <a:pt x="4941570" y="34114"/>
                  <a:pt x="4941570" y="76196"/>
                </a:cubicBezTo>
                <a:lnTo>
                  <a:pt x="4941570" y="2446024"/>
                </a:lnTo>
                <a:cubicBezTo>
                  <a:pt x="4941570" y="2488106"/>
                  <a:pt x="4907456" y="2522220"/>
                  <a:pt x="4865374" y="2522220"/>
                </a:cubicBezTo>
                <a:lnTo>
                  <a:pt x="76196" y="2522220"/>
                </a:lnTo>
                <a:cubicBezTo>
                  <a:pt x="34114" y="2522220"/>
                  <a:pt x="0" y="2488106"/>
                  <a:pt x="0" y="2446024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56120" y="1417320"/>
            <a:ext cx="4638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 Q1 GDP 结构分解</a:t>
            </a:r>
            <a:endParaRPr lang="en-US" sz="1600" dirty="0"/>
          </a:p>
        </p:txBody>
      </p:sp>
      <p:pic>
        <p:nvPicPr>
          <p:cNvPr id="34" name="Image 0" descr="https://kimi-img.moonshot.cn/pub/slides/26-03-04-18:00:19-d6k05co9ma9hvtsteefg.png">    </p:cNvPr>
          <p:cNvPicPr>
            <a:picLocks noChangeAspect="1"/>
          </p:cNvPicPr>
          <p:nvPr/>
        </p:nvPicPr>
        <p:blipFill>
          <a:blip r:embed="rId1"/>
          <a:srcRect l="0" r="0" t="42" b="42"/>
          <a:stretch/>
        </p:blipFill>
        <p:spPr>
          <a:xfrm>
            <a:off x="7056120" y="1836420"/>
            <a:ext cx="4552950" cy="1714500"/>
          </a:xfrm>
          <a:prstGeom prst="roundRect">
            <a:avLst>
              <a:gd name="adj" fmla="val 0"/>
            </a:avLst>
          </a:prstGeom>
        </p:spPr>
      </p:pic>
      <p:sp>
        <p:nvSpPr>
          <p:cNvPr id="35" name="Shape 32"/>
          <p:cNvSpPr/>
          <p:nvPr/>
        </p:nvSpPr>
        <p:spPr>
          <a:xfrm>
            <a:off x="6861810" y="3905251"/>
            <a:ext cx="4941570" cy="2388870"/>
          </a:xfrm>
          <a:custGeom>
            <a:avLst/>
            <a:gdLst/>
            <a:ahLst/>
            <a:cxnLst/>
            <a:rect l="l" t="t" r="r" b="b"/>
            <a:pathLst>
              <a:path w="4941570" h="2388870">
                <a:moveTo>
                  <a:pt x="76205" y="0"/>
                </a:moveTo>
                <a:lnTo>
                  <a:pt x="4865365" y="0"/>
                </a:lnTo>
                <a:cubicBezTo>
                  <a:pt x="4907452" y="0"/>
                  <a:pt x="4941570" y="34118"/>
                  <a:pt x="4941570" y="76205"/>
                </a:cubicBezTo>
                <a:lnTo>
                  <a:pt x="4941570" y="2312665"/>
                </a:lnTo>
                <a:cubicBezTo>
                  <a:pt x="4941570" y="2354752"/>
                  <a:pt x="4907452" y="2388870"/>
                  <a:pt x="4865365" y="2388870"/>
                </a:cubicBezTo>
                <a:lnTo>
                  <a:pt x="76205" y="2388870"/>
                </a:lnTo>
                <a:cubicBezTo>
                  <a:pt x="34118" y="2388870"/>
                  <a:pt x="0" y="2354752"/>
                  <a:pt x="0" y="231266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056120" y="4099561"/>
            <a:ext cx="4638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就业市场关键数据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7056120" y="4827271"/>
            <a:ext cx="4552950" cy="7620"/>
          </a:xfrm>
          <a:custGeom>
            <a:avLst/>
            <a:gdLst/>
            <a:ahLst/>
            <a:cxnLst/>
            <a:rect l="l" t="t" r="r" b="b"/>
            <a:pathLst>
              <a:path w="4552950" h="7620">
                <a:moveTo>
                  <a:pt x="0" y="0"/>
                </a:moveTo>
                <a:lnTo>
                  <a:pt x="4552950" y="0"/>
                </a:lnTo>
                <a:lnTo>
                  <a:pt x="45529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38" name="Text 35"/>
          <p:cNvSpPr/>
          <p:nvPr/>
        </p:nvSpPr>
        <p:spPr>
          <a:xfrm>
            <a:off x="7056120" y="4556761"/>
            <a:ext cx="136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ADP 新增就业（1月）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11161157" y="4556761"/>
            <a:ext cx="514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2.2万人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7056120" y="5253990"/>
            <a:ext cx="4552950" cy="7620"/>
          </a:xfrm>
          <a:custGeom>
            <a:avLst/>
            <a:gdLst/>
            <a:ahLst/>
            <a:cxnLst/>
            <a:rect l="l" t="t" r="r" b="b"/>
            <a:pathLst>
              <a:path w="4552950" h="7620">
                <a:moveTo>
                  <a:pt x="0" y="0"/>
                </a:moveTo>
                <a:lnTo>
                  <a:pt x="4552950" y="0"/>
                </a:lnTo>
                <a:lnTo>
                  <a:pt x="45529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41" name="Text 38"/>
          <p:cNvSpPr/>
          <p:nvPr/>
        </p:nvSpPr>
        <p:spPr>
          <a:xfrm>
            <a:off x="7056120" y="4983480"/>
            <a:ext cx="1647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ADP 新增就业（2月预测）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10896362" y="4983480"/>
            <a:ext cx="781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4.3-5.0万人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7056120" y="5680710"/>
            <a:ext cx="4552950" cy="7620"/>
          </a:xfrm>
          <a:custGeom>
            <a:avLst/>
            <a:gdLst/>
            <a:ahLst/>
            <a:cxnLst/>
            <a:rect l="l" t="t" r="r" b="b"/>
            <a:pathLst>
              <a:path w="4552950" h="7620">
                <a:moveTo>
                  <a:pt x="0" y="0"/>
                </a:moveTo>
                <a:lnTo>
                  <a:pt x="4552950" y="0"/>
                </a:lnTo>
                <a:lnTo>
                  <a:pt x="45529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44" name="Text 41"/>
          <p:cNvSpPr/>
          <p:nvPr/>
        </p:nvSpPr>
        <p:spPr>
          <a:xfrm>
            <a:off x="7056120" y="5410200"/>
            <a:ext cx="1200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Lightcast 招聘数据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10776942" y="5410200"/>
            <a:ext cx="90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32F2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同比下降8.2%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7056120" y="5836920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WARN 裁员通知（1-2月）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10571321" y="5836920"/>
            <a:ext cx="1104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32F2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申报人数增加15%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381000" y="6324600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重要声明：本报告基于历史路径经验推断，非实时数据驱动。历史表现不代表未来结果，经济环境可能发生结构性变化导致历史规律失效。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3701" y="373701"/>
            <a:ext cx="11509995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spc="103" kern="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FUNDAMENTAL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3701" y="635292"/>
            <a:ext cx="11612763" cy="373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48" b="1" dirty="0">
                <a:solidFill>
                  <a:srgbClr val="1D1D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企业基本面：科技盈利扩张、毛利率受折旧影响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7438" y="1199581"/>
            <a:ext cx="5715759" cy="3296044"/>
          </a:xfrm>
          <a:custGeom>
            <a:avLst/>
            <a:gdLst/>
            <a:ahLst/>
            <a:cxnLst/>
            <a:rect l="l" t="t" r="r" b="b"/>
            <a:pathLst>
              <a:path w="5715759" h="3296044">
                <a:moveTo>
                  <a:pt x="74754" y="0"/>
                </a:moveTo>
                <a:lnTo>
                  <a:pt x="5641005" y="0"/>
                </a:lnTo>
                <a:cubicBezTo>
                  <a:pt x="5682290" y="0"/>
                  <a:pt x="5715759" y="33469"/>
                  <a:pt x="5715759" y="74754"/>
                </a:cubicBezTo>
                <a:lnTo>
                  <a:pt x="5715759" y="3221290"/>
                </a:lnTo>
                <a:cubicBezTo>
                  <a:pt x="5715759" y="3262576"/>
                  <a:pt x="5682290" y="3296044"/>
                  <a:pt x="5641005" y="3296044"/>
                </a:cubicBezTo>
                <a:lnTo>
                  <a:pt x="74754" y="3296044"/>
                </a:lnTo>
                <a:cubicBezTo>
                  <a:pt x="33469" y="3296044"/>
                  <a:pt x="0" y="3262576"/>
                  <a:pt x="0" y="3221290"/>
                </a:cubicBezTo>
                <a:lnTo>
                  <a:pt x="0" y="74754"/>
                </a:lnTo>
                <a:cubicBezTo>
                  <a:pt x="0" y="33496"/>
                  <a:pt x="33496" y="0"/>
                  <a:pt x="74754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8026" y="1390169"/>
            <a:ext cx="5418667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纳斯达克100毛利率趋势</a:t>
            </a:r>
            <a:endParaRPr lang="en-US" sz="1600" dirty="0"/>
          </a:p>
        </p:txBody>
      </p:sp>
      <p:pic>
        <p:nvPicPr>
          <p:cNvPr id="6" name="Image 0" descr="https://kimi-img.moonshot.cn/pub/slides/26-03-04-18:00:19-d6k05cv2ekfm787sp3p0.png">    </p:cNvPr>
          <p:cNvPicPr>
            <a:picLocks noChangeAspect="1"/>
          </p:cNvPicPr>
          <p:nvPr/>
        </p:nvPicPr>
        <p:blipFill>
          <a:blip r:embed="rId1"/>
          <a:srcRect l="0" r="0" t="36" b="36"/>
          <a:stretch/>
        </p:blipFill>
        <p:spPr>
          <a:xfrm>
            <a:off x="568026" y="1801240"/>
            <a:ext cx="5213131" cy="1494805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568026" y="3445525"/>
            <a:ext cx="5334584" cy="859513"/>
          </a:xfrm>
          <a:custGeom>
            <a:avLst/>
            <a:gdLst/>
            <a:ahLst/>
            <a:cxnLst/>
            <a:rect l="l" t="t" r="r" b="b"/>
            <a:pathLst>
              <a:path w="5334584" h="859513">
                <a:moveTo>
                  <a:pt x="37372" y="0"/>
                </a:moveTo>
                <a:lnTo>
                  <a:pt x="5297212" y="0"/>
                </a:lnTo>
                <a:cubicBezTo>
                  <a:pt x="5317852" y="0"/>
                  <a:pt x="5334584" y="16732"/>
                  <a:pt x="5334584" y="37372"/>
                </a:cubicBezTo>
                <a:lnTo>
                  <a:pt x="5334584" y="822141"/>
                </a:lnTo>
                <a:cubicBezTo>
                  <a:pt x="5334584" y="842781"/>
                  <a:pt x="5317852" y="859513"/>
                  <a:pt x="5297212" y="859513"/>
                </a:cubicBezTo>
                <a:lnTo>
                  <a:pt x="37372" y="859513"/>
                </a:lnTo>
                <a:cubicBezTo>
                  <a:pt x="16732" y="859513"/>
                  <a:pt x="0" y="842781"/>
                  <a:pt x="0" y="822141"/>
                </a:cubicBezTo>
                <a:lnTo>
                  <a:pt x="0" y="37372"/>
                </a:lnTo>
                <a:cubicBezTo>
                  <a:pt x="0" y="16746"/>
                  <a:pt x="16746" y="0"/>
                  <a:pt x="37372" y="0"/>
                </a:cubicBezTo>
                <a:close/>
              </a:path>
            </a:pathLst>
          </a:custGeom>
          <a:solidFill>
            <a:srgbClr val="FAFAFA"/>
          </a:solidFill>
          <a:ln/>
        </p:spPr>
      </p:sp>
      <p:sp>
        <p:nvSpPr>
          <p:cNvPr id="8" name="Shape 5"/>
          <p:cNvSpPr/>
          <p:nvPr/>
        </p:nvSpPr>
        <p:spPr>
          <a:xfrm>
            <a:off x="715171" y="3585663"/>
            <a:ext cx="98097" cy="130795"/>
          </a:xfrm>
          <a:custGeom>
            <a:avLst/>
            <a:gdLst/>
            <a:ahLst/>
            <a:cxnLst/>
            <a:rect l="l" t="t" r="r" b="b"/>
            <a:pathLst>
              <a:path w="98097" h="130795">
                <a:moveTo>
                  <a:pt x="74824" y="98097"/>
                </a:moveTo>
                <a:cubicBezTo>
                  <a:pt x="76689" y="92400"/>
                  <a:pt x="80419" y="87240"/>
                  <a:pt x="84634" y="82795"/>
                </a:cubicBezTo>
                <a:cubicBezTo>
                  <a:pt x="92987" y="74007"/>
                  <a:pt x="98097" y="62128"/>
                  <a:pt x="98097" y="49048"/>
                </a:cubicBezTo>
                <a:cubicBezTo>
                  <a:pt x="98097" y="21970"/>
                  <a:pt x="76127" y="0"/>
                  <a:pt x="49048" y="0"/>
                </a:cubicBezTo>
                <a:cubicBezTo>
                  <a:pt x="21970" y="0"/>
                  <a:pt x="0" y="21970"/>
                  <a:pt x="0" y="49048"/>
                </a:cubicBezTo>
                <a:cubicBezTo>
                  <a:pt x="0" y="62128"/>
                  <a:pt x="5109" y="74007"/>
                  <a:pt x="13463" y="82795"/>
                </a:cubicBezTo>
                <a:cubicBezTo>
                  <a:pt x="17678" y="87240"/>
                  <a:pt x="21433" y="92400"/>
                  <a:pt x="23272" y="98097"/>
                </a:cubicBezTo>
                <a:lnTo>
                  <a:pt x="74799" y="98097"/>
                </a:lnTo>
                <a:close/>
                <a:moveTo>
                  <a:pt x="73572" y="110359"/>
                </a:moveTo>
                <a:lnTo>
                  <a:pt x="24524" y="110359"/>
                </a:lnTo>
                <a:lnTo>
                  <a:pt x="24524" y="114446"/>
                </a:lnTo>
                <a:cubicBezTo>
                  <a:pt x="24524" y="125737"/>
                  <a:pt x="33670" y="134883"/>
                  <a:pt x="44961" y="134883"/>
                </a:cubicBezTo>
                <a:lnTo>
                  <a:pt x="53136" y="134883"/>
                </a:lnTo>
                <a:cubicBezTo>
                  <a:pt x="64427" y="134883"/>
                  <a:pt x="73572" y="125737"/>
                  <a:pt x="73572" y="114446"/>
                </a:cubicBezTo>
                <a:lnTo>
                  <a:pt x="73572" y="110359"/>
                </a:lnTo>
                <a:close/>
                <a:moveTo>
                  <a:pt x="47005" y="28611"/>
                </a:moveTo>
                <a:cubicBezTo>
                  <a:pt x="36837" y="28611"/>
                  <a:pt x="28611" y="36837"/>
                  <a:pt x="28611" y="47005"/>
                </a:cubicBezTo>
                <a:cubicBezTo>
                  <a:pt x="28611" y="50402"/>
                  <a:pt x="25878" y="53136"/>
                  <a:pt x="22480" y="53136"/>
                </a:cubicBezTo>
                <a:cubicBezTo>
                  <a:pt x="19083" y="53136"/>
                  <a:pt x="16349" y="50402"/>
                  <a:pt x="16349" y="47005"/>
                </a:cubicBezTo>
                <a:cubicBezTo>
                  <a:pt x="16349" y="30068"/>
                  <a:pt x="30068" y="16349"/>
                  <a:pt x="47005" y="16349"/>
                </a:cubicBezTo>
                <a:cubicBezTo>
                  <a:pt x="50402" y="16349"/>
                  <a:pt x="53136" y="19083"/>
                  <a:pt x="53136" y="22480"/>
                </a:cubicBezTo>
                <a:cubicBezTo>
                  <a:pt x="53136" y="25878"/>
                  <a:pt x="50402" y="28611"/>
                  <a:pt x="47005" y="28611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9" name="Text 6"/>
          <p:cNvSpPr/>
          <p:nvPr/>
        </p:nvSpPr>
        <p:spPr>
          <a:xfrm>
            <a:off x="918371" y="3557635"/>
            <a:ext cx="588579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关键洞察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80136" y="3819226"/>
            <a:ext cx="5175761" cy="373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毛利率从2021年的50.8%稳步提升至2026年Q1的65.5%-66.2%，AI算力需求推动高毛利芯片股权重激增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77438" y="4652580"/>
            <a:ext cx="5715759" cy="1988090"/>
          </a:xfrm>
          <a:custGeom>
            <a:avLst/>
            <a:gdLst/>
            <a:ahLst/>
            <a:cxnLst/>
            <a:rect l="l" t="t" r="r" b="b"/>
            <a:pathLst>
              <a:path w="5715759" h="1988090">
                <a:moveTo>
                  <a:pt x="74732" y="0"/>
                </a:moveTo>
                <a:lnTo>
                  <a:pt x="5641027" y="0"/>
                </a:lnTo>
                <a:cubicBezTo>
                  <a:pt x="5682300" y="0"/>
                  <a:pt x="5715759" y="33459"/>
                  <a:pt x="5715759" y="74732"/>
                </a:cubicBezTo>
                <a:lnTo>
                  <a:pt x="5715759" y="1913358"/>
                </a:lnTo>
                <a:cubicBezTo>
                  <a:pt x="5715759" y="1954631"/>
                  <a:pt x="5682300" y="1988090"/>
                  <a:pt x="5641027" y="1988090"/>
                </a:cubicBezTo>
                <a:lnTo>
                  <a:pt x="74732" y="1988090"/>
                </a:lnTo>
                <a:cubicBezTo>
                  <a:pt x="33459" y="1988090"/>
                  <a:pt x="0" y="1954631"/>
                  <a:pt x="0" y="1913358"/>
                </a:cubicBezTo>
                <a:lnTo>
                  <a:pt x="0" y="74732"/>
                </a:lnTo>
                <a:cubicBezTo>
                  <a:pt x="0" y="33459"/>
                  <a:pt x="33459" y="0"/>
                  <a:pt x="74732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8026" y="4843168"/>
            <a:ext cx="5418667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AI投入与利润率的"拉锯"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86711" y="5216869"/>
            <a:ext cx="2569195" cy="1233214"/>
          </a:xfrm>
          <a:custGeom>
            <a:avLst/>
            <a:gdLst/>
            <a:ahLst/>
            <a:cxnLst/>
            <a:rect l="l" t="t" r="r" b="b"/>
            <a:pathLst>
              <a:path w="2569195" h="1233214">
                <a:moveTo>
                  <a:pt x="37370" y="0"/>
                </a:moveTo>
                <a:lnTo>
                  <a:pt x="2494450" y="0"/>
                </a:lnTo>
                <a:cubicBezTo>
                  <a:pt x="2535731" y="0"/>
                  <a:pt x="2569195" y="33465"/>
                  <a:pt x="2569195" y="74745"/>
                </a:cubicBezTo>
                <a:lnTo>
                  <a:pt x="2569195" y="1158469"/>
                </a:lnTo>
                <a:cubicBezTo>
                  <a:pt x="2569195" y="1199749"/>
                  <a:pt x="2535731" y="1233214"/>
                  <a:pt x="2494450" y="1233214"/>
                </a:cubicBezTo>
                <a:lnTo>
                  <a:pt x="37370" y="1233214"/>
                </a:lnTo>
                <a:cubicBezTo>
                  <a:pt x="16731" y="1233214"/>
                  <a:pt x="0" y="1216483"/>
                  <a:pt x="0" y="1195844"/>
                </a:cubicBezTo>
                <a:lnTo>
                  <a:pt x="0" y="37370"/>
                </a:lnTo>
                <a:cubicBezTo>
                  <a:pt x="0" y="16745"/>
                  <a:pt x="16745" y="0"/>
                  <a:pt x="37370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86711" y="5216869"/>
            <a:ext cx="37370" cy="1233214"/>
          </a:xfrm>
          <a:custGeom>
            <a:avLst/>
            <a:gdLst/>
            <a:ahLst/>
            <a:cxnLst/>
            <a:rect l="l" t="t" r="r" b="b"/>
            <a:pathLst>
              <a:path w="37370" h="1233214">
                <a:moveTo>
                  <a:pt x="37370" y="0"/>
                </a:moveTo>
                <a:lnTo>
                  <a:pt x="37370" y="0"/>
                </a:lnTo>
                <a:lnTo>
                  <a:pt x="37370" y="1233214"/>
                </a:lnTo>
                <a:lnTo>
                  <a:pt x="37370" y="1233214"/>
                </a:lnTo>
                <a:cubicBezTo>
                  <a:pt x="16731" y="1233214"/>
                  <a:pt x="0" y="1216483"/>
                  <a:pt x="0" y="1195844"/>
                </a:cubicBezTo>
                <a:lnTo>
                  <a:pt x="0" y="37370"/>
                </a:lnTo>
                <a:cubicBezTo>
                  <a:pt x="0" y="16745"/>
                  <a:pt x="16745" y="0"/>
                  <a:pt x="3737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5" name="Shape 12"/>
          <p:cNvSpPr/>
          <p:nvPr/>
        </p:nvSpPr>
        <p:spPr>
          <a:xfrm>
            <a:off x="792246" y="5403720"/>
            <a:ext cx="112110" cy="149480"/>
          </a:xfrm>
          <a:custGeom>
            <a:avLst/>
            <a:gdLst/>
            <a:ahLst/>
            <a:cxnLst/>
            <a:rect l="l" t="t" r="r" b="b"/>
            <a:pathLst>
              <a:path w="112110" h="149480">
                <a:moveTo>
                  <a:pt x="62653" y="5080"/>
                </a:moveTo>
                <a:cubicBezTo>
                  <a:pt x="59004" y="1431"/>
                  <a:pt x="53077" y="1431"/>
                  <a:pt x="49428" y="5080"/>
                </a:cubicBezTo>
                <a:lnTo>
                  <a:pt x="2715" y="51793"/>
                </a:lnTo>
                <a:cubicBezTo>
                  <a:pt x="-934" y="55442"/>
                  <a:pt x="-934" y="61369"/>
                  <a:pt x="2715" y="65018"/>
                </a:cubicBezTo>
                <a:cubicBezTo>
                  <a:pt x="6365" y="68668"/>
                  <a:pt x="12291" y="68668"/>
                  <a:pt x="15941" y="65018"/>
                </a:cubicBezTo>
                <a:lnTo>
                  <a:pt x="46713" y="34246"/>
                </a:lnTo>
                <a:lnTo>
                  <a:pt x="46713" y="142474"/>
                </a:lnTo>
                <a:cubicBezTo>
                  <a:pt x="46713" y="147641"/>
                  <a:pt x="50888" y="151816"/>
                  <a:pt x="56055" y="151816"/>
                </a:cubicBezTo>
                <a:cubicBezTo>
                  <a:pt x="61223" y="151816"/>
                  <a:pt x="65398" y="147641"/>
                  <a:pt x="65398" y="142474"/>
                </a:cubicBezTo>
                <a:lnTo>
                  <a:pt x="65398" y="34246"/>
                </a:lnTo>
                <a:lnTo>
                  <a:pt x="96170" y="65018"/>
                </a:lnTo>
                <a:cubicBezTo>
                  <a:pt x="99819" y="68668"/>
                  <a:pt x="105746" y="68668"/>
                  <a:pt x="109395" y="65018"/>
                </a:cubicBezTo>
                <a:cubicBezTo>
                  <a:pt x="113045" y="61369"/>
                  <a:pt x="113045" y="55442"/>
                  <a:pt x="109395" y="51793"/>
                </a:cubicBezTo>
                <a:lnTo>
                  <a:pt x="62683" y="508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6" name="Text 13"/>
          <p:cNvSpPr/>
          <p:nvPr/>
        </p:nvSpPr>
        <p:spPr>
          <a:xfrm>
            <a:off x="1016467" y="5366350"/>
            <a:ext cx="672662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正面因素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54876" y="5665311"/>
            <a:ext cx="2316947" cy="635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AI产品订阅收入开始贡献毛利，软件公司（MSFT、ServiceNow、Adobe）AI渗透率超预期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327925" y="5216869"/>
            <a:ext cx="2569195" cy="1233214"/>
          </a:xfrm>
          <a:custGeom>
            <a:avLst/>
            <a:gdLst/>
            <a:ahLst/>
            <a:cxnLst/>
            <a:rect l="l" t="t" r="r" b="b"/>
            <a:pathLst>
              <a:path w="2569195" h="1233214">
                <a:moveTo>
                  <a:pt x="37370" y="0"/>
                </a:moveTo>
                <a:lnTo>
                  <a:pt x="2494450" y="0"/>
                </a:lnTo>
                <a:cubicBezTo>
                  <a:pt x="2535731" y="0"/>
                  <a:pt x="2569195" y="33465"/>
                  <a:pt x="2569195" y="74745"/>
                </a:cubicBezTo>
                <a:lnTo>
                  <a:pt x="2569195" y="1158469"/>
                </a:lnTo>
                <a:cubicBezTo>
                  <a:pt x="2569195" y="1199749"/>
                  <a:pt x="2535731" y="1233214"/>
                  <a:pt x="2494450" y="1233214"/>
                </a:cubicBezTo>
                <a:lnTo>
                  <a:pt x="37370" y="1233214"/>
                </a:lnTo>
                <a:cubicBezTo>
                  <a:pt x="16731" y="1233214"/>
                  <a:pt x="0" y="1216483"/>
                  <a:pt x="0" y="1195844"/>
                </a:cubicBezTo>
                <a:lnTo>
                  <a:pt x="0" y="37370"/>
                </a:lnTo>
                <a:cubicBezTo>
                  <a:pt x="0" y="16745"/>
                  <a:pt x="16745" y="0"/>
                  <a:pt x="37370" y="0"/>
                </a:cubicBezTo>
                <a:close/>
              </a:path>
            </a:pathLst>
          </a:custGeom>
          <a:solidFill>
            <a:srgbClr val="D32F2F">
              <a:alpha val="5098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3327925" y="5216869"/>
            <a:ext cx="37370" cy="1233214"/>
          </a:xfrm>
          <a:custGeom>
            <a:avLst/>
            <a:gdLst/>
            <a:ahLst/>
            <a:cxnLst/>
            <a:rect l="l" t="t" r="r" b="b"/>
            <a:pathLst>
              <a:path w="37370" h="1233214">
                <a:moveTo>
                  <a:pt x="37370" y="0"/>
                </a:moveTo>
                <a:lnTo>
                  <a:pt x="37370" y="0"/>
                </a:lnTo>
                <a:lnTo>
                  <a:pt x="37370" y="1233214"/>
                </a:lnTo>
                <a:lnTo>
                  <a:pt x="37370" y="1233214"/>
                </a:lnTo>
                <a:cubicBezTo>
                  <a:pt x="16731" y="1233214"/>
                  <a:pt x="0" y="1216483"/>
                  <a:pt x="0" y="1195844"/>
                </a:cubicBezTo>
                <a:lnTo>
                  <a:pt x="0" y="37370"/>
                </a:lnTo>
                <a:cubicBezTo>
                  <a:pt x="0" y="16745"/>
                  <a:pt x="16745" y="0"/>
                  <a:pt x="37370" y="0"/>
                </a:cubicBezTo>
                <a:close/>
              </a:path>
            </a:pathLst>
          </a:custGeom>
          <a:solidFill>
            <a:srgbClr val="D32F2F"/>
          </a:solidFill>
          <a:ln/>
        </p:spPr>
      </p:sp>
      <p:sp>
        <p:nvSpPr>
          <p:cNvPr id="20" name="Shape 17"/>
          <p:cNvSpPr/>
          <p:nvPr/>
        </p:nvSpPr>
        <p:spPr>
          <a:xfrm>
            <a:off x="3533461" y="5403720"/>
            <a:ext cx="112110" cy="149480"/>
          </a:xfrm>
          <a:custGeom>
            <a:avLst/>
            <a:gdLst/>
            <a:ahLst/>
            <a:cxnLst/>
            <a:rect l="l" t="t" r="r" b="b"/>
            <a:pathLst>
              <a:path w="112110" h="149480">
                <a:moveTo>
                  <a:pt x="49457" y="146736"/>
                </a:moveTo>
                <a:cubicBezTo>
                  <a:pt x="53106" y="150386"/>
                  <a:pt x="59033" y="150386"/>
                  <a:pt x="62683" y="146736"/>
                </a:cubicBezTo>
                <a:lnTo>
                  <a:pt x="109395" y="100023"/>
                </a:lnTo>
                <a:cubicBezTo>
                  <a:pt x="113045" y="96374"/>
                  <a:pt x="113045" y="90447"/>
                  <a:pt x="109395" y="86798"/>
                </a:cubicBezTo>
                <a:cubicBezTo>
                  <a:pt x="105746" y="83149"/>
                  <a:pt x="99819" y="83149"/>
                  <a:pt x="96170" y="86798"/>
                </a:cubicBezTo>
                <a:lnTo>
                  <a:pt x="65398" y="117570"/>
                </a:lnTo>
                <a:lnTo>
                  <a:pt x="65398" y="9343"/>
                </a:lnTo>
                <a:cubicBezTo>
                  <a:pt x="65398" y="4175"/>
                  <a:pt x="61223" y="0"/>
                  <a:pt x="56055" y="0"/>
                </a:cubicBezTo>
                <a:cubicBezTo>
                  <a:pt x="50888" y="0"/>
                  <a:pt x="46713" y="4175"/>
                  <a:pt x="46713" y="9343"/>
                </a:cubicBezTo>
                <a:lnTo>
                  <a:pt x="46713" y="117570"/>
                </a:lnTo>
                <a:lnTo>
                  <a:pt x="15941" y="86798"/>
                </a:lnTo>
                <a:cubicBezTo>
                  <a:pt x="12291" y="83149"/>
                  <a:pt x="6365" y="83149"/>
                  <a:pt x="2715" y="86798"/>
                </a:cubicBezTo>
                <a:cubicBezTo>
                  <a:pt x="-934" y="90447"/>
                  <a:pt x="-934" y="96374"/>
                  <a:pt x="2715" y="100023"/>
                </a:cubicBezTo>
                <a:lnTo>
                  <a:pt x="49428" y="146736"/>
                </a:lnTo>
                <a:close/>
              </a:path>
            </a:pathLst>
          </a:custGeom>
          <a:solidFill>
            <a:srgbClr val="D32F2F"/>
          </a:solidFill>
          <a:ln/>
        </p:spPr>
      </p:sp>
      <p:sp>
        <p:nvSpPr>
          <p:cNvPr id="21" name="Text 18"/>
          <p:cNvSpPr/>
          <p:nvPr/>
        </p:nvSpPr>
        <p:spPr>
          <a:xfrm>
            <a:off x="3757682" y="5366350"/>
            <a:ext cx="672662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负面因素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3496091" y="5665311"/>
            <a:ext cx="2316947" cy="429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2026年资本支出维持高位，折旧成本对营业利润率产生100-150个基点压力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286004" y="1199581"/>
            <a:ext cx="5528909" cy="2557984"/>
          </a:xfrm>
          <a:custGeom>
            <a:avLst/>
            <a:gdLst/>
            <a:ahLst/>
            <a:cxnLst/>
            <a:rect l="l" t="t" r="r" b="b"/>
            <a:pathLst>
              <a:path w="5528909" h="2557984">
                <a:moveTo>
                  <a:pt x="74744" y="0"/>
                </a:moveTo>
                <a:lnTo>
                  <a:pt x="5454164" y="0"/>
                </a:lnTo>
                <a:cubicBezTo>
                  <a:pt x="5495444" y="0"/>
                  <a:pt x="5528909" y="33464"/>
                  <a:pt x="5528909" y="74744"/>
                </a:cubicBezTo>
                <a:lnTo>
                  <a:pt x="5528909" y="2483240"/>
                </a:lnTo>
                <a:cubicBezTo>
                  <a:pt x="5528909" y="2524520"/>
                  <a:pt x="5495444" y="2557984"/>
                  <a:pt x="5454164" y="2557984"/>
                </a:cubicBezTo>
                <a:lnTo>
                  <a:pt x="74744" y="2557984"/>
                </a:lnTo>
                <a:cubicBezTo>
                  <a:pt x="33464" y="2557984"/>
                  <a:pt x="0" y="2524520"/>
                  <a:pt x="0" y="2483240"/>
                </a:cubicBezTo>
                <a:lnTo>
                  <a:pt x="0" y="74744"/>
                </a:lnTo>
                <a:cubicBezTo>
                  <a:pt x="0" y="33464"/>
                  <a:pt x="33464" y="0"/>
                  <a:pt x="74744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76591" y="1390169"/>
            <a:ext cx="5231816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盈利上修动能与盈余惊喜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476591" y="1801240"/>
            <a:ext cx="2494455" cy="859513"/>
          </a:xfrm>
          <a:custGeom>
            <a:avLst/>
            <a:gdLst/>
            <a:ahLst/>
            <a:cxnLst/>
            <a:rect l="l" t="t" r="r" b="b"/>
            <a:pathLst>
              <a:path w="2494455" h="859513">
                <a:moveTo>
                  <a:pt x="74743" y="0"/>
                </a:moveTo>
                <a:lnTo>
                  <a:pt x="2419712" y="0"/>
                </a:lnTo>
                <a:cubicBezTo>
                  <a:pt x="2460991" y="0"/>
                  <a:pt x="2494455" y="33464"/>
                  <a:pt x="2494455" y="74743"/>
                </a:cubicBezTo>
                <a:lnTo>
                  <a:pt x="2494455" y="784769"/>
                </a:lnTo>
                <a:cubicBezTo>
                  <a:pt x="2494455" y="826049"/>
                  <a:pt x="2460991" y="859513"/>
                  <a:pt x="2419712" y="859513"/>
                </a:cubicBezTo>
                <a:lnTo>
                  <a:pt x="74743" y="859513"/>
                </a:lnTo>
                <a:cubicBezTo>
                  <a:pt x="33491" y="859513"/>
                  <a:pt x="0" y="826021"/>
                  <a:pt x="0" y="784769"/>
                </a:cubicBezTo>
                <a:lnTo>
                  <a:pt x="0" y="74743"/>
                </a:lnTo>
                <a:cubicBezTo>
                  <a:pt x="0" y="33491"/>
                  <a:pt x="33491" y="0"/>
                  <a:pt x="74743" y="0"/>
                </a:cubicBezTo>
                <a:close/>
              </a:path>
            </a:pathLst>
          </a:custGeom>
          <a:solidFill>
            <a:srgbClr val="FAFAFA"/>
          </a:solidFill>
          <a:ln/>
        </p:spPr>
      </p:sp>
      <p:sp>
        <p:nvSpPr>
          <p:cNvPr id="26" name="Text 23"/>
          <p:cNvSpPr/>
          <p:nvPr/>
        </p:nvSpPr>
        <p:spPr>
          <a:xfrm>
            <a:off x="6593373" y="1950720"/>
            <a:ext cx="2260892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2026年EPS增长预期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556003" y="2174941"/>
            <a:ext cx="2335632" cy="336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7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14.3-14.4%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9124498" y="1801240"/>
            <a:ext cx="2494455" cy="859513"/>
          </a:xfrm>
          <a:custGeom>
            <a:avLst/>
            <a:gdLst/>
            <a:ahLst/>
            <a:cxnLst/>
            <a:rect l="l" t="t" r="r" b="b"/>
            <a:pathLst>
              <a:path w="2494455" h="859513">
                <a:moveTo>
                  <a:pt x="74743" y="0"/>
                </a:moveTo>
                <a:lnTo>
                  <a:pt x="2419712" y="0"/>
                </a:lnTo>
                <a:cubicBezTo>
                  <a:pt x="2460991" y="0"/>
                  <a:pt x="2494455" y="33464"/>
                  <a:pt x="2494455" y="74743"/>
                </a:cubicBezTo>
                <a:lnTo>
                  <a:pt x="2494455" y="784769"/>
                </a:lnTo>
                <a:cubicBezTo>
                  <a:pt x="2494455" y="826049"/>
                  <a:pt x="2460991" y="859513"/>
                  <a:pt x="2419712" y="859513"/>
                </a:cubicBezTo>
                <a:lnTo>
                  <a:pt x="74743" y="859513"/>
                </a:lnTo>
                <a:cubicBezTo>
                  <a:pt x="33491" y="859513"/>
                  <a:pt x="0" y="826021"/>
                  <a:pt x="0" y="784769"/>
                </a:cubicBezTo>
                <a:lnTo>
                  <a:pt x="0" y="74743"/>
                </a:lnTo>
                <a:cubicBezTo>
                  <a:pt x="0" y="33491"/>
                  <a:pt x="33491" y="0"/>
                  <a:pt x="74743" y="0"/>
                </a:cubicBezTo>
                <a:close/>
              </a:path>
            </a:pathLst>
          </a:custGeom>
          <a:solidFill>
            <a:srgbClr val="FAFAFA"/>
          </a:solidFill>
          <a:ln/>
        </p:spPr>
      </p:sp>
      <p:sp>
        <p:nvSpPr>
          <p:cNvPr id="29" name="Text 26"/>
          <p:cNvSpPr/>
          <p:nvPr/>
        </p:nvSpPr>
        <p:spPr>
          <a:xfrm>
            <a:off x="9241279" y="1950720"/>
            <a:ext cx="2260892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3个月上修幅度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9203909" y="2174941"/>
            <a:ext cx="2335632" cy="336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7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+2.5%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476591" y="3150301"/>
            <a:ext cx="5147733" cy="7474"/>
          </a:xfrm>
          <a:custGeom>
            <a:avLst/>
            <a:gdLst/>
            <a:ahLst/>
            <a:cxnLst/>
            <a:rect l="l" t="t" r="r" b="b"/>
            <a:pathLst>
              <a:path w="5147733" h="7474">
                <a:moveTo>
                  <a:pt x="0" y="0"/>
                </a:moveTo>
                <a:lnTo>
                  <a:pt x="5147733" y="0"/>
                </a:lnTo>
                <a:lnTo>
                  <a:pt x="5147733" y="7474"/>
                </a:lnTo>
                <a:lnTo>
                  <a:pt x="0" y="7474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32" name="Text 29"/>
          <p:cNvSpPr/>
          <p:nvPr/>
        </p:nvSpPr>
        <p:spPr>
          <a:xfrm>
            <a:off x="6476591" y="2884973"/>
            <a:ext cx="588579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强力上修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9936247" y="2884973"/>
            <a:ext cx="1756395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AI基建、网络安全、金融服务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476591" y="3303519"/>
            <a:ext cx="588579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下修压力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0576560" y="3303519"/>
            <a:ext cx="1111761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dirty="0">
                <a:solidFill>
                  <a:srgbClr val="D32F2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能源、地产、零售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286004" y="3912652"/>
            <a:ext cx="5528909" cy="2941028"/>
          </a:xfrm>
          <a:custGeom>
            <a:avLst/>
            <a:gdLst/>
            <a:ahLst/>
            <a:cxnLst/>
            <a:rect l="l" t="t" r="r" b="b"/>
            <a:pathLst>
              <a:path w="5528909" h="2941028">
                <a:moveTo>
                  <a:pt x="74732" y="0"/>
                </a:moveTo>
                <a:lnTo>
                  <a:pt x="5454177" y="0"/>
                </a:lnTo>
                <a:cubicBezTo>
                  <a:pt x="5495450" y="0"/>
                  <a:pt x="5528909" y="33458"/>
                  <a:pt x="5528909" y="74732"/>
                </a:cubicBezTo>
                <a:lnTo>
                  <a:pt x="5528909" y="2866297"/>
                </a:lnTo>
                <a:cubicBezTo>
                  <a:pt x="5528909" y="2907570"/>
                  <a:pt x="5495450" y="2941028"/>
                  <a:pt x="5454177" y="2941028"/>
                </a:cubicBezTo>
                <a:lnTo>
                  <a:pt x="74732" y="2941028"/>
                </a:lnTo>
                <a:cubicBezTo>
                  <a:pt x="33458" y="2941028"/>
                  <a:pt x="0" y="2907570"/>
                  <a:pt x="0" y="2866297"/>
                </a:cubicBezTo>
                <a:lnTo>
                  <a:pt x="0" y="74732"/>
                </a:lnTo>
                <a:cubicBezTo>
                  <a:pt x="0" y="33458"/>
                  <a:pt x="33458" y="0"/>
                  <a:pt x="74732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76591" y="4103238"/>
            <a:ext cx="5231816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ROIC-WACC 利差分析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476591" y="4514309"/>
            <a:ext cx="5147733" cy="635292"/>
          </a:xfrm>
          <a:custGeom>
            <a:avLst/>
            <a:gdLst/>
            <a:ahLst/>
            <a:cxnLst/>
            <a:rect l="l" t="t" r="r" b="b"/>
            <a:pathLst>
              <a:path w="5147733" h="635292">
                <a:moveTo>
                  <a:pt x="37368" y="0"/>
                </a:moveTo>
                <a:lnTo>
                  <a:pt x="5110365" y="0"/>
                </a:lnTo>
                <a:cubicBezTo>
                  <a:pt x="5131003" y="0"/>
                  <a:pt x="5147733" y="16730"/>
                  <a:pt x="5147733" y="37368"/>
                </a:cubicBezTo>
                <a:lnTo>
                  <a:pt x="5147733" y="597924"/>
                </a:lnTo>
                <a:cubicBezTo>
                  <a:pt x="5147733" y="618548"/>
                  <a:pt x="5130989" y="635292"/>
                  <a:pt x="5110365" y="635292"/>
                </a:cubicBezTo>
                <a:lnTo>
                  <a:pt x="37368" y="635292"/>
                </a:lnTo>
                <a:cubicBezTo>
                  <a:pt x="16730" y="635292"/>
                  <a:pt x="0" y="618562"/>
                  <a:pt x="0" y="597924"/>
                </a:cubicBezTo>
                <a:lnTo>
                  <a:pt x="0" y="37368"/>
                </a:lnTo>
                <a:cubicBezTo>
                  <a:pt x="0" y="16744"/>
                  <a:pt x="16744" y="0"/>
                  <a:pt x="37368" y="0"/>
                </a:cubicBezTo>
                <a:close/>
              </a:path>
            </a:pathLst>
          </a:custGeom>
          <a:solidFill>
            <a:srgbClr val="FAFAFA"/>
          </a:solidFill>
          <a:ln/>
        </p:spPr>
      </p:sp>
      <p:sp>
        <p:nvSpPr>
          <p:cNvPr id="39" name="Text 36"/>
          <p:cNvSpPr/>
          <p:nvPr/>
        </p:nvSpPr>
        <p:spPr>
          <a:xfrm>
            <a:off x="6588701" y="4626420"/>
            <a:ext cx="1606915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 Q3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6588701" y="4850640"/>
            <a:ext cx="1597572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ROIC 13.5% | WACC 5.0%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11097290" y="4701160"/>
            <a:ext cx="504497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1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8.5%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6476591" y="5261712"/>
            <a:ext cx="5147733" cy="635292"/>
          </a:xfrm>
          <a:custGeom>
            <a:avLst/>
            <a:gdLst/>
            <a:ahLst/>
            <a:cxnLst/>
            <a:rect l="l" t="t" r="r" b="b"/>
            <a:pathLst>
              <a:path w="5147733" h="635292">
                <a:moveTo>
                  <a:pt x="37368" y="0"/>
                </a:moveTo>
                <a:lnTo>
                  <a:pt x="5110365" y="0"/>
                </a:lnTo>
                <a:cubicBezTo>
                  <a:pt x="5131003" y="0"/>
                  <a:pt x="5147733" y="16730"/>
                  <a:pt x="5147733" y="37368"/>
                </a:cubicBezTo>
                <a:lnTo>
                  <a:pt x="5147733" y="597924"/>
                </a:lnTo>
                <a:cubicBezTo>
                  <a:pt x="5147733" y="618548"/>
                  <a:pt x="5130989" y="635292"/>
                  <a:pt x="5110365" y="635292"/>
                </a:cubicBezTo>
                <a:lnTo>
                  <a:pt x="37368" y="635292"/>
                </a:lnTo>
                <a:cubicBezTo>
                  <a:pt x="16730" y="635292"/>
                  <a:pt x="0" y="618562"/>
                  <a:pt x="0" y="597924"/>
                </a:cubicBezTo>
                <a:lnTo>
                  <a:pt x="0" y="37368"/>
                </a:lnTo>
                <a:cubicBezTo>
                  <a:pt x="0" y="16744"/>
                  <a:pt x="16744" y="0"/>
                  <a:pt x="37368" y="0"/>
                </a:cubicBezTo>
                <a:close/>
              </a:path>
            </a:pathLst>
          </a:custGeom>
          <a:solidFill>
            <a:srgbClr val="FAFAFA"/>
          </a:solidFill>
          <a:ln/>
        </p:spPr>
      </p:sp>
      <p:sp>
        <p:nvSpPr>
          <p:cNvPr id="43" name="Text 40"/>
          <p:cNvSpPr/>
          <p:nvPr/>
        </p:nvSpPr>
        <p:spPr>
          <a:xfrm>
            <a:off x="6588701" y="5373822"/>
            <a:ext cx="1606915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 Q4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6588701" y="5598043"/>
            <a:ext cx="1597572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ROIC 13.8% | WACC 4.8%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11088648" y="5448562"/>
            <a:ext cx="513839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1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9.0%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6480328" y="6012851"/>
            <a:ext cx="5136522" cy="642766"/>
          </a:xfrm>
          <a:custGeom>
            <a:avLst/>
            <a:gdLst/>
            <a:ahLst/>
            <a:cxnLst/>
            <a:rect l="l" t="t" r="r" b="b"/>
            <a:pathLst>
              <a:path w="5136522" h="642766">
                <a:moveTo>
                  <a:pt x="37370" y="0"/>
                </a:moveTo>
                <a:lnTo>
                  <a:pt x="5099152" y="0"/>
                </a:lnTo>
                <a:cubicBezTo>
                  <a:pt x="5119791" y="0"/>
                  <a:pt x="5136522" y="16731"/>
                  <a:pt x="5136522" y="37370"/>
                </a:cubicBezTo>
                <a:lnTo>
                  <a:pt x="5136522" y="605396"/>
                </a:lnTo>
                <a:cubicBezTo>
                  <a:pt x="5136522" y="626035"/>
                  <a:pt x="5119791" y="642766"/>
                  <a:pt x="5099152" y="642766"/>
                </a:cubicBezTo>
                <a:lnTo>
                  <a:pt x="37370" y="642766"/>
                </a:lnTo>
                <a:cubicBezTo>
                  <a:pt x="16745" y="642766"/>
                  <a:pt x="0" y="626021"/>
                  <a:pt x="0" y="605396"/>
                </a:cubicBezTo>
                <a:lnTo>
                  <a:pt x="0" y="37370"/>
                </a:lnTo>
                <a:cubicBezTo>
                  <a:pt x="0" y="16745"/>
                  <a:pt x="16745" y="0"/>
                  <a:pt x="37370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 w="10160">
            <a:solidFill>
              <a:srgbClr val="0071E3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596176" y="6128699"/>
            <a:ext cx="1597572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 Q1 (预测)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6596176" y="6352920"/>
            <a:ext cx="1588230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ROIC 14.2% | WACC 4.5%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11025002" y="6184754"/>
            <a:ext cx="588579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6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9.7%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373701" y="6203439"/>
            <a:ext cx="11500653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3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重要声明：本报告基于历史路径经验推断，非实时数据驱动。历史表现不代表未来结果，经济环境可能发生结构性变化导致历史规律失效。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7783" y="367783"/>
            <a:ext cx="11520796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b="1" spc="101" kern="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MARKET SENTIMENT &amp; FUND FLOW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7783" y="625231"/>
            <a:ext cx="11621937" cy="367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06" b="1" dirty="0">
                <a:solidFill>
                  <a:srgbClr val="1D1D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市场情绪与资金流动：情绪过高预警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1461" y="1180583"/>
            <a:ext cx="5726378" cy="2802505"/>
          </a:xfrm>
          <a:custGeom>
            <a:avLst/>
            <a:gdLst/>
            <a:ahLst/>
            <a:cxnLst/>
            <a:rect l="l" t="t" r="r" b="b"/>
            <a:pathLst>
              <a:path w="5726378" h="2802505">
                <a:moveTo>
                  <a:pt x="73566" y="0"/>
                </a:moveTo>
                <a:lnTo>
                  <a:pt x="5652813" y="0"/>
                </a:lnTo>
                <a:cubicBezTo>
                  <a:pt x="5693442" y="0"/>
                  <a:pt x="5726378" y="32937"/>
                  <a:pt x="5726378" y="73566"/>
                </a:cubicBezTo>
                <a:lnTo>
                  <a:pt x="5726378" y="2728939"/>
                </a:lnTo>
                <a:cubicBezTo>
                  <a:pt x="5726378" y="2769568"/>
                  <a:pt x="5693442" y="2802505"/>
                  <a:pt x="5652813" y="2802505"/>
                </a:cubicBezTo>
                <a:lnTo>
                  <a:pt x="73566" y="2802505"/>
                </a:lnTo>
                <a:cubicBezTo>
                  <a:pt x="32937" y="2802505"/>
                  <a:pt x="0" y="2769568"/>
                  <a:pt x="0" y="2728939"/>
                </a:cubicBezTo>
                <a:lnTo>
                  <a:pt x="0" y="73566"/>
                </a:lnTo>
                <a:cubicBezTo>
                  <a:pt x="0" y="32937"/>
                  <a:pt x="32937" y="0"/>
                  <a:pt x="73566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9030" y="1368152"/>
            <a:ext cx="5433991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3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保证金债务与杠杆率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59030" y="1772714"/>
            <a:ext cx="2602063" cy="1029792"/>
          </a:xfrm>
          <a:custGeom>
            <a:avLst/>
            <a:gdLst/>
            <a:ahLst/>
            <a:cxnLst/>
            <a:rect l="l" t="t" r="r" b="b"/>
            <a:pathLst>
              <a:path w="2602063" h="1029792">
                <a:moveTo>
                  <a:pt x="73558" y="0"/>
                </a:moveTo>
                <a:lnTo>
                  <a:pt x="2528505" y="0"/>
                </a:lnTo>
                <a:cubicBezTo>
                  <a:pt x="2569130" y="0"/>
                  <a:pt x="2602063" y="32933"/>
                  <a:pt x="2602063" y="73558"/>
                </a:cubicBezTo>
                <a:lnTo>
                  <a:pt x="2602063" y="956234"/>
                </a:lnTo>
                <a:cubicBezTo>
                  <a:pt x="2602063" y="996859"/>
                  <a:pt x="2569130" y="1029792"/>
                  <a:pt x="2528505" y="1029792"/>
                </a:cubicBezTo>
                <a:lnTo>
                  <a:pt x="73558" y="1029792"/>
                </a:lnTo>
                <a:cubicBezTo>
                  <a:pt x="32933" y="1029792"/>
                  <a:pt x="0" y="996859"/>
                  <a:pt x="0" y="956234"/>
                </a:cubicBezTo>
                <a:lnTo>
                  <a:pt x="0" y="73558"/>
                </a:lnTo>
                <a:cubicBezTo>
                  <a:pt x="0" y="32960"/>
                  <a:pt x="32960" y="0"/>
                  <a:pt x="73558" y="0"/>
                </a:cubicBezTo>
                <a:close/>
              </a:path>
            </a:pathLst>
          </a:custGeom>
          <a:solidFill>
            <a:srgbClr val="FAFAFA"/>
          </a:solidFill>
          <a:ln/>
        </p:spPr>
      </p:sp>
      <p:sp>
        <p:nvSpPr>
          <p:cNvPr id="7" name="Text 5"/>
          <p:cNvSpPr/>
          <p:nvPr/>
        </p:nvSpPr>
        <p:spPr>
          <a:xfrm>
            <a:off x="673962" y="1919827"/>
            <a:ext cx="2372199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4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保证金债务/市值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7184" y="2140496"/>
            <a:ext cx="2445756" cy="331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72" b="1" dirty="0">
                <a:solidFill>
                  <a:srgbClr val="D32F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1.85%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8559" y="2508281"/>
            <a:ext cx="2363005" cy="147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69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前10%分位水平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05908" y="1772714"/>
            <a:ext cx="2602063" cy="1029792"/>
          </a:xfrm>
          <a:custGeom>
            <a:avLst/>
            <a:gdLst/>
            <a:ahLst/>
            <a:cxnLst/>
            <a:rect l="l" t="t" r="r" b="b"/>
            <a:pathLst>
              <a:path w="2602063" h="1029792">
                <a:moveTo>
                  <a:pt x="73558" y="0"/>
                </a:moveTo>
                <a:lnTo>
                  <a:pt x="2528505" y="0"/>
                </a:lnTo>
                <a:cubicBezTo>
                  <a:pt x="2569130" y="0"/>
                  <a:pt x="2602063" y="32933"/>
                  <a:pt x="2602063" y="73558"/>
                </a:cubicBezTo>
                <a:lnTo>
                  <a:pt x="2602063" y="956234"/>
                </a:lnTo>
                <a:cubicBezTo>
                  <a:pt x="2602063" y="996859"/>
                  <a:pt x="2569130" y="1029792"/>
                  <a:pt x="2528505" y="1029792"/>
                </a:cubicBezTo>
                <a:lnTo>
                  <a:pt x="73558" y="1029792"/>
                </a:lnTo>
                <a:cubicBezTo>
                  <a:pt x="32933" y="1029792"/>
                  <a:pt x="0" y="996859"/>
                  <a:pt x="0" y="956234"/>
                </a:cubicBezTo>
                <a:lnTo>
                  <a:pt x="0" y="73558"/>
                </a:lnTo>
                <a:cubicBezTo>
                  <a:pt x="0" y="32960"/>
                  <a:pt x="32960" y="0"/>
                  <a:pt x="73558" y="0"/>
                </a:cubicBezTo>
                <a:close/>
              </a:path>
            </a:pathLst>
          </a:custGeom>
          <a:solidFill>
            <a:srgbClr val="FAFAFA"/>
          </a:solidFill>
          <a:ln/>
        </p:spPr>
      </p:sp>
      <p:sp>
        <p:nvSpPr>
          <p:cNvPr id="11" name="Text 9"/>
          <p:cNvSpPr/>
          <p:nvPr/>
        </p:nvSpPr>
        <p:spPr>
          <a:xfrm>
            <a:off x="3420840" y="1919827"/>
            <a:ext cx="2372199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4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历史对比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11645" y="2140496"/>
            <a:ext cx="2390588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3" b="1" dirty="0">
                <a:solidFill>
                  <a:srgbClr val="D32F2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接近2021年峰值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25437" y="2434725"/>
            <a:ext cx="2363005" cy="147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69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杠杆率尚未出清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7419" y="2949504"/>
            <a:ext cx="5332851" cy="845900"/>
          </a:xfrm>
          <a:custGeom>
            <a:avLst/>
            <a:gdLst/>
            <a:ahLst/>
            <a:cxnLst/>
            <a:rect l="l" t="t" r="r" b="b"/>
            <a:pathLst>
              <a:path w="5332851" h="845900">
                <a:moveTo>
                  <a:pt x="36778" y="0"/>
                </a:moveTo>
                <a:lnTo>
                  <a:pt x="5296071" y="0"/>
                </a:lnTo>
                <a:cubicBezTo>
                  <a:pt x="5316384" y="0"/>
                  <a:pt x="5332851" y="16467"/>
                  <a:pt x="5332851" y="36780"/>
                </a:cubicBezTo>
                <a:lnTo>
                  <a:pt x="5332851" y="809121"/>
                </a:lnTo>
                <a:cubicBezTo>
                  <a:pt x="5332851" y="829434"/>
                  <a:pt x="5316384" y="845900"/>
                  <a:pt x="5296071" y="845900"/>
                </a:cubicBezTo>
                <a:lnTo>
                  <a:pt x="36778" y="845900"/>
                </a:lnTo>
                <a:cubicBezTo>
                  <a:pt x="16466" y="845900"/>
                  <a:pt x="0" y="829434"/>
                  <a:pt x="0" y="809122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D32F2F">
              <a:alpha val="5098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77419" y="2949504"/>
            <a:ext cx="36778" cy="845900"/>
          </a:xfrm>
          <a:custGeom>
            <a:avLst/>
            <a:gdLst/>
            <a:ahLst/>
            <a:cxnLst/>
            <a:rect l="l" t="t" r="r" b="b"/>
            <a:pathLst>
              <a:path w="36778" h="845900">
                <a:moveTo>
                  <a:pt x="36778" y="0"/>
                </a:moveTo>
                <a:lnTo>
                  <a:pt x="36778" y="0"/>
                </a:lnTo>
                <a:lnTo>
                  <a:pt x="36778" y="845900"/>
                </a:lnTo>
                <a:lnTo>
                  <a:pt x="36778" y="845900"/>
                </a:lnTo>
                <a:cubicBezTo>
                  <a:pt x="16466" y="845900"/>
                  <a:pt x="0" y="829434"/>
                  <a:pt x="0" y="809122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D32F2F"/>
          </a:solidFill>
          <a:ln/>
        </p:spPr>
      </p:sp>
      <p:sp>
        <p:nvSpPr>
          <p:cNvPr id="16" name="Shape 14"/>
          <p:cNvSpPr/>
          <p:nvPr/>
        </p:nvSpPr>
        <p:spPr>
          <a:xfrm>
            <a:off x="724532" y="3096617"/>
            <a:ext cx="147113" cy="147113"/>
          </a:xfrm>
          <a:custGeom>
            <a:avLst/>
            <a:gdLst/>
            <a:ahLst/>
            <a:cxnLst/>
            <a:rect l="l" t="t" r="r" b="b"/>
            <a:pathLst>
              <a:path w="147113" h="147113">
                <a:moveTo>
                  <a:pt x="73557" y="0"/>
                </a:moveTo>
                <a:cubicBezTo>
                  <a:pt x="77780" y="0"/>
                  <a:pt x="81659" y="2327"/>
                  <a:pt x="83671" y="6034"/>
                </a:cubicBezTo>
                <a:lnTo>
                  <a:pt x="145734" y="120966"/>
                </a:lnTo>
                <a:cubicBezTo>
                  <a:pt x="147659" y="124529"/>
                  <a:pt x="147573" y="128839"/>
                  <a:pt x="145504" y="132316"/>
                </a:cubicBezTo>
                <a:cubicBezTo>
                  <a:pt x="143435" y="135792"/>
                  <a:pt x="139671" y="137919"/>
                  <a:pt x="135620" y="137919"/>
                </a:cubicBezTo>
                <a:lnTo>
                  <a:pt x="11493" y="137919"/>
                </a:lnTo>
                <a:cubicBezTo>
                  <a:pt x="7442" y="137919"/>
                  <a:pt x="3707" y="135792"/>
                  <a:pt x="1609" y="132316"/>
                </a:cubicBezTo>
                <a:cubicBezTo>
                  <a:pt x="-488" y="128839"/>
                  <a:pt x="-546" y="124529"/>
                  <a:pt x="1379" y="120966"/>
                </a:cubicBezTo>
                <a:lnTo>
                  <a:pt x="63443" y="6034"/>
                </a:lnTo>
                <a:cubicBezTo>
                  <a:pt x="65454" y="2327"/>
                  <a:pt x="69333" y="0"/>
                  <a:pt x="73557" y="0"/>
                </a:cubicBezTo>
                <a:close/>
                <a:moveTo>
                  <a:pt x="73557" y="48271"/>
                </a:moveTo>
                <a:cubicBezTo>
                  <a:pt x="69735" y="48271"/>
                  <a:pt x="66661" y="51346"/>
                  <a:pt x="66661" y="55167"/>
                </a:cubicBezTo>
                <a:lnTo>
                  <a:pt x="66661" y="87348"/>
                </a:lnTo>
                <a:cubicBezTo>
                  <a:pt x="66661" y="91170"/>
                  <a:pt x="69735" y="94244"/>
                  <a:pt x="73557" y="94244"/>
                </a:cubicBezTo>
                <a:cubicBezTo>
                  <a:pt x="77378" y="94244"/>
                  <a:pt x="80452" y="91170"/>
                  <a:pt x="80452" y="87348"/>
                </a:cubicBezTo>
                <a:lnTo>
                  <a:pt x="80452" y="55167"/>
                </a:lnTo>
                <a:cubicBezTo>
                  <a:pt x="80452" y="51346"/>
                  <a:pt x="77378" y="48271"/>
                  <a:pt x="73557" y="48271"/>
                </a:cubicBezTo>
                <a:close/>
                <a:moveTo>
                  <a:pt x="81228" y="110335"/>
                </a:moveTo>
                <a:cubicBezTo>
                  <a:pt x="81403" y="107487"/>
                  <a:pt x="79983" y="104778"/>
                  <a:pt x="77542" y="103301"/>
                </a:cubicBezTo>
                <a:cubicBezTo>
                  <a:pt x="75100" y="101825"/>
                  <a:pt x="72041" y="101825"/>
                  <a:pt x="69600" y="103301"/>
                </a:cubicBezTo>
                <a:cubicBezTo>
                  <a:pt x="67159" y="104778"/>
                  <a:pt x="65739" y="107487"/>
                  <a:pt x="65914" y="110335"/>
                </a:cubicBezTo>
                <a:cubicBezTo>
                  <a:pt x="65739" y="113182"/>
                  <a:pt x="67159" y="115892"/>
                  <a:pt x="69600" y="117368"/>
                </a:cubicBezTo>
                <a:cubicBezTo>
                  <a:pt x="72041" y="118845"/>
                  <a:pt x="75100" y="118845"/>
                  <a:pt x="77542" y="117368"/>
                </a:cubicBezTo>
                <a:cubicBezTo>
                  <a:pt x="79983" y="115892"/>
                  <a:pt x="81403" y="113182"/>
                  <a:pt x="81228" y="110335"/>
                </a:cubicBezTo>
                <a:close/>
              </a:path>
            </a:pathLst>
          </a:custGeom>
          <a:solidFill>
            <a:srgbClr val="D32F2F"/>
          </a:solidFill>
          <a:ln/>
        </p:spPr>
      </p:sp>
      <p:sp>
        <p:nvSpPr>
          <p:cNvPr id="17" name="Text 15"/>
          <p:cNvSpPr/>
          <p:nvPr/>
        </p:nvSpPr>
        <p:spPr>
          <a:xfrm>
            <a:off x="963591" y="3059839"/>
            <a:ext cx="662009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风险提示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6143" y="3317287"/>
            <a:ext cx="5158154" cy="367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3月中旬到4月中旬（税收回笼期），TGA余额通常会显著飙升，这是美股一年中流动性最枯竭的时刻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71461" y="4137441"/>
            <a:ext cx="5726378" cy="2655392"/>
          </a:xfrm>
          <a:custGeom>
            <a:avLst/>
            <a:gdLst/>
            <a:ahLst/>
            <a:cxnLst/>
            <a:rect l="l" t="t" r="r" b="b"/>
            <a:pathLst>
              <a:path w="5726378" h="2655392">
                <a:moveTo>
                  <a:pt x="73554" y="0"/>
                </a:moveTo>
                <a:lnTo>
                  <a:pt x="5652824" y="0"/>
                </a:lnTo>
                <a:cubicBezTo>
                  <a:pt x="5693447" y="0"/>
                  <a:pt x="5726378" y="32931"/>
                  <a:pt x="5726378" y="73554"/>
                </a:cubicBezTo>
                <a:lnTo>
                  <a:pt x="5726378" y="2581838"/>
                </a:lnTo>
                <a:cubicBezTo>
                  <a:pt x="5726378" y="2622460"/>
                  <a:pt x="5693447" y="2655392"/>
                  <a:pt x="5652824" y="2655392"/>
                </a:cubicBezTo>
                <a:lnTo>
                  <a:pt x="73554" y="2655392"/>
                </a:lnTo>
                <a:cubicBezTo>
                  <a:pt x="32931" y="2655392"/>
                  <a:pt x="0" y="2622460"/>
                  <a:pt x="0" y="2581838"/>
                </a:cubicBezTo>
                <a:lnTo>
                  <a:pt x="0" y="73554"/>
                </a:lnTo>
                <a:cubicBezTo>
                  <a:pt x="0" y="32959"/>
                  <a:pt x="32959" y="0"/>
                  <a:pt x="73554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9030" y="4325013"/>
            <a:ext cx="5433991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3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利率基差与流动性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59030" y="4729574"/>
            <a:ext cx="5351240" cy="625231"/>
          </a:xfrm>
          <a:custGeom>
            <a:avLst/>
            <a:gdLst/>
            <a:ahLst/>
            <a:cxnLst/>
            <a:rect l="l" t="t" r="r" b="b"/>
            <a:pathLst>
              <a:path w="5351240" h="625231">
                <a:moveTo>
                  <a:pt x="36776" y="0"/>
                </a:moveTo>
                <a:lnTo>
                  <a:pt x="5314464" y="0"/>
                </a:lnTo>
                <a:cubicBezTo>
                  <a:pt x="5334775" y="0"/>
                  <a:pt x="5351240" y="16465"/>
                  <a:pt x="5351240" y="36776"/>
                </a:cubicBezTo>
                <a:lnTo>
                  <a:pt x="5351240" y="588455"/>
                </a:lnTo>
                <a:cubicBezTo>
                  <a:pt x="5351240" y="608766"/>
                  <a:pt x="5334775" y="625231"/>
                  <a:pt x="5314464" y="625231"/>
                </a:cubicBezTo>
                <a:lnTo>
                  <a:pt x="36776" y="625231"/>
                </a:lnTo>
                <a:cubicBezTo>
                  <a:pt x="16465" y="625231"/>
                  <a:pt x="0" y="608766"/>
                  <a:pt x="0" y="588455"/>
                </a:cubicBezTo>
                <a:lnTo>
                  <a:pt x="0" y="36776"/>
                </a:lnTo>
                <a:cubicBezTo>
                  <a:pt x="0" y="16479"/>
                  <a:pt x="16479" y="0"/>
                  <a:pt x="36776" y="0"/>
                </a:cubicBezTo>
                <a:close/>
              </a:path>
            </a:pathLst>
          </a:custGeom>
          <a:solidFill>
            <a:srgbClr val="FAFAFA"/>
          </a:solidFill>
          <a:ln/>
        </p:spPr>
      </p:sp>
      <p:sp>
        <p:nvSpPr>
          <p:cNvPr id="22" name="Text 20"/>
          <p:cNvSpPr/>
          <p:nvPr/>
        </p:nvSpPr>
        <p:spPr>
          <a:xfrm>
            <a:off x="669365" y="4839909"/>
            <a:ext cx="1599855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SOFR-OIS 基差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9365" y="5060578"/>
            <a:ext cx="1590661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当前水平（警戒线25bps）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3109" y="4913465"/>
            <a:ext cx="864290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8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12-15 bps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59030" y="5465139"/>
            <a:ext cx="5351240" cy="625231"/>
          </a:xfrm>
          <a:custGeom>
            <a:avLst/>
            <a:gdLst/>
            <a:ahLst/>
            <a:cxnLst/>
            <a:rect l="l" t="t" r="r" b="b"/>
            <a:pathLst>
              <a:path w="5351240" h="625231">
                <a:moveTo>
                  <a:pt x="36776" y="0"/>
                </a:moveTo>
                <a:lnTo>
                  <a:pt x="5314464" y="0"/>
                </a:lnTo>
                <a:cubicBezTo>
                  <a:pt x="5334775" y="0"/>
                  <a:pt x="5351240" y="16465"/>
                  <a:pt x="5351240" y="36776"/>
                </a:cubicBezTo>
                <a:lnTo>
                  <a:pt x="5351240" y="588455"/>
                </a:lnTo>
                <a:cubicBezTo>
                  <a:pt x="5351240" y="608766"/>
                  <a:pt x="5334775" y="625231"/>
                  <a:pt x="5314464" y="625231"/>
                </a:cubicBezTo>
                <a:lnTo>
                  <a:pt x="36776" y="625231"/>
                </a:lnTo>
                <a:cubicBezTo>
                  <a:pt x="16465" y="625231"/>
                  <a:pt x="0" y="608766"/>
                  <a:pt x="0" y="588455"/>
                </a:cubicBezTo>
                <a:lnTo>
                  <a:pt x="0" y="36776"/>
                </a:lnTo>
                <a:cubicBezTo>
                  <a:pt x="0" y="16479"/>
                  <a:pt x="16479" y="0"/>
                  <a:pt x="36776" y="0"/>
                </a:cubicBezTo>
                <a:close/>
              </a:path>
            </a:pathLst>
          </a:custGeom>
          <a:solidFill>
            <a:srgbClr val="FAFAFA"/>
          </a:solidFill>
          <a:ln/>
        </p:spPr>
      </p:sp>
      <p:sp>
        <p:nvSpPr>
          <p:cNvPr id="26" name="Text 24"/>
          <p:cNvSpPr/>
          <p:nvPr/>
        </p:nvSpPr>
        <p:spPr>
          <a:xfrm>
            <a:off x="669365" y="5575474"/>
            <a:ext cx="717176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1-2月基差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9365" y="5796144"/>
            <a:ext cx="707982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前期水平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65500" y="5649031"/>
            <a:ext cx="625231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8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 bps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59030" y="6200705"/>
            <a:ext cx="5351240" cy="404561"/>
          </a:xfrm>
          <a:custGeom>
            <a:avLst/>
            <a:gdLst/>
            <a:ahLst/>
            <a:cxnLst/>
            <a:rect l="l" t="t" r="r" b="b"/>
            <a:pathLst>
              <a:path w="5351240" h="404561">
                <a:moveTo>
                  <a:pt x="36779" y="0"/>
                </a:moveTo>
                <a:lnTo>
                  <a:pt x="5314461" y="0"/>
                </a:lnTo>
                <a:cubicBezTo>
                  <a:pt x="5334773" y="0"/>
                  <a:pt x="5351240" y="16466"/>
                  <a:pt x="5351240" y="36779"/>
                </a:cubicBezTo>
                <a:lnTo>
                  <a:pt x="5351240" y="367782"/>
                </a:lnTo>
                <a:cubicBezTo>
                  <a:pt x="5351240" y="388095"/>
                  <a:pt x="5334773" y="404561"/>
                  <a:pt x="5314461" y="404561"/>
                </a:cubicBezTo>
                <a:lnTo>
                  <a:pt x="36779" y="404561"/>
                </a:lnTo>
                <a:cubicBezTo>
                  <a:pt x="16466" y="404561"/>
                  <a:pt x="0" y="388095"/>
                  <a:pt x="0" y="367782"/>
                </a:cubicBezTo>
                <a:lnTo>
                  <a:pt x="0" y="36779"/>
                </a:lnTo>
                <a:cubicBezTo>
                  <a:pt x="0" y="16480"/>
                  <a:pt x="16480" y="0"/>
                  <a:pt x="36779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87754" y="6333106"/>
            <a:ext cx="128724" cy="128724"/>
          </a:xfrm>
          <a:custGeom>
            <a:avLst/>
            <a:gdLst/>
            <a:ahLst/>
            <a:cxnLst/>
            <a:rect l="l" t="t" r="r" b="b"/>
            <a:pathLst>
              <a:path w="128724" h="128724">
                <a:moveTo>
                  <a:pt x="64362" y="128724"/>
                </a:moveTo>
                <a:cubicBezTo>
                  <a:pt x="99884" y="128724"/>
                  <a:pt x="128724" y="99884"/>
                  <a:pt x="128724" y="64362"/>
                </a:cubicBezTo>
                <a:cubicBezTo>
                  <a:pt x="128724" y="28840"/>
                  <a:pt x="99884" y="0"/>
                  <a:pt x="64362" y="0"/>
                </a:cubicBezTo>
                <a:cubicBezTo>
                  <a:pt x="28840" y="0"/>
                  <a:pt x="0" y="28840"/>
                  <a:pt x="0" y="64362"/>
                </a:cubicBezTo>
                <a:cubicBezTo>
                  <a:pt x="0" y="99884"/>
                  <a:pt x="28840" y="128724"/>
                  <a:pt x="64362" y="128724"/>
                </a:cubicBezTo>
                <a:close/>
                <a:moveTo>
                  <a:pt x="56317" y="40226"/>
                </a:moveTo>
                <a:cubicBezTo>
                  <a:pt x="56317" y="35786"/>
                  <a:pt x="59922" y="32181"/>
                  <a:pt x="64362" y="32181"/>
                </a:cubicBezTo>
                <a:cubicBezTo>
                  <a:pt x="68802" y="32181"/>
                  <a:pt x="72407" y="35786"/>
                  <a:pt x="72407" y="40226"/>
                </a:cubicBezTo>
                <a:cubicBezTo>
                  <a:pt x="72407" y="44667"/>
                  <a:pt x="68802" y="48271"/>
                  <a:pt x="64362" y="48271"/>
                </a:cubicBezTo>
                <a:cubicBezTo>
                  <a:pt x="59922" y="48271"/>
                  <a:pt x="56317" y="44667"/>
                  <a:pt x="56317" y="40226"/>
                </a:cubicBezTo>
                <a:close/>
                <a:moveTo>
                  <a:pt x="54305" y="56317"/>
                </a:moveTo>
                <a:lnTo>
                  <a:pt x="66373" y="56317"/>
                </a:lnTo>
                <a:cubicBezTo>
                  <a:pt x="69717" y="56317"/>
                  <a:pt x="72407" y="59007"/>
                  <a:pt x="72407" y="62351"/>
                </a:cubicBezTo>
                <a:lnTo>
                  <a:pt x="72407" y="84475"/>
                </a:lnTo>
                <a:lnTo>
                  <a:pt x="74419" y="84475"/>
                </a:lnTo>
                <a:cubicBezTo>
                  <a:pt x="77762" y="84475"/>
                  <a:pt x="80452" y="87165"/>
                  <a:pt x="80452" y="90509"/>
                </a:cubicBezTo>
                <a:cubicBezTo>
                  <a:pt x="80452" y="93853"/>
                  <a:pt x="77762" y="96543"/>
                  <a:pt x="74419" y="96543"/>
                </a:cubicBezTo>
                <a:lnTo>
                  <a:pt x="54305" y="96543"/>
                </a:lnTo>
                <a:cubicBezTo>
                  <a:pt x="50962" y="96543"/>
                  <a:pt x="48271" y="93853"/>
                  <a:pt x="48271" y="90509"/>
                </a:cubicBezTo>
                <a:cubicBezTo>
                  <a:pt x="48271" y="87165"/>
                  <a:pt x="50962" y="84475"/>
                  <a:pt x="54305" y="84475"/>
                </a:cubicBezTo>
                <a:lnTo>
                  <a:pt x="60339" y="84475"/>
                </a:lnTo>
                <a:lnTo>
                  <a:pt x="60339" y="68385"/>
                </a:lnTo>
                <a:lnTo>
                  <a:pt x="54305" y="68385"/>
                </a:lnTo>
                <a:cubicBezTo>
                  <a:pt x="50962" y="68385"/>
                  <a:pt x="48271" y="65694"/>
                  <a:pt x="48271" y="62351"/>
                </a:cubicBezTo>
                <a:cubicBezTo>
                  <a:pt x="48271" y="59007"/>
                  <a:pt x="50962" y="56317"/>
                  <a:pt x="54305" y="56317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1" name="Text 29"/>
          <p:cNvSpPr/>
          <p:nvPr/>
        </p:nvSpPr>
        <p:spPr>
          <a:xfrm>
            <a:off x="888121" y="6311040"/>
            <a:ext cx="4976176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回购市场流动性充裕，未出现系统性美元短缺或信贷紧缩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84489" y="1180583"/>
            <a:ext cx="5542487" cy="3712767"/>
          </a:xfrm>
          <a:custGeom>
            <a:avLst/>
            <a:gdLst/>
            <a:ahLst/>
            <a:cxnLst/>
            <a:rect l="l" t="t" r="r" b="b"/>
            <a:pathLst>
              <a:path w="5542487" h="3712767">
                <a:moveTo>
                  <a:pt x="73550" y="0"/>
                </a:moveTo>
                <a:lnTo>
                  <a:pt x="5468937" y="0"/>
                </a:lnTo>
                <a:cubicBezTo>
                  <a:pt x="5509557" y="0"/>
                  <a:pt x="5542487" y="32929"/>
                  <a:pt x="5542487" y="73550"/>
                </a:cubicBezTo>
                <a:lnTo>
                  <a:pt x="5542487" y="3639217"/>
                </a:lnTo>
                <a:cubicBezTo>
                  <a:pt x="5542487" y="3679838"/>
                  <a:pt x="5509557" y="3712767"/>
                  <a:pt x="5468937" y="3712767"/>
                </a:cubicBezTo>
                <a:lnTo>
                  <a:pt x="73550" y="3712767"/>
                </a:lnTo>
                <a:cubicBezTo>
                  <a:pt x="32929" y="3712767"/>
                  <a:pt x="0" y="3679838"/>
                  <a:pt x="0" y="3639217"/>
                </a:cubicBezTo>
                <a:lnTo>
                  <a:pt x="0" y="73550"/>
                </a:lnTo>
                <a:cubicBezTo>
                  <a:pt x="0" y="32957"/>
                  <a:pt x="32957" y="0"/>
                  <a:pt x="73550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72058" y="1368152"/>
            <a:ext cx="5250100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3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情绪指标全景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75736" y="1776391"/>
            <a:ext cx="5156315" cy="890034"/>
          </a:xfrm>
          <a:custGeom>
            <a:avLst/>
            <a:gdLst/>
            <a:ahLst/>
            <a:cxnLst/>
            <a:rect l="l" t="t" r="r" b="b"/>
            <a:pathLst>
              <a:path w="5156315" h="890034">
                <a:moveTo>
                  <a:pt x="73552" y="0"/>
                </a:moveTo>
                <a:lnTo>
                  <a:pt x="5082762" y="0"/>
                </a:lnTo>
                <a:cubicBezTo>
                  <a:pt x="5123384" y="0"/>
                  <a:pt x="5156315" y="32931"/>
                  <a:pt x="5156315" y="73552"/>
                </a:cubicBezTo>
                <a:lnTo>
                  <a:pt x="5156315" y="816482"/>
                </a:lnTo>
                <a:cubicBezTo>
                  <a:pt x="5156315" y="857104"/>
                  <a:pt x="5123384" y="890034"/>
                  <a:pt x="5082762" y="890034"/>
                </a:cubicBezTo>
                <a:lnTo>
                  <a:pt x="73552" y="890034"/>
                </a:lnTo>
                <a:cubicBezTo>
                  <a:pt x="32931" y="890034"/>
                  <a:pt x="0" y="857104"/>
                  <a:pt x="0" y="816482"/>
                </a:cubicBezTo>
                <a:lnTo>
                  <a:pt x="0" y="73552"/>
                </a:lnTo>
                <a:cubicBezTo>
                  <a:pt x="0" y="32958"/>
                  <a:pt x="32958" y="0"/>
                  <a:pt x="73552" y="0"/>
                </a:cubicBezTo>
                <a:close/>
              </a:path>
            </a:pathLst>
          </a:custGeom>
          <a:solidFill>
            <a:srgbClr val="D32F2F">
              <a:alpha val="5098"/>
            </a:srgbClr>
          </a:solidFill>
          <a:ln w="10160">
            <a:solidFill>
              <a:srgbClr val="D32F2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26527" y="1963847"/>
            <a:ext cx="1406769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AAII 个人净看多比例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871085" y="1927183"/>
            <a:ext cx="717176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8" b="1" dirty="0">
                <a:solidFill>
                  <a:srgbClr val="D32F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22.5%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626527" y="2313126"/>
            <a:ext cx="2068778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阈值：&lt;25% 历史大底 | &gt;20% 超买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777712" y="2294849"/>
            <a:ext cx="367783" cy="220670"/>
          </a:xfrm>
          <a:custGeom>
            <a:avLst/>
            <a:gdLst/>
            <a:ahLst/>
            <a:cxnLst/>
            <a:rect l="l" t="t" r="r" b="b"/>
            <a:pathLst>
              <a:path w="367783" h="220670">
                <a:moveTo>
                  <a:pt x="36779" y="0"/>
                </a:moveTo>
                <a:lnTo>
                  <a:pt x="331004" y="0"/>
                </a:lnTo>
                <a:cubicBezTo>
                  <a:pt x="351316" y="0"/>
                  <a:pt x="367783" y="16467"/>
                  <a:pt x="367783" y="36779"/>
                </a:cubicBezTo>
                <a:lnTo>
                  <a:pt x="367783" y="183891"/>
                </a:lnTo>
                <a:cubicBezTo>
                  <a:pt x="367783" y="204190"/>
                  <a:pt x="351303" y="220670"/>
                  <a:pt x="331004" y="220670"/>
                </a:cubicBezTo>
                <a:lnTo>
                  <a:pt x="36779" y="220670"/>
                </a:lnTo>
                <a:cubicBezTo>
                  <a:pt x="16467" y="220670"/>
                  <a:pt x="0" y="204203"/>
                  <a:pt x="0" y="183891"/>
                </a:cubicBezTo>
                <a:lnTo>
                  <a:pt x="0" y="36779"/>
                </a:lnTo>
                <a:cubicBezTo>
                  <a:pt x="0" y="16480"/>
                  <a:pt x="16480" y="0"/>
                  <a:pt x="36779" y="0"/>
                </a:cubicBezTo>
                <a:close/>
              </a:path>
            </a:pathLst>
          </a:custGeom>
          <a:solidFill>
            <a:srgbClr val="D32F2F"/>
          </a:solidFill>
          <a:ln/>
        </p:spPr>
      </p:sp>
      <p:sp>
        <p:nvSpPr>
          <p:cNvPr id="39" name="Text 37"/>
          <p:cNvSpPr/>
          <p:nvPr/>
        </p:nvSpPr>
        <p:spPr>
          <a:xfrm>
            <a:off x="8777712" y="2294849"/>
            <a:ext cx="422950" cy="220670"/>
          </a:xfrm>
          <a:prstGeom prst="rect">
            <a:avLst/>
          </a:prstGeom>
          <a:noFill/>
          <a:ln/>
        </p:spPr>
        <p:txBody>
          <a:bodyPr wrap="square" lIns="73557" tIns="36778" rIns="73557" bIns="36778" rtlCol="0" anchor="ctr"/>
          <a:lstStyle/>
          <a:p>
            <a:pPr>
              <a:lnSpc>
                <a:spcPct val="110000"/>
              </a:lnSpc>
            </a:pPr>
            <a:r>
              <a:rPr lang="en-US" sz="869" dirty="0">
                <a:solidFill>
                  <a:srgbClr val="FAFA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超买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75736" y="2820664"/>
            <a:ext cx="5156315" cy="890034"/>
          </a:xfrm>
          <a:custGeom>
            <a:avLst/>
            <a:gdLst/>
            <a:ahLst/>
            <a:cxnLst/>
            <a:rect l="l" t="t" r="r" b="b"/>
            <a:pathLst>
              <a:path w="5156315" h="890034">
                <a:moveTo>
                  <a:pt x="73552" y="0"/>
                </a:moveTo>
                <a:lnTo>
                  <a:pt x="5082762" y="0"/>
                </a:lnTo>
                <a:cubicBezTo>
                  <a:pt x="5123384" y="0"/>
                  <a:pt x="5156315" y="32931"/>
                  <a:pt x="5156315" y="73552"/>
                </a:cubicBezTo>
                <a:lnTo>
                  <a:pt x="5156315" y="816482"/>
                </a:lnTo>
                <a:cubicBezTo>
                  <a:pt x="5156315" y="857104"/>
                  <a:pt x="5123384" y="890034"/>
                  <a:pt x="5082762" y="890034"/>
                </a:cubicBezTo>
                <a:lnTo>
                  <a:pt x="73552" y="890034"/>
                </a:lnTo>
                <a:cubicBezTo>
                  <a:pt x="32931" y="890034"/>
                  <a:pt x="0" y="857104"/>
                  <a:pt x="0" y="816482"/>
                </a:cubicBezTo>
                <a:lnTo>
                  <a:pt x="0" y="73552"/>
                </a:lnTo>
                <a:cubicBezTo>
                  <a:pt x="0" y="32958"/>
                  <a:pt x="32958" y="0"/>
                  <a:pt x="73552" y="0"/>
                </a:cubicBezTo>
                <a:close/>
              </a:path>
            </a:pathLst>
          </a:custGeom>
          <a:solidFill>
            <a:srgbClr val="D32F2F">
              <a:alpha val="5098"/>
            </a:srgbClr>
          </a:solidFill>
          <a:ln w="10160">
            <a:solidFill>
              <a:srgbClr val="D32F2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26527" y="3008119"/>
            <a:ext cx="1563077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Market Vane 看涨共识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733167" y="2971458"/>
            <a:ext cx="855095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8" b="1" dirty="0">
                <a:solidFill>
                  <a:srgbClr val="D32F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72-74%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626527" y="3357396"/>
            <a:ext cx="1811330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阈值：&lt;30% 买入 | &gt;70% 超买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521758" y="3339124"/>
            <a:ext cx="588452" cy="220670"/>
          </a:xfrm>
          <a:custGeom>
            <a:avLst/>
            <a:gdLst/>
            <a:ahLst/>
            <a:cxnLst/>
            <a:rect l="l" t="t" r="r" b="b"/>
            <a:pathLst>
              <a:path w="588452" h="220670">
                <a:moveTo>
                  <a:pt x="36779" y="0"/>
                </a:moveTo>
                <a:lnTo>
                  <a:pt x="551673" y="0"/>
                </a:lnTo>
                <a:cubicBezTo>
                  <a:pt x="571986" y="0"/>
                  <a:pt x="588452" y="16467"/>
                  <a:pt x="588452" y="36779"/>
                </a:cubicBezTo>
                <a:lnTo>
                  <a:pt x="588452" y="183891"/>
                </a:lnTo>
                <a:cubicBezTo>
                  <a:pt x="588452" y="204190"/>
                  <a:pt x="571972" y="220670"/>
                  <a:pt x="551673" y="220670"/>
                </a:cubicBezTo>
                <a:lnTo>
                  <a:pt x="36779" y="220670"/>
                </a:lnTo>
                <a:cubicBezTo>
                  <a:pt x="16467" y="220670"/>
                  <a:pt x="0" y="204203"/>
                  <a:pt x="0" y="183891"/>
                </a:cubicBezTo>
                <a:lnTo>
                  <a:pt x="0" y="36779"/>
                </a:lnTo>
                <a:cubicBezTo>
                  <a:pt x="0" y="16480"/>
                  <a:pt x="16480" y="0"/>
                  <a:pt x="36779" y="0"/>
                </a:cubicBezTo>
                <a:close/>
              </a:path>
            </a:pathLst>
          </a:custGeom>
          <a:solidFill>
            <a:srgbClr val="D32F2F"/>
          </a:solidFill>
          <a:ln/>
        </p:spPr>
      </p:sp>
      <p:sp>
        <p:nvSpPr>
          <p:cNvPr id="45" name="Text 43"/>
          <p:cNvSpPr/>
          <p:nvPr/>
        </p:nvSpPr>
        <p:spPr>
          <a:xfrm>
            <a:off x="8521758" y="3339124"/>
            <a:ext cx="643620" cy="220670"/>
          </a:xfrm>
          <a:prstGeom prst="rect">
            <a:avLst/>
          </a:prstGeom>
          <a:noFill/>
          <a:ln/>
        </p:spPr>
        <p:txBody>
          <a:bodyPr wrap="square" lIns="73557" tIns="36778" rIns="73557" bIns="36778" rtlCol="0" anchor="ctr"/>
          <a:lstStyle/>
          <a:p>
            <a:pPr>
              <a:lnSpc>
                <a:spcPct val="110000"/>
              </a:lnSpc>
            </a:pPr>
            <a:r>
              <a:rPr lang="en-US" sz="869" dirty="0">
                <a:solidFill>
                  <a:srgbClr val="FAFA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极度乐观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472058" y="3861262"/>
            <a:ext cx="5167348" cy="845900"/>
          </a:xfrm>
          <a:custGeom>
            <a:avLst/>
            <a:gdLst/>
            <a:ahLst/>
            <a:cxnLst/>
            <a:rect l="l" t="t" r="r" b="b"/>
            <a:pathLst>
              <a:path w="5167348" h="845900">
                <a:moveTo>
                  <a:pt x="73560" y="0"/>
                </a:moveTo>
                <a:lnTo>
                  <a:pt x="5093789" y="0"/>
                </a:lnTo>
                <a:cubicBezTo>
                  <a:pt x="5134415" y="0"/>
                  <a:pt x="5167348" y="32934"/>
                  <a:pt x="5167348" y="73560"/>
                </a:cubicBezTo>
                <a:lnTo>
                  <a:pt x="5167348" y="772341"/>
                </a:lnTo>
                <a:cubicBezTo>
                  <a:pt x="5167348" y="812967"/>
                  <a:pt x="5134415" y="845900"/>
                  <a:pt x="5093789" y="845900"/>
                </a:cubicBezTo>
                <a:lnTo>
                  <a:pt x="73560" y="845900"/>
                </a:lnTo>
                <a:cubicBezTo>
                  <a:pt x="32961" y="845900"/>
                  <a:pt x="0" y="812940"/>
                  <a:pt x="0" y="772341"/>
                </a:cubicBezTo>
                <a:lnTo>
                  <a:pt x="0" y="73560"/>
                </a:lnTo>
                <a:cubicBezTo>
                  <a:pt x="0" y="32961"/>
                  <a:pt x="32961" y="0"/>
                  <a:pt x="73560" y="0"/>
                </a:cubicBezTo>
                <a:close/>
              </a:path>
            </a:pathLst>
          </a:custGeom>
          <a:solidFill>
            <a:srgbClr val="FAFAFA"/>
          </a:solidFill>
          <a:ln/>
        </p:spPr>
      </p:sp>
      <p:sp>
        <p:nvSpPr>
          <p:cNvPr id="47" name="Text 45"/>
          <p:cNvSpPr/>
          <p:nvPr/>
        </p:nvSpPr>
        <p:spPr>
          <a:xfrm>
            <a:off x="6619171" y="4045036"/>
            <a:ext cx="781538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VIX 波动率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961193" y="4008375"/>
            <a:ext cx="634425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8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14-16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619171" y="4376041"/>
            <a:ext cx="4937484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阈值：15正常 | &gt;30买入 | &gt;40强买入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284489" y="5049086"/>
            <a:ext cx="5542487" cy="1809491"/>
          </a:xfrm>
          <a:custGeom>
            <a:avLst/>
            <a:gdLst/>
            <a:ahLst/>
            <a:cxnLst/>
            <a:rect l="l" t="t" r="r" b="b"/>
            <a:pathLst>
              <a:path w="5542487" h="1809491">
                <a:moveTo>
                  <a:pt x="73556" y="0"/>
                </a:moveTo>
                <a:lnTo>
                  <a:pt x="5468931" y="0"/>
                </a:lnTo>
                <a:cubicBezTo>
                  <a:pt x="5509555" y="0"/>
                  <a:pt x="5542487" y="32932"/>
                  <a:pt x="5542487" y="73556"/>
                </a:cubicBezTo>
                <a:lnTo>
                  <a:pt x="5542487" y="1735936"/>
                </a:lnTo>
                <a:cubicBezTo>
                  <a:pt x="5542487" y="1776559"/>
                  <a:pt x="5509555" y="1809491"/>
                  <a:pt x="5468931" y="1809491"/>
                </a:cubicBezTo>
                <a:lnTo>
                  <a:pt x="73556" y="1809491"/>
                </a:lnTo>
                <a:cubicBezTo>
                  <a:pt x="32959" y="1809491"/>
                  <a:pt x="0" y="1776532"/>
                  <a:pt x="0" y="1735936"/>
                </a:cubicBezTo>
                <a:lnTo>
                  <a:pt x="0" y="73556"/>
                </a:lnTo>
                <a:cubicBezTo>
                  <a:pt x="0" y="32959"/>
                  <a:pt x="32959" y="0"/>
                  <a:pt x="73556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72058" y="5236653"/>
            <a:ext cx="5250100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3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Carry-to-Risk 比率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472058" y="5604436"/>
            <a:ext cx="845900" cy="367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06" b="1" dirty="0">
                <a:solidFill>
                  <a:srgbClr val="D32F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0.28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647082" y="5622825"/>
            <a:ext cx="983819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14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当前水平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0656277" y="5806717"/>
            <a:ext cx="974624" cy="147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869" dirty="0">
                <a:solidFill>
                  <a:srgbClr val="D32F2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崩盘前夜阈值 &lt;0.3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490447" y="6082554"/>
            <a:ext cx="5148959" cy="588452"/>
          </a:xfrm>
          <a:custGeom>
            <a:avLst/>
            <a:gdLst/>
            <a:ahLst/>
            <a:cxnLst/>
            <a:rect l="l" t="t" r="r" b="b"/>
            <a:pathLst>
              <a:path w="5148959" h="588452">
                <a:moveTo>
                  <a:pt x="36778" y="0"/>
                </a:moveTo>
                <a:lnTo>
                  <a:pt x="5112181" y="0"/>
                </a:lnTo>
                <a:cubicBezTo>
                  <a:pt x="5132493" y="0"/>
                  <a:pt x="5148959" y="16466"/>
                  <a:pt x="5148959" y="36778"/>
                </a:cubicBezTo>
                <a:lnTo>
                  <a:pt x="5148959" y="551674"/>
                </a:lnTo>
                <a:cubicBezTo>
                  <a:pt x="5148959" y="571986"/>
                  <a:pt x="5132493" y="588452"/>
                  <a:pt x="5112181" y="588452"/>
                </a:cubicBezTo>
                <a:lnTo>
                  <a:pt x="36778" y="588452"/>
                </a:lnTo>
                <a:cubicBezTo>
                  <a:pt x="16466" y="588452"/>
                  <a:pt x="0" y="571986"/>
                  <a:pt x="0" y="551674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D32F2F">
              <a:alpha val="5098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490447" y="6082554"/>
            <a:ext cx="36778" cy="588452"/>
          </a:xfrm>
          <a:custGeom>
            <a:avLst/>
            <a:gdLst/>
            <a:ahLst/>
            <a:cxnLst/>
            <a:rect l="l" t="t" r="r" b="b"/>
            <a:pathLst>
              <a:path w="36778" h="588452">
                <a:moveTo>
                  <a:pt x="36778" y="0"/>
                </a:moveTo>
                <a:lnTo>
                  <a:pt x="36778" y="0"/>
                </a:lnTo>
                <a:lnTo>
                  <a:pt x="36778" y="588452"/>
                </a:lnTo>
                <a:lnTo>
                  <a:pt x="36778" y="588452"/>
                </a:lnTo>
                <a:cubicBezTo>
                  <a:pt x="16466" y="588452"/>
                  <a:pt x="0" y="571986"/>
                  <a:pt x="0" y="551674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D32F2F"/>
          </a:solidFill>
          <a:ln/>
        </p:spPr>
      </p:sp>
      <p:sp>
        <p:nvSpPr>
          <p:cNvPr id="57" name="Shape 55"/>
          <p:cNvSpPr/>
          <p:nvPr/>
        </p:nvSpPr>
        <p:spPr>
          <a:xfrm>
            <a:off x="6637560" y="6214955"/>
            <a:ext cx="128724" cy="128724"/>
          </a:xfrm>
          <a:custGeom>
            <a:avLst/>
            <a:gdLst/>
            <a:ahLst/>
            <a:cxnLst/>
            <a:rect l="l" t="t" r="r" b="b"/>
            <a:pathLst>
              <a:path w="128724" h="128724">
                <a:moveTo>
                  <a:pt x="64362" y="0"/>
                </a:moveTo>
                <a:cubicBezTo>
                  <a:pt x="68058" y="0"/>
                  <a:pt x="71452" y="2036"/>
                  <a:pt x="73212" y="5280"/>
                </a:cubicBezTo>
                <a:lnTo>
                  <a:pt x="127517" y="105845"/>
                </a:lnTo>
                <a:cubicBezTo>
                  <a:pt x="129202" y="108963"/>
                  <a:pt x="129126" y="112734"/>
                  <a:pt x="127316" y="115776"/>
                </a:cubicBezTo>
                <a:cubicBezTo>
                  <a:pt x="125506" y="118818"/>
                  <a:pt x="122212" y="120679"/>
                  <a:pt x="118667" y="120679"/>
                </a:cubicBezTo>
                <a:lnTo>
                  <a:pt x="10057" y="120679"/>
                </a:lnTo>
                <a:cubicBezTo>
                  <a:pt x="6512" y="120679"/>
                  <a:pt x="3243" y="118818"/>
                  <a:pt x="1408" y="115776"/>
                </a:cubicBezTo>
                <a:cubicBezTo>
                  <a:pt x="-427" y="112734"/>
                  <a:pt x="-478" y="108963"/>
                  <a:pt x="1207" y="105845"/>
                </a:cubicBezTo>
                <a:lnTo>
                  <a:pt x="55512" y="5280"/>
                </a:lnTo>
                <a:cubicBezTo>
                  <a:pt x="57272" y="2036"/>
                  <a:pt x="60666" y="0"/>
                  <a:pt x="64362" y="0"/>
                </a:cubicBezTo>
                <a:close/>
                <a:moveTo>
                  <a:pt x="64362" y="42238"/>
                </a:moveTo>
                <a:cubicBezTo>
                  <a:pt x="61018" y="42238"/>
                  <a:pt x="58328" y="44928"/>
                  <a:pt x="58328" y="48271"/>
                </a:cubicBezTo>
                <a:lnTo>
                  <a:pt x="58328" y="76430"/>
                </a:lnTo>
                <a:cubicBezTo>
                  <a:pt x="58328" y="79774"/>
                  <a:pt x="61018" y="82464"/>
                  <a:pt x="64362" y="82464"/>
                </a:cubicBezTo>
                <a:cubicBezTo>
                  <a:pt x="67706" y="82464"/>
                  <a:pt x="70396" y="79774"/>
                  <a:pt x="70396" y="76430"/>
                </a:cubicBezTo>
                <a:lnTo>
                  <a:pt x="70396" y="48271"/>
                </a:lnTo>
                <a:cubicBezTo>
                  <a:pt x="70396" y="44928"/>
                  <a:pt x="67706" y="42238"/>
                  <a:pt x="64362" y="42238"/>
                </a:cubicBezTo>
                <a:close/>
                <a:moveTo>
                  <a:pt x="71075" y="96543"/>
                </a:moveTo>
                <a:cubicBezTo>
                  <a:pt x="71227" y="94051"/>
                  <a:pt x="69985" y="91681"/>
                  <a:pt x="67849" y="90389"/>
                </a:cubicBezTo>
                <a:cubicBezTo>
                  <a:pt x="65713" y="89097"/>
                  <a:pt x="63036" y="89097"/>
                  <a:pt x="60900" y="90389"/>
                </a:cubicBezTo>
                <a:cubicBezTo>
                  <a:pt x="58764" y="91681"/>
                  <a:pt x="57522" y="94051"/>
                  <a:pt x="57674" y="96543"/>
                </a:cubicBezTo>
                <a:cubicBezTo>
                  <a:pt x="57522" y="99035"/>
                  <a:pt x="58764" y="101405"/>
                  <a:pt x="60900" y="102697"/>
                </a:cubicBezTo>
                <a:cubicBezTo>
                  <a:pt x="63036" y="103989"/>
                  <a:pt x="65713" y="103989"/>
                  <a:pt x="67849" y="102697"/>
                </a:cubicBezTo>
                <a:cubicBezTo>
                  <a:pt x="69985" y="101405"/>
                  <a:pt x="71227" y="99035"/>
                  <a:pt x="71075" y="96543"/>
                </a:cubicBezTo>
                <a:close/>
              </a:path>
            </a:pathLst>
          </a:custGeom>
          <a:solidFill>
            <a:srgbClr val="D32F2F"/>
          </a:solidFill>
          <a:ln/>
        </p:spPr>
      </p:sp>
      <p:sp>
        <p:nvSpPr>
          <p:cNvPr id="58" name="Text 56"/>
          <p:cNvSpPr/>
          <p:nvPr/>
        </p:nvSpPr>
        <p:spPr>
          <a:xfrm>
            <a:off x="6837927" y="6192889"/>
            <a:ext cx="4755507" cy="367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红色警报：若USD/JPY跌破142且隐含波动率突破18%，CTR将跌破0.25，历史上通常伴随纳斯达克3%-5%的单日大阴线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367783" y="6105195"/>
            <a:ext cx="11511602" cy="147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9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重要声明：本报告基于历史路径经验推断，非实时数据驱动。历史表现不代表未来结果，经济环境可能发生结构性变化导致历史规律失效。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VALUATION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D1D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估值水平：估值昂贵分析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223010"/>
            <a:ext cx="5703570" cy="4341495"/>
          </a:xfrm>
          <a:custGeom>
            <a:avLst/>
            <a:gdLst/>
            <a:ahLst/>
            <a:cxnLst/>
            <a:rect l="l" t="t" r="r" b="b"/>
            <a:pathLst>
              <a:path w="5703570" h="4341495">
                <a:moveTo>
                  <a:pt x="76193" y="0"/>
                </a:moveTo>
                <a:lnTo>
                  <a:pt x="5627377" y="0"/>
                </a:lnTo>
                <a:cubicBezTo>
                  <a:pt x="5669457" y="0"/>
                  <a:pt x="5703570" y="34113"/>
                  <a:pt x="5703570" y="76193"/>
                </a:cubicBezTo>
                <a:lnTo>
                  <a:pt x="5703570" y="4265302"/>
                </a:lnTo>
                <a:cubicBezTo>
                  <a:pt x="5703570" y="4307382"/>
                  <a:pt x="5669457" y="4341495"/>
                  <a:pt x="5627377" y="4341495"/>
                </a:cubicBezTo>
                <a:lnTo>
                  <a:pt x="76193" y="4341495"/>
                </a:lnTo>
                <a:cubicBezTo>
                  <a:pt x="34113" y="4341495"/>
                  <a:pt x="0" y="4307382"/>
                  <a:pt x="0" y="4265302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9120" y="1417323"/>
            <a:ext cx="540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核心估值指标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82930" y="1840233"/>
            <a:ext cx="5313045" cy="1074420"/>
          </a:xfrm>
          <a:custGeom>
            <a:avLst/>
            <a:gdLst/>
            <a:ahLst/>
            <a:cxnLst/>
            <a:rect l="l" t="t" r="r" b="b"/>
            <a:pathLst>
              <a:path w="5313045" h="1074420">
                <a:moveTo>
                  <a:pt x="76198" y="0"/>
                </a:moveTo>
                <a:lnTo>
                  <a:pt x="5236847" y="0"/>
                </a:lnTo>
                <a:cubicBezTo>
                  <a:pt x="5278930" y="0"/>
                  <a:pt x="5313045" y="34115"/>
                  <a:pt x="5313045" y="76198"/>
                </a:cubicBezTo>
                <a:lnTo>
                  <a:pt x="5313045" y="998222"/>
                </a:lnTo>
                <a:cubicBezTo>
                  <a:pt x="5313045" y="1040305"/>
                  <a:pt x="5278930" y="1074420"/>
                  <a:pt x="5236847" y="1074420"/>
                </a:cubicBezTo>
                <a:lnTo>
                  <a:pt x="76198" y="1074420"/>
                </a:lnTo>
                <a:cubicBezTo>
                  <a:pt x="34115" y="1074420"/>
                  <a:pt x="0" y="1040305"/>
                  <a:pt x="0" y="99822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D32F2F">
              <a:alpha val="5098"/>
            </a:srgbClr>
          </a:solidFill>
          <a:ln w="10160">
            <a:solidFill>
              <a:srgbClr val="D32F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9140" y="203442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标普500 ERP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9140" y="2263020"/>
            <a:ext cx="98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股权风险溢价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87384" y="1996441"/>
            <a:ext cx="95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50" b="1" dirty="0">
                <a:solidFill>
                  <a:srgbClr val="D32F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0.45%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73109" y="2339341"/>
            <a:ext cx="866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10年分位: 5%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58190" y="2590684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66675" y="35421"/>
                </a:moveTo>
                <a:cubicBezTo>
                  <a:pt x="70139" y="35421"/>
                  <a:pt x="72926" y="38208"/>
                  <a:pt x="72926" y="41672"/>
                </a:cubicBezTo>
                <a:lnTo>
                  <a:pt x="72926" y="70842"/>
                </a:lnTo>
                <a:cubicBezTo>
                  <a:pt x="72926" y="74306"/>
                  <a:pt x="70139" y="77093"/>
                  <a:pt x="66675" y="77093"/>
                </a:cubicBezTo>
                <a:cubicBezTo>
                  <a:pt x="63211" y="77093"/>
                  <a:pt x="60424" y="74306"/>
                  <a:pt x="60424" y="70842"/>
                </a:cubicBezTo>
                <a:lnTo>
                  <a:pt x="60424" y="41672"/>
                </a:lnTo>
                <a:cubicBezTo>
                  <a:pt x="60424" y="38208"/>
                  <a:pt x="63211" y="35421"/>
                  <a:pt x="66675" y="35421"/>
                </a:cubicBezTo>
                <a:close/>
                <a:moveTo>
                  <a:pt x="59721" y="91678"/>
                </a:moveTo>
                <a:cubicBezTo>
                  <a:pt x="59563" y="89097"/>
                  <a:pt x="60850" y="86641"/>
                  <a:pt x="63063" y="85303"/>
                </a:cubicBezTo>
                <a:cubicBezTo>
                  <a:pt x="65276" y="83964"/>
                  <a:pt x="68048" y="83964"/>
                  <a:pt x="70261" y="85303"/>
                </a:cubicBezTo>
                <a:cubicBezTo>
                  <a:pt x="72474" y="86641"/>
                  <a:pt x="73761" y="89097"/>
                  <a:pt x="73603" y="91678"/>
                </a:cubicBezTo>
                <a:cubicBezTo>
                  <a:pt x="73761" y="94259"/>
                  <a:pt x="72474" y="96715"/>
                  <a:pt x="70261" y="98054"/>
                </a:cubicBezTo>
                <a:cubicBezTo>
                  <a:pt x="68048" y="99392"/>
                  <a:pt x="65276" y="99392"/>
                  <a:pt x="63063" y="98054"/>
                </a:cubicBezTo>
                <a:cubicBezTo>
                  <a:pt x="60850" y="96715"/>
                  <a:pt x="59563" y="94259"/>
                  <a:pt x="59721" y="91678"/>
                </a:cubicBezTo>
                <a:close/>
              </a:path>
            </a:pathLst>
          </a:custGeom>
          <a:solidFill>
            <a:srgbClr val="D32F2F"/>
          </a:solidFill>
          <a:ln/>
        </p:spPr>
      </p:sp>
      <p:sp>
        <p:nvSpPr>
          <p:cNvPr id="12" name="Text 10"/>
          <p:cNvSpPr/>
          <p:nvPr/>
        </p:nvSpPr>
        <p:spPr>
          <a:xfrm>
            <a:off x="967740" y="2567820"/>
            <a:ext cx="4838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32F2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极度昂贵：ERP跌破1%警戒线，相对于债市，股市溢价极低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9120" y="3070743"/>
            <a:ext cx="5314950" cy="1066800"/>
          </a:xfrm>
          <a:custGeom>
            <a:avLst/>
            <a:gdLst/>
            <a:ahLst/>
            <a:cxnLst/>
            <a:rect l="l" t="t" r="r" b="b"/>
            <a:pathLst>
              <a:path w="5314950" h="1066800">
                <a:moveTo>
                  <a:pt x="76202" y="0"/>
                </a:moveTo>
                <a:lnTo>
                  <a:pt x="5238748" y="0"/>
                </a:lnTo>
                <a:cubicBezTo>
                  <a:pt x="5280833" y="0"/>
                  <a:pt x="5314950" y="34117"/>
                  <a:pt x="5314950" y="76202"/>
                </a:cubicBezTo>
                <a:lnTo>
                  <a:pt x="5314950" y="990598"/>
                </a:lnTo>
                <a:cubicBezTo>
                  <a:pt x="5314950" y="1032683"/>
                  <a:pt x="5280833" y="1066800"/>
                  <a:pt x="5238748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AFAF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261122"/>
            <a:ext cx="1704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前瞻 P/E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3489722"/>
            <a:ext cx="1695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Forward Price-to-Earnings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14123" y="3223143"/>
            <a:ext cx="1333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50" b="1" dirty="0">
                <a:solidFill>
                  <a:srgbClr val="D32F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21.5-22.2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99848" y="3566043"/>
            <a:ext cx="1247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10年均值: 18.8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50570" y="381738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58341" y="41672"/>
                </a:moveTo>
                <a:cubicBezTo>
                  <a:pt x="58341" y="37072"/>
                  <a:pt x="62075" y="33337"/>
                  <a:pt x="66675" y="33337"/>
                </a:cubicBezTo>
                <a:cubicBezTo>
                  <a:pt x="71275" y="33337"/>
                  <a:pt x="75009" y="37072"/>
                  <a:pt x="75009" y="41672"/>
                </a:cubicBezTo>
                <a:cubicBezTo>
                  <a:pt x="75009" y="46272"/>
                  <a:pt x="71275" y="50006"/>
                  <a:pt x="66675" y="50006"/>
                </a:cubicBezTo>
                <a:cubicBezTo>
                  <a:pt x="62075" y="50006"/>
                  <a:pt x="58341" y="46272"/>
                  <a:pt x="58341" y="41672"/>
                </a:cubicBezTo>
                <a:close/>
                <a:moveTo>
                  <a:pt x="56257" y="58341"/>
                </a:moveTo>
                <a:lnTo>
                  <a:pt x="68759" y="58341"/>
                </a:lnTo>
                <a:cubicBezTo>
                  <a:pt x="72223" y="58341"/>
                  <a:pt x="75009" y="61127"/>
                  <a:pt x="75009" y="64591"/>
                </a:cubicBezTo>
                <a:lnTo>
                  <a:pt x="75009" y="87511"/>
                </a:ln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56257" y="100013"/>
                </a:lnTo>
                <a:cubicBezTo>
                  <a:pt x="52793" y="100013"/>
                  <a:pt x="50006" y="97226"/>
                  <a:pt x="50006" y="93762"/>
                </a:cubicBezTo>
                <a:cubicBezTo>
                  <a:pt x="50006" y="90298"/>
                  <a:pt x="52793" y="87511"/>
                  <a:pt x="56257" y="87511"/>
                </a:cubicBezTo>
                <a:lnTo>
                  <a:pt x="62508" y="87511"/>
                </a:lnTo>
                <a:lnTo>
                  <a:pt x="62508" y="70842"/>
                </a:lnTo>
                <a:lnTo>
                  <a:pt x="56257" y="70842"/>
                </a:lnTo>
                <a:cubicBezTo>
                  <a:pt x="52793" y="70842"/>
                  <a:pt x="50006" y="68055"/>
                  <a:pt x="50006" y="64591"/>
                </a:cubicBezTo>
                <a:cubicBezTo>
                  <a:pt x="50006" y="61127"/>
                  <a:pt x="52793" y="58341"/>
                  <a:pt x="56257" y="58341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3794522"/>
            <a:ext cx="484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偏高：远高于10年平均水平，需依靠更强的盈利上修来支撑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82930" y="4293632"/>
            <a:ext cx="5313045" cy="1074420"/>
          </a:xfrm>
          <a:custGeom>
            <a:avLst/>
            <a:gdLst/>
            <a:ahLst/>
            <a:cxnLst/>
            <a:rect l="l" t="t" r="r" b="b"/>
            <a:pathLst>
              <a:path w="5313045" h="1074420">
                <a:moveTo>
                  <a:pt x="76198" y="0"/>
                </a:moveTo>
                <a:lnTo>
                  <a:pt x="5236847" y="0"/>
                </a:lnTo>
                <a:cubicBezTo>
                  <a:pt x="5278930" y="0"/>
                  <a:pt x="5313045" y="34115"/>
                  <a:pt x="5313045" y="76198"/>
                </a:cubicBezTo>
                <a:lnTo>
                  <a:pt x="5313045" y="998222"/>
                </a:lnTo>
                <a:cubicBezTo>
                  <a:pt x="5313045" y="1040305"/>
                  <a:pt x="5278930" y="1074420"/>
                  <a:pt x="5236847" y="1074420"/>
                </a:cubicBezTo>
                <a:lnTo>
                  <a:pt x="76198" y="1074420"/>
                </a:lnTo>
                <a:cubicBezTo>
                  <a:pt x="34115" y="1074420"/>
                  <a:pt x="0" y="1040305"/>
                  <a:pt x="0" y="99822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 w="10160">
            <a:solidFill>
              <a:srgbClr val="0071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9140" y="4487824"/>
            <a:ext cx="1933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真实股东收益率利差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9140" y="4716424"/>
            <a:ext cx="1924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 Shareholder Yield Spread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09185" y="4449845"/>
            <a:ext cx="8286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5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1.2%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94910" y="4792745"/>
            <a:ext cx="742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历史均值附近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58190" y="504408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6" name="Text 24"/>
          <p:cNvSpPr/>
          <p:nvPr/>
        </p:nvSpPr>
        <p:spPr>
          <a:xfrm>
            <a:off x="967740" y="5021224"/>
            <a:ext cx="4838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中性：考虑分红与回购后的综合收益尚可，缓冲了高PE的估值压力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90310" y="1223010"/>
            <a:ext cx="5513070" cy="2522220"/>
          </a:xfrm>
          <a:custGeom>
            <a:avLst/>
            <a:gdLst/>
            <a:ahLst/>
            <a:cxnLst/>
            <a:rect l="l" t="t" r="r" b="b"/>
            <a:pathLst>
              <a:path w="5513070" h="2522220">
                <a:moveTo>
                  <a:pt x="76196" y="0"/>
                </a:moveTo>
                <a:lnTo>
                  <a:pt x="5436874" y="0"/>
                </a:lnTo>
                <a:cubicBezTo>
                  <a:pt x="5478956" y="0"/>
                  <a:pt x="5513070" y="34114"/>
                  <a:pt x="5513070" y="76196"/>
                </a:cubicBezTo>
                <a:lnTo>
                  <a:pt x="5513070" y="2446024"/>
                </a:lnTo>
                <a:cubicBezTo>
                  <a:pt x="5513070" y="2488106"/>
                  <a:pt x="5478956" y="2522220"/>
                  <a:pt x="5436874" y="2522220"/>
                </a:cubicBezTo>
                <a:lnTo>
                  <a:pt x="76196" y="2522220"/>
                </a:lnTo>
                <a:cubicBezTo>
                  <a:pt x="34114" y="2522220"/>
                  <a:pt x="0" y="2488106"/>
                  <a:pt x="0" y="2446024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84620" y="1417323"/>
            <a:ext cx="5210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纳斯达克营收增长趋势</a:t>
            </a:r>
            <a:endParaRPr lang="en-US" sz="1600" dirty="0"/>
          </a:p>
        </p:txBody>
      </p:sp>
      <p:pic>
        <p:nvPicPr>
          <p:cNvPr id="29" name="Image 0" descr="https://kimi-img.moonshot.cn/pub/slides/26-03-04-18:00:19-d6k05csr4djg9ao0sumg.png">    </p:cNvPr>
          <p:cNvPicPr>
            <a:picLocks noChangeAspect="1"/>
          </p:cNvPicPr>
          <p:nvPr/>
        </p:nvPicPr>
        <p:blipFill>
          <a:blip r:embed="rId1"/>
          <a:srcRect l="0" r="0" t="37" b="37"/>
          <a:stretch/>
        </p:blipFill>
        <p:spPr>
          <a:xfrm>
            <a:off x="6484620" y="1836423"/>
            <a:ext cx="5124450" cy="1714500"/>
          </a:xfrm>
          <a:prstGeom prst="roundRect">
            <a:avLst>
              <a:gd name="adj" fmla="val 0"/>
            </a:avLst>
          </a:prstGeom>
        </p:spPr>
      </p:pic>
      <p:sp>
        <p:nvSpPr>
          <p:cNvPr id="30" name="Shape 27"/>
          <p:cNvSpPr/>
          <p:nvPr/>
        </p:nvSpPr>
        <p:spPr>
          <a:xfrm>
            <a:off x="6290310" y="3905251"/>
            <a:ext cx="5513070" cy="2684145"/>
          </a:xfrm>
          <a:custGeom>
            <a:avLst/>
            <a:gdLst/>
            <a:ahLst/>
            <a:cxnLst/>
            <a:rect l="l" t="t" r="r" b="b"/>
            <a:pathLst>
              <a:path w="5513070" h="2684145">
                <a:moveTo>
                  <a:pt x="76203" y="0"/>
                </a:moveTo>
                <a:lnTo>
                  <a:pt x="5436867" y="0"/>
                </a:lnTo>
                <a:cubicBezTo>
                  <a:pt x="5478953" y="0"/>
                  <a:pt x="5513070" y="34117"/>
                  <a:pt x="5513070" y="76203"/>
                </a:cubicBezTo>
                <a:lnTo>
                  <a:pt x="5513070" y="2607942"/>
                </a:lnTo>
                <a:cubicBezTo>
                  <a:pt x="5513070" y="2650028"/>
                  <a:pt x="5478953" y="2684145"/>
                  <a:pt x="5436867" y="2684145"/>
                </a:cubicBezTo>
                <a:lnTo>
                  <a:pt x="76203" y="2684145"/>
                </a:lnTo>
                <a:cubicBezTo>
                  <a:pt x="34117" y="2684145"/>
                  <a:pt x="0" y="2650028"/>
                  <a:pt x="0" y="2607942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84620" y="4099559"/>
            <a:ext cx="5210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估值压力警示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503670" y="4480559"/>
            <a:ext cx="5105400" cy="1047750"/>
          </a:xfrm>
          <a:custGeom>
            <a:avLst/>
            <a:gdLst/>
            <a:ahLst/>
            <a:cxnLst/>
            <a:rect l="l" t="t" r="r" b="b"/>
            <a:pathLst>
              <a:path w="5105400" h="1047750">
                <a:moveTo>
                  <a:pt x="38100" y="0"/>
                </a:moveTo>
                <a:lnTo>
                  <a:pt x="5029197" y="0"/>
                </a:lnTo>
                <a:cubicBezTo>
                  <a:pt x="5071255" y="0"/>
                  <a:pt x="5105400" y="34145"/>
                  <a:pt x="5105400" y="76203"/>
                </a:cubicBezTo>
                <a:lnTo>
                  <a:pt x="5105400" y="971547"/>
                </a:lnTo>
                <a:cubicBezTo>
                  <a:pt x="5105400" y="1013605"/>
                  <a:pt x="5071255" y="1047750"/>
                  <a:pt x="5029197" y="1047750"/>
                </a:cubicBezTo>
                <a:lnTo>
                  <a:pt x="38100" y="1047750"/>
                </a:lnTo>
                <a:cubicBezTo>
                  <a:pt x="17072" y="1047750"/>
                  <a:pt x="0" y="1030678"/>
                  <a:pt x="0" y="1009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32F2F">
              <a:alpha val="5098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6503670" y="4480559"/>
            <a:ext cx="38100" cy="1047750"/>
          </a:xfrm>
          <a:custGeom>
            <a:avLst/>
            <a:gdLst/>
            <a:ahLst/>
            <a:cxnLst/>
            <a:rect l="l" t="t" r="r" b="b"/>
            <a:pathLst>
              <a:path w="38100" h="1047750">
                <a:moveTo>
                  <a:pt x="38100" y="0"/>
                </a:moveTo>
                <a:lnTo>
                  <a:pt x="38100" y="0"/>
                </a:lnTo>
                <a:lnTo>
                  <a:pt x="38100" y="1047750"/>
                </a:lnTo>
                <a:lnTo>
                  <a:pt x="38100" y="1047750"/>
                </a:lnTo>
                <a:cubicBezTo>
                  <a:pt x="17072" y="1047750"/>
                  <a:pt x="0" y="1030678"/>
                  <a:pt x="0" y="1009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32F2F"/>
          </a:solidFill>
          <a:ln/>
        </p:spPr>
      </p:sp>
      <p:sp>
        <p:nvSpPr>
          <p:cNvPr id="34" name="Shape 31"/>
          <p:cNvSpPr/>
          <p:nvPr/>
        </p:nvSpPr>
        <p:spPr>
          <a:xfrm>
            <a:off x="6694170" y="467105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D32F2F"/>
          </a:solidFill>
          <a:ln/>
        </p:spPr>
      </p:sp>
      <p:sp>
        <p:nvSpPr>
          <p:cNvPr id="35" name="Text 32"/>
          <p:cNvSpPr/>
          <p:nvPr/>
        </p:nvSpPr>
        <p:spPr>
          <a:xfrm>
            <a:off x="6941820" y="4632959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关键洞察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675120" y="4937759"/>
            <a:ext cx="48482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ERP处于历史极低区间，估值贵，波动大。一旦美债收益率反弹或财报稍逊预期，纳斯达克将承受巨大估值下杀压力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484620" y="5675947"/>
            <a:ext cx="2486025" cy="723900"/>
          </a:xfrm>
          <a:custGeom>
            <a:avLst/>
            <a:gdLst/>
            <a:ahLst/>
            <a:cxnLst/>
            <a:rect l="l" t="t" r="r" b="b"/>
            <a:pathLst>
              <a:path w="2486025" h="723900">
                <a:moveTo>
                  <a:pt x="38099" y="0"/>
                </a:moveTo>
                <a:lnTo>
                  <a:pt x="2447926" y="0"/>
                </a:lnTo>
                <a:cubicBezTo>
                  <a:pt x="2468953" y="0"/>
                  <a:pt x="2486025" y="17072"/>
                  <a:pt x="2486025" y="38099"/>
                </a:cubicBezTo>
                <a:lnTo>
                  <a:pt x="2486025" y="685801"/>
                </a:lnTo>
                <a:cubicBezTo>
                  <a:pt x="2486025" y="706828"/>
                  <a:pt x="2468953" y="723900"/>
                  <a:pt x="2447926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FAFAFA"/>
          </a:solidFill>
          <a:ln/>
        </p:spPr>
      </p:sp>
      <p:sp>
        <p:nvSpPr>
          <p:cNvPr id="38" name="Text 35"/>
          <p:cNvSpPr/>
          <p:nvPr/>
        </p:nvSpPr>
        <p:spPr>
          <a:xfrm>
            <a:off x="6565582" y="5790247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当前Forward PE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541770" y="5980747"/>
            <a:ext cx="2371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32F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22.2x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9124950" y="5675947"/>
            <a:ext cx="2486025" cy="723900"/>
          </a:xfrm>
          <a:custGeom>
            <a:avLst/>
            <a:gdLst/>
            <a:ahLst/>
            <a:cxnLst/>
            <a:rect l="l" t="t" r="r" b="b"/>
            <a:pathLst>
              <a:path w="2486025" h="723900">
                <a:moveTo>
                  <a:pt x="38099" y="0"/>
                </a:moveTo>
                <a:lnTo>
                  <a:pt x="2447926" y="0"/>
                </a:lnTo>
                <a:cubicBezTo>
                  <a:pt x="2468953" y="0"/>
                  <a:pt x="2486025" y="17072"/>
                  <a:pt x="2486025" y="38099"/>
                </a:cubicBezTo>
                <a:lnTo>
                  <a:pt x="2486025" y="685801"/>
                </a:lnTo>
                <a:cubicBezTo>
                  <a:pt x="2486025" y="706828"/>
                  <a:pt x="2468953" y="723900"/>
                  <a:pt x="2447926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FAFAFA"/>
          </a:solidFill>
          <a:ln/>
        </p:spPr>
      </p:sp>
      <p:sp>
        <p:nvSpPr>
          <p:cNvPr id="41" name="Text 38"/>
          <p:cNvSpPr/>
          <p:nvPr/>
        </p:nvSpPr>
        <p:spPr>
          <a:xfrm>
            <a:off x="9205913" y="5790247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10年均值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9182100" y="5980747"/>
            <a:ext cx="2371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18.8x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381000" y="6324600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重要声明：本报告基于历史路径经验推断，非实时数据驱动。历史表现不代表未来结果，经济环境可能发生结构性变化导致历史规律失效。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8183" y="328183"/>
            <a:ext cx="11593066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b="1" spc="90" kern="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POLICY &amp; LIQUIDITY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8183" y="557911"/>
            <a:ext cx="11683316" cy="32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26" b="1" dirty="0">
                <a:solidFill>
                  <a:srgbClr val="1D1D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政策与流动性：紧缩与流动性短缺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1465" y="1053468"/>
            <a:ext cx="5766176" cy="3025848"/>
          </a:xfrm>
          <a:custGeom>
            <a:avLst/>
            <a:gdLst/>
            <a:ahLst/>
            <a:cxnLst/>
            <a:rect l="l" t="t" r="r" b="b"/>
            <a:pathLst>
              <a:path w="5766176" h="3025848">
                <a:moveTo>
                  <a:pt x="65631" y="0"/>
                </a:moveTo>
                <a:lnTo>
                  <a:pt x="5700545" y="0"/>
                </a:lnTo>
                <a:cubicBezTo>
                  <a:pt x="5736792" y="0"/>
                  <a:pt x="5766176" y="29384"/>
                  <a:pt x="5766176" y="65631"/>
                </a:cubicBezTo>
                <a:lnTo>
                  <a:pt x="5766176" y="2960217"/>
                </a:lnTo>
                <a:cubicBezTo>
                  <a:pt x="5766176" y="2996464"/>
                  <a:pt x="5736792" y="3025848"/>
                  <a:pt x="5700545" y="3025848"/>
                </a:cubicBezTo>
                <a:lnTo>
                  <a:pt x="65631" y="3025848"/>
                </a:lnTo>
                <a:cubicBezTo>
                  <a:pt x="29384" y="3025848"/>
                  <a:pt x="0" y="2996464"/>
                  <a:pt x="0" y="2960217"/>
                </a:cubicBezTo>
                <a:lnTo>
                  <a:pt x="0" y="65631"/>
                </a:lnTo>
                <a:cubicBezTo>
                  <a:pt x="0" y="29408"/>
                  <a:pt x="29408" y="0"/>
                  <a:pt x="6563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8838" y="1220843"/>
            <a:ext cx="5505271" cy="22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3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流动性关键指标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8838" y="1581845"/>
            <a:ext cx="5431429" cy="656366"/>
          </a:xfrm>
          <a:custGeom>
            <a:avLst/>
            <a:gdLst/>
            <a:ahLst/>
            <a:cxnLst/>
            <a:rect l="l" t="t" r="r" b="b"/>
            <a:pathLst>
              <a:path w="5431429" h="656366">
                <a:moveTo>
                  <a:pt x="65637" y="0"/>
                </a:moveTo>
                <a:lnTo>
                  <a:pt x="5365793" y="0"/>
                </a:lnTo>
                <a:cubicBezTo>
                  <a:pt x="5402043" y="0"/>
                  <a:pt x="5431429" y="29387"/>
                  <a:pt x="5431429" y="65637"/>
                </a:cubicBezTo>
                <a:lnTo>
                  <a:pt x="5431429" y="590729"/>
                </a:lnTo>
                <a:cubicBezTo>
                  <a:pt x="5431429" y="626980"/>
                  <a:pt x="5402043" y="656366"/>
                  <a:pt x="5365793" y="656366"/>
                </a:cubicBezTo>
                <a:lnTo>
                  <a:pt x="65637" y="656366"/>
                </a:lnTo>
                <a:cubicBezTo>
                  <a:pt x="29387" y="656366"/>
                  <a:pt x="0" y="626980"/>
                  <a:pt x="0" y="590729"/>
                </a:cubicBezTo>
                <a:lnTo>
                  <a:pt x="0" y="65637"/>
                </a:lnTo>
                <a:cubicBezTo>
                  <a:pt x="0" y="29387"/>
                  <a:pt x="29387" y="0"/>
                  <a:pt x="65637" y="0"/>
                </a:cubicBezTo>
                <a:close/>
              </a:path>
            </a:pathLst>
          </a:custGeom>
          <a:solidFill>
            <a:srgbClr val="FAFAFA"/>
          </a:solidFill>
          <a:ln/>
        </p:spPr>
      </p:sp>
      <p:sp>
        <p:nvSpPr>
          <p:cNvPr id="7" name="Text 5"/>
          <p:cNvSpPr/>
          <p:nvPr/>
        </p:nvSpPr>
        <p:spPr>
          <a:xfrm>
            <a:off x="630111" y="1729423"/>
            <a:ext cx="886094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TGA 账户余额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0111" y="1926333"/>
            <a:ext cx="877890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财政部一般账户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90317" y="1713118"/>
            <a:ext cx="607139" cy="262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5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7,850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39545" y="1975560"/>
            <a:ext cx="557911" cy="131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775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亿美元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98838" y="2336457"/>
            <a:ext cx="5431429" cy="361001"/>
          </a:xfrm>
          <a:custGeom>
            <a:avLst/>
            <a:gdLst/>
            <a:ahLst/>
            <a:cxnLst/>
            <a:rect l="l" t="t" r="r" b="b"/>
            <a:pathLst>
              <a:path w="5431429" h="361001">
                <a:moveTo>
                  <a:pt x="32819" y="0"/>
                </a:moveTo>
                <a:lnTo>
                  <a:pt x="5398611" y="0"/>
                </a:lnTo>
                <a:cubicBezTo>
                  <a:pt x="5416736" y="0"/>
                  <a:pt x="5431429" y="14693"/>
                  <a:pt x="5431429" y="32819"/>
                </a:cubicBezTo>
                <a:lnTo>
                  <a:pt x="5431429" y="328183"/>
                </a:lnTo>
                <a:cubicBezTo>
                  <a:pt x="5431429" y="346308"/>
                  <a:pt x="5416736" y="361001"/>
                  <a:pt x="5398611" y="361001"/>
                </a:cubicBezTo>
                <a:lnTo>
                  <a:pt x="32819" y="361001"/>
                </a:lnTo>
                <a:cubicBezTo>
                  <a:pt x="14693" y="361001"/>
                  <a:pt x="0" y="346308"/>
                  <a:pt x="0" y="328183"/>
                </a:cubicBezTo>
                <a:lnTo>
                  <a:pt x="0" y="32819"/>
                </a:lnTo>
                <a:cubicBezTo>
                  <a:pt x="0" y="14693"/>
                  <a:pt x="14693" y="0"/>
                  <a:pt x="32819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13702" y="2454606"/>
            <a:ext cx="114864" cy="114864"/>
          </a:xfrm>
          <a:custGeom>
            <a:avLst/>
            <a:gdLst/>
            <a:ahLst/>
            <a:cxnLst/>
            <a:rect l="l" t="t" r="r" b="b"/>
            <a:pathLst>
              <a:path w="114864" h="114864">
                <a:moveTo>
                  <a:pt x="57432" y="114864"/>
                </a:moveTo>
                <a:cubicBezTo>
                  <a:pt x="89130" y="114864"/>
                  <a:pt x="114864" y="89130"/>
                  <a:pt x="114864" y="57432"/>
                </a:cubicBezTo>
                <a:cubicBezTo>
                  <a:pt x="114864" y="25734"/>
                  <a:pt x="89130" y="0"/>
                  <a:pt x="57432" y="0"/>
                </a:cubicBezTo>
                <a:cubicBezTo>
                  <a:pt x="25734" y="0"/>
                  <a:pt x="0" y="25734"/>
                  <a:pt x="0" y="57432"/>
                </a:cubicBezTo>
                <a:cubicBezTo>
                  <a:pt x="0" y="89130"/>
                  <a:pt x="25734" y="114864"/>
                  <a:pt x="57432" y="114864"/>
                </a:cubicBezTo>
                <a:close/>
                <a:moveTo>
                  <a:pt x="50253" y="35895"/>
                </a:moveTo>
                <a:cubicBezTo>
                  <a:pt x="50253" y="31933"/>
                  <a:pt x="53470" y="28716"/>
                  <a:pt x="57432" y="28716"/>
                </a:cubicBezTo>
                <a:cubicBezTo>
                  <a:pt x="61394" y="28716"/>
                  <a:pt x="64611" y="31933"/>
                  <a:pt x="64611" y="35895"/>
                </a:cubicBezTo>
                <a:cubicBezTo>
                  <a:pt x="64611" y="39857"/>
                  <a:pt x="61394" y="43074"/>
                  <a:pt x="57432" y="43074"/>
                </a:cubicBezTo>
                <a:cubicBezTo>
                  <a:pt x="53470" y="43074"/>
                  <a:pt x="50253" y="39857"/>
                  <a:pt x="50253" y="35895"/>
                </a:cubicBezTo>
                <a:close/>
                <a:moveTo>
                  <a:pt x="48458" y="50253"/>
                </a:moveTo>
                <a:lnTo>
                  <a:pt x="59227" y="50253"/>
                </a:lnTo>
                <a:cubicBezTo>
                  <a:pt x="62211" y="50253"/>
                  <a:pt x="64611" y="52654"/>
                  <a:pt x="64611" y="55637"/>
                </a:cubicBezTo>
                <a:lnTo>
                  <a:pt x="64611" y="75380"/>
                </a:lnTo>
                <a:lnTo>
                  <a:pt x="66406" y="75380"/>
                </a:lnTo>
                <a:cubicBezTo>
                  <a:pt x="69390" y="75380"/>
                  <a:pt x="71790" y="77780"/>
                  <a:pt x="71790" y="80764"/>
                </a:cubicBezTo>
                <a:cubicBezTo>
                  <a:pt x="71790" y="83748"/>
                  <a:pt x="69390" y="86148"/>
                  <a:pt x="66406" y="86148"/>
                </a:cubicBezTo>
                <a:lnTo>
                  <a:pt x="48458" y="86148"/>
                </a:lnTo>
                <a:cubicBezTo>
                  <a:pt x="45475" y="86148"/>
                  <a:pt x="43074" y="83748"/>
                  <a:pt x="43074" y="80764"/>
                </a:cubicBezTo>
                <a:cubicBezTo>
                  <a:pt x="43074" y="77780"/>
                  <a:pt x="45475" y="75380"/>
                  <a:pt x="48458" y="75380"/>
                </a:cubicBezTo>
                <a:lnTo>
                  <a:pt x="53843" y="75380"/>
                </a:lnTo>
                <a:lnTo>
                  <a:pt x="53843" y="61022"/>
                </a:lnTo>
                <a:lnTo>
                  <a:pt x="48458" y="61022"/>
                </a:lnTo>
                <a:cubicBezTo>
                  <a:pt x="45475" y="61022"/>
                  <a:pt x="43074" y="58621"/>
                  <a:pt x="43074" y="55637"/>
                </a:cubicBezTo>
                <a:cubicBezTo>
                  <a:pt x="43074" y="52654"/>
                  <a:pt x="45475" y="50253"/>
                  <a:pt x="48458" y="5025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3" name="Text 11"/>
          <p:cNvSpPr/>
          <p:nvPr/>
        </p:nvSpPr>
        <p:spPr>
          <a:xfrm>
            <a:off x="787379" y="2434912"/>
            <a:ext cx="5101866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余额处于高位，财政部若在季度末"放水"将对市场流动性形成支撑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8838" y="2795914"/>
            <a:ext cx="5431429" cy="656366"/>
          </a:xfrm>
          <a:custGeom>
            <a:avLst/>
            <a:gdLst/>
            <a:ahLst/>
            <a:cxnLst/>
            <a:rect l="l" t="t" r="r" b="b"/>
            <a:pathLst>
              <a:path w="5431429" h="656366">
                <a:moveTo>
                  <a:pt x="65637" y="0"/>
                </a:moveTo>
                <a:lnTo>
                  <a:pt x="5365793" y="0"/>
                </a:lnTo>
                <a:cubicBezTo>
                  <a:pt x="5402043" y="0"/>
                  <a:pt x="5431429" y="29387"/>
                  <a:pt x="5431429" y="65637"/>
                </a:cubicBezTo>
                <a:lnTo>
                  <a:pt x="5431429" y="590729"/>
                </a:lnTo>
                <a:cubicBezTo>
                  <a:pt x="5431429" y="626980"/>
                  <a:pt x="5402043" y="656366"/>
                  <a:pt x="5365793" y="656366"/>
                </a:cubicBezTo>
                <a:lnTo>
                  <a:pt x="65637" y="656366"/>
                </a:lnTo>
                <a:cubicBezTo>
                  <a:pt x="29387" y="656366"/>
                  <a:pt x="0" y="626980"/>
                  <a:pt x="0" y="590729"/>
                </a:cubicBezTo>
                <a:lnTo>
                  <a:pt x="0" y="65637"/>
                </a:lnTo>
                <a:cubicBezTo>
                  <a:pt x="0" y="29387"/>
                  <a:pt x="29387" y="0"/>
                  <a:pt x="65637" y="0"/>
                </a:cubicBezTo>
                <a:close/>
              </a:path>
            </a:pathLst>
          </a:custGeom>
          <a:solidFill>
            <a:srgbClr val="FAFAFA"/>
          </a:solidFill>
          <a:ln/>
        </p:spPr>
      </p:sp>
      <p:sp>
        <p:nvSpPr>
          <p:cNvPr id="15" name="Text 13"/>
          <p:cNvSpPr/>
          <p:nvPr/>
        </p:nvSpPr>
        <p:spPr>
          <a:xfrm>
            <a:off x="630111" y="2943496"/>
            <a:ext cx="1099413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SOFR-OIS 基差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111" y="3140406"/>
            <a:ext cx="1091209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回购市场流动性指标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32468" y="2927187"/>
            <a:ext cx="566116" cy="262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5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12-15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81696" y="3189633"/>
            <a:ext cx="516888" cy="131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775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bps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8838" y="3550530"/>
            <a:ext cx="5431429" cy="361001"/>
          </a:xfrm>
          <a:custGeom>
            <a:avLst/>
            <a:gdLst/>
            <a:ahLst/>
            <a:cxnLst/>
            <a:rect l="l" t="t" r="r" b="b"/>
            <a:pathLst>
              <a:path w="5431429" h="361001">
                <a:moveTo>
                  <a:pt x="32819" y="0"/>
                </a:moveTo>
                <a:lnTo>
                  <a:pt x="5398611" y="0"/>
                </a:lnTo>
                <a:cubicBezTo>
                  <a:pt x="5416736" y="0"/>
                  <a:pt x="5431429" y="14693"/>
                  <a:pt x="5431429" y="32819"/>
                </a:cubicBezTo>
                <a:lnTo>
                  <a:pt x="5431429" y="328183"/>
                </a:lnTo>
                <a:cubicBezTo>
                  <a:pt x="5431429" y="346308"/>
                  <a:pt x="5416736" y="361001"/>
                  <a:pt x="5398611" y="361001"/>
                </a:cubicBezTo>
                <a:lnTo>
                  <a:pt x="32819" y="361001"/>
                </a:lnTo>
                <a:cubicBezTo>
                  <a:pt x="14693" y="361001"/>
                  <a:pt x="0" y="346308"/>
                  <a:pt x="0" y="328183"/>
                </a:cubicBezTo>
                <a:lnTo>
                  <a:pt x="0" y="32819"/>
                </a:lnTo>
                <a:cubicBezTo>
                  <a:pt x="0" y="14693"/>
                  <a:pt x="14693" y="0"/>
                  <a:pt x="32819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13702" y="3668675"/>
            <a:ext cx="114864" cy="114864"/>
          </a:xfrm>
          <a:custGeom>
            <a:avLst/>
            <a:gdLst/>
            <a:ahLst/>
            <a:cxnLst/>
            <a:rect l="l" t="t" r="r" b="b"/>
            <a:pathLst>
              <a:path w="114864" h="114864">
                <a:moveTo>
                  <a:pt x="57432" y="114864"/>
                </a:moveTo>
                <a:cubicBezTo>
                  <a:pt x="89130" y="114864"/>
                  <a:pt x="114864" y="89130"/>
                  <a:pt x="114864" y="57432"/>
                </a:cubicBezTo>
                <a:cubicBezTo>
                  <a:pt x="114864" y="25734"/>
                  <a:pt x="89130" y="0"/>
                  <a:pt x="57432" y="0"/>
                </a:cubicBezTo>
                <a:cubicBezTo>
                  <a:pt x="25734" y="0"/>
                  <a:pt x="0" y="25734"/>
                  <a:pt x="0" y="57432"/>
                </a:cubicBezTo>
                <a:cubicBezTo>
                  <a:pt x="0" y="89130"/>
                  <a:pt x="25734" y="114864"/>
                  <a:pt x="57432" y="114864"/>
                </a:cubicBezTo>
                <a:close/>
                <a:moveTo>
                  <a:pt x="76367" y="47718"/>
                </a:moveTo>
                <a:lnTo>
                  <a:pt x="58419" y="76434"/>
                </a:lnTo>
                <a:cubicBezTo>
                  <a:pt x="57477" y="77937"/>
                  <a:pt x="55862" y="78879"/>
                  <a:pt x="54089" y="78969"/>
                </a:cubicBezTo>
                <a:cubicBezTo>
                  <a:pt x="52317" y="79059"/>
                  <a:pt x="50612" y="78251"/>
                  <a:pt x="49558" y="76815"/>
                </a:cubicBezTo>
                <a:lnTo>
                  <a:pt x="38789" y="62457"/>
                </a:lnTo>
                <a:cubicBezTo>
                  <a:pt x="36994" y="60079"/>
                  <a:pt x="37488" y="56714"/>
                  <a:pt x="39866" y="54919"/>
                </a:cubicBezTo>
                <a:cubicBezTo>
                  <a:pt x="42244" y="53125"/>
                  <a:pt x="45609" y="53618"/>
                  <a:pt x="47404" y="55996"/>
                </a:cubicBezTo>
                <a:lnTo>
                  <a:pt x="53461" y="64073"/>
                </a:lnTo>
                <a:lnTo>
                  <a:pt x="67236" y="42020"/>
                </a:lnTo>
                <a:cubicBezTo>
                  <a:pt x="68806" y="39507"/>
                  <a:pt x="72127" y="38722"/>
                  <a:pt x="74662" y="40315"/>
                </a:cubicBezTo>
                <a:cubicBezTo>
                  <a:pt x="77197" y="41907"/>
                  <a:pt x="77959" y="45205"/>
                  <a:pt x="76367" y="4774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1" name="Text 19"/>
          <p:cNvSpPr/>
          <p:nvPr/>
        </p:nvSpPr>
        <p:spPr>
          <a:xfrm>
            <a:off x="787379" y="3648985"/>
            <a:ext cx="5101866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基本稳定，回购市场流动性充裕，未出现系统性美元短缺或信贷紧缩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31465" y="4216744"/>
            <a:ext cx="5766176" cy="2106935"/>
          </a:xfrm>
          <a:custGeom>
            <a:avLst/>
            <a:gdLst/>
            <a:ahLst/>
            <a:cxnLst/>
            <a:rect l="l" t="t" r="r" b="b"/>
            <a:pathLst>
              <a:path w="5766176" h="2106935">
                <a:moveTo>
                  <a:pt x="65631" y="0"/>
                </a:moveTo>
                <a:lnTo>
                  <a:pt x="5700545" y="0"/>
                </a:lnTo>
                <a:cubicBezTo>
                  <a:pt x="5736792" y="0"/>
                  <a:pt x="5766176" y="29384"/>
                  <a:pt x="5766176" y="65631"/>
                </a:cubicBezTo>
                <a:lnTo>
                  <a:pt x="5766176" y="2041304"/>
                </a:lnTo>
                <a:cubicBezTo>
                  <a:pt x="5766176" y="2077551"/>
                  <a:pt x="5736792" y="2106935"/>
                  <a:pt x="5700545" y="2106935"/>
                </a:cubicBezTo>
                <a:lnTo>
                  <a:pt x="65631" y="2106935"/>
                </a:lnTo>
                <a:cubicBezTo>
                  <a:pt x="29384" y="2106935"/>
                  <a:pt x="0" y="2077551"/>
                  <a:pt x="0" y="2041304"/>
                </a:cubicBezTo>
                <a:lnTo>
                  <a:pt x="0" y="65631"/>
                </a:lnTo>
                <a:cubicBezTo>
                  <a:pt x="0" y="29408"/>
                  <a:pt x="29408" y="0"/>
                  <a:pt x="6563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838" y="4384116"/>
            <a:ext cx="5505271" cy="22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3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金融条件指数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98838" y="4745117"/>
            <a:ext cx="5431429" cy="426638"/>
          </a:xfrm>
          <a:custGeom>
            <a:avLst/>
            <a:gdLst/>
            <a:ahLst/>
            <a:cxnLst/>
            <a:rect l="l" t="t" r="r" b="b"/>
            <a:pathLst>
              <a:path w="5431429" h="426638">
                <a:moveTo>
                  <a:pt x="32817" y="0"/>
                </a:moveTo>
                <a:lnTo>
                  <a:pt x="5398612" y="0"/>
                </a:lnTo>
                <a:cubicBezTo>
                  <a:pt x="5416737" y="0"/>
                  <a:pt x="5431429" y="14693"/>
                  <a:pt x="5431429" y="32817"/>
                </a:cubicBezTo>
                <a:lnTo>
                  <a:pt x="5431429" y="393821"/>
                </a:lnTo>
                <a:cubicBezTo>
                  <a:pt x="5431429" y="411945"/>
                  <a:pt x="5416737" y="426638"/>
                  <a:pt x="5398612" y="426638"/>
                </a:cubicBezTo>
                <a:lnTo>
                  <a:pt x="32817" y="426638"/>
                </a:lnTo>
                <a:cubicBezTo>
                  <a:pt x="14705" y="426638"/>
                  <a:pt x="0" y="411933"/>
                  <a:pt x="0" y="393821"/>
                </a:cubicBezTo>
                <a:lnTo>
                  <a:pt x="0" y="32817"/>
                </a:lnTo>
                <a:cubicBezTo>
                  <a:pt x="0" y="14705"/>
                  <a:pt x="14705" y="0"/>
                  <a:pt x="32817" y="0"/>
                </a:cubicBezTo>
                <a:close/>
              </a:path>
            </a:pathLst>
          </a:custGeom>
          <a:solidFill>
            <a:srgbClr val="FAFAFA"/>
          </a:solidFill>
          <a:ln/>
        </p:spPr>
      </p:sp>
      <p:sp>
        <p:nvSpPr>
          <p:cNvPr id="25" name="Text 23"/>
          <p:cNvSpPr/>
          <p:nvPr/>
        </p:nvSpPr>
        <p:spPr>
          <a:xfrm>
            <a:off x="597293" y="4859981"/>
            <a:ext cx="1115822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彭博金融条件指数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01072" y="4843572"/>
            <a:ext cx="426638" cy="229728"/>
          </a:xfrm>
          <a:custGeom>
            <a:avLst/>
            <a:gdLst/>
            <a:ahLst/>
            <a:cxnLst/>
            <a:rect l="l" t="t" r="r" b="b"/>
            <a:pathLst>
              <a:path w="426638" h="229728">
                <a:moveTo>
                  <a:pt x="32819" y="0"/>
                </a:moveTo>
                <a:lnTo>
                  <a:pt x="393819" y="0"/>
                </a:lnTo>
                <a:cubicBezTo>
                  <a:pt x="411932" y="0"/>
                  <a:pt x="426638" y="14706"/>
                  <a:pt x="426638" y="32819"/>
                </a:cubicBezTo>
                <a:lnTo>
                  <a:pt x="426638" y="196909"/>
                </a:lnTo>
                <a:cubicBezTo>
                  <a:pt x="426638" y="215035"/>
                  <a:pt x="411944" y="229728"/>
                  <a:pt x="393819" y="229728"/>
                </a:cubicBezTo>
                <a:lnTo>
                  <a:pt x="32819" y="229728"/>
                </a:lnTo>
                <a:cubicBezTo>
                  <a:pt x="14706" y="229728"/>
                  <a:pt x="0" y="215022"/>
                  <a:pt x="0" y="196909"/>
                </a:cubicBezTo>
                <a:lnTo>
                  <a:pt x="0" y="32819"/>
                </a:lnTo>
                <a:cubicBezTo>
                  <a:pt x="0" y="14694"/>
                  <a:pt x="14694" y="0"/>
                  <a:pt x="32819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401072" y="4843572"/>
            <a:ext cx="484070" cy="229728"/>
          </a:xfrm>
          <a:prstGeom prst="rect">
            <a:avLst/>
          </a:prstGeom>
          <a:noFill/>
          <a:ln/>
        </p:spPr>
        <p:txBody>
          <a:bodyPr wrap="square" lIns="98455" tIns="32818" rIns="98455" bIns="32818" rtlCol="0" anchor="ctr"/>
          <a:lstStyle/>
          <a:p>
            <a:pPr>
              <a:lnSpc>
                <a:spcPct val="120000"/>
              </a:lnSpc>
            </a:pPr>
            <a:r>
              <a:rPr lang="en-US" sz="904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宽松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98838" y="5270210"/>
            <a:ext cx="5431429" cy="426638"/>
          </a:xfrm>
          <a:custGeom>
            <a:avLst/>
            <a:gdLst/>
            <a:ahLst/>
            <a:cxnLst/>
            <a:rect l="l" t="t" r="r" b="b"/>
            <a:pathLst>
              <a:path w="5431429" h="426638">
                <a:moveTo>
                  <a:pt x="32817" y="0"/>
                </a:moveTo>
                <a:lnTo>
                  <a:pt x="5398612" y="0"/>
                </a:lnTo>
                <a:cubicBezTo>
                  <a:pt x="5416737" y="0"/>
                  <a:pt x="5431429" y="14693"/>
                  <a:pt x="5431429" y="32817"/>
                </a:cubicBezTo>
                <a:lnTo>
                  <a:pt x="5431429" y="393821"/>
                </a:lnTo>
                <a:cubicBezTo>
                  <a:pt x="5431429" y="411945"/>
                  <a:pt x="5416737" y="426638"/>
                  <a:pt x="5398612" y="426638"/>
                </a:cubicBezTo>
                <a:lnTo>
                  <a:pt x="32817" y="426638"/>
                </a:lnTo>
                <a:cubicBezTo>
                  <a:pt x="14705" y="426638"/>
                  <a:pt x="0" y="411933"/>
                  <a:pt x="0" y="393821"/>
                </a:cubicBezTo>
                <a:lnTo>
                  <a:pt x="0" y="32817"/>
                </a:lnTo>
                <a:cubicBezTo>
                  <a:pt x="0" y="14705"/>
                  <a:pt x="14705" y="0"/>
                  <a:pt x="32817" y="0"/>
                </a:cubicBezTo>
                <a:close/>
              </a:path>
            </a:pathLst>
          </a:custGeom>
          <a:solidFill>
            <a:srgbClr val="FAFAFA"/>
          </a:solidFill>
          <a:ln/>
        </p:spPr>
      </p:sp>
      <p:sp>
        <p:nvSpPr>
          <p:cNvPr id="29" name="Text 27"/>
          <p:cNvSpPr/>
          <p:nvPr/>
        </p:nvSpPr>
        <p:spPr>
          <a:xfrm>
            <a:off x="597293" y="5385074"/>
            <a:ext cx="1247096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芝加哥联储金融条件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01072" y="5368665"/>
            <a:ext cx="426638" cy="229728"/>
          </a:xfrm>
          <a:custGeom>
            <a:avLst/>
            <a:gdLst/>
            <a:ahLst/>
            <a:cxnLst/>
            <a:rect l="l" t="t" r="r" b="b"/>
            <a:pathLst>
              <a:path w="426638" h="229728">
                <a:moveTo>
                  <a:pt x="32819" y="0"/>
                </a:moveTo>
                <a:lnTo>
                  <a:pt x="393819" y="0"/>
                </a:lnTo>
                <a:cubicBezTo>
                  <a:pt x="411932" y="0"/>
                  <a:pt x="426638" y="14706"/>
                  <a:pt x="426638" y="32819"/>
                </a:cubicBezTo>
                <a:lnTo>
                  <a:pt x="426638" y="196909"/>
                </a:lnTo>
                <a:cubicBezTo>
                  <a:pt x="426638" y="215035"/>
                  <a:pt x="411944" y="229728"/>
                  <a:pt x="393819" y="229728"/>
                </a:cubicBezTo>
                <a:lnTo>
                  <a:pt x="32819" y="229728"/>
                </a:lnTo>
                <a:cubicBezTo>
                  <a:pt x="14706" y="229728"/>
                  <a:pt x="0" y="215022"/>
                  <a:pt x="0" y="196909"/>
                </a:cubicBezTo>
                <a:lnTo>
                  <a:pt x="0" y="32819"/>
                </a:lnTo>
                <a:cubicBezTo>
                  <a:pt x="0" y="14694"/>
                  <a:pt x="14694" y="0"/>
                  <a:pt x="32819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401072" y="5368665"/>
            <a:ext cx="484070" cy="229728"/>
          </a:xfrm>
          <a:prstGeom prst="rect">
            <a:avLst/>
          </a:prstGeom>
          <a:noFill/>
          <a:ln/>
        </p:spPr>
        <p:txBody>
          <a:bodyPr wrap="square" lIns="98455" tIns="32818" rIns="98455" bIns="32818" rtlCol="0" anchor="ctr"/>
          <a:lstStyle/>
          <a:p>
            <a:pPr>
              <a:lnSpc>
                <a:spcPct val="120000"/>
              </a:lnSpc>
            </a:pPr>
            <a:r>
              <a:rPr lang="en-US" sz="904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宽松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98838" y="5795303"/>
            <a:ext cx="5431429" cy="361001"/>
          </a:xfrm>
          <a:custGeom>
            <a:avLst/>
            <a:gdLst/>
            <a:ahLst/>
            <a:cxnLst/>
            <a:rect l="l" t="t" r="r" b="b"/>
            <a:pathLst>
              <a:path w="5431429" h="361001">
                <a:moveTo>
                  <a:pt x="32819" y="0"/>
                </a:moveTo>
                <a:lnTo>
                  <a:pt x="5398611" y="0"/>
                </a:lnTo>
                <a:cubicBezTo>
                  <a:pt x="5416736" y="0"/>
                  <a:pt x="5431429" y="14693"/>
                  <a:pt x="5431429" y="32819"/>
                </a:cubicBezTo>
                <a:lnTo>
                  <a:pt x="5431429" y="328183"/>
                </a:lnTo>
                <a:cubicBezTo>
                  <a:pt x="5431429" y="346308"/>
                  <a:pt x="5416736" y="361001"/>
                  <a:pt x="5398611" y="361001"/>
                </a:cubicBezTo>
                <a:lnTo>
                  <a:pt x="32819" y="361001"/>
                </a:lnTo>
                <a:cubicBezTo>
                  <a:pt x="14693" y="361001"/>
                  <a:pt x="0" y="346308"/>
                  <a:pt x="0" y="328183"/>
                </a:cubicBezTo>
                <a:lnTo>
                  <a:pt x="0" y="32819"/>
                </a:lnTo>
                <a:cubicBezTo>
                  <a:pt x="0" y="14693"/>
                  <a:pt x="14693" y="0"/>
                  <a:pt x="32819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13702" y="5913448"/>
            <a:ext cx="114864" cy="114864"/>
          </a:xfrm>
          <a:custGeom>
            <a:avLst/>
            <a:gdLst/>
            <a:ahLst/>
            <a:cxnLst/>
            <a:rect l="l" t="t" r="r" b="b"/>
            <a:pathLst>
              <a:path w="114864" h="114864">
                <a:moveTo>
                  <a:pt x="57432" y="114864"/>
                </a:moveTo>
                <a:cubicBezTo>
                  <a:pt x="89130" y="114864"/>
                  <a:pt x="114864" y="89130"/>
                  <a:pt x="114864" y="57432"/>
                </a:cubicBezTo>
                <a:cubicBezTo>
                  <a:pt x="114864" y="25734"/>
                  <a:pt x="89130" y="0"/>
                  <a:pt x="57432" y="0"/>
                </a:cubicBezTo>
                <a:cubicBezTo>
                  <a:pt x="25734" y="0"/>
                  <a:pt x="0" y="25734"/>
                  <a:pt x="0" y="57432"/>
                </a:cubicBezTo>
                <a:cubicBezTo>
                  <a:pt x="0" y="89130"/>
                  <a:pt x="25734" y="114864"/>
                  <a:pt x="57432" y="114864"/>
                </a:cubicBezTo>
                <a:close/>
                <a:moveTo>
                  <a:pt x="50253" y="35895"/>
                </a:moveTo>
                <a:cubicBezTo>
                  <a:pt x="50253" y="31933"/>
                  <a:pt x="53470" y="28716"/>
                  <a:pt x="57432" y="28716"/>
                </a:cubicBezTo>
                <a:cubicBezTo>
                  <a:pt x="61394" y="28716"/>
                  <a:pt x="64611" y="31933"/>
                  <a:pt x="64611" y="35895"/>
                </a:cubicBezTo>
                <a:cubicBezTo>
                  <a:pt x="64611" y="39857"/>
                  <a:pt x="61394" y="43074"/>
                  <a:pt x="57432" y="43074"/>
                </a:cubicBezTo>
                <a:cubicBezTo>
                  <a:pt x="53470" y="43074"/>
                  <a:pt x="50253" y="39857"/>
                  <a:pt x="50253" y="35895"/>
                </a:cubicBezTo>
                <a:close/>
                <a:moveTo>
                  <a:pt x="48458" y="50253"/>
                </a:moveTo>
                <a:lnTo>
                  <a:pt x="59227" y="50253"/>
                </a:lnTo>
                <a:cubicBezTo>
                  <a:pt x="62211" y="50253"/>
                  <a:pt x="64611" y="52654"/>
                  <a:pt x="64611" y="55637"/>
                </a:cubicBezTo>
                <a:lnTo>
                  <a:pt x="64611" y="75380"/>
                </a:lnTo>
                <a:lnTo>
                  <a:pt x="66406" y="75380"/>
                </a:lnTo>
                <a:cubicBezTo>
                  <a:pt x="69390" y="75380"/>
                  <a:pt x="71790" y="77780"/>
                  <a:pt x="71790" y="80764"/>
                </a:cubicBezTo>
                <a:cubicBezTo>
                  <a:pt x="71790" y="83748"/>
                  <a:pt x="69390" y="86148"/>
                  <a:pt x="66406" y="86148"/>
                </a:cubicBezTo>
                <a:lnTo>
                  <a:pt x="48458" y="86148"/>
                </a:lnTo>
                <a:cubicBezTo>
                  <a:pt x="45475" y="86148"/>
                  <a:pt x="43074" y="83748"/>
                  <a:pt x="43074" y="80764"/>
                </a:cubicBezTo>
                <a:cubicBezTo>
                  <a:pt x="43074" y="77780"/>
                  <a:pt x="45475" y="75380"/>
                  <a:pt x="48458" y="75380"/>
                </a:cubicBezTo>
                <a:lnTo>
                  <a:pt x="53843" y="75380"/>
                </a:lnTo>
                <a:lnTo>
                  <a:pt x="53843" y="61022"/>
                </a:lnTo>
                <a:lnTo>
                  <a:pt x="48458" y="61022"/>
                </a:lnTo>
                <a:cubicBezTo>
                  <a:pt x="45475" y="61022"/>
                  <a:pt x="43074" y="58621"/>
                  <a:pt x="43074" y="55637"/>
                </a:cubicBezTo>
                <a:cubicBezTo>
                  <a:pt x="43074" y="52654"/>
                  <a:pt x="45475" y="50253"/>
                  <a:pt x="48458" y="5025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4" name="Text 32"/>
          <p:cNvSpPr/>
          <p:nvPr/>
        </p:nvSpPr>
        <p:spPr>
          <a:xfrm>
            <a:off x="787379" y="5893758"/>
            <a:ext cx="5101866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尽管利率维持高位，但金融市场环境依然对经济增长起到支撑作用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64194" y="1053468"/>
            <a:ext cx="5602085" cy="2074117"/>
          </a:xfrm>
          <a:custGeom>
            <a:avLst/>
            <a:gdLst/>
            <a:ahLst/>
            <a:cxnLst/>
            <a:rect l="l" t="t" r="r" b="b"/>
            <a:pathLst>
              <a:path w="5602085" h="2074117">
                <a:moveTo>
                  <a:pt x="65646" y="0"/>
                </a:moveTo>
                <a:lnTo>
                  <a:pt x="5536439" y="0"/>
                </a:lnTo>
                <a:cubicBezTo>
                  <a:pt x="5572694" y="0"/>
                  <a:pt x="5602085" y="29391"/>
                  <a:pt x="5602085" y="65646"/>
                </a:cubicBezTo>
                <a:lnTo>
                  <a:pt x="5602085" y="2008471"/>
                </a:lnTo>
                <a:cubicBezTo>
                  <a:pt x="5602085" y="2044726"/>
                  <a:pt x="5572694" y="2074117"/>
                  <a:pt x="5536439" y="2074117"/>
                </a:cubicBezTo>
                <a:lnTo>
                  <a:pt x="65646" y="2074117"/>
                </a:lnTo>
                <a:cubicBezTo>
                  <a:pt x="29391" y="2074117"/>
                  <a:pt x="0" y="2044726"/>
                  <a:pt x="0" y="2008471"/>
                </a:cubicBezTo>
                <a:lnTo>
                  <a:pt x="0" y="65646"/>
                </a:lnTo>
                <a:cubicBezTo>
                  <a:pt x="0" y="29415"/>
                  <a:pt x="29415" y="0"/>
                  <a:pt x="65646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31567" y="1220843"/>
            <a:ext cx="5341179" cy="22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3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流动性传导链条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31567" y="1581845"/>
            <a:ext cx="328183" cy="328183"/>
          </a:xfrm>
          <a:custGeom>
            <a:avLst/>
            <a:gdLst/>
            <a:ahLst/>
            <a:cxnLst/>
            <a:rect l="l" t="t" r="r" b="b"/>
            <a:pathLst>
              <a:path w="328183" h="328183">
                <a:moveTo>
                  <a:pt x="0" y="0"/>
                </a:moveTo>
                <a:lnTo>
                  <a:pt x="328183" y="0"/>
                </a:lnTo>
                <a:lnTo>
                  <a:pt x="328183" y="328183"/>
                </a:lnTo>
                <a:lnTo>
                  <a:pt x="0" y="328183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/>
        </p:spPr>
      </p:sp>
      <p:sp>
        <p:nvSpPr>
          <p:cNvPr id="38" name="Text 36"/>
          <p:cNvSpPr/>
          <p:nvPr/>
        </p:nvSpPr>
        <p:spPr>
          <a:xfrm>
            <a:off x="6398749" y="1581845"/>
            <a:ext cx="393820" cy="32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4" b="1" dirty="0">
                <a:solidFill>
                  <a:srgbClr val="FAFA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891024" y="1581845"/>
            <a:ext cx="869685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TGA回升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891024" y="1811573"/>
            <a:ext cx="861480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银行准备金下降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31567" y="2074119"/>
            <a:ext cx="328183" cy="328183"/>
          </a:xfrm>
          <a:custGeom>
            <a:avLst/>
            <a:gdLst/>
            <a:ahLst/>
            <a:cxnLst/>
            <a:rect l="l" t="t" r="r" b="b"/>
            <a:pathLst>
              <a:path w="328183" h="328183">
                <a:moveTo>
                  <a:pt x="0" y="0"/>
                </a:moveTo>
                <a:lnTo>
                  <a:pt x="328183" y="0"/>
                </a:lnTo>
                <a:lnTo>
                  <a:pt x="328183" y="328183"/>
                </a:lnTo>
                <a:lnTo>
                  <a:pt x="0" y="328183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42" name="Text 40"/>
          <p:cNvSpPr/>
          <p:nvPr/>
        </p:nvSpPr>
        <p:spPr>
          <a:xfrm>
            <a:off x="6398749" y="2074119"/>
            <a:ext cx="393820" cy="32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4" b="1" dirty="0">
                <a:solidFill>
                  <a:srgbClr val="FAFA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891024" y="2074119"/>
            <a:ext cx="836867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RRP已近枯竭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891024" y="2303847"/>
            <a:ext cx="828662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无钱可补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31567" y="2566394"/>
            <a:ext cx="328183" cy="328183"/>
          </a:xfrm>
          <a:custGeom>
            <a:avLst/>
            <a:gdLst/>
            <a:ahLst/>
            <a:cxnLst/>
            <a:rect l="l" t="t" r="r" b="b"/>
            <a:pathLst>
              <a:path w="328183" h="328183">
                <a:moveTo>
                  <a:pt x="0" y="0"/>
                </a:moveTo>
                <a:lnTo>
                  <a:pt x="328183" y="0"/>
                </a:lnTo>
                <a:lnTo>
                  <a:pt x="328183" y="328183"/>
                </a:lnTo>
                <a:lnTo>
                  <a:pt x="0" y="328183"/>
                </a:lnTo>
                <a:lnTo>
                  <a:pt x="0" y="0"/>
                </a:lnTo>
                <a:close/>
              </a:path>
            </a:pathLst>
          </a:custGeom>
          <a:solidFill>
            <a:srgbClr val="D32F2F"/>
          </a:solidFill>
          <a:ln/>
        </p:spPr>
      </p:sp>
      <p:sp>
        <p:nvSpPr>
          <p:cNvPr id="46" name="Text 44"/>
          <p:cNvSpPr/>
          <p:nvPr/>
        </p:nvSpPr>
        <p:spPr>
          <a:xfrm>
            <a:off x="6398749" y="2566394"/>
            <a:ext cx="393820" cy="32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4" b="1" dirty="0">
                <a:solidFill>
                  <a:srgbClr val="FAFA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891024" y="2566394"/>
            <a:ext cx="984549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保证金成本上升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891024" y="2796122"/>
            <a:ext cx="976345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多头撤退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264194" y="3265422"/>
            <a:ext cx="5602085" cy="1729525"/>
          </a:xfrm>
          <a:custGeom>
            <a:avLst/>
            <a:gdLst/>
            <a:ahLst/>
            <a:cxnLst/>
            <a:rect l="l" t="t" r="r" b="b"/>
            <a:pathLst>
              <a:path w="5602085" h="1729525">
                <a:moveTo>
                  <a:pt x="65635" y="0"/>
                </a:moveTo>
                <a:lnTo>
                  <a:pt x="5536449" y="0"/>
                </a:lnTo>
                <a:cubicBezTo>
                  <a:pt x="5572699" y="0"/>
                  <a:pt x="5602085" y="29386"/>
                  <a:pt x="5602085" y="65635"/>
                </a:cubicBezTo>
                <a:lnTo>
                  <a:pt x="5602085" y="1663889"/>
                </a:lnTo>
                <a:cubicBezTo>
                  <a:pt x="5602085" y="1700139"/>
                  <a:pt x="5572699" y="1729525"/>
                  <a:pt x="5536449" y="1729525"/>
                </a:cubicBezTo>
                <a:lnTo>
                  <a:pt x="65635" y="1729525"/>
                </a:lnTo>
                <a:cubicBezTo>
                  <a:pt x="29386" y="1729525"/>
                  <a:pt x="0" y="1700139"/>
                  <a:pt x="0" y="1663889"/>
                </a:cubicBezTo>
                <a:lnTo>
                  <a:pt x="0" y="65635"/>
                </a:lnTo>
                <a:cubicBezTo>
                  <a:pt x="0" y="29410"/>
                  <a:pt x="29410" y="0"/>
                  <a:pt x="65635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31567" y="3432794"/>
            <a:ext cx="5341179" cy="22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3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流动性积极因素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431567" y="4092442"/>
            <a:ext cx="5267338" cy="6564"/>
          </a:xfrm>
          <a:custGeom>
            <a:avLst/>
            <a:gdLst/>
            <a:ahLst/>
            <a:cxnLst/>
            <a:rect l="l" t="t" r="r" b="b"/>
            <a:pathLst>
              <a:path w="5267338" h="6564">
                <a:moveTo>
                  <a:pt x="0" y="0"/>
                </a:moveTo>
                <a:lnTo>
                  <a:pt x="5267338" y="0"/>
                </a:lnTo>
                <a:lnTo>
                  <a:pt x="5267338" y="6564"/>
                </a:lnTo>
                <a:lnTo>
                  <a:pt x="0" y="6564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52" name="Shape 50"/>
          <p:cNvSpPr/>
          <p:nvPr/>
        </p:nvSpPr>
        <p:spPr>
          <a:xfrm>
            <a:off x="6455156" y="3884045"/>
            <a:ext cx="100506" cy="114864"/>
          </a:xfrm>
          <a:custGeom>
            <a:avLst/>
            <a:gdLst/>
            <a:ahLst/>
            <a:cxnLst/>
            <a:rect l="l" t="t" r="r" b="b"/>
            <a:pathLst>
              <a:path w="100506" h="114864">
                <a:moveTo>
                  <a:pt x="97545" y="15727"/>
                </a:moveTo>
                <a:cubicBezTo>
                  <a:pt x="100753" y="18060"/>
                  <a:pt x="101471" y="22547"/>
                  <a:pt x="99138" y="25755"/>
                </a:cubicBezTo>
                <a:lnTo>
                  <a:pt x="41706" y="104724"/>
                </a:lnTo>
                <a:cubicBezTo>
                  <a:pt x="40472" y="106429"/>
                  <a:pt x="38565" y="107483"/>
                  <a:pt x="36456" y="107663"/>
                </a:cubicBezTo>
                <a:cubicBezTo>
                  <a:pt x="34347" y="107842"/>
                  <a:pt x="32306" y="107057"/>
                  <a:pt x="30825" y="105576"/>
                </a:cubicBezTo>
                <a:lnTo>
                  <a:pt x="2109" y="76860"/>
                </a:lnTo>
                <a:cubicBezTo>
                  <a:pt x="-695" y="74056"/>
                  <a:pt x="-695" y="69502"/>
                  <a:pt x="2109" y="66697"/>
                </a:cubicBezTo>
                <a:cubicBezTo>
                  <a:pt x="4913" y="63893"/>
                  <a:pt x="9467" y="63893"/>
                  <a:pt x="12272" y="66697"/>
                </a:cubicBezTo>
                <a:lnTo>
                  <a:pt x="35043" y="89468"/>
                </a:lnTo>
                <a:lnTo>
                  <a:pt x="87539" y="17297"/>
                </a:lnTo>
                <a:cubicBezTo>
                  <a:pt x="89872" y="14089"/>
                  <a:pt x="94359" y="13371"/>
                  <a:pt x="97567" y="15704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3" name="Text 51"/>
          <p:cNvSpPr/>
          <p:nvPr/>
        </p:nvSpPr>
        <p:spPr>
          <a:xfrm>
            <a:off x="6640784" y="3859432"/>
            <a:ext cx="1854234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SOFR-OIS基差稳定，回购市场充裕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431567" y="4460009"/>
            <a:ext cx="5267338" cy="6564"/>
          </a:xfrm>
          <a:custGeom>
            <a:avLst/>
            <a:gdLst/>
            <a:ahLst/>
            <a:cxnLst/>
            <a:rect l="l" t="t" r="r" b="b"/>
            <a:pathLst>
              <a:path w="5267338" h="6564">
                <a:moveTo>
                  <a:pt x="0" y="0"/>
                </a:moveTo>
                <a:lnTo>
                  <a:pt x="5267338" y="0"/>
                </a:lnTo>
                <a:lnTo>
                  <a:pt x="5267338" y="6564"/>
                </a:lnTo>
                <a:lnTo>
                  <a:pt x="0" y="6564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55" name="Shape 53"/>
          <p:cNvSpPr/>
          <p:nvPr/>
        </p:nvSpPr>
        <p:spPr>
          <a:xfrm>
            <a:off x="6455156" y="4251613"/>
            <a:ext cx="100506" cy="114864"/>
          </a:xfrm>
          <a:custGeom>
            <a:avLst/>
            <a:gdLst/>
            <a:ahLst/>
            <a:cxnLst/>
            <a:rect l="l" t="t" r="r" b="b"/>
            <a:pathLst>
              <a:path w="100506" h="114864">
                <a:moveTo>
                  <a:pt x="97545" y="15727"/>
                </a:moveTo>
                <a:cubicBezTo>
                  <a:pt x="100753" y="18060"/>
                  <a:pt x="101471" y="22547"/>
                  <a:pt x="99138" y="25755"/>
                </a:cubicBezTo>
                <a:lnTo>
                  <a:pt x="41706" y="104724"/>
                </a:lnTo>
                <a:cubicBezTo>
                  <a:pt x="40472" y="106429"/>
                  <a:pt x="38565" y="107483"/>
                  <a:pt x="36456" y="107663"/>
                </a:cubicBezTo>
                <a:cubicBezTo>
                  <a:pt x="34347" y="107842"/>
                  <a:pt x="32306" y="107057"/>
                  <a:pt x="30825" y="105576"/>
                </a:cubicBezTo>
                <a:lnTo>
                  <a:pt x="2109" y="76860"/>
                </a:lnTo>
                <a:cubicBezTo>
                  <a:pt x="-695" y="74056"/>
                  <a:pt x="-695" y="69502"/>
                  <a:pt x="2109" y="66697"/>
                </a:cubicBezTo>
                <a:cubicBezTo>
                  <a:pt x="4913" y="63893"/>
                  <a:pt x="9467" y="63893"/>
                  <a:pt x="12272" y="66697"/>
                </a:cubicBezTo>
                <a:lnTo>
                  <a:pt x="35043" y="89468"/>
                </a:lnTo>
                <a:lnTo>
                  <a:pt x="87539" y="17297"/>
                </a:lnTo>
                <a:cubicBezTo>
                  <a:pt x="89872" y="14089"/>
                  <a:pt x="94359" y="13371"/>
                  <a:pt x="97567" y="15704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6" name="Text 54"/>
          <p:cNvSpPr/>
          <p:nvPr/>
        </p:nvSpPr>
        <p:spPr>
          <a:xfrm>
            <a:off x="6640784" y="4226999"/>
            <a:ext cx="1435801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金融条件指数显示宽松环境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455156" y="4619176"/>
            <a:ext cx="100506" cy="114864"/>
          </a:xfrm>
          <a:custGeom>
            <a:avLst/>
            <a:gdLst/>
            <a:ahLst/>
            <a:cxnLst/>
            <a:rect l="l" t="t" r="r" b="b"/>
            <a:pathLst>
              <a:path w="100506" h="114864">
                <a:moveTo>
                  <a:pt x="97545" y="15727"/>
                </a:moveTo>
                <a:cubicBezTo>
                  <a:pt x="100753" y="18060"/>
                  <a:pt x="101471" y="22547"/>
                  <a:pt x="99138" y="25755"/>
                </a:cubicBezTo>
                <a:lnTo>
                  <a:pt x="41706" y="104724"/>
                </a:lnTo>
                <a:cubicBezTo>
                  <a:pt x="40472" y="106429"/>
                  <a:pt x="38565" y="107483"/>
                  <a:pt x="36456" y="107663"/>
                </a:cubicBezTo>
                <a:cubicBezTo>
                  <a:pt x="34347" y="107842"/>
                  <a:pt x="32306" y="107057"/>
                  <a:pt x="30825" y="105576"/>
                </a:cubicBezTo>
                <a:lnTo>
                  <a:pt x="2109" y="76860"/>
                </a:lnTo>
                <a:cubicBezTo>
                  <a:pt x="-695" y="74056"/>
                  <a:pt x="-695" y="69502"/>
                  <a:pt x="2109" y="66697"/>
                </a:cubicBezTo>
                <a:cubicBezTo>
                  <a:pt x="4913" y="63893"/>
                  <a:pt x="9467" y="63893"/>
                  <a:pt x="12272" y="66697"/>
                </a:cubicBezTo>
                <a:lnTo>
                  <a:pt x="35043" y="89468"/>
                </a:lnTo>
                <a:lnTo>
                  <a:pt x="87539" y="17297"/>
                </a:lnTo>
                <a:cubicBezTo>
                  <a:pt x="89872" y="14089"/>
                  <a:pt x="94359" y="13371"/>
                  <a:pt x="97567" y="15704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8" name="Text 56"/>
          <p:cNvSpPr/>
          <p:nvPr/>
        </p:nvSpPr>
        <p:spPr>
          <a:xfrm>
            <a:off x="6640784" y="4594563"/>
            <a:ext cx="1895257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TGA高余额提供潜在流动性释放空间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264194" y="5129503"/>
            <a:ext cx="5602085" cy="1729525"/>
          </a:xfrm>
          <a:custGeom>
            <a:avLst/>
            <a:gdLst/>
            <a:ahLst/>
            <a:cxnLst/>
            <a:rect l="l" t="t" r="r" b="b"/>
            <a:pathLst>
              <a:path w="5602085" h="1729525">
                <a:moveTo>
                  <a:pt x="65635" y="0"/>
                </a:moveTo>
                <a:lnTo>
                  <a:pt x="5536449" y="0"/>
                </a:lnTo>
                <a:cubicBezTo>
                  <a:pt x="5572699" y="0"/>
                  <a:pt x="5602085" y="29386"/>
                  <a:pt x="5602085" y="65635"/>
                </a:cubicBezTo>
                <a:lnTo>
                  <a:pt x="5602085" y="1663889"/>
                </a:lnTo>
                <a:cubicBezTo>
                  <a:pt x="5602085" y="1700139"/>
                  <a:pt x="5572699" y="1729525"/>
                  <a:pt x="5536449" y="1729525"/>
                </a:cubicBezTo>
                <a:lnTo>
                  <a:pt x="65635" y="1729525"/>
                </a:lnTo>
                <a:cubicBezTo>
                  <a:pt x="29386" y="1729525"/>
                  <a:pt x="0" y="1700139"/>
                  <a:pt x="0" y="1663889"/>
                </a:cubicBezTo>
                <a:lnTo>
                  <a:pt x="0" y="65635"/>
                </a:lnTo>
                <a:cubicBezTo>
                  <a:pt x="0" y="29410"/>
                  <a:pt x="29410" y="0"/>
                  <a:pt x="65635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31567" y="5296875"/>
            <a:ext cx="5341179" cy="22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3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需关注的风险点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431567" y="5956523"/>
            <a:ext cx="5267338" cy="6564"/>
          </a:xfrm>
          <a:custGeom>
            <a:avLst/>
            <a:gdLst/>
            <a:ahLst/>
            <a:cxnLst/>
            <a:rect l="l" t="t" r="r" b="b"/>
            <a:pathLst>
              <a:path w="5267338" h="6564">
                <a:moveTo>
                  <a:pt x="0" y="0"/>
                </a:moveTo>
                <a:lnTo>
                  <a:pt x="5267338" y="0"/>
                </a:lnTo>
                <a:lnTo>
                  <a:pt x="5267338" y="6564"/>
                </a:lnTo>
                <a:lnTo>
                  <a:pt x="0" y="6564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62" name="Shape 60"/>
          <p:cNvSpPr/>
          <p:nvPr/>
        </p:nvSpPr>
        <p:spPr>
          <a:xfrm>
            <a:off x="6447977" y="5748127"/>
            <a:ext cx="114864" cy="114864"/>
          </a:xfrm>
          <a:custGeom>
            <a:avLst/>
            <a:gdLst/>
            <a:ahLst/>
            <a:cxnLst/>
            <a:rect l="l" t="t" r="r" b="b"/>
            <a:pathLst>
              <a:path w="114864" h="114864">
                <a:moveTo>
                  <a:pt x="57432" y="0"/>
                </a:moveTo>
                <a:cubicBezTo>
                  <a:pt x="60730" y="0"/>
                  <a:pt x="63759" y="1817"/>
                  <a:pt x="65329" y="4711"/>
                </a:cubicBezTo>
                <a:lnTo>
                  <a:pt x="113787" y="94449"/>
                </a:lnTo>
                <a:cubicBezTo>
                  <a:pt x="115290" y="97231"/>
                  <a:pt x="115223" y="100596"/>
                  <a:pt x="113608" y="103310"/>
                </a:cubicBezTo>
                <a:cubicBezTo>
                  <a:pt x="111992" y="106025"/>
                  <a:pt x="109054" y="107685"/>
                  <a:pt x="105890" y="107685"/>
                </a:cubicBezTo>
                <a:lnTo>
                  <a:pt x="8974" y="107685"/>
                </a:lnTo>
                <a:cubicBezTo>
                  <a:pt x="5811" y="107685"/>
                  <a:pt x="2894" y="106025"/>
                  <a:pt x="1256" y="103310"/>
                </a:cubicBezTo>
                <a:cubicBezTo>
                  <a:pt x="-381" y="100596"/>
                  <a:pt x="-426" y="97231"/>
                  <a:pt x="1077" y="94449"/>
                </a:cubicBezTo>
                <a:lnTo>
                  <a:pt x="49535" y="4711"/>
                </a:lnTo>
                <a:cubicBezTo>
                  <a:pt x="51106" y="1817"/>
                  <a:pt x="54134" y="0"/>
                  <a:pt x="57432" y="0"/>
                </a:cubicBezTo>
                <a:close/>
                <a:moveTo>
                  <a:pt x="57432" y="37690"/>
                </a:moveTo>
                <a:cubicBezTo>
                  <a:pt x="54448" y="37690"/>
                  <a:pt x="52048" y="40090"/>
                  <a:pt x="52048" y="43074"/>
                </a:cubicBezTo>
                <a:lnTo>
                  <a:pt x="52048" y="68201"/>
                </a:lnTo>
                <a:cubicBezTo>
                  <a:pt x="52048" y="71184"/>
                  <a:pt x="54448" y="73585"/>
                  <a:pt x="57432" y="73585"/>
                </a:cubicBezTo>
                <a:cubicBezTo>
                  <a:pt x="60416" y="73585"/>
                  <a:pt x="62816" y="71184"/>
                  <a:pt x="62816" y="68201"/>
                </a:cubicBezTo>
                <a:lnTo>
                  <a:pt x="62816" y="43074"/>
                </a:lnTo>
                <a:cubicBezTo>
                  <a:pt x="62816" y="40090"/>
                  <a:pt x="60416" y="37690"/>
                  <a:pt x="57432" y="37690"/>
                </a:cubicBezTo>
                <a:close/>
                <a:moveTo>
                  <a:pt x="63422" y="86148"/>
                </a:moveTo>
                <a:cubicBezTo>
                  <a:pt x="63558" y="83925"/>
                  <a:pt x="62449" y="81809"/>
                  <a:pt x="60543" y="80656"/>
                </a:cubicBezTo>
                <a:cubicBezTo>
                  <a:pt x="58637" y="79503"/>
                  <a:pt x="56249" y="79503"/>
                  <a:pt x="54343" y="80656"/>
                </a:cubicBezTo>
                <a:cubicBezTo>
                  <a:pt x="52437" y="81809"/>
                  <a:pt x="51328" y="83925"/>
                  <a:pt x="51464" y="86148"/>
                </a:cubicBezTo>
                <a:cubicBezTo>
                  <a:pt x="51328" y="88371"/>
                  <a:pt x="52437" y="90487"/>
                  <a:pt x="54343" y="91640"/>
                </a:cubicBezTo>
                <a:cubicBezTo>
                  <a:pt x="56249" y="92793"/>
                  <a:pt x="58637" y="92793"/>
                  <a:pt x="60543" y="91640"/>
                </a:cubicBezTo>
                <a:cubicBezTo>
                  <a:pt x="62449" y="90487"/>
                  <a:pt x="63558" y="88371"/>
                  <a:pt x="63422" y="86148"/>
                </a:cubicBezTo>
                <a:close/>
              </a:path>
            </a:pathLst>
          </a:custGeom>
          <a:solidFill>
            <a:srgbClr val="D32F2F"/>
          </a:solidFill>
          <a:ln/>
        </p:spPr>
      </p:sp>
      <p:sp>
        <p:nvSpPr>
          <p:cNvPr id="63" name="Text 61"/>
          <p:cNvSpPr/>
          <p:nvPr/>
        </p:nvSpPr>
        <p:spPr>
          <a:xfrm>
            <a:off x="6640784" y="5723513"/>
            <a:ext cx="1780393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财政赤字持续扩张的长期可持续性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431567" y="6324086"/>
            <a:ext cx="5267338" cy="6564"/>
          </a:xfrm>
          <a:custGeom>
            <a:avLst/>
            <a:gdLst/>
            <a:ahLst/>
            <a:cxnLst/>
            <a:rect l="l" t="t" r="r" b="b"/>
            <a:pathLst>
              <a:path w="5267338" h="6564">
                <a:moveTo>
                  <a:pt x="0" y="0"/>
                </a:moveTo>
                <a:lnTo>
                  <a:pt x="5267338" y="0"/>
                </a:lnTo>
                <a:lnTo>
                  <a:pt x="5267338" y="6564"/>
                </a:lnTo>
                <a:lnTo>
                  <a:pt x="0" y="6564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65" name="Shape 63"/>
          <p:cNvSpPr/>
          <p:nvPr/>
        </p:nvSpPr>
        <p:spPr>
          <a:xfrm>
            <a:off x="6447977" y="6115690"/>
            <a:ext cx="114864" cy="114864"/>
          </a:xfrm>
          <a:custGeom>
            <a:avLst/>
            <a:gdLst/>
            <a:ahLst/>
            <a:cxnLst/>
            <a:rect l="l" t="t" r="r" b="b"/>
            <a:pathLst>
              <a:path w="114864" h="114864">
                <a:moveTo>
                  <a:pt x="57432" y="0"/>
                </a:moveTo>
                <a:cubicBezTo>
                  <a:pt x="60730" y="0"/>
                  <a:pt x="63759" y="1817"/>
                  <a:pt x="65329" y="4711"/>
                </a:cubicBezTo>
                <a:lnTo>
                  <a:pt x="113787" y="94449"/>
                </a:lnTo>
                <a:cubicBezTo>
                  <a:pt x="115290" y="97231"/>
                  <a:pt x="115223" y="100596"/>
                  <a:pt x="113608" y="103310"/>
                </a:cubicBezTo>
                <a:cubicBezTo>
                  <a:pt x="111992" y="106025"/>
                  <a:pt x="109054" y="107685"/>
                  <a:pt x="105890" y="107685"/>
                </a:cubicBezTo>
                <a:lnTo>
                  <a:pt x="8974" y="107685"/>
                </a:lnTo>
                <a:cubicBezTo>
                  <a:pt x="5811" y="107685"/>
                  <a:pt x="2894" y="106025"/>
                  <a:pt x="1256" y="103310"/>
                </a:cubicBezTo>
                <a:cubicBezTo>
                  <a:pt x="-381" y="100596"/>
                  <a:pt x="-426" y="97231"/>
                  <a:pt x="1077" y="94449"/>
                </a:cubicBezTo>
                <a:lnTo>
                  <a:pt x="49535" y="4711"/>
                </a:lnTo>
                <a:cubicBezTo>
                  <a:pt x="51106" y="1817"/>
                  <a:pt x="54134" y="0"/>
                  <a:pt x="57432" y="0"/>
                </a:cubicBezTo>
                <a:close/>
                <a:moveTo>
                  <a:pt x="57432" y="37690"/>
                </a:moveTo>
                <a:cubicBezTo>
                  <a:pt x="54448" y="37690"/>
                  <a:pt x="52048" y="40090"/>
                  <a:pt x="52048" y="43074"/>
                </a:cubicBezTo>
                <a:lnTo>
                  <a:pt x="52048" y="68201"/>
                </a:lnTo>
                <a:cubicBezTo>
                  <a:pt x="52048" y="71184"/>
                  <a:pt x="54448" y="73585"/>
                  <a:pt x="57432" y="73585"/>
                </a:cubicBezTo>
                <a:cubicBezTo>
                  <a:pt x="60416" y="73585"/>
                  <a:pt x="62816" y="71184"/>
                  <a:pt x="62816" y="68201"/>
                </a:cubicBezTo>
                <a:lnTo>
                  <a:pt x="62816" y="43074"/>
                </a:lnTo>
                <a:cubicBezTo>
                  <a:pt x="62816" y="40090"/>
                  <a:pt x="60416" y="37690"/>
                  <a:pt x="57432" y="37690"/>
                </a:cubicBezTo>
                <a:close/>
                <a:moveTo>
                  <a:pt x="63422" y="86148"/>
                </a:moveTo>
                <a:cubicBezTo>
                  <a:pt x="63558" y="83925"/>
                  <a:pt x="62449" y="81809"/>
                  <a:pt x="60543" y="80656"/>
                </a:cubicBezTo>
                <a:cubicBezTo>
                  <a:pt x="58637" y="79503"/>
                  <a:pt x="56249" y="79503"/>
                  <a:pt x="54343" y="80656"/>
                </a:cubicBezTo>
                <a:cubicBezTo>
                  <a:pt x="52437" y="81809"/>
                  <a:pt x="51328" y="83925"/>
                  <a:pt x="51464" y="86148"/>
                </a:cubicBezTo>
                <a:cubicBezTo>
                  <a:pt x="51328" y="88371"/>
                  <a:pt x="52437" y="90487"/>
                  <a:pt x="54343" y="91640"/>
                </a:cubicBezTo>
                <a:cubicBezTo>
                  <a:pt x="56249" y="92793"/>
                  <a:pt x="58637" y="92793"/>
                  <a:pt x="60543" y="91640"/>
                </a:cubicBezTo>
                <a:cubicBezTo>
                  <a:pt x="62449" y="90487"/>
                  <a:pt x="63558" y="88371"/>
                  <a:pt x="63422" y="86148"/>
                </a:cubicBezTo>
                <a:close/>
              </a:path>
            </a:pathLst>
          </a:custGeom>
          <a:solidFill>
            <a:srgbClr val="D32F2F"/>
          </a:solidFill>
          <a:ln/>
        </p:spPr>
      </p:sp>
      <p:sp>
        <p:nvSpPr>
          <p:cNvPr id="66" name="Text 64"/>
          <p:cNvSpPr/>
          <p:nvPr/>
        </p:nvSpPr>
        <p:spPr>
          <a:xfrm>
            <a:off x="6640784" y="6091076"/>
            <a:ext cx="1788598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高利率环境下的债务servicing成本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447977" y="6483258"/>
            <a:ext cx="114864" cy="114864"/>
          </a:xfrm>
          <a:custGeom>
            <a:avLst/>
            <a:gdLst/>
            <a:ahLst/>
            <a:cxnLst/>
            <a:rect l="l" t="t" r="r" b="b"/>
            <a:pathLst>
              <a:path w="114864" h="114864">
                <a:moveTo>
                  <a:pt x="57432" y="0"/>
                </a:moveTo>
                <a:cubicBezTo>
                  <a:pt x="60730" y="0"/>
                  <a:pt x="63759" y="1817"/>
                  <a:pt x="65329" y="4711"/>
                </a:cubicBezTo>
                <a:lnTo>
                  <a:pt x="113787" y="94449"/>
                </a:lnTo>
                <a:cubicBezTo>
                  <a:pt x="115290" y="97231"/>
                  <a:pt x="115223" y="100596"/>
                  <a:pt x="113608" y="103310"/>
                </a:cubicBezTo>
                <a:cubicBezTo>
                  <a:pt x="111992" y="106025"/>
                  <a:pt x="109054" y="107685"/>
                  <a:pt x="105890" y="107685"/>
                </a:cubicBezTo>
                <a:lnTo>
                  <a:pt x="8974" y="107685"/>
                </a:lnTo>
                <a:cubicBezTo>
                  <a:pt x="5811" y="107685"/>
                  <a:pt x="2894" y="106025"/>
                  <a:pt x="1256" y="103310"/>
                </a:cubicBezTo>
                <a:cubicBezTo>
                  <a:pt x="-381" y="100596"/>
                  <a:pt x="-426" y="97231"/>
                  <a:pt x="1077" y="94449"/>
                </a:cubicBezTo>
                <a:lnTo>
                  <a:pt x="49535" y="4711"/>
                </a:lnTo>
                <a:cubicBezTo>
                  <a:pt x="51106" y="1817"/>
                  <a:pt x="54134" y="0"/>
                  <a:pt x="57432" y="0"/>
                </a:cubicBezTo>
                <a:close/>
                <a:moveTo>
                  <a:pt x="57432" y="37690"/>
                </a:moveTo>
                <a:cubicBezTo>
                  <a:pt x="54448" y="37690"/>
                  <a:pt x="52048" y="40090"/>
                  <a:pt x="52048" y="43074"/>
                </a:cubicBezTo>
                <a:lnTo>
                  <a:pt x="52048" y="68201"/>
                </a:lnTo>
                <a:cubicBezTo>
                  <a:pt x="52048" y="71184"/>
                  <a:pt x="54448" y="73585"/>
                  <a:pt x="57432" y="73585"/>
                </a:cubicBezTo>
                <a:cubicBezTo>
                  <a:pt x="60416" y="73585"/>
                  <a:pt x="62816" y="71184"/>
                  <a:pt x="62816" y="68201"/>
                </a:cubicBezTo>
                <a:lnTo>
                  <a:pt x="62816" y="43074"/>
                </a:lnTo>
                <a:cubicBezTo>
                  <a:pt x="62816" y="40090"/>
                  <a:pt x="60416" y="37690"/>
                  <a:pt x="57432" y="37690"/>
                </a:cubicBezTo>
                <a:close/>
                <a:moveTo>
                  <a:pt x="63422" y="86148"/>
                </a:moveTo>
                <a:cubicBezTo>
                  <a:pt x="63558" y="83925"/>
                  <a:pt x="62449" y="81809"/>
                  <a:pt x="60543" y="80656"/>
                </a:cubicBezTo>
                <a:cubicBezTo>
                  <a:pt x="58637" y="79503"/>
                  <a:pt x="56249" y="79503"/>
                  <a:pt x="54343" y="80656"/>
                </a:cubicBezTo>
                <a:cubicBezTo>
                  <a:pt x="52437" y="81809"/>
                  <a:pt x="51328" y="83925"/>
                  <a:pt x="51464" y="86148"/>
                </a:cubicBezTo>
                <a:cubicBezTo>
                  <a:pt x="51328" y="88371"/>
                  <a:pt x="52437" y="90487"/>
                  <a:pt x="54343" y="91640"/>
                </a:cubicBezTo>
                <a:cubicBezTo>
                  <a:pt x="56249" y="92793"/>
                  <a:pt x="58637" y="92793"/>
                  <a:pt x="60543" y="91640"/>
                </a:cubicBezTo>
                <a:cubicBezTo>
                  <a:pt x="62449" y="90487"/>
                  <a:pt x="63558" y="88371"/>
                  <a:pt x="63422" y="86148"/>
                </a:cubicBezTo>
                <a:close/>
              </a:path>
            </a:pathLst>
          </a:custGeom>
          <a:solidFill>
            <a:srgbClr val="D32F2F"/>
          </a:solidFill>
          <a:ln/>
        </p:spPr>
      </p:sp>
      <p:sp>
        <p:nvSpPr>
          <p:cNvPr id="68" name="Text 66"/>
          <p:cNvSpPr/>
          <p:nvPr/>
        </p:nvSpPr>
        <p:spPr>
          <a:xfrm>
            <a:off x="6640784" y="6458644"/>
            <a:ext cx="1895257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季度末TGA变化对市场流动性的影响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328183" y="5447838"/>
            <a:ext cx="11584861" cy="131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5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重要声明：本报告基于历史路径经验推断，非实时数据驱动。历史表现不代表未来结果，经济环境可能发生结构性变化导致历史规律失效。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MONETARY POLICY FORECAST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D1D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货币政策预测：三情景分析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19200"/>
            <a:ext cx="4572000" cy="3371850"/>
          </a:xfrm>
          <a:custGeom>
            <a:avLst/>
            <a:gdLst/>
            <a:ahLst/>
            <a:cxnLst/>
            <a:rect l="l" t="t" r="r" b="b"/>
            <a:pathLst>
              <a:path w="4572000" h="3371850">
                <a:moveTo>
                  <a:pt x="76204" y="0"/>
                </a:moveTo>
                <a:lnTo>
                  <a:pt x="4495796" y="0"/>
                </a:lnTo>
                <a:cubicBezTo>
                  <a:pt x="4537882" y="0"/>
                  <a:pt x="4572000" y="34118"/>
                  <a:pt x="4572000" y="76204"/>
                </a:cubicBezTo>
                <a:lnTo>
                  <a:pt x="4572000" y="3295646"/>
                </a:lnTo>
                <a:cubicBezTo>
                  <a:pt x="4572000" y="3337732"/>
                  <a:pt x="4537882" y="3371850"/>
                  <a:pt x="4495796" y="3371850"/>
                </a:cubicBezTo>
                <a:lnTo>
                  <a:pt x="76204" y="3371850"/>
                </a:lnTo>
                <a:cubicBezTo>
                  <a:pt x="34118" y="3371850"/>
                  <a:pt x="0" y="3337732"/>
                  <a:pt x="0" y="329564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" name="Text 3"/>
          <p:cNvSpPr/>
          <p:nvPr/>
        </p:nvSpPr>
        <p:spPr>
          <a:xfrm>
            <a:off x="571500" y="146685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AFA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基线情景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088011" y="1409700"/>
            <a:ext cx="847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AFA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65%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1500" y="1943100"/>
            <a:ext cx="4257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AFAFA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最可能 | Gradual Easing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8884" y="23241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AFAFA"/>
          </a:solidFill>
          <a:ln/>
        </p:spPr>
      </p:sp>
      <p:sp>
        <p:nvSpPr>
          <p:cNvPr id="9" name="Text 7"/>
          <p:cNvSpPr/>
          <p:nvPr/>
        </p:nvSpPr>
        <p:spPr>
          <a:xfrm>
            <a:off x="814388" y="2286000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AFA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核心PCE持续低于2.5%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8884" y="26289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AFAFA"/>
          </a:solidFill>
          <a:ln/>
        </p:spPr>
      </p:sp>
      <p:sp>
        <p:nvSpPr>
          <p:cNvPr id="11" name="Text 9"/>
          <p:cNvSpPr/>
          <p:nvPr/>
        </p:nvSpPr>
        <p:spPr>
          <a:xfrm>
            <a:off x="814388" y="2590800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AFA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失业率维持在4.0-4.5%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8884" y="29337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AFAFA"/>
          </a:solidFill>
          <a:ln/>
        </p:spPr>
      </p:sp>
      <p:sp>
        <p:nvSpPr>
          <p:cNvPr id="13" name="Text 11"/>
          <p:cNvSpPr/>
          <p:nvPr/>
        </p:nvSpPr>
        <p:spPr>
          <a:xfrm>
            <a:off x="814388" y="2895600"/>
            <a:ext cx="146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AFA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GDP增速保持在2%以上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1500" y="3242310"/>
            <a:ext cx="4191000" cy="7620"/>
          </a:xfrm>
          <a:custGeom>
            <a:avLst/>
            <a:gdLst/>
            <a:ahLst/>
            <a:cxnLst/>
            <a:rect l="l" t="t" r="r" b="b"/>
            <a:pathLst>
              <a:path w="4191000" h="7620">
                <a:moveTo>
                  <a:pt x="0" y="0"/>
                </a:moveTo>
                <a:lnTo>
                  <a:pt x="4191000" y="0"/>
                </a:lnTo>
                <a:lnTo>
                  <a:pt x="4191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AFAFA">
              <a:alpha val="3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71500" y="3398523"/>
            <a:ext cx="4257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AFAFA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历史类比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1500" y="3589023"/>
            <a:ext cx="426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AFA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1995年、2019年软着陆模式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4810" y="4751664"/>
            <a:ext cx="2198370" cy="1417320"/>
          </a:xfrm>
          <a:custGeom>
            <a:avLst/>
            <a:gdLst/>
            <a:ahLst/>
            <a:cxnLst/>
            <a:rect l="l" t="t" r="r" b="b"/>
            <a:pathLst>
              <a:path w="2198370" h="1417320">
                <a:moveTo>
                  <a:pt x="76195" y="0"/>
                </a:moveTo>
                <a:lnTo>
                  <a:pt x="2122175" y="0"/>
                </a:lnTo>
                <a:cubicBezTo>
                  <a:pt x="2164256" y="0"/>
                  <a:pt x="2198370" y="34114"/>
                  <a:pt x="2198370" y="76195"/>
                </a:cubicBezTo>
                <a:lnTo>
                  <a:pt x="2198370" y="1341125"/>
                </a:lnTo>
                <a:cubicBezTo>
                  <a:pt x="2198370" y="1383206"/>
                  <a:pt x="2164256" y="1417320"/>
                  <a:pt x="2122175" y="1417320"/>
                </a:cubicBezTo>
                <a:lnTo>
                  <a:pt x="76195" y="1417320"/>
                </a:lnTo>
                <a:cubicBezTo>
                  <a:pt x="34114" y="1417320"/>
                  <a:pt x="0" y="1383206"/>
                  <a:pt x="0" y="134112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1020" y="494585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鹰派情景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985010" y="4907877"/>
            <a:ext cx="561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32F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1020" y="5288756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维持高利率更久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1020" y="5517240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触发条件：通胀反弹至3%以上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1020" y="5707619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历史类比：2006-2007年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747010" y="4751664"/>
            <a:ext cx="2198370" cy="1417320"/>
          </a:xfrm>
          <a:custGeom>
            <a:avLst/>
            <a:gdLst/>
            <a:ahLst/>
            <a:cxnLst/>
            <a:rect l="l" t="t" r="r" b="b"/>
            <a:pathLst>
              <a:path w="2198370" h="1417320">
                <a:moveTo>
                  <a:pt x="76195" y="0"/>
                </a:moveTo>
                <a:lnTo>
                  <a:pt x="2122175" y="0"/>
                </a:lnTo>
                <a:cubicBezTo>
                  <a:pt x="2164256" y="0"/>
                  <a:pt x="2198370" y="34114"/>
                  <a:pt x="2198370" y="76195"/>
                </a:cubicBezTo>
                <a:lnTo>
                  <a:pt x="2198370" y="1341125"/>
                </a:lnTo>
                <a:cubicBezTo>
                  <a:pt x="2198370" y="1383206"/>
                  <a:pt x="2164256" y="1417320"/>
                  <a:pt x="2122175" y="1417320"/>
                </a:cubicBezTo>
                <a:lnTo>
                  <a:pt x="76195" y="1417320"/>
                </a:lnTo>
                <a:cubicBezTo>
                  <a:pt x="34114" y="1417320"/>
                  <a:pt x="0" y="1383206"/>
                  <a:pt x="0" y="134112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03220" y="494585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鸽派情景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374356" y="4907877"/>
            <a:ext cx="53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903220" y="5288756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加速降息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903220" y="5517240"/>
            <a:ext cx="194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触发条件：失业率快速上升至4.5%以上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903220" y="5859898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历史类比：2001年、2019年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147310" y="1223010"/>
            <a:ext cx="6656070" cy="4941570"/>
          </a:xfrm>
          <a:custGeom>
            <a:avLst/>
            <a:gdLst/>
            <a:ahLst/>
            <a:cxnLst/>
            <a:rect l="l" t="t" r="r" b="b"/>
            <a:pathLst>
              <a:path w="6656070" h="4941570">
                <a:moveTo>
                  <a:pt x="76199" y="0"/>
                </a:moveTo>
                <a:lnTo>
                  <a:pt x="6579871" y="0"/>
                </a:lnTo>
                <a:cubicBezTo>
                  <a:pt x="6621955" y="0"/>
                  <a:pt x="6656070" y="34115"/>
                  <a:pt x="6656070" y="76199"/>
                </a:cubicBezTo>
                <a:lnTo>
                  <a:pt x="6656070" y="4865371"/>
                </a:lnTo>
                <a:cubicBezTo>
                  <a:pt x="6656070" y="4907455"/>
                  <a:pt x="6621955" y="4941570"/>
                  <a:pt x="6579871" y="4941570"/>
                </a:cubicBezTo>
                <a:lnTo>
                  <a:pt x="76199" y="4941570"/>
                </a:lnTo>
                <a:cubicBezTo>
                  <a:pt x="34115" y="4941570"/>
                  <a:pt x="0" y="4907455"/>
                  <a:pt x="0" y="4865371"/>
                </a:cubicBezTo>
                <a:lnTo>
                  <a:pt x="0" y="76199"/>
                </a:lnTo>
                <a:cubicBezTo>
                  <a:pt x="0" y="34115"/>
                  <a:pt x="34115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41620" y="1417323"/>
            <a:ext cx="6353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基线情景：渐进式降息路径</a:t>
            </a:r>
            <a:endParaRPr lang="en-US" sz="1600" dirty="0"/>
          </a:p>
        </p:txBody>
      </p:sp>
      <p:pic>
        <p:nvPicPr>
          <p:cNvPr id="31" name="Image 0" descr="https://kimi-img.moonshot.cn/pub/slides/26-03-04-18:00:19-d6k05cschmtkh5gavhig.png">    </p:cNvPr>
          <p:cNvPicPr>
            <a:picLocks noChangeAspect="1"/>
          </p:cNvPicPr>
          <p:nvPr/>
        </p:nvPicPr>
        <p:blipFill>
          <a:blip r:embed="rId1"/>
          <a:srcRect l="33" r="33" t="0" b="0"/>
          <a:stretch/>
        </p:blipFill>
        <p:spPr>
          <a:xfrm>
            <a:off x="5341620" y="1836423"/>
            <a:ext cx="6267450" cy="2990850"/>
          </a:xfrm>
          <a:prstGeom prst="roundRect">
            <a:avLst>
              <a:gd name="adj" fmla="val 0"/>
            </a:avLst>
          </a:prstGeom>
        </p:spPr>
      </p:pic>
      <p:sp>
        <p:nvSpPr>
          <p:cNvPr id="32" name="Shape 29"/>
          <p:cNvSpPr/>
          <p:nvPr/>
        </p:nvSpPr>
        <p:spPr>
          <a:xfrm>
            <a:off x="5341620" y="4983482"/>
            <a:ext cx="6267450" cy="990600"/>
          </a:xfrm>
          <a:custGeom>
            <a:avLst/>
            <a:gdLst/>
            <a:ahLst/>
            <a:cxnLst/>
            <a:rect l="l" t="t" r="r" b="b"/>
            <a:pathLst>
              <a:path w="6267450" h="990600">
                <a:moveTo>
                  <a:pt x="76197" y="0"/>
                </a:moveTo>
                <a:lnTo>
                  <a:pt x="6191253" y="0"/>
                </a:lnTo>
                <a:cubicBezTo>
                  <a:pt x="6233335" y="0"/>
                  <a:pt x="6267450" y="34115"/>
                  <a:pt x="6267450" y="76197"/>
                </a:cubicBezTo>
                <a:lnTo>
                  <a:pt x="6267450" y="914403"/>
                </a:lnTo>
                <a:cubicBezTo>
                  <a:pt x="6267450" y="956485"/>
                  <a:pt x="6233335" y="990600"/>
                  <a:pt x="6191253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5532120" y="5173982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4" name="Text 31"/>
          <p:cNvSpPr/>
          <p:nvPr/>
        </p:nvSpPr>
        <p:spPr>
          <a:xfrm>
            <a:off x="5760720" y="513588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核心洞察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494020" y="5440682"/>
            <a:ext cx="60293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历史经验显示，当前最可能的情景是1995年式软着陆，美联储将在2026年实施渐进式降息，全年累计降息75-100个基点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381000" y="6324600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重要声明：本报告基于历史路径经验推断，非实时数据驱动。历史表现不代表未来结果，经济环境可能发生结构性变化导致历史规律失效。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HISTORICAL COMPARISON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D1D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历史情景推演：相似度评估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223010"/>
            <a:ext cx="5703570" cy="3474720"/>
          </a:xfrm>
          <a:custGeom>
            <a:avLst/>
            <a:gdLst/>
            <a:ahLst/>
            <a:cxnLst/>
            <a:rect l="l" t="t" r="r" b="b"/>
            <a:pathLst>
              <a:path w="5703570" h="3474720">
                <a:moveTo>
                  <a:pt x="76201" y="0"/>
                </a:moveTo>
                <a:lnTo>
                  <a:pt x="5627369" y="0"/>
                </a:lnTo>
                <a:cubicBezTo>
                  <a:pt x="5669454" y="0"/>
                  <a:pt x="5703570" y="34116"/>
                  <a:pt x="5703570" y="76201"/>
                </a:cubicBezTo>
                <a:lnTo>
                  <a:pt x="5703570" y="3398519"/>
                </a:lnTo>
                <a:cubicBezTo>
                  <a:pt x="5703570" y="3440604"/>
                  <a:pt x="5669454" y="3474720"/>
                  <a:pt x="5627369" y="3474720"/>
                </a:cubicBezTo>
                <a:lnTo>
                  <a:pt x="76201" y="3474720"/>
                </a:lnTo>
                <a:cubicBezTo>
                  <a:pt x="34116" y="3474720"/>
                  <a:pt x="0" y="3440604"/>
                  <a:pt x="0" y="33985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9120" y="1417323"/>
            <a:ext cx="540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与历史周期的相似度评估</a:t>
            </a:r>
            <a:endParaRPr lang="en-US" sz="1600" dirty="0"/>
          </a:p>
        </p:txBody>
      </p:sp>
      <p:pic>
        <p:nvPicPr>
          <p:cNvPr id="6" name="Image 0" descr="https://kimi-img.moonshot.cn/pub/slides/26-03-04-18:00:19-d6k05co9ma9hvtsteeh0.png">    </p:cNvPr>
          <p:cNvPicPr>
            <a:picLocks noChangeAspect="1"/>
          </p:cNvPicPr>
          <p:nvPr/>
        </p:nvPicPr>
        <p:blipFill>
          <a:blip r:embed="rId1"/>
          <a:srcRect l="0" r="0" t="36" b="36"/>
          <a:stretch/>
        </p:blipFill>
        <p:spPr>
          <a:xfrm>
            <a:off x="579120" y="1836423"/>
            <a:ext cx="5314950" cy="2095500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579120" y="4084323"/>
            <a:ext cx="5314950" cy="419100"/>
          </a:xfrm>
          <a:custGeom>
            <a:avLst/>
            <a:gdLst/>
            <a:ahLst/>
            <a:cxnLst/>
            <a:rect l="l" t="t" r="r" b="b"/>
            <a:pathLst>
              <a:path w="5314950" h="419100">
                <a:moveTo>
                  <a:pt x="38100" y="0"/>
                </a:moveTo>
                <a:lnTo>
                  <a:pt x="5276850" y="0"/>
                </a:lnTo>
                <a:cubicBezTo>
                  <a:pt x="5297892" y="0"/>
                  <a:pt x="5314950" y="17058"/>
                  <a:pt x="5314950" y="38100"/>
                </a:cubicBezTo>
                <a:lnTo>
                  <a:pt x="5314950" y="381000"/>
                </a:lnTo>
                <a:cubicBezTo>
                  <a:pt x="5314950" y="402042"/>
                  <a:pt x="5297892" y="419100"/>
                  <a:pt x="527685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712470" y="422148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58341" y="41672"/>
                </a:moveTo>
                <a:cubicBezTo>
                  <a:pt x="58341" y="37072"/>
                  <a:pt x="62075" y="33337"/>
                  <a:pt x="66675" y="33337"/>
                </a:cubicBezTo>
                <a:cubicBezTo>
                  <a:pt x="71275" y="33337"/>
                  <a:pt x="75009" y="37072"/>
                  <a:pt x="75009" y="41672"/>
                </a:cubicBezTo>
                <a:cubicBezTo>
                  <a:pt x="75009" y="46272"/>
                  <a:pt x="71275" y="50006"/>
                  <a:pt x="66675" y="50006"/>
                </a:cubicBezTo>
                <a:cubicBezTo>
                  <a:pt x="62075" y="50006"/>
                  <a:pt x="58341" y="46272"/>
                  <a:pt x="58341" y="41672"/>
                </a:cubicBezTo>
                <a:close/>
                <a:moveTo>
                  <a:pt x="56257" y="58341"/>
                </a:moveTo>
                <a:lnTo>
                  <a:pt x="68759" y="58341"/>
                </a:lnTo>
                <a:cubicBezTo>
                  <a:pt x="72223" y="58341"/>
                  <a:pt x="75009" y="61127"/>
                  <a:pt x="75009" y="64591"/>
                </a:cubicBezTo>
                <a:lnTo>
                  <a:pt x="75009" y="87511"/>
                </a:ln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56257" y="100013"/>
                </a:lnTo>
                <a:cubicBezTo>
                  <a:pt x="52793" y="100013"/>
                  <a:pt x="50006" y="97226"/>
                  <a:pt x="50006" y="93762"/>
                </a:cubicBezTo>
                <a:cubicBezTo>
                  <a:pt x="50006" y="90298"/>
                  <a:pt x="52793" y="87511"/>
                  <a:pt x="56257" y="87511"/>
                </a:cubicBezTo>
                <a:lnTo>
                  <a:pt x="62508" y="87511"/>
                </a:lnTo>
                <a:lnTo>
                  <a:pt x="62508" y="70842"/>
                </a:lnTo>
                <a:lnTo>
                  <a:pt x="56257" y="70842"/>
                </a:lnTo>
                <a:cubicBezTo>
                  <a:pt x="52793" y="70842"/>
                  <a:pt x="50006" y="68055"/>
                  <a:pt x="50006" y="64591"/>
                </a:cubicBezTo>
                <a:cubicBezTo>
                  <a:pt x="50006" y="61127"/>
                  <a:pt x="52793" y="58341"/>
                  <a:pt x="56257" y="58341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9" name="Text 6"/>
          <p:cNvSpPr/>
          <p:nvPr/>
        </p:nvSpPr>
        <p:spPr>
          <a:xfrm>
            <a:off x="922020" y="4198623"/>
            <a:ext cx="492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整体置信度：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60-70%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4810" y="4857751"/>
            <a:ext cx="5703570" cy="1512570"/>
          </a:xfrm>
          <a:custGeom>
            <a:avLst/>
            <a:gdLst/>
            <a:ahLst/>
            <a:cxnLst/>
            <a:rect l="l" t="t" r="r" b="b"/>
            <a:pathLst>
              <a:path w="5703570" h="1512570">
                <a:moveTo>
                  <a:pt x="76203" y="0"/>
                </a:moveTo>
                <a:lnTo>
                  <a:pt x="5627367" y="0"/>
                </a:lnTo>
                <a:cubicBezTo>
                  <a:pt x="5669453" y="0"/>
                  <a:pt x="5703570" y="34117"/>
                  <a:pt x="5703570" y="76203"/>
                </a:cubicBezTo>
                <a:lnTo>
                  <a:pt x="5703570" y="1436367"/>
                </a:lnTo>
                <a:cubicBezTo>
                  <a:pt x="5703570" y="1478453"/>
                  <a:pt x="5669453" y="1512570"/>
                  <a:pt x="5627367" y="1512570"/>
                </a:cubicBezTo>
                <a:lnTo>
                  <a:pt x="76203" y="1512570"/>
                </a:lnTo>
                <a:cubicBezTo>
                  <a:pt x="34117" y="1512570"/>
                  <a:pt x="0" y="1478453"/>
                  <a:pt x="0" y="1436367"/>
                </a:cubicBezTo>
                <a:lnTo>
                  <a:pt x="0" y="76203"/>
                </a:lnTo>
                <a:cubicBezTo>
                  <a:pt x="0" y="34146"/>
                  <a:pt x="34146" y="0"/>
                  <a:pt x="7620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9120" y="5052059"/>
            <a:ext cx="540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核心判断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98170" y="5433059"/>
            <a:ext cx="5295900" cy="742950"/>
          </a:xfrm>
          <a:custGeom>
            <a:avLst/>
            <a:gdLst/>
            <a:ahLst/>
            <a:cxnLst/>
            <a:rect l="l" t="t" r="r" b="b"/>
            <a:pathLst>
              <a:path w="5295900" h="742950">
                <a:moveTo>
                  <a:pt x="38100" y="0"/>
                </a:moveTo>
                <a:lnTo>
                  <a:pt x="5219703" y="0"/>
                </a:lnTo>
                <a:cubicBezTo>
                  <a:pt x="5261785" y="0"/>
                  <a:pt x="5295900" y="34115"/>
                  <a:pt x="5295900" y="76197"/>
                </a:cubicBezTo>
                <a:lnTo>
                  <a:pt x="5295900" y="666753"/>
                </a:lnTo>
                <a:cubicBezTo>
                  <a:pt x="5295900" y="708835"/>
                  <a:pt x="5261785" y="742950"/>
                  <a:pt x="5219703" y="742950"/>
                </a:cubicBezTo>
                <a:lnTo>
                  <a:pt x="38100" y="742950"/>
                </a:lnTo>
                <a:cubicBezTo>
                  <a:pt x="17072" y="742950"/>
                  <a:pt x="0" y="725878"/>
                  <a:pt x="0" y="704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98170" y="5433059"/>
            <a:ext cx="38100" cy="742950"/>
          </a:xfrm>
          <a:custGeom>
            <a:avLst/>
            <a:gdLst/>
            <a:ahLst/>
            <a:cxnLst/>
            <a:rect l="l" t="t" r="r" b="b"/>
            <a:pathLst>
              <a:path w="38100" h="742950">
                <a:moveTo>
                  <a:pt x="38100" y="0"/>
                </a:moveTo>
                <a:lnTo>
                  <a:pt x="38100" y="0"/>
                </a:lnTo>
                <a:lnTo>
                  <a:pt x="38100" y="742950"/>
                </a:lnTo>
                <a:lnTo>
                  <a:pt x="38100" y="742950"/>
                </a:lnTo>
                <a:cubicBezTo>
                  <a:pt x="17072" y="742950"/>
                  <a:pt x="0" y="725878"/>
                  <a:pt x="0" y="704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4" name="Text 11"/>
          <p:cNvSpPr/>
          <p:nvPr/>
        </p:nvSpPr>
        <p:spPr>
          <a:xfrm>
            <a:off x="769620" y="5585459"/>
            <a:ext cx="50387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当前最可能的情景是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1995年式软着陆（70%相似度）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，但AI革命、高债务等结构性差异需要谨慎对待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290310" y="1223010"/>
            <a:ext cx="5513070" cy="4941570"/>
          </a:xfrm>
          <a:custGeom>
            <a:avLst/>
            <a:gdLst/>
            <a:ahLst/>
            <a:cxnLst/>
            <a:rect l="l" t="t" r="r" b="b"/>
            <a:pathLst>
              <a:path w="5513070" h="4941570">
                <a:moveTo>
                  <a:pt x="76199" y="0"/>
                </a:moveTo>
                <a:lnTo>
                  <a:pt x="5436871" y="0"/>
                </a:lnTo>
                <a:cubicBezTo>
                  <a:pt x="5478955" y="0"/>
                  <a:pt x="5513070" y="34115"/>
                  <a:pt x="5513070" y="76199"/>
                </a:cubicBezTo>
                <a:lnTo>
                  <a:pt x="5513070" y="4865371"/>
                </a:lnTo>
                <a:cubicBezTo>
                  <a:pt x="5513070" y="4907455"/>
                  <a:pt x="5478955" y="4941570"/>
                  <a:pt x="5436871" y="4941570"/>
                </a:cubicBezTo>
                <a:lnTo>
                  <a:pt x="76199" y="4941570"/>
                </a:lnTo>
                <a:cubicBezTo>
                  <a:pt x="34115" y="4941570"/>
                  <a:pt x="0" y="4907455"/>
                  <a:pt x="0" y="4865371"/>
                </a:cubicBezTo>
                <a:lnTo>
                  <a:pt x="0" y="76199"/>
                </a:lnTo>
                <a:cubicBezTo>
                  <a:pt x="0" y="34115"/>
                  <a:pt x="34115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84620" y="1417323"/>
            <a:ext cx="5210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与历史周期的关键差异点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503670" y="1836423"/>
            <a:ext cx="5105400" cy="990600"/>
          </a:xfrm>
          <a:custGeom>
            <a:avLst/>
            <a:gdLst/>
            <a:ahLst/>
            <a:cxnLst/>
            <a:rect l="l" t="t" r="r" b="b"/>
            <a:pathLst>
              <a:path w="5105400" h="990600">
                <a:moveTo>
                  <a:pt x="38100" y="0"/>
                </a:moveTo>
                <a:lnTo>
                  <a:pt x="5029203" y="0"/>
                </a:lnTo>
                <a:cubicBezTo>
                  <a:pt x="5071285" y="0"/>
                  <a:pt x="5105400" y="34115"/>
                  <a:pt x="5105400" y="76197"/>
                </a:cubicBezTo>
                <a:lnTo>
                  <a:pt x="5105400" y="914403"/>
                </a:lnTo>
                <a:cubicBezTo>
                  <a:pt x="5105400" y="956485"/>
                  <a:pt x="5071285" y="990600"/>
                  <a:pt x="5029203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AFAFA"/>
          </a:solidFill>
          <a:ln/>
        </p:spPr>
      </p:sp>
      <p:sp>
        <p:nvSpPr>
          <p:cNvPr id="18" name="Shape 15"/>
          <p:cNvSpPr/>
          <p:nvPr/>
        </p:nvSpPr>
        <p:spPr>
          <a:xfrm>
            <a:off x="6503670" y="1836423"/>
            <a:ext cx="38100" cy="990600"/>
          </a:xfrm>
          <a:custGeom>
            <a:avLst/>
            <a:gdLst/>
            <a:ahLst/>
            <a:cxnLst/>
            <a:rect l="l" t="t" r="r" b="b"/>
            <a:pathLst>
              <a:path w="38100" h="9906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9" name="Text 16"/>
          <p:cNvSpPr/>
          <p:nvPr/>
        </p:nvSpPr>
        <p:spPr>
          <a:xfrm>
            <a:off x="6675120" y="1988823"/>
            <a:ext cx="81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AI技术革命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0736581" y="1988823"/>
            <a:ext cx="723900" cy="228600"/>
          </a:xfrm>
          <a:custGeom>
            <a:avLst/>
            <a:gdLst/>
            <a:ahLst/>
            <a:cxnLst/>
            <a:rect l="l" t="t" r="r" b="b"/>
            <a:pathLst>
              <a:path w="723900" h="228600">
                <a:moveTo>
                  <a:pt x="38101" y="0"/>
                </a:moveTo>
                <a:lnTo>
                  <a:pt x="685799" y="0"/>
                </a:lnTo>
                <a:cubicBezTo>
                  <a:pt x="706842" y="0"/>
                  <a:pt x="723900" y="17058"/>
                  <a:pt x="723900" y="38101"/>
                </a:cubicBezTo>
                <a:lnTo>
                  <a:pt x="723900" y="190499"/>
                </a:lnTo>
                <a:cubicBezTo>
                  <a:pt x="723900" y="211542"/>
                  <a:pt x="706842" y="228600"/>
                  <a:pt x="6857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10736581" y="1988823"/>
            <a:ext cx="7810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无历史先例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675120" y="2293623"/>
            <a:ext cx="48482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可能改变生产率增长轨迹。AI革命速度更快、影响更广，难以用历史经验量化评估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503670" y="2941323"/>
            <a:ext cx="5105400" cy="800100"/>
          </a:xfrm>
          <a:custGeom>
            <a:avLst/>
            <a:gdLst/>
            <a:ahLst/>
            <a:cxnLst/>
            <a:rect l="l" t="t" r="r" b="b"/>
            <a:pathLst>
              <a:path w="5105400" h="800100">
                <a:moveTo>
                  <a:pt x="38100" y="0"/>
                </a:moveTo>
                <a:lnTo>
                  <a:pt x="5029198" y="0"/>
                </a:lnTo>
                <a:cubicBezTo>
                  <a:pt x="5071283" y="0"/>
                  <a:pt x="5105400" y="34117"/>
                  <a:pt x="5105400" y="76202"/>
                </a:cubicBezTo>
                <a:lnTo>
                  <a:pt x="5105400" y="723898"/>
                </a:lnTo>
                <a:cubicBezTo>
                  <a:pt x="5105400" y="765983"/>
                  <a:pt x="5071283" y="800100"/>
                  <a:pt x="5029198" y="800100"/>
                </a:cubicBez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AFAFA"/>
          </a:solidFill>
          <a:ln/>
        </p:spPr>
      </p:sp>
      <p:sp>
        <p:nvSpPr>
          <p:cNvPr id="24" name="Shape 21"/>
          <p:cNvSpPr/>
          <p:nvPr/>
        </p:nvSpPr>
        <p:spPr>
          <a:xfrm>
            <a:off x="6503670" y="2941323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3810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25" name="Text 22"/>
          <p:cNvSpPr/>
          <p:nvPr/>
        </p:nvSpPr>
        <p:spPr>
          <a:xfrm>
            <a:off x="6675120" y="3093723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供应链重构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0736581" y="3093723"/>
            <a:ext cx="723900" cy="228600"/>
          </a:xfrm>
          <a:custGeom>
            <a:avLst/>
            <a:gdLst/>
            <a:ahLst/>
            <a:cxnLst/>
            <a:rect l="l" t="t" r="r" b="b"/>
            <a:pathLst>
              <a:path w="723900" h="228600">
                <a:moveTo>
                  <a:pt x="38101" y="0"/>
                </a:moveTo>
                <a:lnTo>
                  <a:pt x="685799" y="0"/>
                </a:lnTo>
                <a:cubicBezTo>
                  <a:pt x="706842" y="0"/>
                  <a:pt x="723900" y="17058"/>
                  <a:pt x="723900" y="38101"/>
                </a:cubicBezTo>
                <a:lnTo>
                  <a:pt x="723900" y="190499"/>
                </a:lnTo>
                <a:cubicBezTo>
                  <a:pt x="723900" y="211542"/>
                  <a:pt x="706842" y="228600"/>
                  <a:pt x="6857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86868B">
              <a:alpha val="10196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10736581" y="3093723"/>
            <a:ext cx="7810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全球化逆转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675120" y="3398523"/>
            <a:ext cx="484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通胀粘性可能更强。逆全球化趋势下，供应链重构带来持续的供给约束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503670" y="3855723"/>
            <a:ext cx="5105400" cy="990600"/>
          </a:xfrm>
          <a:custGeom>
            <a:avLst/>
            <a:gdLst/>
            <a:ahLst/>
            <a:cxnLst/>
            <a:rect l="l" t="t" r="r" b="b"/>
            <a:pathLst>
              <a:path w="5105400" h="990600">
                <a:moveTo>
                  <a:pt x="38100" y="0"/>
                </a:moveTo>
                <a:lnTo>
                  <a:pt x="5029203" y="0"/>
                </a:lnTo>
                <a:cubicBezTo>
                  <a:pt x="5071285" y="0"/>
                  <a:pt x="5105400" y="34115"/>
                  <a:pt x="5105400" y="76197"/>
                </a:cubicBezTo>
                <a:lnTo>
                  <a:pt x="5105400" y="914403"/>
                </a:lnTo>
                <a:cubicBezTo>
                  <a:pt x="5105400" y="956485"/>
                  <a:pt x="5071285" y="990600"/>
                  <a:pt x="5029203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AFAFA"/>
          </a:solidFill>
          <a:ln/>
        </p:spPr>
      </p:sp>
      <p:sp>
        <p:nvSpPr>
          <p:cNvPr id="30" name="Shape 27"/>
          <p:cNvSpPr/>
          <p:nvPr/>
        </p:nvSpPr>
        <p:spPr>
          <a:xfrm>
            <a:off x="6503670" y="3855723"/>
            <a:ext cx="38100" cy="990600"/>
          </a:xfrm>
          <a:custGeom>
            <a:avLst/>
            <a:gdLst/>
            <a:ahLst/>
            <a:cxnLst/>
            <a:rect l="l" t="t" r="r" b="b"/>
            <a:pathLst>
              <a:path w="38100" h="9906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32F2F"/>
          </a:solidFill>
          <a:ln/>
        </p:spPr>
      </p:sp>
      <p:sp>
        <p:nvSpPr>
          <p:cNvPr id="31" name="Text 28"/>
          <p:cNvSpPr/>
          <p:nvPr/>
        </p:nvSpPr>
        <p:spPr>
          <a:xfrm>
            <a:off x="6675120" y="4008123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债务水平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10850881" y="4008123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38101" y="0"/>
                </a:moveTo>
                <a:lnTo>
                  <a:pt x="571499" y="0"/>
                </a:lnTo>
                <a:cubicBezTo>
                  <a:pt x="592542" y="0"/>
                  <a:pt x="609600" y="17058"/>
                  <a:pt x="609600" y="38101"/>
                </a:cubicBezTo>
                <a:lnTo>
                  <a:pt x="609600" y="190499"/>
                </a:lnTo>
                <a:cubicBezTo>
                  <a:pt x="609600" y="211542"/>
                  <a:pt x="592542" y="228600"/>
                  <a:pt x="571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D32F2F">
              <a:alpha val="10196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10850881" y="4008123"/>
            <a:ext cx="6667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D32F2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历史高位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675120" y="4312923"/>
            <a:ext cx="48482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政府债务/GDP处于历史高位(120-125%)，政策空间受限。高债务约束是前所未有的挑战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503670" y="4960623"/>
            <a:ext cx="5105400" cy="800100"/>
          </a:xfrm>
          <a:custGeom>
            <a:avLst/>
            <a:gdLst/>
            <a:ahLst/>
            <a:cxnLst/>
            <a:rect l="l" t="t" r="r" b="b"/>
            <a:pathLst>
              <a:path w="5105400" h="800100">
                <a:moveTo>
                  <a:pt x="38100" y="0"/>
                </a:moveTo>
                <a:lnTo>
                  <a:pt x="5029198" y="0"/>
                </a:lnTo>
                <a:cubicBezTo>
                  <a:pt x="5071283" y="0"/>
                  <a:pt x="5105400" y="34117"/>
                  <a:pt x="5105400" y="76202"/>
                </a:cubicBezTo>
                <a:lnTo>
                  <a:pt x="5105400" y="723898"/>
                </a:lnTo>
                <a:cubicBezTo>
                  <a:pt x="5105400" y="765983"/>
                  <a:pt x="5071283" y="800100"/>
                  <a:pt x="5029198" y="800100"/>
                </a:cubicBez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AFAFA"/>
          </a:solidFill>
          <a:ln/>
        </p:spPr>
      </p:sp>
      <p:sp>
        <p:nvSpPr>
          <p:cNvPr id="36" name="Shape 33"/>
          <p:cNvSpPr/>
          <p:nvPr/>
        </p:nvSpPr>
        <p:spPr>
          <a:xfrm>
            <a:off x="6503670" y="4960623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3810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37" name="Text 34"/>
          <p:cNvSpPr/>
          <p:nvPr/>
        </p:nvSpPr>
        <p:spPr>
          <a:xfrm>
            <a:off x="6675120" y="5113023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人口结构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10736581" y="5113023"/>
            <a:ext cx="723900" cy="228600"/>
          </a:xfrm>
          <a:custGeom>
            <a:avLst/>
            <a:gdLst/>
            <a:ahLst/>
            <a:cxnLst/>
            <a:rect l="l" t="t" r="r" b="b"/>
            <a:pathLst>
              <a:path w="723900" h="228600">
                <a:moveTo>
                  <a:pt x="38101" y="0"/>
                </a:moveTo>
                <a:lnTo>
                  <a:pt x="685799" y="0"/>
                </a:lnTo>
                <a:cubicBezTo>
                  <a:pt x="706842" y="0"/>
                  <a:pt x="723900" y="17058"/>
                  <a:pt x="723900" y="38101"/>
                </a:cubicBezTo>
                <a:lnTo>
                  <a:pt x="723900" y="190499"/>
                </a:lnTo>
                <a:cubicBezTo>
                  <a:pt x="723900" y="211542"/>
                  <a:pt x="706842" y="228600"/>
                  <a:pt x="6857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86868B">
              <a:alpha val="10196"/>
            </a:srgbClr>
          </a:solidFill>
          <a:ln/>
        </p:spPr>
      </p:sp>
      <p:sp>
        <p:nvSpPr>
          <p:cNvPr id="39" name="Text 36"/>
          <p:cNvSpPr/>
          <p:nvPr/>
        </p:nvSpPr>
        <p:spPr>
          <a:xfrm>
            <a:off x="10736581" y="5113023"/>
            <a:ext cx="7810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老龄化加剧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6675120" y="5417823"/>
            <a:ext cx="484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财政压力持续增大。人口老龄化对财政可持续性的长期影响尚未充分显现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381000" y="6324600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重要声明：本报告基于历史路径经验推断，非实时数据驱动。历史表现不代表未来结果，经济环境可能发生结构性变化导致历史规律失效。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88" kern="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MARKET IMPACT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D1D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市场影响分析：股票与债券市场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675" y="1019175"/>
            <a:ext cx="5768975" cy="3665537"/>
          </a:xfrm>
          <a:custGeom>
            <a:avLst/>
            <a:gdLst/>
            <a:ahLst/>
            <a:cxnLst/>
            <a:rect l="l" t="t" r="r" b="b"/>
            <a:pathLst>
              <a:path w="5768975" h="3665537">
                <a:moveTo>
                  <a:pt x="63487" y="0"/>
                </a:moveTo>
                <a:lnTo>
                  <a:pt x="5705488" y="0"/>
                </a:lnTo>
                <a:cubicBezTo>
                  <a:pt x="5740551" y="0"/>
                  <a:pt x="5768975" y="28424"/>
                  <a:pt x="5768975" y="63487"/>
                </a:cubicBezTo>
                <a:lnTo>
                  <a:pt x="5768975" y="3602050"/>
                </a:lnTo>
                <a:cubicBezTo>
                  <a:pt x="5768975" y="3637113"/>
                  <a:pt x="5740551" y="3665537"/>
                  <a:pt x="5705488" y="3665537"/>
                </a:cubicBezTo>
                <a:lnTo>
                  <a:pt x="63487" y="3665537"/>
                </a:lnTo>
                <a:cubicBezTo>
                  <a:pt x="28424" y="3665537"/>
                  <a:pt x="0" y="3637113"/>
                  <a:pt x="0" y="3602050"/>
                </a:cubicBezTo>
                <a:lnTo>
                  <a:pt x="0" y="63487"/>
                </a:lnTo>
                <a:cubicBezTo>
                  <a:pt x="0" y="28448"/>
                  <a:pt x="28448" y="0"/>
                  <a:pt x="6348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2600" y="1181102"/>
            <a:ext cx="5516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股票市场：情景分析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775" y="1533527"/>
            <a:ext cx="5443538" cy="927100"/>
          </a:xfrm>
          <a:custGeom>
            <a:avLst/>
            <a:gdLst/>
            <a:ahLst/>
            <a:cxnLst/>
            <a:rect l="l" t="t" r="r" b="b"/>
            <a:pathLst>
              <a:path w="5443538" h="927100">
                <a:moveTo>
                  <a:pt x="63497" y="0"/>
                </a:moveTo>
                <a:lnTo>
                  <a:pt x="5380040" y="0"/>
                </a:lnTo>
                <a:cubicBezTo>
                  <a:pt x="5415109" y="0"/>
                  <a:pt x="5443538" y="28429"/>
                  <a:pt x="5443538" y="63497"/>
                </a:cubicBezTo>
                <a:lnTo>
                  <a:pt x="5443538" y="863603"/>
                </a:lnTo>
                <a:cubicBezTo>
                  <a:pt x="5443538" y="898671"/>
                  <a:pt x="5415109" y="927100"/>
                  <a:pt x="5380040" y="927100"/>
                </a:cubicBezTo>
                <a:lnTo>
                  <a:pt x="63497" y="927100"/>
                </a:lnTo>
                <a:cubicBezTo>
                  <a:pt x="28429" y="927100"/>
                  <a:pt x="0" y="898671"/>
                  <a:pt x="0" y="8636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 w="10160">
            <a:solidFill>
              <a:srgbClr val="0071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5950" y="1695350"/>
            <a:ext cx="1103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软着陆 + 温和降息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14677" y="1663701"/>
            <a:ext cx="1174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71E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+8% 至 +15%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5950" y="1981100"/>
            <a:ext cx="5238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12个月表现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5950" y="2203350"/>
            <a:ext cx="52308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历史置信区间：1995年、2019年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5775" y="2562027"/>
            <a:ext cx="5443538" cy="927100"/>
          </a:xfrm>
          <a:custGeom>
            <a:avLst/>
            <a:gdLst/>
            <a:ahLst/>
            <a:cxnLst/>
            <a:rect l="l" t="t" r="r" b="b"/>
            <a:pathLst>
              <a:path w="5443538" h="927100">
                <a:moveTo>
                  <a:pt x="63497" y="0"/>
                </a:moveTo>
                <a:lnTo>
                  <a:pt x="5380040" y="0"/>
                </a:lnTo>
                <a:cubicBezTo>
                  <a:pt x="5415109" y="0"/>
                  <a:pt x="5443538" y="28429"/>
                  <a:pt x="5443538" y="63497"/>
                </a:cubicBezTo>
                <a:lnTo>
                  <a:pt x="5443538" y="863603"/>
                </a:lnTo>
                <a:cubicBezTo>
                  <a:pt x="5443538" y="898671"/>
                  <a:pt x="5415109" y="927100"/>
                  <a:pt x="5380040" y="927100"/>
                </a:cubicBezTo>
                <a:lnTo>
                  <a:pt x="63497" y="927100"/>
                </a:lnTo>
                <a:cubicBezTo>
                  <a:pt x="28429" y="927100"/>
                  <a:pt x="0" y="898671"/>
                  <a:pt x="0" y="8636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FAFAFA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5950" y="2723853"/>
            <a:ext cx="1230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经济衰退 + 快速降息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39680" y="2692204"/>
            <a:ext cx="11509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8686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-10% 至 +5%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5950" y="3009603"/>
            <a:ext cx="5238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12个月表现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5950" y="3231857"/>
            <a:ext cx="52308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历史置信区间：2001年、2007年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5775" y="3590530"/>
            <a:ext cx="5443538" cy="927100"/>
          </a:xfrm>
          <a:custGeom>
            <a:avLst/>
            <a:gdLst/>
            <a:ahLst/>
            <a:cxnLst/>
            <a:rect l="l" t="t" r="r" b="b"/>
            <a:pathLst>
              <a:path w="5443538" h="927100">
                <a:moveTo>
                  <a:pt x="63497" y="0"/>
                </a:moveTo>
                <a:lnTo>
                  <a:pt x="5380040" y="0"/>
                </a:lnTo>
                <a:cubicBezTo>
                  <a:pt x="5415109" y="0"/>
                  <a:pt x="5443538" y="28429"/>
                  <a:pt x="5443538" y="63497"/>
                </a:cubicBezTo>
                <a:lnTo>
                  <a:pt x="5443538" y="863603"/>
                </a:lnTo>
                <a:cubicBezTo>
                  <a:pt x="5443538" y="898671"/>
                  <a:pt x="5415109" y="927100"/>
                  <a:pt x="5380040" y="927100"/>
                </a:cubicBezTo>
                <a:lnTo>
                  <a:pt x="63497" y="927100"/>
                </a:lnTo>
                <a:cubicBezTo>
                  <a:pt x="28429" y="927100"/>
                  <a:pt x="0" y="898671"/>
                  <a:pt x="0" y="8636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FAFAFA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5950" y="3752352"/>
            <a:ext cx="1230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通胀反弹 + 暂停降息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27687" y="3720703"/>
            <a:ext cx="1063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8686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-5% 至 +5%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5950" y="4038102"/>
            <a:ext cx="5238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12个月表现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5950" y="4260352"/>
            <a:ext cx="52308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历史置信区间：2006-2007年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0675" y="4815881"/>
            <a:ext cx="5768975" cy="2530475"/>
          </a:xfrm>
          <a:custGeom>
            <a:avLst/>
            <a:gdLst/>
            <a:ahLst/>
            <a:cxnLst/>
            <a:rect l="l" t="t" r="r" b="b"/>
            <a:pathLst>
              <a:path w="5768975" h="2530475">
                <a:moveTo>
                  <a:pt x="63490" y="0"/>
                </a:moveTo>
                <a:lnTo>
                  <a:pt x="5705485" y="0"/>
                </a:lnTo>
                <a:cubicBezTo>
                  <a:pt x="5740550" y="0"/>
                  <a:pt x="5768975" y="28425"/>
                  <a:pt x="5768975" y="63490"/>
                </a:cubicBezTo>
                <a:lnTo>
                  <a:pt x="5768975" y="2466985"/>
                </a:lnTo>
                <a:cubicBezTo>
                  <a:pt x="5768975" y="2502050"/>
                  <a:pt x="5740550" y="2530475"/>
                  <a:pt x="5705485" y="2530475"/>
                </a:cubicBezTo>
                <a:lnTo>
                  <a:pt x="63490" y="2530475"/>
                </a:lnTo>
                <a:cubicBezTo>
                  <a:pt x="28425" y="2530475"/>
                  <a:pt x="0" y="2502050"/>
                  <a:pt x="0" y="2466985"/>
                </a:cubicBezTo>
                <a:lnTo>
                  <a:pt x="0" y="63490"/>
                </a:lnTo>
                <a:cubicBezTo>
                  <a:pt x="0" y="28425"/>
                  <a:pt x="28425" y="0"/>
                  <a:pt x="63490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600" y="4977805"/>
            <a:ext cx="5516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分行业历史表现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82600" y="5742980"/>
            <a:ext cx="5445125" cy="6350"/>
          </a:xfrm>
          <a:custGeom>
            <a:avLst/>
            <a:gdLst/>
            <a:ahLst/>
            <a:cxnLst/>
            <a:rect l="l" t="t" r="r" b="b"/>
            <a:pathLst>
              <a:path w="5445125" h="6350">
                <a:moveTo>
                  <a:pt x="0" y="0"/>
                </a:moveTo>
                <a:lnTo>
                  <a:pt x="5445125" y="0"/>
                </a:lnTo>
                <a:lnTo>
                  <a:pt x="5445125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24" name="Text 22"/>
          <p:cNvSpPr/>
          <p:nvPr/>
        </p:nvSpPr>
        <p:spPr>
          <a:xfrm>
            <a:off x="482600" y="5390555"/>
            <a:ext cx="153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科技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2600" y="5549305"/>
            <a:ext cx="152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降息周期 r=0.65 | 财政扩张 r=0.45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613400" y="5438180"/>
            <a:ext cx="317500" cy="190500"/>
          </a:xfrm>
          <a:custGeom>
            <a:avLst/>
            <a:gdLst/>
            <a:ahLst/>
            <a:cxnLst/>
            <a:rect l="l" t="t" r="r" b="b"/>
            <a:pathLst>
              <a:path w="317500" h="190500">
                <a:moveTo>
                  <a:pt x="31751" y="0"/>
                </a:moveTo>
                <a:lnTo>
                  <a:pt x="285749" y="0"/>
                </a:lnTo>
                <a:cubicBezTo>
                  <a:pt x="303285" y="0"/>
                  <a:pt x="317500" y="14215"/>
                  <a:pt x="317500" y="31751"/>
                </a:cubicBezTo>
                <a:lnTo>
                  <a:pt x="317500" y="158749"/>
                </a:lnTo>
                <a:cubicBezTo>
                  <a:pt x="317500" y="176285"/>
                  <a:pt x="303285" y="190500"/>
                  <a:pt x="285749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613400" y="5438180"/>
            <a:ext cx="365125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超配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82600" y="6225485"/>
            <a:ext cx="5445125" cy="6350"/>
          </a:xfrm>
          <a:custGeom>
            <a:avLst/>
            <a:gdLst/>
            <a:ahLst/>
            <a:cxnLst/>
            <a:rect l="l" t="t" r="r" b="b"/>
            <a:pathLst>
              <a:path w="5445125" h="6350">
                <a:moveTo>
                  <a:pt x="0" y="0"/>
                </a:moveTo>
                <a:lnTo>
                  <a:pt x="5445125" y="0"/>
                </a:lnTo>
                <a:lnTo>
                  <a:pt x="5445125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29" name="Text 27"/>
          <p:cNvSpPr/>
          <p:nvPr/>
        </p:nvSpPr>
        <p:spPr>
          <a:xfrm>
            <a:off x="482600" y="5873060"/>
            <a:ext cx="153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公用事业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82600" y="6031810"/>
            <a:ext cx="152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降息周期 r=0.70 | 财政扩张 r=0.40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613400" y="5920685"/>
            <a:ext cx="317500" cy="190500"/>
          </a:xfrm>
          <a:custGeom>
            <a:avLst/>
            <a:gdLst/>
            <a:ahLst/>
            <a:cxnLst/>
            <a:rect l="l" t="t" r="r" b="b"/>
            <a:pathLst>
              <a:path w="317500" h="190500">
                <a:moveTo>
                  <a:pt x="31751" y="0"/>
                </a:moveTo>
                <a:lnTo>
                  <a:pt x="285749" y="0"/>
                </a:lnTo>
                <a:cubicBezTo>
                  <a:pt x="303285" y="0"/>
                  <a:pt x="317500" y="14215"/>
                  <a:pt x="317500" y="31751"/>
                </a:cubicBezTo>
                <a:lnTo>
                  <a:pt x="317500" y="158749"/>
                </a:lnTo>
                <a:cubicBezTo>
                  <a:pt x="317500" y="176285"/>
                  <a:pt x="303285" y="190500"/>
                  <a:pt x="285749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613400" y="5920685"/>
            <a:ext cx="365125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超配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82600" y="6707983"/>
            <a:ext cx="5445125" cy="6350"/>
          </a:xfrm>
          <a:custGeom>
            <a:avLst/>
            <a:gdLst/>
            <a:ahLst/>
            <a:cxnLst/>
            <a:rect l="l" t="t" r="r" b="b"/>
            <a:pathLst>
              <a:path w="5445125" h="6350">
                <a:moveTo>
                  <a:pt x="0" y="0"/>
                </a:moveTo>
                <a:lnTo>
                  <a:pt x="5445125" y="0"/>
                </a:lnTo>
                <a:lnTo>
                  <a:pt x="5445125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34" name="Text 32"/>
          <p:cNvSpPr/>
          <p:nvPr/>
        </p:nvSpPr>
        <p:spPr>
          <a:xfrm>
            <a:off x="482600" y="6355558"/>
            <a:ext cx="762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周期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82600" y="6514308"/>
            <a:ext cx="754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降息周期 r=0.60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613400" y="6403183"/>
            <a:ext cx="317500" cy="190500"/>
          </a:xfrm>
          <a:custGeom>
            <a:avLst/>
            <a:gdLst/>
            <a:ahLst/>
            <a:cxnLst/>
            <a:rect l="l" t="t" r="r" b="b"/>
            <a:pathLst>
              <a:path w="317500" h="190500">
                <a:moveTo>
                  <a:pt x="31751" y="0"/>
                </a:moveTo>
                <a:lnTo>
                  <a:pt x="285749" y="0"/>
                </a:lnTo>
                <a:cubicBezTo>
                  <a:pt x="303285" y="0"/>
                  <a:pt x="317500" y="14215"/>
                  <a:pt x="317500" y="31751"/>
                </a:cubicBezTo>
                <a:lnTo>
                  <a:pt x="317500" y="158749"/>
                </a:lnTo>
                <a:cubicBezTo>
                  <a:pt x="317500" y="176285"/>
                  <a:pt x="303285" y="190500"/>
                  <a:pt x="285749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86868B">
              <a:alpha val="1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613400" y="6403183"/>
            <a:ext cx="365125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中性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82600" y="6838055"/>
            <a:ext cx="801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金融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82600" y="6996805"/>
            <a:ext cx="793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降息周期 r=-0.30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613400" y="6885680"/>
            <a:ext cx="317500" cy="190500"/>
          </a:xfrm>
          <a:custGeom>
            <a:avLst/>
            <a:gdLst/>
            <a:ahLst/>
            <a:cxnLst/>
            <a:rect l="l" t="t" r="r" b="b"/>
            <a:pathLst>
              <a:path w="317500" h="190500">
                <a:moveTo>
                  <a:pt x="31751" y="0"/>
                </a:moveTo>
                <a:lnTo>
                  <a:pt x="285749" y="0"/>
                </a:lnTo>
                <a:cubicBezTo>
                  <a:pt x="303285" y="0"/>
                  <a:pt x="317500" y="14215"/>
                  <a:pt x="317500" y="31751"/>
                </a:cubicBezTo>
                <a:lnTo>
                  <a:pt x="317500" y="158749"/>
                </a:lnTo>
                <a:cubicBezTo>
                  <a:pt x="317500" y="176285"/>
                  <a:pt x="303285" y="190500"/>
                  <a:pt x="285749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D32F2F">
              <a:alpha val="1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613400" y="6885680"/>
            <a:ext cx="365125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D32F2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低配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257925" y="1019175"/>
            <a:ext cx="5610225" cy="4117975"/>
          </a:xfrm>
          <a:custGeom>
            <a:avLst/>
            <a:gdLst/>
            <a:ahLst/>
            <a:cxnLst/>
            <a:rect l="l" t="t" r="r" b="b"/>
            <a:pathLst>
              <a:path w="5610225" h="4117975">
                <a:moveTo>
                  <a:pt x="63499" y="0"/>
                </a:moveTo>
                <a:lnTo>
                  <a:pt x="5546726" y="0"/>
                </a:lnTo>
                <a:cubicBezTo>
                  <a:pt x="5581795" y="0"/>
                  <a:pt x="5610225" y="28430"/>
                  <a:pt x="5610225" y="63499"/>
                </a:cubicBezTo>
                <a:lnTo>
                  <a:pt x="5610225" y="4054476"/>
                </a:lnTo>
                <a:cubicBezTo>
                  <a:pt x="5610225" y="4089545"/>
                  <a:pt x="5581795" y="4117975"/>
                  <a:pt x="5546726" y="4117975"/>
                </a:cubicBezTo>
                <a:lnTo>
                  <a:pt x="63499" y="4117975"/>
                </a:lnTo>
                <a:cubicBezTo>
                  <a:pt x="28430" y="4117975"/>
                  <a:pt x="0" y="4089545"/>
                  <a:pt x="0" y="4054476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19850" y="1181102"/>
            <a:ext cx="5357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债券市场：收益率历史模式</a:t>
            </a:r>
            <a:endParaRPr lang="en-US" sz="1600" dirty="0"/>
          </a:p>
        </p:txBody>
      </p:sp>
      <p:pic>
        <p:nvPicPr>
          <p:cNvPr id="44" name="Image 0" descr="https://kimi-img.moonshot.cn/pub/slides/26-03-04-18:00:21-d6k05d9durqcqli7etq0.png">    </p:cNvPr>
          <p:cNvPicPr>
            <a:picLocks noChangeAspect="1"/>
          </p:cNvPicPr>
          <p:nvPr/>
        </p:nvPicPr>
        <p:blipFill>
          <a:blip r:embed="rId1"/>
          <a:srcRect l="0" r="0" t="37" b="37"/>
          <a:stretch/>
        </p:blipFill>
        <p:spPr>
          <a:xfrm>
            <a:off x="6419850" y="1530352"/>
            <a:ext cx="4270375" cy="1587500"/>
          </a:xfrm>
          <a:prstGeom prst="roundRect">
            <a:avLst>
              <a:gd name="adj" fmla="val 0"/>
            </a:avLst>
          </a:prstGeom>
        </p:spPr>
      </p:pic>
      <p:sp>
        <p:nvSpPr>
          <p:cNvPr id="45" name="Shape 42"/>
          <p:cNvSpPr/>
          <p:nvPr/>
        </p:nvSpPr>
        <p:spPr>
          <a:xfrm>
            <a:off x="6419850" y="3244848"/>
            <a:ext cx="5286375" cy="1539875"/>
          </a:xfrm>
          <a:custGeom>
            <a:avLst/>
            <a:gdLst/>
            <a:ahLst/>
            <a:cxnLst/>
            <a:rect l="l" t="t" r="r" b="b"/>
            <a:pathLst>
              <a:path w="5286375" h="1539875">
                <a:moveTo>
                  <a:pt x="63504" y="0"/>
                </a:moveTo>
                <a:lnTo>
                  <a:pt x="5222871" y="0"/>
                </a:lnTo>
                <a:cubicBezTo>
                  <a:pt x="5257943" y="0"/>
                  <a:pt x="5286375" y="28432"/>
                  <a:pt x="5286375" y="63504"/>
                </a:cubicBezTo>
                <a:lnTo>
                  <a:pt x="5286375" y="1476371"/>
                </a:lnTo>
                <a:cubicBezTo>
                  <a:pt x="5286375" y="1511443"/>
                  <a:pt x="5257943" y="1539875"/>
                  <a:pt x="5222871" y="1539875"/>
                </a:cubicBezTo>
                <a:lnTo>
                  <a:pt x="63504" y="1539875"/>
                </a:lnTo>
                <a:cubicBezTo>
                  <a:pt x="28432" y="1539875"/>
                  <a:pt x="0" y="1511443"/>
                  <a:pt x="0" y="1476371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FAFAFA"/>
          </a:solidFill>
          <a:ln/>
        </p:spPr>
      </p:sp>
      <p:sp>
        <p:nvSpPr>
          <p:cNvPr id="46" name="Text 43"/>
          <p:cNvSpPr/>
          <p:nvPr/>
        </p:nvSpPr>
        <p:spPr>
          <a:xfrm>
            <a:off x="6546850" y="3371848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久期建议（基于历史最优策略）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6546850" y="3946523"/>
            <a:ext cx="5032375" cy="6350"/>
          </a:xfrm>
          <a:custGeom>
            <a:avLst/>
            <a:gdLst/>
            <a:ahLst/>
            <a:cxnLst/>
            <a:rect l="l" t="t" r="r" b="b"/>
            <a:pathLst>
              <a:path w="5032375" h="6350">
                <a:moveTo>
                  <a:pt x="0" y="0"/>
                </a:moveTo>
                <a:lnTo>
                  <a:pt x="5032375" y="0"/>
                </a:lnTo>
                <a:lnTo>
                  <a:pt x="5032375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48" name="Text 45"/>
          <p:cNvSpPr/>
          <p:nvPr/>
        </p:nvSpPr>
        <p:spPr>
          <a:xfrm>
            <a:off x="6546850" y="3721098"/>
            <a:ext cx="896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降息周期前6个月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10731897" y="3721098"/>
            <a:ext cx="904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+1.5年 | 延长久期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6546850" y="4302130"/>
            <a:ext cx="5032375" cy="6350"/>
          </a:xfrm>
          <a:custGeom>
            <a:avLst/>
            <a:gdLst/>
            <a:ahLst/>
            <a:cxnLst/>
            <a:rect l="l" t="t" r="r" b="b"/>
            <a:pathLst>
              <a:path w="5032375" h="6350">
                <a:moveTo>
                  <a:pt x="0" y="0"/>
                </a:moveTo>
                <a:lnTo>
                  <a:pt x="5032375" y="0"/>
                </a:lnTo>
                <a:lnTo>
                  <a:pt x="5032375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51" name="Text 48"/>
          <p:cNvSpPr/>
          <p:nvPr/>
        </p:nvSpPr>
        <p:spPr>
          <a:xfrm>
            <a:off x="6546850" y="4076705"/>
            <a:ext cx="61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降息周期中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10915651" y="4076705"/>
            <a:ext cx="72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保持中性久期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6546850" y="4432303"/>
            <a:ext cx="72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降息周期后期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10844511" y="4432303"/>
            <a:ext cx="793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D32F2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-1年 | 缩短久期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317500" y="5270500"/>
            <a:ext cx="11604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重要声明：本报告基于历史路径经验推断，非实时数据驱动。历史表现不代表未来结果，经济环境可能发生结构性变化导致历史规律失效。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RESONANCE &amp; DIVERGENCE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D1D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决策框架：共振与背离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223010"/>
            <a:ext cx="5132070" cy="4027170"/>
          </a:xfrm>
          <a:custGeom>
            <a:avLst/>
            <a:gdLst/>
            <a:ahLst/>
            <a:cxnLst/>
            <a:rect l="l" t="t" r="r" b="b"/>
            <a:pathLst>
              <a:path w="5132070" h="4027170">
                <a:moveTo>
                  <a:pt x="76194" y="0"/>
                </a:moveTo>
                <a:lnTo>
                  <a:pt x="5055876" y="0"/>
                </a:lnTo>
                <a:cubicBezTo>
                  <a:pt x="5097957" y="0"/>
                  <a:pt x="5132070" y="34113"/>
                  <a:pt x="5132070" y="76194"/>
                </a:cubicBezTo>
                <a:lnTo>
                  <a:pt x="5132070" y="3950976"/>
                </a:lnTo>
                <a:cubicBezTo>
                  <a:pt x="5132070" y="3993057"/>
                  <a:pt x="5097957" y="4027170"/>
                  <a:pt x="5055876" y="4027170"/>
                </a:cubicBezTo>
                <a:lnTo>
                  <a:pt x="76194" y="4027170"/>
                </a:lnTo>
                <a:cubicBezTo>
                  <a:pt x="34113" y="4027170"/>
                  <a:pt x="0" y="3993057"/>
                  <a:pt x="0" y="3950976"/>
                </a:cubicBezTo>
                <a:lnTo>
                  <a:pt x="0" y="76194"/>
                </a:lnTo>
                <a:cubicBezTo>
                  <a:pt x="0" y="34141"/>
                  <a:pt x="34141" y="0"/>
                  <a:pt x="76194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9120" y="1417318"/>
            <a:ext cx="4829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市场走势预判矩阵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79120" y="1836418"/>
            <a:ext cx="48101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综合分析宏观流动性与微观基本面的交互作用，识别不同组合情景下的市场走势特征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86740" y="2377438"/>
            <a:ext cx="2301240" cy="1272540"/>
          </a:xfrm>
          <a:custGeom>
            <a:avLst/>
            <a:gdLst/>
            <a:ahLst/>
            <a:cxnLst/>
            <a:rect l="l" t="t" r="r" b="b"/>
            <a:pathLst>
              <a:path w="2301240" h="1272540">
                <a:moveTo>
                  <a:pt x="76200" y="0"/>
                </a:moveTo>
                <a:lnTo>
                  <a:pt x="2225040" y="0"/>
                </a:lnTo>
                <a:cubicBezTo>
                  <a:pt x="2267124" y="0"/>
                  <a:pt x="2301240" y="34116"/>
                  <a:pt x="2301240" y="76200"/>
                </a:cubicBezTo>
                <a:lnTo>
                  <a:pt x="2301240" y="1196340"/>
                </a:lnTo>
                <a:cubicBezTo>
                  <a:pt x="2301240" y="1238424"/>
                  <a:pt x="2267124" y="1272540"/>
                  <a:pt x="2225040" y="1272540"/>
                </a:cubicBezTo>
                <a:lnTo>
                  <a:pt x="76200" y="1272540"/>
                </a:lnTo>
                <a:cubicBezTo>
                  <a:pt x="34116" y="1272540"/>
                  <a:pt x="0" y="1238424"/>
                  <a:pt x="0" y="119634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 w="20320">
            <a:solidFill>
              <a:srgbClr val="0071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423" y="2537464"/>
            <a:ext cx="2047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共振情景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8185" y="2727964"/>
            <a:ext cx="2038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宽松 + 超预期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9610" y="2956443"/>
            <a:ext cx="209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0071E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主升浪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8185" y="3337322"/>
            <a:ext cx="2038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TGA↓ 降息 主线强劲 估值+盈利双击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017520" y="2377438"/>
            <a:ext cx="2301240" cy="1272540"/>
          </a:xfrm>
          <a:custGeom>
            <a:avLst/>
            <a:gdLst/>
            <a:ahLst/>
            <a:cxnLst/>
            <a:rect l="l" t="t" r="r" b="b"/>
            <a:pathLst>
              <a:path w="2301240" h="1272540">
                <a:moveTo>
                  <a:pt x="76200" y="0"/>
                </a:moveTo>
                <a:lnTo>
                  <a:pt x="2225040" y="0"/>
                </a:lnTo>
                <a:cubicBezTo>
                  <a:pt x="2267124" y="0"/>
                  <a:pt x="2301240" y="34116"/>
                  <a:pt x="2301240" y="76200"/>
                </a:cubicBezTo>
                <a:lnTo>
                  <a:pt x="2301240" y="1196340"/>
                </a:lnTo>
                <a:cubicBezTo>
                  <a:pt x="2301240" y="1238424"/>
                  <a:pt x="2267124" y="1272540"/>
                  <a:pt x="2225040" y="1272540"/>
                </a:cubicBezTo>
                <a:lnTo>
                  <a:pt x="76200" y="1272540"/>
                </a:lnTo>
                <a:cubicBezTo>
                  <a:pt x="34116" y="1272540"/>
                  <a:pt x="0" y="1238424"/>
                  <a:pt x="0" y="119634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D32F2F">
              <a:alpha val="5098"/>
            </a:srgbClr>
          </a:solidFill>
          <a:ln w="20320">
            <a:solidFill>
              <a:srgbClr val="D32F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4203" y="2537464"/>
            <a:ext cx="2047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D32F2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双杀情景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148965" y="2727964"/>
            <a:ext cx="2038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收紧 + Miss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120390" y="2956443"/>
            <a:ext cx="209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32F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双杀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148965" y="3337322"/>
            <a:ext cx="2038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TGA↑ 加息 估值+盈利双杀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6740" y="3779167"/>
            <a:ext cx="2301240" cy="1272540"/>
          </a:xfrm>
          <a:custGeom>
            <a:avLst/>
            <a:gdLst/>
            <a:ahLst/>
            <a:cxnLst/>
            <a:rect l="l" t="t" r="r" b="b"/>
            <a:pathLst>
              <a:path w="2301240" h="1272540">
                <a:moveTo>
                  <a:pt x="76200" y="0"/>
                </a:moveTo>
                <a:lnTo>
                  <a:pt x="2225040" y="0"/>
                </a:lnTo>
                <a:cubicBezTo>
                  <a:pt x="2267124" y="0"/>
                  <a:pt x="2301240" y="34116"/>
                  <a:pt x="2301240" y="76200"/>
                </a:cubicBezTo>
                <a:lnTo>
                  <a:pt x="2301240" y="1196340"/>
                </a:lnTo>
                <a:cubicBezTo>
                  <a:pt x="2301240" y="1238424"/>
                  <a:pt x="2267124" y="1272540"/>
                  <a:pt x="2225040" y="1272540"/>
                </a:cubicBezTo>
                <a:lnTo>
                  <a:pt x="76200" y="1272540"/>
                </a:lnTo>
                <a:cubicBezTo>
                  <a:pt x="34116" y="1272540"/>
                  <a:pt x="0" y="1238424"/>
                  <a:pt x="0" y="119634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86868B">
              <a:alpha val="5098"/>
            </a:srgbClr>
          </a:solidFill>
          <a:ln w="20320">
            <a:solidFill>
              <a:srgbClr val="8686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423" y="3939183"/>
            <a:ext cx="2047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震荡情景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8185" y="4129683"/>
            <a:ext cx="2038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宽松 + Miss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9610" y="4358162"/>
            <a:ext cx="209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8686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震荡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8185" y="4739050"/>
            <a:ext cx="2038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TGA↓ 降息 主线疲软 结构性行情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017520" y="3779167"/>
            <a:ext cx="2301240" cy="1272540"/>
          </a:xfrm>
          <a:custGeom>
            <a:avLst/>
            <a:gdLst/>
            <a:ahLst/>
            <a:cxnLst/>
            <a:rect l="l" t="t" r="r" b="b"/>
            <a:pathLst>
              <a:path w="2301240" h="1272540">
                <a:moveTo>
                  <a:pt x="76200" y="0"/>
                </a:moveTo>
                <a:lnTo>
                  <a:pt x="2225040" y="0"/>
                </a:lnTo>
                <a:cubicBezTo>
                  <a:pt x="2267124" y="0"/>
                  <a:pt x="2301240" y="34116"/>
                  <a:pt x="2301240" y="76200"/>
                </a:cubicBezTo>
                <a:lnTo>
                  <a:pt x="2301240" y="1196340"/>
                </a:lnTo>
                <a:cubicBezTo>
                  <a:pt x="2301240" y="1238424"/>
                  <a:pt x="2267124" y="1272540"/>
                  <a:pt x="2225040" y="1272540"/>
                </a:cubicBezTo>
                <a:lnTo>
                  <a:pt x="76200" y="1272540"/>
                </a:lnTo>
                <a:cubicBezTo>
                  <a:pt x="34116" y="1272540"/>
                  <a:pt x="0" y="1238424"/>
                  <a:pt x="0" y="119634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86868B">
              <a:alpha val="5098"/>
            </a:srgbClr>
          </a:solidFill>
          <a:ln w="20320">
            <a:solidFill>
              <a:srgbClr val="8686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44203" y="3939183"/>
            <a:ext cx="2047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分化情景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148965" y="4129683"/>
            <a:ext cx="2038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收紧 + 超预期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120390" y="4358162"/>
            <a:ext cx="209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8686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分化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148965" y="4739050"/>
            <a:ext cx="2038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TGA↑ 加息 个股精选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1000" y="5409484"/>
            <a:ext cx="5143500" cy="876300"/>
          </a:xfrm>
          <a:custGeom>
            <a:avLst/>
            <a:gdLst/>
            <a:ahLst/>
            <a:cxnLst/>
            <a:rect l="l" t="t" r="r" b="b"/>
            <a:pathLst>
              <a:path w="5143500" h="876300">
                <a:moveTo>
                  <a:pt x="76203" y="0"/>
                </a:moveTo>
                <a:lnTo>
                  <a:pt x="5067297" y="0"/>
                </a:lnTo>
                <a:cubicBezTo>
                  <a:pt x="5109383" y="0"/>
                  <a:pt x="5143500" y="34117"/>
                  <a:pt x="5143500" y="76203"/>
                </a:cubicBezTo>
                <a:lnTo>
                  <a:pt x="5143500" y="800097"/>
                </a:lnTo>
                <a:cubicBezTo>
                  <a:pt x="5143500" y="842183"/>
                  <a:pt x="5109383" y="876300"/>
                  <a:pt x="506729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8" name="Shape 26"/>
          <p:cNvSpPr/>
          <p:nvPr/>
        </p:nvSpPr>
        <p:spPr>
          <a:xfrm>
            <a:off x="581025" y="5638084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5725" y="-4762"/>
                </a:moveTo>
                <a:cubicBezTo>
                  <a:pt x="90994" y="-4762"/>
                  <a:pt x="95250" y="-506"/>
                  <a:pt x="95250" y="4763"/>
                </a:cubicBezTo>
                <a:lnTo>
                  <a:pt x="95250" y="10210"/>
                </a:lnTo>
                <a:cubicBezTo>
                  <a:pt x="124450" y="14377"/>
                  <a:pt x="147548" y="37475"/>
                  <a:pt x="151715" y="66675"/>
                </a:cubicBezTo>
                <a:lnTo>
                  <a:pt x="157163" y="66675"/>
                </a:lnTo>
                <a:cubicBezTo>
                  <a:pt x="162431" y="66675"/>
                  <a:pt x="166688" y="70931"/>
                  <a:pt x="166688" y="76200"/>
                </a:cubicBezTo>
                <a:cubicBezTo>
                  <a:pt x="166688" y="81469"/>
                  <a:pt x="162431" y="85725"/>
                  <a:pt x="157163" y="85725"/>
                </a:cubicBezTo>
                <a:lnTo>
                  <a:pt x="151715" y="85725"/>
                </a:lnTo>
                <a:cubicBezTo>
                  <a:pt x="147548" y="114925"/>
                  <a:pt x="124450" y="138023"/>
                  <a:pt x="95250" y="142190"/>
                </a:cubicBezTo>
                <a:lnTo>
                  <a:pt x="95250" y="147638"/>
                </a:lnTo>
                <a:cubicBezTo>
                  <a:pt x="95250" y="152906"/>
                  <a:pt x="90994" y="157163"/>
                  <a:pt x="85725" y="157163"/>
                </a:cubicBezTo>
                <a:cubicBezTo>
                  <a:pt x="80456" y="157163"/>
                  <a:pt x="76200" y="152906"/>
                  <a:pt x="76200" y="147638"/>
                </a:cubicBezTo>
                <a:lnTo>
                  <a:pt x="76200" y="142190"/>
                </a:lnTo>
                <a:cubicBezTo>
                  <a:pt x="47000" y="138023"/>
                  <a:pt x="23902" y="114925"/>
                  <a:pt x="19735" y="85725"/>
                </a:cubicBezTo>
                <a:lnTo>
                  <a:pt x="14288" y="85725"/>
                </a:lnTo>
                <a:cubicBezTo>
                  <a:pt x="9019" y="85725"/>
                  <a:pt x="4763" y="81469"/>
                  <a:pt x="4763" y="76200"/>
                </a:cubicBezTo>
                <a:cubicBezTo>
                  <a:pt x="4763" y="70931"/>
                  <a:pt x="9019" y="66675"/>
                  <a:pt x="14288" y="66675"/>
                </a:cubicBezTo>
                <a:lnTo>
                  <a:pt x="19735" y="66675"/>
                </a:lnTo>
                <a:cubicBezTo>
                  <a:pt x="23902" y="37475"/>
                  <a:pt x="47000" y="14377"/>
                  <a:pt x="76200" y="10210"/>
                </a:cubicBezTo>
                <a:lnTo>
                  <a:pt x="76200" y="4763"/>
                </a:lnTo>
                <a:cubicBezTo>
                  <a:pt x="76200" y="-506"/>
                  <a:pt x="80456" y="-4762"/>
                  <a:pt x="85725" y="-4762"/>
                </a:cubicBezTo>
                <a:close/>
                <a:moveTo>
                  <a:pt x="39052" y="85725"/>
                </a:moveTo>
                <a:cubicBezTo>
                  <a:pt x="42833" y="104388"/>
                  <a:pt x="57537" y="119092"/>
                  <a:pt x="76200" y="122873"/>
                </a:cubicBezTo>
                <a:lnTo>
                  <a:pt x="76200" y="119062"/>
                </a:lnTo>
                <a:cubicBezTo>
                  <a:pt x="76200" y="113794"/>
                  <a:pt x="80456" y="109537"/>
                  <a:pt x="85725" y="109537"/>
                </a:cubicBezTo>
                <a:cubicBezTo>
                  <a:pt x="90994" y="109537"/>
                  <a:pt x="95250" y="113794"/>
                  <a:pt x="95250" y="119062"/>
                </a:cubicBezTo>
                <a:lnTo>
                  <a:pt x="95250" y="122873"/>
                </a:lnTo>
                <a:cubicBezTo>
                  <a:pt x="113913" y="119092"/>
                  <a:pt x="128617" y="104388"/>
                  <a:pt x="132398" y="85725"/>
                </a:cubicBezTo>
                <a:lnTo>
                  <a:pt x="128588" y="85725"/>
                </a:lnTo>
                <a:cubicBezTo>
                  <a:pt x="123319" y="85725"/>
                  <a:pt x="119062" y="81469"/>
                  <a:pt x="119062" y="76200"/>
                </a:cubicBezTo>
                <a:cubicBezTo>
                  <a:pt x="119062" y="70931"/>
                  <a:pt x="123319" y="66675"/>
                  <a:pt x="128588" y="66675"/>
                </a:cubicBezTo>
                <a:lnTo>
                  <a:pt x="132398" y="66675"/>
                </a:lnTo>
                <a:cubicBezTo>
                  <a:pt x="128617" y="48012"/>
                  <a:pt x="113913" y="33308"/>
                  <a:pt x="95250" y="29527"/>
                </a:cubicBezTo>
                <a:lnTo>
                  <a:pt x="95250" y="33338"/>
                </a:lnTo>
                <a:cubicBezTo>
                  <a:pt x="95250" y="38606"/>
                  <a:pt x="90994" y="42863"/>
                  <a:pt x="85725" y="42863"/>
                </a:cubicBezTo>
                <a:cubicBezTo>
                  <a:pt x="80456" y="42863"/>
                  <a:pt x="76200" y="38606"/>
                  <a:pt x="76200" y="33338"/>
                </a:cubicBezTo>
                <a:lnTo>
                  <a:pt x="76200" y="29527"/>
                </a:lnTo>
                <a:cubicBezTo>
                  <a:pt x="57537" y="33308"/>
                  <a:pt x="42833" y="48012"/>
                  <a:pt x="39052" y="66675"/>
                </a:cubicBezTo>
                <a:lnTo>
                  <a:pt x="42863" y="66675"/>
                </a:lnTo>
                <a:cubicBezTo>
                  <a:pt x="48131" y="66675"/>
                  <a:pt x="52388" y="70931"/>
                  <a:pt x="52388" y="76200"/>
                </a:cubicBezTo>
                <a:cubicBezTo>
                  <a:pt x="52388" y="81469"/>
                  <a:pt x="48131" y="85725"/>
                  <a:pt x="42863" y="85725"/>
                </a:cubicBezTo>
                <a:lnTo>
                  <a:pt x="39052" y="85725"/>
                </a:lnTo>
                <a:close/>
                <a:moveTo>
                  <a:pt x="85725" y="61912"/>
                </a:moveTo>
                <a:cubicBezTo>
                  <a:pt x="93610" y="61912"/>
                  <a:pt x="100013" y="68315"/>
                  <a:pt x="100013" y="76200"/>
                </a:cubicBezTo>
                <a:cubicBezTo>
                  <a:pt x="100013" y="84085"/>
                  <a:pt x="93610" y="90488"/>
                  <a:pt x="85725" y="90488"/>
                </a:cubicBezTo>
                <a:cubicBezTo>
                  <a:pt x="77840" y="90488"/>
                  <a:pt x="71438" y="84085"/>
                  <a:pt x="71438" y="76200"/>
                </a:cubicBezTo>
                <a:cubicBezTo>
                  <a:pt x="71438" y="68315"/>
                  <a:pt x="77840" y="61912"/>
                  <a:pt x="85725" y="61912"/>
                </a:cubicBezTo>
                <a:close/>
              </a:path>
            </a:pathLst>
          </a:custGeom>
          <a:solidFill>
            <a:srgbClr val="FAFAFA"/>
          </a:solidFill>
          <a:ln/>
        </p:spPr>
      </p:sp>
      <p:sp>
        <p:nvSpPr>
          <p:cNvPr id="29" name="Text 27"/>
          <p:cNvSpPr/>
          <p:nvPr/>
        </p:nvSpPr>
        <p:spPr>
          <a:xfrm>
            <a:off x="838200" y="559998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AFA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当前判断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71500" y="5904784"/>
            <a:ext cx="4829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AFAFA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目前处于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FAFAFA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收紧+miss区域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AFAFA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，正向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FAFAFA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宽松+超预期区域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AFAFA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过渡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18810" y="1223010"/>
            <a:ext cx="6084570" cy="4941570"/>
          </a:xfrm>
          <a:custGeom>
            <a:avLst/>
            <a:gdLst/>
            <a:ahLst/>
            <a:cxnLst/>
            <a:rect l="l" t="t" r="r" b="b"/>
            <a:pathLst>
              <a:path w="6084570" h="4941570">
                <a:moveTo>
                  <a:pt x="76199" y="0"/>
                </a:moveTo>
                <a:lnTo>
                  <a:pt x="6008371" y="0"/>
                </a:lnTo>
                <a:cubicBezTo>
                  <a:pt x="6050455" y="0"/>
                  <a:pt x="6084570" y="34115"/>
                  <a:pt x="6084570" y="76199"/>
                </a:cubicBezTo>
                <a:lnTo>
                  <a:pt x="6084570" y="4865371"/>
                </a:lnTo>
                <a:cubicBezTo>
                  <a:pt x="6084570" y="4907455"/>
                  <a:pt x="6050455" y="4941570"/>
                  <a:pt x="6008371" y="4941570"/>
                </a:cubicBezTo>
                <a:lnTo>
                  <a:pt x="76199" y="4941570"/>
                </a:lnTo>
                <a:cubicBezTo>
                  <a:pt x="34115" y="4941570"/>
                  <a:pt x="0" y="4907455"/>
                  <a:pt x="0" y="4865371"/>
                </a:cubicBezTo>
                <a:lnTo>
                  <a:pt x="0" y="76199"/>
                </a:lnTo>
                <a:cubicBezTo>
                  <a:pt x="0" y="34115"/>
                  <a:pt x="34115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13120" y="1417318"/>
            <a:ext cx="5781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情景详解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932170" y="1836418"/>
            <a:ext cx="5676900" cy="828675"/>
          </a:xfrm>
          <a:custGeom>
            <a:avLst/>
            <a:gdLst/>
            <a:ahLst/>
            <a:cxnLst/>
            <a:rect l="l" t="t" r="r" b="b"/>
            <a:pathLst>
              <a:path w="5676900" h="828675">
                <a:moveTo>
                  <a:pt x="38100" y="0"/>
                </a:moveTo>
                <a:lnTo>
                  <a:pt x="5600703" y="0"/>
                </a:lnTo>
                <a:cubicBezTo>
                  <a:pt x="5642786" y="0"/>
                  <a:pt x="5676900" y="34114"/>
                  <a:pt x="5676900" y="76197"/>
                </a:cubicBezTo>
                <a:lnTo>
                  <a:pt x="5676900" y="752478"/>
                </a:lnTo>
                <a:cubicBezTo>
                  <a:pt x="5676900" y="794561"/>
                  <a:pt x="5642786" y="828675"/>
                  <a:pt x="5600703" y="828675"/>
                </a:cubicBezTo>
                <a:lnTo>
                  <a:pt x="38100" y="828675"/>
                </a:lnTo>
                <a:cubicBezTo>
                  <a:pt x="17072" y="828675"/>
                  <a:pt x="0" y="811603"/>
                  <a:pt x="0" y="790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932170" y="1836418"/>
            <a:ext cx="38100" cy="828675"/>
          </a:xfrm>
          <a:custGeom>
            <a:avLst/>
            <a:gdLst/>
            <a:ahLst/>
            <a:cxnLst/>
            <a:rect l="l" t="t" r="r" b="b"/>
            <a:pathLst>
              <a:path w="38100" h="828675">
                <a:moveTo>
                  <a:pt x="38100" y="0"/>
                </a:moveTo>
                <a:lnTo>
                  <a:pt x="38100" y="0"/>
                </a:lnTo>
                <a:lnTo>
                  <a:pt x="38100" y="828675"/>
                </a:lnTo>
                <a:lnTo>
                  <a:pt x="38100" y="828675"/>
                </a:lnTo>
                <a:cubicBezTo>
                  <a:pt x="17072" y="828675"/>
                  <a:pt x="0" y="811603"/>
                  <a:pt x="0" y="790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5" name="Text 33"/>
          <p:cNvSpPr/>
          <p:nvPr/>
        </p:nvSpPr>
        <p:spPr>
          <a:xfrm>
            <a:off x="6103620" y="1988818"/>
            <a:ext cx="542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共振情景：流动性宽松 + 业绩超预期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103620" y="2293618"/>
            <a:ext cx="54197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TGA下降、降息预期叠加主线(例如Mag 7)业绩亮眼，市场进入主升浪，估值与盈利双击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932170" y="2815112"/>
            <a:ext cx="5676900" cy="828675"/>
          </a:xfrm>
          <a:custGeom>
            <a:avLst/>
            <a:gdLst/>
            <a:ahLst/>
            <a:cxnLst/>
            <a:rect l="l" t="t" r="r" b="b"/>
            <a:pathLst>
              <a:path w="5676900" h="828675">
                <a:moveTo>
                  <a:pt x="38100" y="0"/>
                </a:moveTo>
                <a:lnTo>
                  <a:pt x="5600703" y="0"/>
                </a:lnTo>
                <a:cubicBezTo>
                  <a:pt x="5642786" y="0"/>
                  <a:pt x="5676900" y="34114"/>
                  <a:pt x="5676900" y="76197"/>
                </a:cubicBezTo>
                <a:lnTo>
                  <a:pt x="5676900" y="752478"/>
                </a:lnTo>
                <a:cubicBezTo>
                  <a:pt x="5676900" y="794561"/>
                  <a:pt x="5642786" y="828675"/>
                  <a:pt x="5600703" y="828675"/>
                </a:cubicBezTo>
                <a:lnTo>
                  <a:pt x="38100" y="828675"/>
                </a:lnTo>
                <a:cubicBezTo>
                  <a:pt x="17072" y="828675"/>
                  <a:pt x="0" y="811603"/>
                  <a:pt x="0" y="790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32F2F">
              <a:alpha val="5098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932170" y="2815112"/>
            <a:ext cx="38100" cy="828675"/>
          </a:xfrm>
          <a:custGeom>
            <a:avLst/>
            <a:gdLst/>
            <a:ahLst/>
            <a:cxnLst/>
            <a:rect l="l" t="t" r="r" b="b"/>
            <a:pathLst>
              <a:path w="38100" h="828675">
                <a:moveTo>
                  <a:pt x="38100" y="0"/>
                </a:moveTo>
                <a:lnTo>
                  <a:pt x="38100" y="0"/>
                </a:lnTo>
                <a:lnTo>
                  <a:pt x="38100" y="828675"/>
                </a:lnTo>
                <a:lnTo>
                  <a:pt x="38100" y="828675"/>
                </a:lnTo>
                <a:cubicBezTo>
                  <a:pt x="17072" y="828675"/>
                  <a:pt x="0" y="811603"/>
                  <a:pt x="0" y="790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32F2F"/>
          </a:solidFill>
          <a:ln/>
        </p:spPr>
      </p:sp>
      <p:sp>
        <p:nvSpPr>
          <p:cNvPr id="39" name="Text 37"/>
          <p:cNvSpPr/>
          <p:nvPr/>
        </p:nvSpPr>
        <p:spPr>
          <a:xfrm>
            <a:off x="6103620" y="2967512"/>
            <a:ext cx="542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双杀情景：流动性收紧 + 业绩miss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103620" y="3272312"/>
            <a:ext cx="54197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TGA上升、加息预期叠加业绩不及预期，市场面临双杀风险，估值与盈利双杀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932170" y="3793806"/>
            <a:ext cx="5676900" cy="828675"/>
          </a:xfrm>
          <a:custGeom>
            <a:avLst/>
            <a:gdLst/>
            <a:ahLst/>
            <a:cxnLst/>
            <a:rect l="l" t="t" r="r" b="b"/>
            <a:pathLst>
              <a:path w="5676900" h="828675">
                <a:moveTo>
                  <a:pt x="38100" y="0"/>
                </a:moveTo>
                <a:lnTo>
                  <a:pt x="5600703" y="0"/>
                </a:lnTo>
                <a:cubicBezTo>
                  <a:pt x="5642786" y="0"/>
                  <a:pt x="5676900" y="34114"/>
                  <a:pt x="5676900" y="76197"/>
                </a:cubicBezTo>
                <a:lnTo>
                  <a:pt x="5676900" y="752478"/>
                </a:lnTo>
                <a:cubicBezTo>
                  <a:pt x="5676900" y="794561"/>
                  <a:pt x="5642786" y="828675"/>
                  <a:pt x="5600703" y="828675"/>
                </a:cubicBezTo>
                <a:lnTo>
                  <a:pt x="38100" y="828675"/>
                </a:lnTo>
                <a:cubicBezTo>
                  <a:pt x="17072" y="828675"/>
                  <a:pt x="0" y="811603"/>
                  <a:pt x="0" y="790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6868B">
              <a:alpha val="5098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932170" y="3793806"/>
            <a:ext cx="38100" cy="828675"/>
          </a:xfrm>
          <a:custGeom>
            <a:avLst/>
            <a:gdLst/>
            <a:ahLst/>
            <a:cxnLst/>
            <a:rect l="l" t="t" r="r" b="b"/>
            <a:pathLst>
              <a:path w="38100" h="828675">
                <a:moveTo>
                  <a:pt x="38100" y="0"/>
                </a:moveTo>
                <a:lnTo>
                  <a:pt x="38100" y="0"/>
                </a:lnTo>
                <a:lnTo>
                  <a:pt x="38100" y="828675"/>
                </a:lnTo>
                <a:lnTo>
                  <a:pt x="38100" y="828675"/>
                </a:lnTo>
                <a:cubicBezTo>
                  <a:pt x="17072" y="828675"/>
                  <a:pt x="0" y="811603"/>
                  <a:pt x="0" y="790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43" name="Text 41"/>
          <p:cNvSpPr/>
          <p:nvPr/>
        </p:nvSpPr>
        <p:spPr>
          <a:xfrm>
            <a:off x="6103620" y="3946206"/>
            <a:ext cx="542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震荡情景：流动性宽松 + 业绩miss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103620" y="4251006"/>
            <a:ext cx="54197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流动性支撑估值，但业绩疲软限制涨幅，市场呈现震荡格局，结构性行情为主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932170" y="4772499"/>
            <a:ext cx="5676900" cy="828675"/>
          </a:xfrm>
          <a:custGeom>
            <a:avLst/>
            <a:gdLst/>
            <a:ahLst/>
            <a:cxnLst/>
            <a:rect l="l" t="t" r="r" b="b"/>
            <a:pathLst>
              <a:path w="5676900" h="828675">
                <a:moveTo>
                  <a:pt x="38100" y="0"/>
                </a:moveTo>
                <a:lnTo>
                  <a:pt x="5600703" y="0"/>
                </a:lnTo>
                <a:cubicBezTo>
                  <a:pt x="5642786" y="0"/>
                  <a:pt x="5676900" y="34114"/>
                  <a:pt x="5676900" y="76197"/>
                </a:cubicBezTo>
                <a:lnTo>
                  <a:pt x="5676900" y="752478"/>
                </a:lnTo>
                <a:cubicBezTo>
                  <a:pt x="5676900" y="794561"/>
                  <a:pt x="5642786" y="828675"/>
                  <a:pt x="5600703" y="828675"/>
                </a:cubicBezTo>
                <a:lnTo>
                  <a:pt x="38100" y="828675"/>
                </a:lnTo>
                <a:cubicBezTo>
                  <a:pt x="17072" y="828675"/>
                  <a:pt x="0" y="811603"/>
                  <a:pt x="0" y="790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6868B">
              <a:alpha val="5098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932170" y="4772499"/>
            <a:ext cx="38100" cy="828675"/>
          </a:xfrm>
          <a:custGeom>
            <a:avLst/>
            <a:gdLst/>
            <a:ahLst/>
            <a:cxnLst/>
            <a:rect l="l" t="t" r="r" b="b"/>
            <a:pathLst>
              <a:path w="38100" h="828675">
                <a:moveTo>
                  <a:pt x="38100" y="0"/>
                </a:moveTo>
                <a:lnTo>
                  <a:pt x="38100" y="0"/>
                </a:lnTo>
                <a:lnTo>
                  <a:pt x="38100" y="828675"/>
                </a:lnTo>
                <a:lnTo>
                  <a:pt x="38100" y="828675"/>
                </a:lnTo>
                <a:cubicBezTo>
                  <a:pt x="17072" y="828675"/>
                  <a:pt x="0" y="811603"/>
                  <a:pt x="0" y="790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47" name="Text 45"/>
          <p:cNvSpPr/>
          <p:nvPr/>
        </p:nvSpPr>
        <p:spPr>
          <a:xfrm>
            <a:off x="6103620" y="4924899"/>
            <a:ext cx="542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分化情景：流动性收紧 + 业绩超预期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103620" y="5229699"/>
            <a:ext cx="54197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业绩支撑个别标的，但流动性压制整体估值，市场呈现分化格局，精选个股为主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381000" y="6324600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重要声明：本报告基于历史路径经验推断，非实时数据驱动。历史表现不代表未来结果，经济环境可能发生结构性变化导致历史规律失效。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7729" y="337729"/>
            <a:ext cx="11575645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b="1" spc="93" kern="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RISK &amp; MONITORING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7729" y="574139"/>
            <a:ext cx="11668521" cy="337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93" b="1" dirty="0">
                <a:solidFill>
                  <a:srgbClr val="1D1D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风险提示与监测指标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1106" y="1084109"/>
            <a:ext cx="5748140" cy="3654223"/>
          </a:xfrm>
          <a:custGeom>
            <a:avLst/>
            <a:gdLst/>
            <a:ahLst/>
            <a:cxnLst/>
            <a:rect l="l" t="t" r="r" b="b"/>
            <a:pathLst>
              <a:path w="5748140" h="3654223">
                <a:moveTo>
                  <a:pt x="67530" y="0"/>
                </a:moveTo>
                <a:lnTo>
                  <a:pt x="5680610" y="0"/>
                </a:lnTo>
                <a:cubicBezTo>
                  <a:pt x="5717905" y="0"/>
                  <a:pt x="5748140" y="30234"/>
                  <a:pt x="5748140" y="67530"/>
                </a:cubicBezTo>
                <a:lnTo>
                  <a:pt x="5748140" y="3586693"/>
                </a:lnTo>
                <a:cubicBezTo>
                  <a:pt x="5748140" y="3623988"/>
                  <a:pt x="5717905" y="3654223"/>
                  <a:pt x="5680610" y="3654223"/>
                </a:cubicBezTo>
                <a:lnTo>
                  <a:pt x="67530" y="3654223"/>
                </a:lnTo>
                <a:cubicBezTo>
                  <a:pt x="30234" y="3654223"/>
                  <a:pt x="0" y="3623988"/>
                  <a:pt x="0" y="3586693"/>
                </a:cubicBezTo>
                <a:lnTo>
                  <a:pt x="0" y="67530"/>
                </a:lnTo>
                <a:cubicBezTo>
                  <a:pt x="0" y="30259"/>
                  <a:pt x="30259" y="0"/>
                  <a:pt x="67530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3347" y="1256348"/>
            <a:ext cx="5479645" cy="236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7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货币政策监测指标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3347" y="1627850"/>
            <a:ext cx="5403657" cy="911867"/>
          </a:xfrm>
          <a:custGeom>
            <a:avLst/>
            <a:gdLst/>
            <a:ahLst/>
            <a:cxnLst/>
            <a:rect l="l" t="t" r="r" b="b"/>
            <a:pathLst>
              <a:path w="5403657" h="911867">
                <a:moveTo>
                  <a:pt x="67542" y="0"/>
                </a:moveTo>
                <a:lnTo>
                  <a:pt x="5336115" y="0"/>
                </a:lnTo>
                <a:cubicBezTo>
                  <a:pt x="5373417" y="0"/>
                  <a:pt x="5403657" y="30240"/>
                  <a:pt x="5403657" y="67542"/>
                </a:cubicBezTo>
                <a:lnTo>
                  <a:pt x="5403657" y="844325"/>
                </a:lnTo>
                <a:cubicBezTo>
                  <a:pt x="5403657" y="881627"/>
                  <a:pt x="5373417" y="911867"/>
                  <a:pt x="5336115" y="911867"/>
                </a:cubicBezTo>
                <a:lnTo>
                  <a:pt x="67542" y="911867"/>
                </a:lnTo>
                <a:cubicBezTo>
                  <a:pt x="30265" y="911867"/>
                  <a:pt x="0" y="881602"/>
                  <a:pt x="0" y="844325"/>
                </a:cubicBezTo>
                <a:lnTo>
                  <a:pt x="0" y="67542"/>
                </a:lnTo>
                <a:cubicBezTo>
                  <a:pt x="0" y="30265"/>
                  <a:pt x="30265" y="0"/>
                  <a:pt x="67542" y="0"/>
                </a:cubicBezTo>
                <a:close/>
              </a:path>
            </a:pathLst>
          </a:custGeom>
          <a:solidFill>
            <a:srgbClr val="FAFAFA"/>
          </a:solidFill>
          <a:ln/>
        </p:spPr>
      </p:sp>
      <p:sp>
        <p:nvSpPr>
          <p:cNvPr id="7" name="Text 5"/>
          <p:cNvSpPr/>
          <p:nvPr/>
        </p:nvSpPr>
        <p:spPr>
          <a:xfrm>
            <a:off x="648439" y="1779729"/>
            <a:ext cx="776776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核心PCE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8439" y="1982366"/>
            <a:ext cx="768332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通胀压力指标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14005" y="1762941"/>
            <a:ext cx="1173607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96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2.4-2.6%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64665" y="2033025"/>
            <a:ext cx="1122947" cy="135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798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历史阈值: &gt;3%暂停降息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8439" y="2235555"/>
            <a:ext cx="768332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通胀反弹概率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49408" y="2235555"/>
            <a:ext cx="295512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b="1" dirty="0">
                <a:solidFill>
                  <a:srgbClr val="D32F2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25%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3347" y="2640829"/>
            <a:ext cx="5403657" cy="911867"/>
          </a:xfrm>
          <a:custGeom>
            <a:avLst/>
            <a:gdLst/>
            <a:ahLst/>
            <a:cxnLst/>
            <a:rect l="l" t="t" r="r" b="b"/>
            <a:pathLst>
              <a:path w="5403657" h="911867">
                <a:moveTo>
                  <a:pt x="67542" y="0"/>
                </a:moveTo>
                <a:lnTo>
                  <a:pt x="5336115" y="0"/>
                </a:lnTo>
                <a:cubicBezTo>
                  <a:pt x="5373417" y="0"/>
                  <a:pt x="5403657" y="30240"/>
                  <a:pt x="5403657" y="67542"/>
                </a:cubicBezTo>
                <a:lnTo>
                  <a:pt x="5403657" y="844325"/>
                </a:lnTo>
                <a:cubicBezTo>
                  <a:pt x="5403657" y="881627"/>
                  <a:pt x="5373417" y="911867"/>
                  <a:pt x="5336115" y="911867"/>
                </a:cubicBezTo>
                <a:lnTo>
                  <a:pt x="67542" y="911867"/>
                </a:lnTo>
                <a:cubicBezTo>
                  <a:pt x="30265" y="911867"/>
                  <a:pt x="0" y="881602"/>
                  <a:pt x="0" y="844325"/>
                </a:cubicBezTo>
                <a:lnTo>
                  <a:pt x="0" y="67542"/>
                </a:lnTo>
                <a:cubicBezTo>
                  <a:pt x="0" y="30265"/>
                  <a:pt x="30265" y="0"/>
                  <a:pt x="67542" y="0"/>
                </a:cubicBezTo>
                <a:close/>
              </a:path>
            </a:pathLst>
          </a:custGeom>
          <a:solidFill>
            <a:srgbClr val="FAFAFA"/>
          </a:solidFill>
          <a:ln/>
        </p:spPr>
      </p:sp>
      <p:sp>
        <p:nvSpPr>
          <p:cNvPr id="14" name="Text 12"/>
          <p:cNvSpPr/>
          <p:nvPr/>
        </p:nvSpPr>
        <p:spPr>
          <a:xfrm>
            <a:off x="648439" y="2792700"/>
            <a:ext cx="776776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失业率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8439" y="2995337"/>
            <a:ext cx="768332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就业市场指标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27040" y="2775921"/>
            <a:ext cx="1258039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96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4.0-4.2%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7699" y="3045996"/>
            <a:ext cx="1207380" cy="135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798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历史阈值: &gt;4.5%加速降息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8439" y="3248526"/>
            <a:ext cx="768332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经济衰退概率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45819" y="3248526"/>
            <a:ext cx="295512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b="1" dirty="0">
                <a:solidFill>
                  <a:srgbClr val="D32F2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20%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13347" y="3653801"/>
            <a:ext cx="5403657" cy="911867"/>
          </a:xfrm>
          <a:custGeom>
            <a:avLst/>
            <a:gdLst/>
            <a:ahLst/>
            <a:cxnLst/>
            <a:rect l="l" t="t" r="r" b="b"/>
            <a:pathLst>
              <a:path w="5403657" h="911867">
                <a:moveTo>
                  <a:pt x="67542" y="0"/>
                </a:moveTo>
                <a:lnTo>
                  <a:pt x="5336115" y="0"/>
                </a:lnTo>
                <a:cubicBezTo>
                  <a:pt x="5373417" y="0"/>
                  <a:pt x="5403657" y="30240"/>
                  <a:pt x="5403657" y="67542"/>
                </a:cubicBezTo>
                <a:lnTo>
                  <a:pt x="5403657" y="844325"/>
                </a:lnTo>
                <a:cubicBezTo>
                  <a:pt x="5403657" y="881627"/>
                  <a:pt x="5373417" y="911867"/>
                  <a:pt x="5336115" y="911867"/>
                </a:cubicBezTo>
                <a:lnTo>
                  <a:pt x="67542" y="911867"/>
                </a:lnTo>
                <a:cubicBezTo>
                  <a:pt x="30265" y="911867"/>
                  <a:pt x="0" y="881602"/>
                  <a:pt x="0" y="844325"/>
                </a:cubicBezTo>
                <a:lnTo>
                  <a:pt x="0" y="67542"/>
                </a:lnTo>
                <a:cubicBezTo>
                  <a:pt x="0" y="30265"/>
                  <a:pt x="30265" y="0"/>
                  <a:pt x="67542" y="0"/>
                </a:cubicBezTo>
                <a:close/>
              </a:path>
            </a:pathLst>
          </a:custGeom>
          <a:solidFill>
            <a:srgbClr val="FAFAFA"/>
          </a:solidFill>
          <a:ln/>
        </p:spPr>
      </p:sp>
      <p:sp>
        <p:nvSpPr>
          <p:cNvPr id="21" name="Text 19"/>
          <p:cNvSpPr/>
          <p:nvPr/>
        </p:nvSpPr>
        <p:spPr>
          <a:xfrm>
            <a:off x="648439" y="3805671"/>
            <a:ext cx="818992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3M-10Y利差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8439" y="4008308"/>
            <a:ext cx="810548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衰退信号指标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15061" y="3788892"/>
            <a:ext cx="1165163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96" b="1" dirty="0">
                <a:solidFill>
                  <a:srgbClr val="8686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待确认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65720" y="4058968"/>
            <a:ext cx="1114504" cy="135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798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历史信号: 倒挂预示衰退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8439" y="4261506"/>
            <a:ext cx="768332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衰退信号概率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69355" y="4261506"/>
            <a:ext cx="270183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b="1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15%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66342" y="1084109"/>
            <a:ext cx="5579275" cy="3316494"/>
          </a:xfrm>
          <a:custGeom>
            <a:avLst/>
            <a:gdLst/>
            <a:ahLst/>
            <a:cxnLst/>
            <a:rect l="l" t="t" r="r" b="b"/>
            <a:pathLst>
              <a:path w="5579275" h="3316494">
                <a:moveTo>
                  <a:pt x="67557" y="0"/>
                </a:moveTo>
                <a:lnTo>
                  <a:pt x="5511718" y="0"/>
                </a:lnTo>
                <a:cubicBezTo>
                  <a:pt x="5549029" y="0"/>
                  <a:pt x="5579275" y="30246"/>
                  <a:pt x="5579275" y="67557"/>
                </a:cubicBezTo>
                <a:lnTo>
                  <a:pt x="5579275" y="3248937"/>
                </a:lnTo>
                <a:cubicBezTo>
                  <a:pt x="5579275" y="3286248"/>
                  <a:pt x="5549029" y="3316494"/>
                  <a:pt x="5511718" y="3316494"/>
                </a:cubicBezTo>
                <a:lnTo>
                  <a:pt x="67557" y="3316494"/>
                </a:lnTo>
                <a:cubicBezTo>
                  <a:pt x="30246" y="3316494"/>
                  <a:pt x="0" y="3286248"/>
                  <a:pt x="0" y="3248937"/>
                </a:cubicBezTo>
                <a:lnTo>
                  <a:pt x="0" y="67557"/>
                </a:lnTo>
                <a:cubicBezTo>
                  <a:pt x="0" y="30246"/>
                  <a:pt x="30246" y="0"/>
                  <a:pt x="6755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38583" y="1256348"/>
            <a:ext cx="5310781" cy="236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7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财政政策监测指标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38583" y="1627850"/>
            <a:ext cx="5234792" cy="911867"/>
          </a:xfrm>
          <a:custGeom>
            <a:avLst/>
            <a:gdLst/>
            <a:ahLst/>
            <a:cxnLst/>
            <a:rect l="l" t="t" r="r" b="b"/>
            <a:pathLst>
              <a:path w="5234792" h="911867">
                <a:moveTo>
                  <a:pt x="67542" y="0"/>
                </a:moveTo>
                <a:lnTo>
                  <a:pt x="5167250" y="0"/>
                </a:lnTo>
                <a:cubicBezTo>
                  <a:pt x="5204553" y="0"/>
                  <a:pt x="5234792" y="30240"/>
                  <a:pt x="5234792" y="67542"/>
                </a:cubicBezTo>
                <a:lnTo>
                  <a:pt x="5234792" y="844325"/>
                </a:lnTo>
                <a:cubicBezTo>
                  <a:pt x="5234792" y="881627"/>
                  <a:pt x="5204553" y="911867"/>
                  <a:pt x="5167250" y="911867"/>
                </a:cubicBezTo>
                <a:lnTo>
                  <a:pt x="67542" y="911867"/>
                </a:lnTo>
                <a:cubicBezTo>
                  <a:pt x="30265" y="911867"/>
                  <a:pt x="0" y="881602"/>
                  <a:pt x="0" y="844325"/>
                </a:cubicBezTo>
                <a:lnTo>
                  <a:pt x="0" y="67542"/>
                </a:lnTo>
                <a:cubicBezTo>
                  <a:pt x="0" y="30265"/>
                  <a:pt x="30265" y="0"/>
                  <a:pt x="67542" y="0"/>
                </a:cubicBezTo>
                <a:close/>
              </a:path>
            </a:pathLst>
          </a:custGeom>
          <a:solidFill>
            <a:srgbClr val="FAFAFA"/>
          </a:solidFill>
          <a:ln/>
        </p:spPr>
      </p:sp>
      <p:sp>
        <p:nvSpPr>
          <p:cNvPr id="30" name="Text 28"/>
          <p:cNvSpPr/>
          <p:nvPr/>
        </p:nvSpPr>
        <p:spPr>
          <a:xfrm>
            <a:off x="6573675" y="1779729"/>
            <a:ext cx="776776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债务/GDP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73675" y="1982366"/>
            <a:ext cx="768332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债务可持续性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553278" y="1762941"/>
            <a:ext cx="987856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96" b="1" dirty="0">
                <a:solidFill>
                  <a:srgbClr val="D32F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120-125%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603937" y="2033025"/>
            <a:ext cx="937197" cy="135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798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历史警戒线: &gt;130%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73675" y="2235555"/>
            <a:ext cx="768332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债务危机概率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325727" y="2235555"/>
            <a:ext cx="270183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b="1" dirty="0">
                <a:solidFill>
                  <a:srgbClr val="D32F2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15%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38583" y="2640829"/>
            <a:ext cx="5234792" cy="743003"/>
          </a:xfrm>
          <a:custGeom>
            <a:avLst/>
            <a:gdLst/>
            <a:ahLst/>
            <a:cxnLst/>
            <a:rect l="l" t="t" r="r" b="b"/>
            <a:pathLst>
              <a:path w="5234792" h="743003">
                <a:moveTo>
                  <a:pt x="67546" y="0"/>
                </a:moveTo>
                <a:lnTo>
                  <a:pt x="5167246" y="0"/>
                </a:lnTo>
                <a:cubicBezTo>
                  <a:pt x="5204551" y="0"/>
                  <a:pt x="5234792" y="30242"/>
                  <a:pt x="5234792" y="67546"/>
                </a:cubicBezTo>
                <a:lnTo>
                  <a:pt x="5234792" y="675456"/>
                </a:lnTo>
                <a:cubicBezTo>
                  <a:pt x="5234792" y="712761"/>
                  <a:pt x="5204551" y="743003"/>
                  <a:pt x="5167246" y="743003"/>
                </a:cubicBezTo>
                <a:lnTo>
                  <a:pt x="67546" y="743003"/>
                </a:lnTo>
                <a:cubicBezTo>
                  <a:pt x="30267" y="743003"/>
                  <a:pt x="0" y="712736"/>
                  <a:pt x="0" y="675456"/>
                </a:cubicBezTo>
                <a:lnTo>
                  <a:pt x="0" y="67546"/>
                </a:lnTo>
                <a:cubicBezTo>
                  <a:pt x="0" y="30242"/>
                  <a:pt x="30242" y="0"/>
                  <a:pt x="67546" y="0"/>
                </a:cubicBezTo>
                <a:close/>
              </a:path>
            </a:pathLst>
          </a:custGeom>
          <a:solidFill>
            <a:srgbClr val="FAFAFA"/>
          </a:solidFill>
          <a:ln/>
        </p:spPr>
      </p:sp>
      <p:sp>
        <p:nvSpPr>
          <p:cNvPr id="37" name="Text 35"/>
          <p:cNvSpPr/>
          <p:nvPr/>
        </p:nvSpPr>
        <p:spPr>
          <a:xfrm>
            <a:off x="6573675" y="2792700"/>
            <a:ext cx="928753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利息/财政收入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73675" y="2995337"/>
            <a:ext cx="920310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偿债压力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613436" y="2775921"/>
            <a:ext cx="928753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96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15-18%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664095" y="3045996"/>
            <a:ext cx="878094" cy="135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798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历史警戒线: &gt;20%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38583" y="3484936"/>
            <a:ext cx="5234792" cy="743003"/>
          </a:xfrm>
          <a:custGeom>
            <a:avLst/>
            <a:gdLst/>
            <a:ahLst/>
            <a:cxnLst/>
            <a:rect l="l" t="t" r="r" b="b"/>
            <a:pathLst>
              <a:path w="5234792" h="743003">
                <a:moveTo>
                  <a:pt x="67546" y="0"/>
                </a:moveTo>
                <a:lnTo>
                  <a:pt x="5167246" y="0"/>
                </a:lnTo>
                <a:cubicBezTo>
                  <a:pt x="5204551" y="0"/>
                  <a:pt x="5234792" y="30242"/>
                  <a:pt x="5234792" y="67546"/>
                </a:cubicBezTo>
                <a:lnTo>
                  <a:pt x="5234792" y="675456"/>
                </a:lnTo>
                <a:cubicBezTo>
                  <a:pt x="5234792" y="712761"/>
                  <a:pt x="5204551" y="743003"/>
                  <a:pt x="5167246" y="743003"/>
                </a:cubicBezTo>
                <a:lnTo>
                  <a:pt x="67546" y="743003"/>
                </a:lnTo>
                <a:cubicBezTo>
                  <a:pt x="30267" y="743003"/>
                  <a:pt x="0" y="712736"/>
                  <a:pt x="0" y="675456"/>
                </a:cubicBezTo>
                <a:lnTo>
                  <a:pt x="0" y="67546"/>
                </a:lnTo>
                <a:cubicBezTo>
                  <a:pt x="0" y="30242"/>
                  <a:pt x="30242" y="0"/>
                  <a:pt x="67546" y="0"/>
                </a:cubicBezTo>
                <a:close/>
              </a:path>
            </a:pathLst>
          </a:custGeom>
          <a:solidFill>
            <a:srgbClr val="FAFAFA"/>
          </a:solidFill>
          <a:ln/>
        </p:spPr>
      </p:sp>
      <p:sp>
        <p:nvSpPr>
          <p:cNvPr id="42" name="Text 40"/>
          <p:cNvSpPr/>
          <p:nvPr/>
        </p:nvSpPr>
        <p:spPr>
          <a:xfrm>
            <a:off x="6573675" y="3636807"/>
            <a:ext cx="776776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财政赤字率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573675" y="3839444"/>
            <a:ext cx="768332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财政扩张程度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632328" y="3620028"/>
            <a:ext cx="903424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96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5.5-6.5%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682987" y="3890103"/>
            <a:ext cx="852765" cy="135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798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历史警戒线: &gt;7%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66342" y="4541819"/>
            <a:ext cx="5579275" cy="2117558"/>
          </a:xfrm>
          <a:custGeom>
            <a:avLst/>
            <a:gdLst/>
            <a:ahLst/>
            <a:cxnLst/>
            <a:rect l="l" t="t" r="r" b="b"/>
            <a:pathLst>
              <a:path w="5579275" h="2117558">
                <a:moveTo>
                  <a:pt x="67550" y="0"/>
                </a:moveTo>
                <a:lnTo>
                  <a:pt x="5511725" y="0"/>
                </a:lnTo>
                <a:cubicBezTo>
                  <a:pt x="5549032" y="0"/>
                  <a:pt x="5579275" y="30243"/>
                  <a:pt x="5579275" y="67550"/>
                </a:cubicBezTo>
                <a:lnTo>
                  <a:pt x="5579275" y="2050008"/>
                </a:lnTo>
                <a:cubicBezTo>
                  <a:pt x="5579275" y="2087315"/>
                  <a:pt x="5549032" y="2117558"/>
                  <a:pt x="5511725" y="2117558"/>
                </a:cubicBezTo>
                <a:lnTo>
                  <a:pt x="67550" y="2117558"/>
                </a:lnTo>
                <a:cubicBezTo>
                  <a:pt x="30243" y="2117558"/>
                  <a:pt x="0" y="2087315"/>
                  <a:pt x="0" y="2050008"/>
                </a:cubicBezTo>
                <a:lnTo>
                  <a:pt x="0" y="67550"/>
                </a:lnTo>
                <a:cubicBezTo>
                  <a:pt x="0" y="30268"/>
                  <a:pt x="30268" y="0"/>
                  <a:pt x="67550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38583" y="4714059"/>
            <a:ext cx="5310781" cy="236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7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历史黑天鹅事件回顾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38583" y="5359120"/>
            <a:ext cx="5234792" cy="6755"/>
          </a:xfrm>
          <a:custGeom>
            <a:avLst/>
            <a:gdLst/>
            <a:ahLst/>
            <a:cxnLst/>
            <a:rect l="l" t="t" r="r" b="b"/>
            <a:pathLst>
              <a:path w="5234792" h="6755">
                <a:moveTo>
                  <a:pt x="0" y="0"/>
                </a:moveTo>
                <a:lnTo>
                  <a:pt x="5234792" y="0"/>
                </a:lnTo>
                <a:lnTo>
                  <a:pt x="5234792" y="6755"/>
                </a:lnTo>
                <a:lnTo>
                  <a:pt x="0" y="675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49" name="Shape 47"/>
          <p:cNvSpPr/>
          <p:nvPr/>
        </p:nvSpPr>
        <p:spPr>
          <a:xfrm>
            <a:off x="6448082" y="5144663"/>
            <a:ext cx="132981" cy="118205"/>
          </a:xfrm>
          <a:custGeom>
            <a:avLst/>
            <a:gdLst/>
            <a:ahLst/>
            <a:cxnLst/>
            <a:rect l="l" t="t" r="r" b="b"/>
            <a:pathLst>
              <a:path w="132981" h="118205">
                <a:moveTo>
                  <a:pt x="66490" y="14776"/>
                </a:moveTo>
                <a:cubicBezTo>
                  <a:pt x="90962" y="14776"/>
                  <a:pt x="110817" y="34630"/>
                  <a:pt x="110817" y="59102"/>
                </a:cubicBezTo>
                <a:cubicBezTo>
                  <a:pt x="110817" y="83575"/>
                  <a:pt x="90962" y="103429"/>
                  <a:pt x="66490" y="103429"/>
                </a:cubicBezTo>
                <a:cubicBezTo>
                  <a:pt x="51438" y="103429"/>
                  <a:pt x="38116" y="95926"/>
                  <a:pt x="30105" y="84429"/>
                </a:cubicBezTo>
                <a:cubicBezTo>
                  <a:pt x="27774" y="81081"/>
                  <a:pt x="23156" y="80273"/>
                  <a:pt x="19809" y="82605"/>
                </a:cubicBezTo>
                <a:cubicBezTo>
                  <a:pt x="16461" y="84937"/>
                  <a:pt x="15653" y="89554"/>
                  <a:pt x="17985" y="92902"/>
                </a:cubicBezTo>
                <a:cubicBezTo>
                  <a:pt x="28651" y="108185"/>
                  <a:pt x="46405" y="118205"/>
                  <a:pt x="66490" y="118205"/>
                </a:cubicBezTo>
                <a:cubicBezTo>
                  <a:pt x="99135" y="118205"/>
                  <a:pt x="125593" y="91747"/>
                  <a:pt x="125593" y="59102"/>
                </a:cubicBezTo>
                <a:cubicBezTo>
                  <a:pt x="125593" y="26458"/>
                  <a:pt x="99135" y="0"/>
                  <a:pt x="66490" y="0"/>
                </a:cubicBezTo>
                <a:cubicBezTo>
                  <a:pt x="46705" y="0"/>
                  <a:pt x="29205" y="9720"/>
                  <a:pt x="18470" y="24634"/>
                </a:cubicBezTo>
                <a:lnTo>
                  <a:pt x="18470" y="18470"/>
                </a:lnTo>
                <a:cubicBezTo>
                  <a:pt x="18470" y="14383"/>
                  <a:pt x="15168" y="11082"/>
                  <a:pt x="11082" y="11082"/>
                </a:cubicBezTo>
                <a:cubicBezTo>
                  <a:pt x="6995" y="11082"/>
                  <a:pt x="3694" y="14383"/>
                  <a:pt x="3694" y="18470"/>
                </a:cubicBezTo>
                <a:lnTo>
                  <a:pt x="3694" y="44327"/>
                </a:lnTo>
                <a:cubicBezTo>
                  <a:pt x="3694" y="48413"/>
                  <a:pt x="6995" y="51715"/>
                  <a:pt x="11082" y="51715"/>
                </a:cubicBezTo>
                <a:lnTo>
                  <a:pt x="16761" y="51715"/>
                </a:lnTo>
                <a:cubicBezTo>
                  <a:pt x="16877" y="51715"/>
                  <a:pt x="16992" y="51715"/>
                  <a:pt x="17107" y="51715"/>
                </a:cubicBezTo>
                <a:lnTo>
                  <a:pt x="36962" y="51715"/>
                </a:lnTo>
                <a:cubicBezTo>
                  <a:pt x="41049" y="51715"/>
                  <a:pt x="44350" y="48413"/>
                  <a:pt x="44350" y="44327"/>
                </a:cubicBezTo>
                <a:cubicBezTo>
                  <a:pt x="44350" y="40240"/>
                  <a:pt x="41049" y="36939"/>
                  <a:pt x="36962" y="36939"/>
                </a:cubicBezTo>
                <a:lnTo>
                  <a:pt x="28120" y="36939"/>
                </a:lnTo>
                <a:cubicBezTo>
                  <a:pt x="35762" y="23687"/>
                  <a:pt x="50099" y="14776"/>
                  <a:pt x="66490" y="14776"/>
                </a:cubicBezTo>
                <a:close/>
                <a:moveTo>
                  <a:pt x="72031" y="35092"/>
                </a:moveTo>
                <a:cubicBezTo>
                  <a:pt x="72031" y="32022"/>
                  <a:pt x="69561" y="29551"/>
                  <a:pt x="66490" y="29551"/>
                </a:cubicBezTo>
                <a:cubicBezTo>
                  <a:pt x="63420" y="29551"/>
                  <a:pt x="60949" y="32022"/>
                  <a:pt x="60949" y="35092"/>
                </a:cubicBezTo>
                <a:lnTo>
                  <a:pt x="60949" y="59102"/>
                </a:lnTo>
                <a:cubicBezTo>
                  <a:pt x="60949" y="60580"/>
                  <a:pt x="61527" y="61988"/>
                  <a:pt x="62566" y="63027"/>
                </a:cubicBezTo>
                <a:lnTo>
                  <a:pt x="79188" y="79650"/>
                </a:lnTo>
                <a:cubicBezTo>
                  <a:pt x="81358" y="81820"/>
                  <a:pt x="84867" y="81820"/>
                  <a:pt x="87015" y="79650"/>
                </a:cubicBezTo>
                <a:cubicBezTo>
                  <a:pt x="89162" y="77480"/>
                  <a:pt x="89185" y="73970"/>
                  <a:pt x="87015" y="71823"/>
                </a:cubicBezTo>
                <a:lnTo>
                  <a:pt x="72008" y="56817"/>
                </a:lnTo>
                <a:lnTo>
                  <a:pt x="72008" y="35092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50" name="Text 48"/>
          <p:cNvSpPr/>
          <p:nvPr/>
        </p:nvSpPr>
        <p:spPr>
          <a:xfrm>
            <a:off x="6653885" y="5119333"/>
            <a:ext cx="1021629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1970年代滞胀危机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438583" y="5737375"/>
            <a:ext cx="5234792" cy="6755"/>
          </a:xfrm>
          <a:custGeom>
            <a:avLst/>
            <a:gdLst/>
            <a:ahLst/>
            <a:cxnLst/>
            <a:rect l="l" t="t" r="r" b="b"/>
            <a:pathLst>
              <a:path w="5234792" h="6755">
                <a:moveTo>
                  <a:pt x="0" y="0"/>
                </a:moveTo>
                <a:lnTo>
                  <a:pt x="5234792" y="0"/>
                </a:lnTo>
                <a:lnTo>
                  <a:pt x="5234792" y="6755"/>
                </a:lnTo>
                <a:lnTo>
                  <a:pt x="0" y="675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52" name="Shape 50"/>
          <p:cNvSpPr/>
          <p:nvPr/>
        </p:nvSpPr>
        <p:spPr>
          <a:xfrm>
            <a:off x="6448082" y="5522917"/>
            <a:ext cx="132981" cy="118205"/>
          </a:xfrm>
          <a:custGeom>
            <a:avLst/>
            <a:gdLst/>
            <a:ahLst/>
            <a:cxnLst/>
            <a:rect l="l" t="t" r="r" b="b"/>
            <a:pathLst>
              <a:path w="132981" h="118205">
                <a:moveTo>
                  <a:pt x="66490" y="14776"/>
                </a:moveTo>
                <a:cubicBezTo>
                  <a:pt x="90962" y="14776"/>
                  <a:pt x="110817" y="34630"/>
                  <a:pt x="110817" y="59102"/>
                </a:cubicBezTo>
                <a:cubicBezTo>
                  <a:pt x="110817" y="83575"/>
                  <a:pt x="90962" y="103429"/>
                  <a:pt x="66490" y="103429"/>
                </a:cubicBezTo>
                <a:cubicBezTo>
                  <a:pt x="51438" y="103429"/>
                  <a:pt x="38116" y="95926"/>
                  <a:pt x="30105" y="84429"/>
                </a:cubicBezTo>
                <a:cubicBezTo>
                  <a:pt x="27774" y="81081"/>
                  <a:pt x="23156" y="80273"/>
                  <a:pt x="19809" y="82605"/>
                </a:cubicBezTo>
                <a:cubicBezTo>
                  <a:pt x="16461" y="84937"/>
                  <a:pt x="15653" y="89554"/>
                  <a:pt x="17985" y="92902"/>
                </a:cubicBezTo>
                <a:cubicBezTo>
                  <a:pt x="28651" y="108185"/>
                  <a:pt x="46405" y="118205"/>
                  <a:pt x="66490" y="118205"/>
                </a:cubicBezTo>
                <a:cubicBezTo>
                  <a:pt x="99135" y="118205"/>
                  <a:pt x="125593" y="91747"/>
                  <a:pt x="125593" y="59102"/>
                </a:cubicBezTo>
                <a:cubicBezTo>
                  <a:pt x="125593" y="26458"/>
                  <a:pt x="99135" y="0"/>
                  <a:pt x="66490" y="0"/>
                </a:cubicBezTo>
                <a:cubicBezTo>
                  <a:pt x="46705" y="0"/>
                  <a:pt x="29205" y="9720"/>
                  <a:pt x="18470" y="24634"/>
                </a:cubicBezTo>
                <a:lnTo>
                  <a:pt x="18470" y="18470"/>
                </a:lnTo>
                <a:cubicBezTo>
                  <a:pt x="18470" y="14383"/>
                  <a:pt x="15168" y="11082"/>
                  <a:pt x="11082" y="11082"/>
                </a:cubicBezTo>
                <a:cubicBezTo>
                  <a:pt x="6995" y="11082"/>
                  <a:pt x="3694" y="14383"/>
                  <a:pt x="3694" y="18470"/>
                </a:cubicBezTo>
                <a:lnTo>
                  <a:pt x="3694" y="44327"/>
                </a:lnTo>
                <a:cubicBezTo>
                  <a:pt x="3694" y="48413"/>
                  <a:pt x="6995" y="51715"/>
                  <a:pt x="11082" y="51715"/>
                </a:cubicBezTo>
                <a:lnTo>
                  <a:pt x="16761" y="51715"/>
                </a:lnTo>
                <a:cubicBezTo>
                  <a:pt x="16877" y="51715"/>
                  <a:pt x="16992" y="51715"/>
                  <a:pt x="17107" y="51715"/>
                </a:cubicBezTo>
                <a:lnTo>
                  <a:pt x="36962" y="51715"/>
                </a:lnTo>
                <a:cubicBezTo>
                  <a:pt x="41049" y="51715"/>
                  <a:pt x="44350" y="48413"/>
                  <a:pt x="44350" y="44327"/>
                </a:cubicBezTo>
                <a:cubicBezTo>
                  <a:pt x="44350" y="40240"/>
                  <a:pt x="41049" y="36939"/>
                  <a:pt x="36962" y="36939"/>
                </a:cubicBezTo>
                <a:lnTo>
                  <a:pt x="28120" y="36939"/>
                </a:lnTo>
                <a:cubicBezTo>
                  <a:pt x="35762" y="23687"/>
                  <a:pt x="50099" y="14776"/>
                  <a:pt x="66490" y="14776"/>
                </a:cubicBezTo>
                <a:close/>
                <a:moveTo>
                  <a:pt x="72031" y="35092"/>
                </a:moveTo>
                <a:cubicBezTo>
                  <a:pt x="72031" y="32022"/>
                  <a:pt x="69561" y="29551"/>
                  <a:pt x="66490" y="29551"/>
                </a:cubicBezTo>
                <a:cubicBezTo>
                  <a:pt x="63420" y="29551"/>
                  <a:pt x="60949" y="32022"/>
                  <a:pt x="60949" y="35092"/>
                </a:cubicBezTo>
                <a:lnTo>
                  <a:pt x="60949" y="59102"/>
                </a:lnTo>
                <a:cubicBezTo>
                  <a:pt x="60949" y="60580"/>
                  <a:pt x="61527" y="61988"/>
                  <a:pt x="62566" y="63027"/>
                </a:cubicBezTo>
                <a:lnTo>
                  <a:pt x="79188" y="79650"/>
                </a:lnTo>
                <a:cubicBezTo>
                  <a:pt x="81358" y="81820"/>
                  <a:pt x="84867" y="81820"/>
                  <a:pt x="87015" y="79650"/>
                </a:cubicBezTo>
                <a:cubicBezTo>
                  <a:pt x="89162" y="77480"/>
                  <a:pt x="89185" y="73970"/>
                  <a:pt x="87015" y="71823"/>
                </a:cubicBezTo>
                <a:lnTo>
                  <a:pt x="72008" y="56817"/>
                </a:lnTo>
                <a:lnTo>
                  <a:pt x="72008" y="35092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53" name="Text 51"/>
          <p:cNvSpPr/>
          <p:nvPr/>
        </p:nvSpPr>
        <p:spPr>
          <a:xfrm>
            <a:off x="6653885" y="5497587"/>
            <a:ext cx="937197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2008年金融危机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438583" y="6115629"/>
            <a:ext cx="5234792" cy="6755"/>
          </a:xfrm>
          <a:custGeom>
            <a:avLst/>
            <a:gdLst/>
            <a:ahLst/>
            <a:cxnLst/>
            <a:rect l="l" t="t" r="r" b="b"/>
            <a:pathLst>
              <a:path w="5234792" h="6755">
                <a:moveTo>
                  <a:pt x="0" y="0"/>
                </a:moveTo>
                <a:lnTo>
                  <a:pt x="5234792" y="0"/>
                </a:lnTo>
                <a:lnTo>
                  <a:pt x="5234792" y="6755"/>
                </a:lnTo>
                <a:lnTo>
                  <a:pt x="0" y="675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55" name="Shape 53"/>
          <p:cNvSpPr/>
          <p:nvPr/>
        </p:nvSpPr>
        <p:spPr>
          <a:xfrm>
            <a:off x="6448082" y="5901171"/>
            <a:ext cx="132981" cy="118205"/>
          </a:xfrm>
          <a:custGeom>
            <a:avLst/>
            <a:gdLst/>
            <a:ahLst/>
            <a:cxnLst/>
            <a:rect l="l" t="t" r="r" b="b"/>
            <a:pathLst>
              <a:path w="132981" h="118205">
                <a:moveTo>
                  <a:pt x="66490" y="14776"/>
                </a:moveTo>
                <a:cubicBezTo>
                  <a:pt x="90962" y="14776"/>
                  <a:pt x="110817" y="34630"/>
                  <a:pt x="110817" y="59102"/>
                </a:cubicBezTo>
                <a:cubicBezTo>
                  <a:pt x="110817" y="83575"/>
                  <a:pt x="90962" y="103429"/>
                  <a:pt x="66490" y="103429"/>
                </a:cubicBezTo>
                <a:cubicBezTo>
                  <a:pt x="51438" y="103429"/>
                  <a:pt x="38116" y="95926"/>
                  <a:pt x="30105" y="84429"/>
                </a:cubicBezTo>
                <a:cubicBezTo>
                  <a:pt x="27774" y="81081"/>
                  <a:pt x="23156" y="80273"/>
                  <a:pt x="19809" y="82605"/>
                </a:cubicBezTo>
                <a:cubicBezTo>
                  <a:pt x="16461" y="84937"/>
                  <a:pt x="15653" y="89554"/>
                  <a:pt x="17985" y="92902"/>
                </a:cubicBezTo>
                <a:cubicBezTo>
                  <a:pt x="28651" y="108185"/>
                  <a:pt x="46405" y="118205"/>
                  <a:pt x="66490" y="118205"/>
                </a:cubicBezTo>
                <a:cubicBezTo>
                  <a:pt x="99135" y="118205"/>
                  <a:pt x="125593" y="91747"/>
                  <a:pt x="125593" y="59102"/>
                </a:cubicBezTo>
                <a:cubicBezTo>
                  <a:pt x="125593" y="26458"/>
                  <a:pt x="99135" y="0"/>
                  <a:pt x="66490" y="0"/>
                </a:cubicBezTo>
                <a:cubicBezTo>
                  <a:pt x="46705" y="0"/>
                  <a:pt x="29205" y="9720"/>
                  <a:pt x="18470" y="24634"/>
                </a:cubicBezTo>
                <a:lnTo>
                  <a:pt x="18470" y="18470"/>
                </a:lnTo>
                <a:cubicBezTo>
                  <a:pt x="18470" y="14383"/>
                  <a:pt x="15168" y="11082"/>
                  <a:pt x="11082" y="11082"/>
                </a:cubicBezTo>
                <a:cubicBezTo>
                  <a:pt x="6995" y="11082"/>
                  <a:pt x="3694" y="14383"/>
                  <a:pt x="3694" y="18470"/>
                </a:cubicBezTo>
                <a:lnTo>
                  <a:pt x="3694" y="44327"/>
                </a:lnTo>
                <a:cubicBezTo>
                  <a:pt x="3694" y="48413"/>
                  <a:pt x="6995" y="51715"/>
                  <a:pt x="11082" y="51715"/>
                </a:cubicBezTo>
                <a:lnTo>
                  <a:pt x="16761" y="51715"/>
                </a:lnTo>
                <a:cubicBezTo>
                  <a:pt x="16877" y="51715"/>
                  <a:pt x="16992" y="51715"/>
                  <a:pt x="17107" y="51715"/>
                </a:cubicBezTo>
                <a:lnTo>
                  <a:pt x="36962" y="51715"/>
                </a:lnTo>
                <a:cubicBezTo>
                  <a:pt x="41049" y="51715"/>
                  <a:pt x="44350" y="48413"/>
                  <a:pt x="44350" y="44327"/>
                </a:cubicBezTo>
                <a:cubicBezTo>
                  <a:pt x="44350" y="40240"/>
                  <a:pt x="41049" y="36939"/>
                  <a:pt x="36962" y="36939"/>
                </a:cubicBezTo>
                <a:lnTo>
                  <a:pt x="28120" y="36939"/>
                </a:lnTo>
                <a:cubicBezTo>
                  <a:pt x="35762" y="23687"/>
                  <a:pt x="50099" y="14776"/>
                  <a:pt x="66490" y="14776"/>
                </a:cubicBezTo>
                <a:close/>
                <a:moveTo>
                  <a:pt x="72031" y="35092"/>
                </a:moveTo>
                <a:cubicBezTo>
                  <a:pt x="72031" y="32022"/>
                  <a:pt x="69561" y="29551"/>
                  <a:pt x="66490" y="29551"/>
                </a:cubicBezTo>
                <a:cubicBezTo>
                  <a:pt x="63420" y="29551"/>
                  <a:pt x="60949" y="32022"/>
                  <a:pt x="60949" y="35092"/>
                </a:cubicBezTo>
                <a:lnTo>
                  <a:pt x="60949" y="59102"/>
                </a:lnTo>
                <a:cubicBezTo>
                  <a:pt x="60949" y="60580"/>
                  <a:pt x="61527" y="61988"/>
                  <a:pt x="62566" y="63027"/>
                </a:cubicBezTo>
                <a:lnTo>
                  <a:pt x="79188" y="79650"/>
                </a:lnTo>
                <a:cubicBezTo>
                  <a:pt x="81358" y="81820"/>
                  <a:pt x="84867" y="81820"/>
                  <a:pt x="87015" y="79650"/>
                </a:cubicBezTo>
                <a:cubicBezTo>
                  <a:pt x="89162" y="77480"/>
                  <a:pt x="89185" y="73970"/>
                  <a:pt x="87015" y="71823"/>
                </a:cubicBezTo>
                <a:lnTo>
                  <a:pt x="72008" y="56817"/>
                </a:lnTo>
                <a:lnTo>
                  <a:pt x="72008" y="35092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56" name="Text 54"/>
          <p:cNvSpPr/>
          <p:nvPr/>
        </p:nvSpPr>
        <p:spPr>
          <a:xfrm>
            <a:off x="6653885" y="5875842"/>
            <a:ext cx="1359357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2011年欧洲主权债务危机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455470" y="6279434"/>
            <a:ext cx="118205" cy="118205"/>
          </a:xfrm>
          <a:custGeom>
            <a:avLst/>
            <a:gdLst/>
            <a:ahLst/>
            <a:cxnLst/>
            <a:rect l="l" t="t" r="r" b="b"/>
            <a:pathLst>
              <a:path w="118205" h="118205">
                <a:moveTo>
                  <a:pt x="81243" y="64643"/>
                </a:moveTo>
                <a:lnTo>
                  <a:pt x="37170" y="64643"/>
                </a:lnTo>
                <a:cubicBezTo>
                  <a:pt x="37839" y="79534"/>
                  <a:pt x="41141" y="93248"/>
                  <a:pt x="45828" y="103291"/>
                </a:cubicBezTo>
                <a:cubicBezTo>
                  <a:pt x="48459" y="108947"/>
                  <a:pt x="51299" y="112941"/>
                  <a:pt x="53931" y="115388"/>
                </a:cubicBezTo>
                <a:cubicBezTo>
                  <a:pt x="56517" y="117813"/>
                  <a:pt x="58294" y="118205"/>
                  <a:pt x="59218" y="118205"/>
                </a:cubicBezTo>
                <a:cubicBezTo>
                  <a:pt x="60141" y="118205"/>
                  <a:pt x="61919" y="117813"/>
                  <a:pt x="64505" y="115388"/>
                </a:cubicBezTo>
                <a:cubicBezTo>
                  <a:pt x="67137" y="112941"/>
                  <a:pt x="69976" y="108924"/>
                  <a:pt x="72608" y="103291"/>
                </a:cubicBezTo>
                <a:cubicBezTo>
                  <a:pt x="77295" y="93248"/>
                  <a:pt x="80596" y="79534"/>
                  <a:pt x="81266" y="64643"/>
                </a:cubicBezTo>
                <a:close/>
                <a:moveTo>
                  <a:pt x="37147" y="53562"/>
                </a:moveTo>
                <a:lnTo>
                  <a:pt x="81220" y="53562"/>
                </a:lnTo>
                <a:cubicBezTo>
                  <a:pt x="80573" y="38671"/>
                  <a:pt x="77272" y="24957"/>
                  <a:pt x="72585" y="14914"/>
                </a:cubicBezTo>
                <a:cubicBezTo>
                  <a:pt x="69953" y="9281"/>
                  <a:pt x="67114" y="5264"/>
                  <a:pt x="64482" y="2817"/>
                </a:cubicBezTo>
                <a:cubicBezTo>
                  <a:pt x="61896" y="392"/>
                  <a:pt x="60118" y="0"/>
                  <a:pt x="59195" y="0"/>
                </a:cubicBezTo>
                <a:cubicBezTo>
                  <a:pt x="58271" y="0"/>
                  <a:pt x="56494" y="392"/>
                  <a:pt x="53908" y="2817"/>
                </a:cubicBezTo>
                <a:cubicBezTo>
                  <a:pt x="51276" y="5264"/>
                  <a:pt x="48436" y="9281"/>
                  <a:pt x="45804" y="14914"/>
                </a:cubicBezTo>
                <a:cubicBezTo>
                  <a:pt x="41118" y="24957"/>
                  <a:pt x="37816" y="38671"/>
                  <a:pt x="37147" y="53562"/>
                </a:cubicBezTo>
                <a:close/>
                <a:moveTo>
                  <a:pt x="26065" y="53562"/>
                </a:moveTo>
                <a:cubicBezTo>
                  <a:pt x="26873" y="33799"/>
                  <a:pt x="31975" y="15445"/>
                  <a:pt x="39432" y="3394"/>
                </a:cubicBezTo>
                <a:cubicBezTo>
                  <a:pt x="18169" y="10920"/>
                  <a:pt x="2516" y="30290"/>
                  <a:pt x="346" y="53562"/>
                </a:cubicBezTo>
                <a:lnTo>
                  <a:pt x="26065" y="53562"/>
                </a:lnTo>
                <a:close/>
                <a:moveTo>
                  <a:pt x="346" y="64643"/>
                </a:moveTo>
                <a:cubicBezTo>
                  <a:pt x="2516" y="87915"/>
                  <a:pt x="18169" y="107285"/>
                  <a:pt x="39432" y="114811"/>
                </a:cubicBezTo>
                <a:cubicBezTo>
                  <a:pt x="31975" y="102760"/>
                  <a:pt x="26873" y="84406"/>
                  <a:pt x="26065" y="64643"/>
                </a:cubicBezTo>
                <a:lnTo>
                  <a:pt x="346" y="64643"/>
                </a:lnTo>
                <a:close/>
                <a:moveTo>
                  <a:pt x="92325" y="64643"/>
                </a:moveTo>
                <a:cubicBezTo>
                  <a:pt x="91517" y="84406"/>
                  <a:pt x="86414" y="102760"/>
                  <a:pt x="78957" y="114811"/>
                </a:cubicBezTo>
                <a:cubicBezTo>
                  <a:pt x="100220" y="107262"/>
                  <a:pt x="115873" y="87915"/>
                  <a:pt x="118043" y="64643"/>
                </a:cubicBezTo>
                <a:lnTo>
                  <a:pt x="92325" y="64643"/>
                </a:lnTo>
                <a:close/>
                <a:moveTo>
                  <a:pt x="118043" y="53562"/>
                </a:moveTo>
                <a:cubicBezTo>
                  <a:pt x="115873" y="30290"/>
                  <a:pt x="100220" y="10920"/>
                  <a:pt x="78957" y="3394"/>
                </a:cubicBezTo>
                <a:cubicBezTo>
                  <a:pt x="86414" y="15445"/>
                  <a:pt x="91517" y="33799"/>
                  <a:pt x="92325" y="53562"/>
                </a:cubicBezTo>
                <a:lnTo>
                  <a:pt x="118043" y="53562"/>
                </a:lnTo>
                <a:close/>
              </a:path>
            </a:pathLst>
          </a:custGeom>
          <a:solidFill>
            <a:srgbClr val="D32F2F"/>
          </a:solidFill>
          <a:ln/>
        </p:spPr>
      </p:sp>
      <p:sp>
        <p:nvSpPr>
          <p:cNvPr id="58" name="Text 56"/>
          <p:cNvSpPr/>
          <p:nvPr/>
        </p:nvSpPr>
        <p:spPr>
          <a:xfrm>
            <a:off x="6653885" y="6254104"/>
            <a:ext cx="1359357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地缘政治风险：难以预测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354615" y="5606294"/>
            <a:ext cx="11499657" cy="709230"/>
          </a:xfrm>
          <a:custGeom>
            <a:avLst/>
            <a:gdLst/>
            <a:ahLst/>
            <a:cxnLst/>
            <a:rect l="l" t="t" r="r" b="b"/>
            <a:pathLst>
              <a:path w="11499657" h="709230">
                <a:moveTo>
                  <a:pt x="33773" y="0"/>
                </a:moveTo>
                <a:lnTo>
                  <a:pt x="11432109" y="0"/>
                </a:lnTo>
                <a:cubicBezTo>
                  <a:pt x="11469415" y="0"/>
                  <a:pt x="11499657" y="30242"/>
                  <a:pt x="11499657" y="67547"/>
                </a:cubicBezTo>
                <a:lnTo>
                  <a:pt x="11499657" y="641683"/>
                </a:lnTo>
                <a:cubicBezTo>
                  <a:pt x="11499657" y="678988"/>
                  <a:pt x="11469415" y="709230"/>
                  <a:pt x="11432109" y="709230"/>
                </a:cubicBezTo>
                <a:lnTo>
                  <a:pt x="33773" y="709230"/>
                </a:lnTo>
                <a:cubicBezTo>
                  <a:pt x="15121" y="709230"/>
                  <a:pt x="0" y="694109"/>
                  <a:pt x="0" y="675457"/>
                </a:cubicBezTo>
                <a:lnTo>
                  <a:pt x="0" y="33773"/>
                </a:lnTo>
                <a:cubicBezTo>
                  <a:pt x="0" y="15121"/>
                  <a:pt x="15121" y="0"/>
                  <a:pt x="33773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354615" y="5606294"/>
            <a:ext cx="33773" cy="709230"/>
          </a:xfrm>
          <a:custGeom>
            <a:avLst/>
            <a:gdLst/>
            <a:ahLst/>
            <a:cxnLst/>
            <a:rect l="l" t="t" r="r" b="b"/>
            <a:pathLst>
              <a:path w="33773" h="709230">
                <a:moveTo>
                  <a:pt x="33773" y="0"/>
                </a:moveTo>
                <a:lnTo>
                  <a:pt x="33773" y="0"/>
                </a:lnTo>
                <a:lnTo>
                  <a:pt x="33773" y="709230"/>
                </a:lnTo>
                <a:lnTo>
                  <a:pt x="33773" y="709230"/>
                </a:lnTo>
                <a:cubicBezTo>
                  <a:pt x="15121" y="709230"/>
                  <a:pt x="0" y="694109"/>
                  <a:pt x="0" y="675457"/>
                </a:cubicBezTo>
                <a:lnTo>
                  <a:pt x="0" y="33773"/>
                </a:lnTo>
                <a:cubicBezTo>
                  <a:pt x="0" y="15121"/>
                  <a:pt x="15121" y="0"/>
                  <a:pt x="33773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1" name="Shape 59"/>
          <p:cNvSpPr/>
          <p:nvPr/>
        </p:nvSpPr>
        <p:spPr>
          <a:xfrm>
            <a:off x="523479" y="5775158"/>
            <a:ext cx="135091" cy="135091"/>
          </a:xfrm>
          <a:custGeom>
            <a:avLst/>
            <a:gdLst/>
            <a:ahLst/>
            <a:cxnLst/>
            <a:rect l="l" t="t" r="r" b="b"/>
            <a:pathLst>
              <a:path w="135091" h="135091">
                <a:moveTo>
                  <a:pt x="67546" y="0"/>
                </a:moveTo>
                <a:cubicBezTo>
                  <a:pt x="68759" y="0"/>
                  <a:pt x="69973" y="264"/>
                  <a:pt x="71081" y="765"/>
                </a:cubicBezTo>
                <a:lnTo>
                  <a:pt x="120791" y="21847"/>
                </a:lnTo>
                <a:cubicBezTo>
                  <a:pt x="126595" y="24301"/>
                  <a:pt x="130923" y="30026"/>
                  <a:pt x="130896" y="36939"/>
                </a:cubicBezTo>
                <a:cubicBezTo>
                  <a:pt x="130764" y="63113"/>
                  <a:pt x="119999" y="111002"/>
                  <a:pt x="74538" y="132770"/>
                </a:cubicBezTo>
                <a:cubicBezTo>
                  <a:pt x="70131" y="134880"/>
                  <a:pt x="65013" y="134880"/>
                  <a:pt x="60606" y="132770"/>
                </a:cubicBezTo>
                <a:cubicBezTo>
                  <a:pt x="15119" y="111002"/>
                  <a:pt x="4380" y="63113"/>
                  <a:pt x="4248" y="36939"/>
                </a:cubicBezTo>
                <a:cubicBezTo>
                  <a:pt x="4222" y="30026"/>
                  <a:pt x="8549" y="24301"/>
                  <a:pt x="14353" y="21847"/>
                </a:cubicBezTo>
                <a:lnTo>
                  <a:pt x="64036" y="765"/>
                </a:lnTo>
                <a:cubicBezTo>
                  <a:pt x="65145" y="264"/>
                  <a:pt x="66332" y="0"/>
                  <a:pt x="67546" y="0"/>
                </a:cubicBezTo>
                <a:close/>
                <a:moveTo>
                  <a:pt x="67546" y="17625"/>
                </a:moveTo>
                <a:lnTo>
                  <a:pt x="67546" y="117387"/>
                </a:lnTo>
                <a:cubicBezTo>
                  <a:pt x="103957" y="99762"/>
                  <a:pt x="113746" y="60712"/>
                  <a:pt x="113983" y="37335"/>
                </a:cubicBezTo>
                <a:lnTo>
                  <a:pt x="67546" y="17652"/>
                </a:lnTo>
                <a:lnTo>
                  <a:pt x="67546" y="17652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2" name="Text 60"/>
          <p:cNvSpPr/>
          <p:nvPr/>
        </p:nvSpPr>
        <p:spPr>
          <a:xfrm>
            <a:off x="743003" y="5741385"/>
            <a:ext cx="878094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风险管理建议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506593" y="6011568"/>
            <a:ext cx="11271690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建立多维度监测体系，关注关键阈值突破，及时调整资产配置策略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337729" y="6383069"/>
            <a:ext cx="11567202" cy="135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8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重要声明：本报告基于历史路径经验推断，非实时数据驱动。历史表现不代表未来结果，经济环境可能发生结构性变化导致历史规律失效。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600e28bc65e9ccf1d407fff5d148744873209443.jp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rcRect l="0" r="0" t="766" b="76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AFAFA">
                  <a:alpha val="95000"/>
                </a:srgbClr>
              </a:gs>
              <a:gs pos="50000">
                <a:srgbClr val="FAFAFA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2095500" cy="342900"/>
          </a:xfrm>
          <a:custGeom>
            <a:avLst/>
            <a:gdLst/>
            <a:ahLst/>
            <a:cxnLst/>
            <a:rect l="l" t="t" r="r" b="b"/>
            <a:pathLst>
              <a:path w="2095500" h="342900">
                <a:moveTo>
                  <a:pt x="0" y="0"/>
                </a:moveTo>
                <a:lnTo>
                  <a:pt x="2095500" y="0"/>
                </a:lnTo>
                <a:lnTo>
                  <a:pt x="20955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/>
        </p:spPr>
      </p:sp>
      <p:sp>
        <p:nvSpPr>
          <p:cNvPr id="5" name="Text 2"/>
          <p:cNvSpPr/>
          <p:nvPr/>
        </p:nvSpPr>
        <p:spPr>
          <a:xfrm>
            <a:off x="381000" y="381000"/>
            <a:ext cx="2162175" cy="3429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FAFA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INVESTMENT STRATEGY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154722" y="381000"/>
            <a:ext cx="16573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4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354747" y="990600"/>
            <a:ext cx="1457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年度展望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1483761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投资策略建议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4810" y="2173371"/>
            <a:ext cx="11418570" cy="1122045"/>
          </a:xfrm>
          <a:custGeom>
            <a:avLst/>
            <a:gdLst/>
            <a:ahLst/>
            <a:cxnLst/>
            <a:rect l="l" t="t" r="r" b="b"/>
            <a:pathLst>
              <a:path w="11418570" h="1122045">
                <a:moveTo>
                  <a:pt x="76198" y="0"/>
                </a:moveTo>
                <a:lnTo>
                  <a:pt x="11342372" y="0"/>
                </a:lnTo>
                <a:cubicBezTo>
                  <a:pt x="11384455" y="0"/>
                  <a:pt x="11418570" y="34115"/>
                  <a:pt x="11418570" y="76198"/>
                </a:cubicBezTo>
                <a:lnTo>
                  <a:pt x="11418570" y="1045847"/>
                </a:lnTo>
                <a:cubicBezTo>
                  <a:pt x="11418570" y="1087930"/>
                  <a:pt x="11384455" y="1122045"/>
                  <a:pt x="11342372" y="1122045"/>
                </a:cubicBezTo>
                <a:lnTo>
                  <a:pt x="76198" y="1122045"/>
                </a:lnTo>
                <a:cubicBezTo>
                  <a:pt x="34143" y="1122045"/>
                  <a:pt x="0" y="1087902"/>
                  <a:pt x="0" y="104584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4370" y="2424829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1" name="Text 8"/>
          <p:cNvSpPr/>
          <p:nvPr/>
        </p:nvSpPr>
        <p:spPr>
          <a:xfrm>
            <a:off x="1017270" y="2405779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核心观点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17220" y="2786779"/>
            <a:ext cx="110394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经济基本面稳健但市场情绪过热，建议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0071E3"/>
                </a:solidFill>
                <a:highlight>
                  <a:srgbClr val="0071E3">
                    <a:alpha val="1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防御性配置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，从进攻转向质量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84810" y="3534013"/>
            <a:ext cx="3703320" cy="1836420"/>
          </a:xfrm>
          <a:custGeom>
            <a:avLst/>
            <a:gdLst/>
            <a:ahLst/>
            <a:cxnLst/>
            <a:rect l="l" t="t" r="r" b="b"/>
            <a:pathLst>
              <a:path w="3703320" h="1836420">
                <a:moveTo>
                  <a:pt x="76193" y="0"/>
                </a:moveTo>
                <a:lnTo>
                  <a:pt x="3627127" y="0"/>
                </a:lnTo>
                <a:cubicBezTo>
                  <a:pt x="3669207" y="0"/>
                  <a:pt x="3703320" y="34113"/>
                  <a:pt x="3703320" y="76193"/>
                </a:cubicBezTo>
                <a:lnTo>
                  <a:pt x="3703320" y="1760227"/>
                </a:lnTo>
                <a:cubicBezTo>
                  <a:pt x="3703320" y="1802279"/>
                  <a:pt x="3669179" y="1836420"/>
                  <a:pt x="3627127" y="1836420"/>
                </a:cubicBezTo>
                <a:lnTo>
                  <a:pt x="76193" y="1836420"/>
                </a:lnTo>
                <a:cubicBezTo>
                  <a:pt x="34113" y="1836420"/>
                  <a:pt x="0" y="1802307"/>
                  <a:pt x="0" y="1760227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7220" y="3766421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63877" y="5179"/>
                </a:moveTo>
                <a:cubicBezTo>
                  <a:pt x="60156" y="1459"/>
                  <a:pt x="54114" y="1459"/>
                  <a:pt x="50393" y="5179"/>
                </a:cubicBezTo>
                <a:lnTo>
                  <a:pt x="2768" y="52804"/>
                </a:lnTo>
                <a:cubicBezTo>
                  <a:pt x="-952" y="56525"/>
                  <a:pt x="-952" y="62567"/>
                  <a:pt x="2768" y="66288"/>
                </a:cubicBezTo>
                <a:cubicBezTo>
                  <a:pt x="6489" y="70009"/>
                  <a:pt x="12531" y="70009"/>
                  <a:pt x="16252" y="66288"/>
                </a:cubicBezTo>
                <a:lnTo>
                  <a:pt x="47625" y="34915"/>
                </a:lnTo>
                <a:lnTo>
                  <a:pt x="47625" y="145256"/>
                </a:lnTo>
                <a:cubicBezTo>
                  <a:pt x="47625" y="150525"/>
                  <a:pt x="51881" y="154781"/>
                  <a:pt x="57150" y="154781"/>
                </a:cubicBezTo>
                <a:cubicBezTo>
                  <a:pt x="62419" y="154781"/>
                  <a:pt x="66675" y="150525"/>
                  <a:pt x="66675" y="145256"/>
                </a:cubicBezTo>
                <a:lnTo>
                  <a:pt x="66675" y="34915"/>
                </a:lnTo>
                <a:lnTo>
                  <a:pt x="98048" y="66288"/>
                </a:lnTo>
                <a:cubicBezTo>
                  <a:pt x="101769" y="70009"/>
                  <a:pt x="107811" y="70009"/>
                  <a:pt x="111532" y="66288"/>
                </a:cubicBezTo>
                <a:cubicBezTo>
                  <a:pt x="115253" y="62567"/>
                  <a:pt x="115253" y="56525"/>
                  <a:pt x="111532" y="52804"/>
                </a:cubicBezTo>
                <a:lnTo>
                  <a:pt x="63907" y="5179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5" name="Text 12"/>
          <p:cNvSpPr/>
          <p:nvPr/>
        </p:nvSpPr>
        <p:spPr>
          <a:xfrm>
            <a:off x="845820" y="3728321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增持方向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79120" y="4071221"/>
            <a:ext cx="3381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标普500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79120" y="4299821"/>
            <a:ext cx="3381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道琼斯工业指数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79120" y="4528421"/>
            <a:ext cx="3381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工业自动化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79120" y="4757021"/>
            <a:ext cx="3381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能源设备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79120" y="4985621"/>
            <a:ext cx="3381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AI基础设施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245531" y="3534013"/>
            <a:ext cx="3703320" cy="1836420"/>
          </a:xfrm>
          <a:custGeom>
            <a:avLst/>
            <a:gdLst/>
            <a:ahLst/>
            <a:cxnLst/>
            <a:rect l="l" t="t" r="r" b="b"/>
            <a:pathLst>
              <a:path w="3703320" h="1836420">
                <a:moveTo>
                  <a:pt x="76193" y="0"/>
                </a:moveTo>
                <a:lnTo>
                  <a:pt x="3627127" y="0"/>
                </a:lnTo>
                <a:cubicBezTo>
                  <a:pt x="3669207" y="0"/>
                  <a:pt x="3703320" y="34113"/>
                  <a:pt x="3703320" y="76193"/>
                </a:cubicBezTo>
                <a:lnTo>
                  <a:pt x="3703320" y="1760227"/>
                </a:lnTo>
                <a:cubicBezTo>
                  <a:pt x="3703320" y="1802279"/>
                  <a:pt x="3669179" y="1836420"/>
                  <a:pt x="3627127" y="1836420"/>
                </a:cubicBezTo>
                <a:lnTo>
                  <a:pt x="76193" y="1836420"/>
                </a:lnTo>
                <a:cubicBezTo>
                  <a:pt x="34113" y="1836420"/>
                  <a:pt x="0" y="1802307"/>
                  <a:pt x="0" y="1760227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477941" y="3766421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D32F2F"/>
          </a:solidFill>
          <a:ln/>
        </p:spPr>
      </p:sp>
      <p:sp>
        <p:nvSpPr>
          <p:cNvPr id="23" name="Text 20"/>
          <p:cNvSpPr/>
          <p:nvPr/>
        </p:nvSpPr>
        <p:spPr>
          <a:xfrm>
            <a:off x="4706541" y="3728321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减持方向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439841" y="4071221"/>
            <a:ext cx="3381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高估值科技股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439841" y="4299821"/>
            <a:ext cx="3381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半导体高贝塔板块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439841" y="4528421"/>
            <a:ext cx="3381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可选消费股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439841" y="4837031"/>
            <a:ext cx="3314700" cy="7620"/>
          </a:xfrm>
          <a:custGeom>
            <a:avLst/>
            <a:gdLst/>
            <a:ahLst/>
            <a:cxnLst/>
            <a:rect l="l" t="t" r="r" b="b"/>
            <a:pathLst>
              <a:path w="3314700" h="7620">
                <a:moveTo>
                  <a:pt x="0" y="0"/>
                </a:moveTo>
                <a:lnTo>
                  <a:pt x="3314700" y="0"/>
                </a:lnTo>
                <a:lnTo>
                  <a:pt x="33147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28" name="Shape 25"/>
          <p:cNvSpPr/>
          <p:nvPr/>
        </p:nvSpPr>
        <p:spPr>
          <a:xfrm>
            <a:off x="4467225" y="497800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33337" y="0"/>
                </a:moveTo>
                <a:cubicBezTo>
                  <a:pt x="37947" y="0"/>
                  <a:pt x="41672" y="3724"/>
                  <a:pt x="41672" y="8334"/>
                </a:cubicBezTo>
                <a:lnTo>
                  <a:pt x="41672" y="16669"/>
                </a:lnTo>
                <a:lnTo>
                  <a:pt x="75009" y="16669"/>
                </a:lnTo>
                <a:lnTo>
                  <a:pt x="75009" y="8334"/>
                </a:lnTo>
                <a:cubicBezTo>
                  <a:pt x="75009" y="3724"/>
                  <a:pt x="78734" y="0"/>
                  <a:pt x="83344" y="0"/>
                </a:cubicBezTo>
                <a:cubicBezTo>
                  <a:pt x="87954" y="0"/>
                  <a:pt x="91678" y="3724"/>
                  <a:pt x="91678" y="8334"/>
                </a:cubicBezTo>
                <a:lnTo>
                  <a:pt x="91678" y="16669"/>
                </a:lnTo>
                <a:lnTo>
                  <a:pt x="100013" y="16669"/>
                </a:lnTo>
                <a:cubicBezTo>
                  <a:pt x="109206" y="16669"/>
                  <a:pt x="116681" y="24144"/>
                  <a:pt x="116681" y="33337"/>
                </a:cubicBezTo>
                <a:lnTo>
                  <a:pt x="116681" y="108347"/>
                </a:lnTo>
                <a:cubicBezTo>
                  <a:pt x="116681" y="117541"/>
                  <a:pt x="109206" y="125016"/>
                  <a:pt x="100013" y="125016"/>
                </a:cubicBezTo>
                <a:lnTo>
                  <a:pt x="16669" y="125016"/>
                </a:lnTo>
                <a:cubicBezTo>
                  <a:pt x="7475" y="125016"/>
                  <a:pt x="0" y="117541"/>
                  <a:pt x="0" y="108347"/>
                </a:cubicBezTo>
                <a:lnTo>
                  <a:pt x="0" y="33337"/>
                </a:lnTo>
                <a:cubicBezTo>
                  <a:pt x="0" y="24144"/>
                  <a:pt x="7475" y="16669"/>
                  <a:pt x="16669" y="16669"/>
                </a:cubicBezTo>
                <a:lnTo>
                  <a:pt x="25003" y="16669"/>
                </a:lnTo>
                <a:lnTo>
                  <a:pt x="25003" y="8334"/>
                </a:lnTo>
                <a:cubicBezTo>
                  <a:pt x="25003" y="3724"/>
                  <a:pt x="28728" y="0"/>
                  <a:pt x="33337" y="0"/>
                </a:cubicBezTo>
                <a:close/>
                <a:moveTo>
                  <a:pt x="16669" y="62508"/>
                </a:moveTo>
                <a:lnTo>
                  <a:pt x="16669" y="70842"/>
                </a:lnTo>
                <a:cubicBezTo>
                  <a:pt x="16669" y="73134"/>
                  <a:pt x="18544" y="75009"/>
                  <a:pt x="20836" y="75009"/>
                </a:cubicBezTo>
                <a:lnTo>
                  <a:pt x="29170" y="75009"/>
                </a:lnTo>
                <a:cubicBezTo>
                  <a:pt x="31462" y="75009"/>
                  <a:pt x="33337" y="73134"/>
                  <a:pt x="33337" y="70842"/>
                </a:cubicBezTo>
                <a:lnTo>
                  <a:pt x="33337" y="62508"/>
                </a:lnTo>
                <a:cubicBezTo>
                  <a:pt x="33337" y="60216"/>
                  <a:pt x="31462" y="58341"/>
                  <a:pt x="29170" y="58341"/>
                </a:cubicBezTo>
                <a:lnTo>
                  <a:pt x="20836" y="58341"/>
                </a:lnTo>
                <a:cubicBezTo>
                  <a:pt x="18544" y="58341"/>
                  <a:pt x="16669" y="60216"/>
                  <a:pt x="16669" y="62508"/>
                </a:cubicBezTo>
                <a:close/>
                <a:moveTo>
                  <a:pt x="50006" y="62508"/>
                </a:moveTo>
                <a:lnTo>
                  <a:pt x="50006" y="70842"/>
                </a:lnTo>
                <a:cubicBezTo>
                  <a:pt x="50006" y="73134"/>
                  <a:pt x="51881" y="75009"/>
                  <a:pt x="54173" y="75009"/>
                </a:cubicBezTo>
                <a:lnTo>
                  <a:pt x="62508" y="75009"/>
                </a:lnTo>
                <a:cubicBezTo>
                  <a:pt x="64800" y="75009"/>
                  <a:pt x="66675" y="73134"/>
                  <a:pt x="66675" y="70842"/>
                </a:cubicBezTo>
                <a:lnTo>
                  <a:pt x="66675" y="62508"/>
                </a:lnTo>
                <a:cubicBezTo>
                  <a:pt x="66675" y="60216"/>
                  <a:pt x="64800" y="58341"/>
                  <a:pt x="62508" y="58341"/>
                </a:cubicBezTo>
                <a:lnTo>
                  <a:pt x="54173" y="58341"/>
                </a:lnTo>
                <a:cubicBezTo>
                  <a:pt x="51881" y="58341"/>
                  <a:pt x="50006" y="60216"/>
                  <a:pt x="50006" y="62508"/>
                </a:cubicBezTo>
                <a:close/>
                <a:moveTo>
                  <a:pt x="87511" y="58341"/>
                </a:moveTo>
                <a:cubicBezTo>
                  <a:pt x="85219" y="58341"/>
                  <a:pt x="83344" y="60216"/>
                  <a:pt x="83344" y="62508"/>
                </a:cubicBezTo>
                <a:lnTo>
                  <a:pt x="83344" y="70842"/>
                </a:lnTo>
                <a:cubicBezTo>
                  <a:pt x="83344" y="73134"/>
                  <a:pt x="85219" y="75009"/>
                  <a:pt x="87511" y="75009"/>
                </a:cubicBezTo>
                <a:lnTo>
                  <a:pt x="95845" y="75009"/>
                </a:lnTo>
                <a:cubicBezTo>
                  <a:pt x="98137" y="75009"/>
                  <a:pt x="100013" y="73134"/>
                  <a:pt x="100013" y="70842"/>
                </a:cubicBezTo>
                <a:lnTo>
                  <a:pt x="100013" y="62508"/>
                </a:lnTo>
                <a:cubicBezTo>
                  <a:pt x="100013" y="60216"/>
                  <a:pt x="98137" y="58341"/>
                  <a:pt x="95845" y="58341"/>
                </a:cubicBezTo>
                <a:lnTo>
                  <a:pt x="87511" y="58341"/>
                </a:lnTo>
                <a:close/>
                <a:moveTo>
                  <a:pt x="16669" y="95845"/>
                </a:moveTo>
                <a:lnTo>
                  <a:pt x="16669" y="104180"/>
                </a:lnTo>
                <a:cubicBezTo>
                  <a:pt x="16669" y="106472"/>
                  <a:pt x="18544" y="108347"/>
                  <a:pt x="20836" y="108347"/>
                </a:cubicBezTo>
                <a:lnTo>
                  <a:pt x="29170" y="108347"/>
                </a:lnTo>
                <a:cubicBezTo>
                  <a:pt x="31462" y="108347"/>
                  <a:pt x="33337" y="106472"/>
                  <a:pt x="33337" y="104180"/>
                </a:cubicBezTo>
                <a:lnTo>
                  <a:pt x="33337" y="95845"/>
                </a:lnTo>
                <a:cubicBezTo>
                  <a:pt x="33337" y="93553"/>
                  <a:pt x="31462" y="91678"/>
                  <a:pt x="29170" y="91678"/>
                </a:cubicBezTo>
                <a:lnTo>
                  <a:pt x="20836" y="91678"/>
                </a:lnTo>
                <a:cubicBezTo>
                  <a:pt x="18544" y="91678"/>
                  <a:pt x="16669" y="93553"/>
                  <a:pt x="16669" y="95845"/>
                </a:cubicBezTo>
                <a:close/>
                <a:moveTo>
                  <a:pt x="54173" y="91678"/>
                </a:moveTo>
                <a:cubicBezTo>
                  <a:pt x="51881" y="91678"/>
                  <a:pt x="50006" y="93553"/>
                  <a:pt x="50006" y="95845"/>
                </a:cubicBezTo>
                <a:lnTo>
                  <a:pt x="50006" y="104180"/>
                </a:lnTo>
                <a:cubicBezTo>
                  <a:pt x="50006" y="106472"/>
                  <a:pt x="51881" y="108347"/>
                  <a:pt x="54173" y="108347"/>
                </a:cubicBezTo>
                <a:lnTo>
                  <a:pt x="62508" y="108347"/>
                </a:lnTo>
                <a:cubicBezTo>
                  <a:pt x="64800" y="108347"/>
                  <a:pt x="66675" y="106472"/>
                  <a:pt x="66675" y="104180"/>
                </a:cubicBezTo>
                <a:lnTo>
                  <a:pt x="66675" y="95845"/>
                </a:lnTo>
                <a:cubicBezTo>
                  <a:pt x="66675" y="93553"/>
                  <a:pt x="64800" y="91678"/>
                  <a:pt x="62508" y="91678"/>
                </a:cubicBezTo>
                <a:lnTo>
                  <a:pt x="54173" y="91678"/>
                </a:lnTo>
                <a:close/>
                <a:moveTo>
                  <a:pt x="83344" y="95845"/>
                </a:moveTo>
                <a:lnTo>
                  <a:pt x="83344" y="104180"/>
                </a:lnTo>
                <a:cubicBezTo>
                  <a:pt x="83344" y="106472"/>
                  <a:pt x="85219" y="108347"/>
                  <a:pt x="87511" y="108347"/>
                </a:cubicBezTo>
                <a:lnTo>
                  <a:pt x="95845" y="108347"/>
                </a:lnTo>
                <a:cubicBezTo>
                  <a:pt x="98137" y="108347"/>
                  <a:pt x="100013" y="106472"/>
                  <a:pt x="100013" y="104180"/>
                </a:cubicBezTo>
                <a:lnTo>
                  <a:pt x="100013" y="95845"/>
                </a:lnTo>
                <a:cubicBezTo>
                  <a:pt x="100013" y="93553"/>
                  <a:pt x="98137" y="91678"/>
                  <a:pt x="95845" y="91678"/>
                </a:cubicBezTo>
                <a:lnTo>
                  <a:pt x="87511" y="91678"/>
                </a:lnTo>
                <a:cubicBezTo>
                  <a:pt x="85219" y="91678"/>
                  <a:pt x="83344" y="93553"/>
                  <a:pt x="83344" y="95845"/>
                </a:cubicBezTo>
                <a:close/>
              </a:path>
            </a:pathLst>
          </a:custGeom>
          <a:solidFill>
            <a:srgbClr val="D32F2F"/>
          </a:solidFill>
          <a:ln/>
        </p:spPr>
      </p:sp>
      <p:sp>
        <p:nvSpPr>
          <p:cNvPr id="29" name="Text 26"/>
          <p:cNvSpPr/>
          <p:nvPr/>
        </p:nvSpPr>
        <p:spPr>
          <a:xfrm>
            <a:off x="4668441" y="4955149"/>
            <a:ext cx="3152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32F2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3-4月流动性回避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8106371" y="3534013"/>
            <a:ext cx="3703320" cy="1836420"/>
          </a:xfrm>
          <a:custGeom>
            <a:avLst/>
            <a:gdLst/>
            <a:ahLst/>
            <a:cxnLst/>
            <a:rect l="l" t="t" r="r" b="b"/>
            <a:pathLst>
              <a:path w="3703320" h="1836420">
                <a:moveTo>
                  <a:pt x="76193" y="0"/>
                </a:moveTo>
                <a:lnTo>
                  <a:pt x="3627127" y="0"/>
                </a:lnTo>
                <a:cubicBezTo>
                  <a:pt x="3669207" y="0"/>
                  <a:pt x="3703320" y="34113"/>
                  <a:pt x="3703320" y="76193"/>
                </a:cubicBezTo>
                <a:lnTo>
                  <a:pt x="3703320" y="1760227"/>
                </a:lnTo>
                <a:cubicBezTo>
                  <a:pt x="3703320" y="1802279"/>
                  <a:pt x="3669179" y="1836420"/>
                  <a:pt x="3627127" y="1836420"/>
                </a:cubicBezTo>
                <a:lnTo>
                  <a:pt x="76193" y="1836420"/>
                </a:lnTo>
                <a:cubicBezTo>
                  <a:pt x="34113" y="1836420"/>
                  <a:pt x="0" y="1802307"/>
                  <a:pt x="0" y="1760227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319731" y="376642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4745" y="83344"/>
                </a:moveTo>
                <a:lnTo>
                  <a:pt x="47923" y="83344"/>
                </a:lnTo>
                <a:cubicBezTo>
                  <a:pt x="48786" y="102543"/>
                  <a:pt x="53042" y="120223"/>
                  <a:pt x="59085" y="133171"/>
                </a:cubicBezTo>
                <a:cubicBezTo>
                  <a:pt x="62478" y="140464"/>
                  <a:pt x="66139" y="145613"/>
                  <a:pt x="69533" y="148769"/>
                </a:cubicBezTo>
                <a:cubicBezTo>
                  <a:pt x="72866" y="151894"/>
                  <a:pt x="75158" y="152400"/>
                  <a:pt x="76349" y="152400"/>
                </a:cubicBezTo>
                <a:cubicBezTo>
                  <a:pt x="77539" y="152400"/>
                  <a:pt x="79831" y="151894"/>
                  <a:pt x="83165" y="148769"/>
                </a:cubicBezTo>
                <a:cubicBezTo>
                  <a:pt x="86558" y="145613"/>
                  <a:pt x="90220" y="140434"/>
                  <a:pt x="93613" y="133171"/>
                </a:cubicBezTo>
                <a:cubicBezTo>
                  <a:pt x="99655" y="120223"/>
                  <a:pt x="103912" y="102543"/>
                  <a:pt x="104775" y="83344"/>
                </a:cubicBezTo>
                <a:close/>
                <a:moveTo>
                  <a:pt x="47893" y="69056"/>
                </a:moveTo>
                <a:lnTo>
                  <a:pt x="104715" y="69056"/>
                </a:lnTo>
                <a:cubicBezTo>
                  <a:pt x="103882" y="49857"/>
                  <a:pt x="99626" y="32177"/>
                  <a:pt x="93583" y="19229"/>
                </a:cubicBezTo>
                <a:cubicBezTo>
                  <a:pt x="90190" y="11966"/>
                  <a:pt x="86529" y="6787"/>
                  <a:pt x="83135" y="3631"/>
                </a:cubicBezTo>
                <a:cubicBezTo>
                  <a:pt x="79802" y="506"/>
                  <a:pt x="77510" y="0"/>
                  <a:pt x="76319" y="0"/>
                </a:cubicBezTo>
                <a:cubicBezTo>
                  <a:pt x="75128" y="0"/>
                  <a:pt x="72836" y="506"/>
                  <a:pt x="69503" y="3631"/>
                </a:cubicBezTo>
                <a:cubicBezTo>
                  <a:pt x="66109" y="6787"/>
                  <a:pt x="62448" y="11966"/>
                  <a:pt x="59055" y="19229"/>
                </a:cubicBezTo>
                <a:cubicBezTo>
                  <a:pt x="53013" y="32177"/>
                  <a:pt x="48756" y="49857"/>
                  <a:pt x="47893" y="69056"/>
                </a:cubicBezTo>
                <a:close/>
                <a:moveTo>
                  <a:pt x="33605" y="69056"/>
                </a:moveTo>
                <a:cubicBezTo>
                  <a:pt x="34647" y="43577"/>
                  <a:pt x="41225" y="19913"/>
                  <a:pt x="50840" y="4376"/>
                </a:cubicBezTo>
                <a:cubicBezTo>
                  <a:pt x="23426" y="14079"/>
                  <a:pt x="3244" y="39052"/>
                  <a:pt x="446" y="69056"/>
                </a:cubicBezTo>
                <a:lnTo>
                  <a:pt x="33605" y="69056"/>
                </a:lnTo>
                <a:close/>
                <a:moveTo>
                  <a:pt x="446" y="83344"/>
                </a:moveTo>
                <a:cubicBezTo>
                  <a:pt x="3244" y="113348"/>
                  <a:pt x="23426" y="138321"/>
                  <a:pt x="50840" y="148024"/>
                </a:cubicBezTo>
                <a:cubicBezTo>
                  <a:pt x="41225" y="132487"/>
                  <a:pt x="34647" y="108823"/>
                  <a:pt x="33605" y="83344"/>
                </a:cubicBezTo>
                <a:lnTo>
                  <a:pt x="446" y="83344"/>
                </a:lnTo>
                <a:close/>
                <a:moveTo>
                  <a:pt x="119033" y="83344"/>
                </a:moveTo>
                <a:cubicBezTo>
                  <a:pt x="117991" y="108823"/>
                  <a:pt x="111413" y="132487"/>
                  <a:pt x="101798" y="148024"/>
                </a:cubicBezTo>
                <a:cubicBezTo>
                  <a:pt x="129213" y="138291"/>
                  <a:pt x="149394" y="113348"/>
                  <a:pt x="152192" y="83344"/>
                </a:cubicBezTo>
                <a:lnTo>
                  <a:pt x="119033" y="83344"/>
                </a:lnTo>
                <a:close/>
                <a:moveTo>
                  <a:pt x="152192" y="69056"/>
                </a:moveTo>
                <a:cubicBezTo>
                  <a:pt x="149394" y="39052"/>
                  <a:pt x="129213" y="14079"/>
                  <a:pt x="101798" y="4376"/>
                </a:cubicBezTo>
                <a:cubicBezTo>
                  <a:pt x="111413" y="19913"/>
                  <a:pt x="117991" y="43577"/>
                  <a:pt x="119033" y="69056"/>
                </a:cubicBezTo>
                <a:lnTo>
                  <a:pt x="152192" y="69056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2" name="Text 29"/>
          <p:cNvSpPr/>
          <p:nvPr/>
        </p:nvSpPr>
        <p:spPr>
          <a:xfrm>
            <a:off x="8567381" y="3728321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全球配置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8300681" y="4071221"/>
            <a:ext cx="3381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日本市场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300681" y="4299821"/>
            <a:ext cx="3381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印度市场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8300681" y="4528421"/>
            <a:ext cx="3381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东南亚市场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8300681" y="4837031"/>
            <a:ext cx="3314700" cy="7620"/>
          </a:xfrm>
          <a:custGeom>
            <a:avLst/>
            <a:gdLst/>
            <a:ahLst/>
            <a:cxnLst/>
            <a:rect l="l" t="t" r="r" b="b"/>
            <a:pathLst>
              <a:path w="3314700" h="7620">
                <a:moveTo>
                  <a:pt x="0" y="0"/>
                </a:moveTo>
                <a:lnTo>
                  <a:pt x="3314700" y="0"/>
                </a:lnTo>
                <a:lnTo>
                  <a:pt x="33147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37" name="Text 34"/>
          <p:cNvSpPr/>
          <p:nvPr/>
        </p:nvSpPr>
        <p:spPr>
          <a:xfrm>
            <a:off x="8300681" y="4955149"/>
            <a:ext cx="3381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分散美股科技股风险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2990850" y="564094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9" name="Text 36"/>
          <p:cNvSpPr/>
          <p:nvPr/>
        </p:nvSpPr>
        <p:spPr>
          <a:xfrm>
            <a:off x="3238500" y="5602849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不做空美股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4324350" y="564094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1" name="Text 38"/>
          <p:cNvSpPr/>
          <p:nvPr/>
        </p:nvSpPr>
        <p:spPr>
          <a:xfrm>
            <a:off x="4572000" y="5602849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增加标普道指占比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6115050" y="564094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3" name="Text 40"/>
          <p:cNvSpPr/>
          <p:nvPr/>
        </p:nvSpPr>
        <p:spPr>
          <a:xfrm>
            <a:off x="6362700" y="5602849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关注工业半导体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7753350" y="564094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D32F2F"/>
          </a:solidFill>
          <a:ln/>
        </p:spPr>
      </p:sp>
      <p:sp>
        <p:nvSpPr>
          <p:cNvPr id="45" name="Text 42"/>
          <p:cNvSpPr/>
          <p:nvPr/>
        </p:nvSpPr>
        <p:spPr>
          <a:xfrm>
            <a:off x="8001000" y="5602849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警惕高估值科技股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1907143" y="608088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67873" y="0"/>
                  <a:pt x="69071" y="260"/>
                  <a:pt x="70165" y="755"/>
                </a:cubicBezTo>
                <a:lnTo>
                  <a:pt x="119234" y="21565"/>
                </a:lnTo>
                <a:cubicBezTo>
                  <a:pt x="124964" y="23987"/>
                  <a:pt x="129235" y="29639"/>
                  <a:pt x="129209" y="36463"/>
                </a:cubicBezTo>
                <a:cubicBezTo>
                  <a:pt x="129079" y="62299"/>
                  <a:pt x="118452" y="109571"/>
                  <a:pt x="73577" y="131058"/>
                </a:cubicBezTo>
                <a:cubicBezTo>
                  <a:pt x="69227" y="133142"/>
                  <a:pt x="64175" y="133142"/>
                  <a:pt x="59825" y="131058"/>
                </a:cubicBezTo>
                <a:cubicBezTo>
                  <a:pt x="14924" y="109571"/>
                  <a:pt x="4323" y="62299"/>
                  <a:pt x="4193" y="36463"/>
                </a:cubicBezTo>
                <a:cubicBezTo>
                  <a:pt x="4167" y="29639"/>
                  <a:pt x="8439" y="23987"/>
                  <a:pt x="14168" y="21565"/>
                </a:cubicBezTo>
                <a:lnTo>
                  <a:pt x="63211" y="755"/>
                </a:lnTo>
                <a:cubicBezTo>
                  <a:pt x="64305" y="260"/>
                  <a:pt x="65477" y="0"/>
                  <a:pt x="66675" y="0"/>
                </a:cubicBezTo>
                <a:close/>
                <a:moveTo>
                  <a:pt x="66675" y="17398"/>
                </a:moveTo>
                <a:lnTo>
                  <a:pt x="66675" y="115874"/>
                </a:lnTo>
                <a:cubicBezTo>
                  <a:pt x="102617" y="98476"/>
                  <a:pt x="112280" y="59929"/>
                  <a:pt x="112514" y="36854"/>
                </a:cubicBezTo>
                <a:lnTo>
                  <a:pt x="66675" y="17424"/>
                </a:lnTo>
                <a:lnTo>
                  <a:pt x="66675" y="17424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47" name="Text 44"/>
          <p:cNvSpPr/>
          <p:nvPr/>
        </p:nvSpPr>
        <p:spPr>
          <a:xfrm>
            <a:off x="576263" y="6058021"/>
            <a:ext cx="11268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重要声明：本报告基于历史路径经验推断，非实时数据驱动。历史表现不代表未来结果，经济环境可能发生结构性变化导致历史规律失效。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352425" y="6324721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2026年3月 | 美股投资分析报告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2026年美股分析报告</dc:title>
  <dc:subject>2026年美股分析报告</dc:subject>
  <dc:creator>Kimi</dc:creator>
  <cp:lastModifiedBy>Kimi</cp:lastModifiedBy>
  <cp:revision>1</cp:revision>
  <dcterms:created xsi:type="dcterms:W3CDTF">2026-03-04T10:01:41Z</dcterms:created>
  <dcterms:modified xsi:type="dcterms:W3CDTF">2026-03-04T10:01:41Z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{"Label":"2026年美股分析报告","ContentProducer":"001191110108MACG2KBH8F10000","ProduceID":"19cb849e-fa22-8ea3-8000-00005d1e3d9c","ReservedCode1":"","ContentPropagator":"001191110108MACG2KBH8F20000","PropagateID":"19cb849e-fa22-8ea3-8000-00005d1e3d9c","ReservedCode2":""}</vt:lpwstr>
  </property>
</Properties>
</file>